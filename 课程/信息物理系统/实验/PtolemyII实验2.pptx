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sldIdLst>
    <p:sldId id="256" r:id="rId3"/>
    <p:sldId id="274" r:id="rId4"/>
    <p:sldId id="259" r:id="rId5"/>
    <p:sldId id="260" r:id="rId6"/>
    <p:sldId id="257" r:id="rId7"/>
    <p:sldId id="275" r:id="rId8"/>
    <p:sldId id="276" r:id="rId9"/>
    <p:sldId id="281" r:id="rId10"/>
    <p:sldId id="282" r:id="rId11"/>
    <p:sldId id="267" r:id="rId12"/>
    <p:sldId id="277" r:id="rId13"/>
    <p:sldId id="268" r:id="rId14"/>
    <p:sldId id="278" r:id="rId15"/>
    <p:sldId id="279" r:id="rId16"/>
    <p:sldId id="258" r:id="rId17"/>
    <p:sldId id="280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49040" y="0"/>
            <a:ext cx="8442960" cy="81464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171450" indent="-171450">
              <a:buFont typeface="Wingdings" panose="05000000000000000000" pitchFamily="2" charset="2"/>
              <a:buChar char="Ø"/>
              <a:defRPr sz="3200"/>
            </a:lvl1pPr>
            <a:lvl2pPr marL="514350" indent="-171450">
              <a:buFont typeface="Wingdings" panose="05000000000000000000" pitchFamily="2" charset="2"/>
              <a:buChar char="Ø"/>
              <a:defRPr sz="2800"/>
            </a:lvl2pPr>
            <a:lvl3pPr marL="857250" indent="-171450">
              <a:buFont typeface="Wingdings" panose="05000000000000000000" pitchFamily="2" charset="2"/>
              <a:buChar char="Ø"/>
              <a:defRPr sz="2000"/>
            </a:lvl3pPr>
            <a:lvl4pPr marL="1200150" indent="-171450">
              <a:buFont typeface="Wingdings" panose="05000000000000000000" pitchFamily="2" charset="2"/>
              <a:buChar char="Ø"/>
              <a:defRPr sz="1800"/>
            </a:lvl4pPr>
            <a:lvl5pPr marL="1543050" indent="-171450">
              <a:buFont typeface="Wingdings" panose="05000000000000000000" pitchFamily="2" charset="2"/>
              <a:buChar char="Ø"/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49040" y="0"/>
            <a:ext cx="8442960" cy="814647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171450" indent="-171450">
              <a:buFont typeface="Wingdings" panose="05000000000000000000" pitchFamily="2" charset="2"/>
              <a:buChar char="Ø"/>
              <a:defRPr sz="3200"/>
            </a:lvl1pPr>
            <a:lvl2pPr marL="514350" indent="-171450">
              <a:buFont typeface="Wingdings" panose="05000000000000000000" pitchFamily="2" charset="2"/>
              <a:buChar char="Ø"/>
              <a:defRPr sz="2800"/>
            </a:lvl2pPr>
            <a:lvl3pPr marL="857250" indent="-171450">
              <a:buFont typeface="Wingdings" panose="05000000000000000000" pitchFamily="2" charset="2"/>
              <a:buChar char="Ø"/>
              <a:defRPr sz="2000"/>
            </a:lvl3pPr>
            <a:lvl4pPr marL="1200150" indent="-171450">
              <a:buFont typeface="Wingdings" panose="05000000000000000000" pitchFamily="2" charset="2"/>
              <a:buChar char="Ø"/>
              <a:defRPr sz="1800"/>
            </a:lvl4pPr>
            <a:lvl5pPr marL="1543050" indent="-171450">
              <a:buFont typeface="Wingdings" panose="05000000000000000000" pitchFamily="2" charset="2"/>
              <a:buChar char="Ø"/>
              <a:defRPr sz="1800"/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4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9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3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3AED7-5D20-46A9-BE62-6248C1AAE14D}" type="datetimeFigureOut">
              <a:rPr lang="zh-CN" altLang="en-US" smtClean="0"/>
              <a:t>2023/3/30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6B92B9-2AAB-4A1C-B269-330A9703030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/>
              <a:t>信息物理系统（</a:t>
            </a:r>
            <a:r>
              <a:rPr lang="en-US" altLang="zh-CN" b="1" dirty="0"/>
              <a:t>CPS</a:t>
            </a:r>
            <a:r>
              <a:rPr lang="zh-CN" altLang="en-US" b="1" dirty="0"/>
              <a:t>）实验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800" b="1" dirty="0">
                <a:solidFill>
                  <a:srgbClr val="C00000"/>
                </a:solidFill>
              </a:rPr>
              <a:t>基于</a:t>
            </a:r>
            <a:r>
              <a:rPr lang="en-US" altLang="zh-CN" sz="2800" b="1" dirty="0" err="1">
                <a:solidFill>
                  <a:srgbClr val="C00000"/>
                </a:solidFill>
              </a:rPr>
              <a:t>PtolemyII</a:t>
            </a:r>
            <a:r>
              <a:rPr lang="zh-CN" altLang="en-US" sz="2800" b="1" dirty="0">
                <a:solidFill>
                  <a:srgbClr val="C00000"/>
                </a:solidFill>
              </a:rPr>
              <a:t>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/>
              <a:t>实验要求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117569" y="2672738"/>
            <a:ext cx="107861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均要求完成实验报告，根据验收情况给分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/>
              <a:t>PtolemyII</a:t>
            </a:r>
            <a:r>
              <a:rPr lang="zh-CN" altLang="en-US" sz="3600" dirty="0"/>
              <a:t>模型的创建和运行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通过菜单</a:t>
            </a:r>
            <a:r>
              <a:rPr lang="en-US" altLang="zh-CN" dirty="0"/>
              <a:t>[File</a:t>
            </a:r>
            <a:r>
              <a:rPr lang="zh-CN" altLang="en-US" dirty="0"/>
              <a:t>→</a:t>
            </a:r>
            <a:r>
              <a:rPr lang="en-US" altLang="zh-CN" dirty="0"/>
              <a:t>New</a:t>
            </a:r>
            <a:r>
              <a:rPr lang="zh-CN" altLang="en-US" dirty="0"/>
              <a:t> →</a:t>
            </a:r>
            <a:r>
              <a:rPr lang="en-US" altLang="zh-CN" dirty="0"/>
              <a:t>Graph Editor]</a:t>
            </a:r>
            <a:r>
              <a:rPr lang="zh-CN" altLang="en-US" dirty="0"/>
              <a:t>创建一个新模型。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4425" y="2737974"/>
            <a:ext cx="4981575" cy="29622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3870" y="2737974"/>
            <a:ext cx="4649930" cy="30916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3600" dirty="0" err="1"/>
              <a:t>PtolemyII</a:t>
            </a:r>
            <a:r>
              <a:rPr lang="zh-CN" altLang="en-US" sz="3600" dirty="0"/>
              <a:t>模型中的库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35008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Director</a:t>
            </a:r>
            <a:r>
              <a:rPr lang="zh-CN" altLang="en-US" sz="2400" dirty="0"/>
              <a:t>（指示器）库中的指示器进行模型功能的控制，比如模型将要执行多少次迭代。</a:t>
            </a:r>
            <a:endParaRPr lang="en-US" altLang="zh-CN" sz="2400" dirty="0"/>
          </a:p>
          <a:p>
            <a:r>
              <a:rPr lang="en-US" altLang="zh-CN" sz="2400" dirty="0"/>
              <a:t>Actors</a:t>
            </a:r>
            <a:r>
              <a:rPr lang="zh-CN" altLang="en-US" sz="2400" dirty="0"/>
              <a:t>库包含了</a:t>
            </a:r>
            <a:r>
              <a:rPr lang="en-US" altLang="zh-CN" sz="2400" dirty="0"/>
              <a:t>sources</a:t>
            </a:r>
            <a:r>
              <a:rPr lang="zh-CN" altLang="en-US" sz="2400" dirty="0"/>
              <a:t>库（信号源）、</a:t>
            </a:r>
            <a:r>
              <a:rPr lang="en-US" altLang="zh-CN" sz="2400" dirty="0"/>
              <a:t>sinks</a:t>
            </a:r>
            <a:r>
              <a:rPr lang="zh-CN" altLang="en-US" sz="2400" dirty="0"/>
              <a:t>库（信号目的地）、</a:t>
            </a:r>
            <a:r>
              <a:rPr lang="en-US" altLang="zh-CN" sz="2400" dirty="0"/>
              <a:t>Math</a:t>
            </a:r>
            <a:r>
              <a:rPr lang="zh-CN" altLang="en-US" sz="2400" dirty="0"/>
              <a:t>库（数学运算等）</a:t>
            </a:r>
            <a:endParaRPr lang="en-US" altLang="zh-CN" sz="2400" dirty="0"/>
          </a:p>
          <a:p>
            <a:pPr marL="0" indent="0">
              <a:buNone/>
            </a:pPr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4627" y="3092007"/>
            <a:ext cx="2028825" cy="34194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550" y="3092007"/>
            <a:ext cx="196215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sz="3600" dirty="0" err="1"/>
              <a:t>离散事件模型</a:t>
            </a:r>
            <a:endParaRPr lang="zh-CN" dirty="0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838200" y="1118235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离散事件( Discrete-Event，DE)域用于并发角色之间定时的、离散的交互建模。一次交互称为一个事件( event)，事件在概念上可以理解为从一个角色发送给另一个角色的瞬时消息。</a:t>
            </a:r>
          </a:p>
          <a:p>
            <a:endParaRPr lang="zh-CN" altLang="en-US" sz="2400" dirty="0"/>
          </a:p>
          <a:p>
            <a:r>
              <a:rPr lang="zh-CN" altLang="en-US" sz="2400" dirty="0"/>
              <a:t>在PtolemyIl 中，一个事件是指一个令牌(封装了消息的)在特定模型时间内到达端口。DE的关键思想是每一个角色按时间顺序对输人事件做出响应。也就是说，每次角色被点火，它对输入事件的响应会迟于前点火的事件。</a:t>
            </a:r>
          </a:p>
          <a:p>
            <a:endParaRPr lang="zh-CN" altLang="en-US" sz="24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405" y="5095875"/>
            <a:ext cx="3386455" cy="12223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实验一  </a:t>
            </a:r>
            <a:r>
              <a:rPr lang="zh-CN" altLang="en-US" sz="3600" dirty="0">
                <a:sym typeface="+mn-ea"/>
              </a:rPr>
              <a:t>时间间隔柱状图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815004" cy="4351338"/>
          </a:xfrm>
        </p:spPr>
        <p:txBody>
          <a:bodyPr>
            <a:normAutofit/>
          </a:bodyPr>
          <a:lstStyle/>
          <a:p>
            <a:pPr algn="just"/>
            <a:r>
              <a:rPr lang="zh-CN" sz="2400" b="1" dirty="0">
                <a:solidFill>
                  <a:srgbClr val="C00000"/>
                </a:solidFill>
              </a:rPr>
              <a:t>DiscreteClock</a:t>
            </a:r>
            <a:r>
              <a:rPr sz="2400" dirty="0"/>
              <a:t>是一种多用途的事件生成器。其最简单的应用是生成一系列时间间隔匀称的事件。在执行开始时（通常是时刻0）它的默认参数使角色在一个时间单位内产生值为1 ( int型)的令牌。它也可以通过设置 period参数为工nfinity (无穷大）来产生一个一次性的有限事件序列（而不是使用周期形式)。这些事件可以在任何时间内随意放置。</a:t>
            </a:r>
          </a:p>
          <a:p>
            <a:pPr algn="just"/>
            <a:endParaRPr sz="2400" dirty="0"/>
          </a:p>
          <a:p>
            <a:pPr algn="just"/>
            <a:r>
              <a:rPr lang="zh-CN" sz="2400" b="1" dirty="0">
                <a:solidFill>
                  <a:srgbClr val="C00000"/>
                </a:solidFill>
              </a:rPr>
              <a:t>PoissonClock</a:t>
            </a:r>
            <a:r>
              <a:rPr sz="2400"/>
              <a:t>，相反，在随机时间产生事件。事件之间的时间是由独立同分布，( Independent and ldentically Distributed，IID)的指数随机变量确定。一个拥有此特征的输出信号叫作泊松过程( Poisson process)。与 DiscreteClock角色一样，PoissonClock 角色也能循环使用一个有限序列值，或者它能在各个时间产生具有相同值的事件。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58788" y="1154097"/>
            <a:ext cx="438714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b="1" dirty="0">
                <a:solidFill>
                  <a:srgbClr val="C00000"/>
                </a:solidFill>
              </a:rPr>
              <a:t>时钟角色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实验一  时间间隔柱状图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815004" cy="4351338"/>
          </a:xfrm>
        </p:spPr>
        <p:txBody>
          <a:bodyPr>
            <a:normAutofit/>
          </a:bodyPr>
          <a:lstStyle/>
          <a:p>
            <a:pPr algn="just"/>
            <a:r>
              <a:rPr lang="zh-CN" sz="24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用HistogramPlotter表示</a:t>
            </a:r>
            <a:r>
              <a:rPr lang="en-US" altLang="zh-CN" sz="2400" b="1" dirty="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PoissonClock 角色产生一个事件的时间间隔柱状图</a:t>
            </a:r>
            <a:endParaRPr sz="2400" dirty="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just"/>
            <a:r>
              <a:rPr lang="zh-CN" sz="2400" b="1" dirty="0">
                <a:solidFill>
                  <a:srgbClr val="C00000"/>
                </a:solidFill>
              </a:rPr>
              <a:t>提示</a:t>
            </a:r>
            <a:r>
              <a:rPr lang="en-US" altLang="zh-CN" sz="2400" b="1" dirty="0">
                <a:solidFill>
                  <a:srgbClr val="C00000"/>
                </a:solidFill>
              </a:rPr>
              <a:t> </a:t>
            </a:r>
            <a:r>
              <a:rPr lang="zh-CN" altLang="en-US" sz="2400" b="1" dirty="0">
                <a:solidFill>
                  <a:srgbClr val="C00000"/>
                </a:solidFill>
              </a:rPr>
              <a:t>：</a:t>
            </a:r>
            <a:r>
              <a:rPr lang="zh-CN" sz="2400" b="1" dirty="0">
                <a:solidFill>
                  <a:srgbClr val="C00000"/>
                </a:solidFill>
              </a:rPr>
              <a:t>用Precious、Sampler、 AddSubtract角色来搭建模型，也有直接的角色能集成此功能。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58788" y="1154097"/>
            <a:ext cx="438714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b="1" dirty="0">
                <a:solidFill>
                  <a:srgbClr val="C00000"/>
                </a:solidFill>
              </a:rPr>
              <a:t>实验要求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6895" y="3600450"/>
            <a:ext cx="4836160" cy="28016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10" y="3830320"/>
            <a:ext cx="584835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实验二  恒定故障建模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815004" cy="4351338"/>
          </a:xfrm>
        </p:spPr>
        <p:txBody>
          <a:bodyPr>
            <a:normAutofit/>
          </a:bodyPr>
          <a:lstStyle/>
          <a:p>
            <a:pPr algn="just"/>
            <a:r>
              <a:rPr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创建一个模态模型ModalModel（FSMActor）</a:t>
            </a:r>
            <a:r>
              <a:rPr sz="2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StuckAtFault</a:t>
            </a:r>
            <a:endParaRPr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just"/>
            <a:endParaRPr sz="2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just"/>
            <a:r>
              <a:rPr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StuckAtFault角色是一个具有两种状态(normal和 faulty)的状态机。</a:t>
            </a:r>
          </a:p>
          <a:p>
            <a:pPr algn="just"/>
            <a:r>
              <a:rPr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当它处于normal 状态时，当一个输入到达 in端口时，输入的值就被复制到out端口，并存储在</a:t>
            </a:r>
            <a:r>
              <a:rPr lang="zh-CN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一个</a:t>
            </a:r>
            <a:r>
              <a:rPr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参数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</a:t>
            </a:r>
            <a:r>
              <a:rPr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中。当一个error事件到达时，状态机就切换到faulty状态，从此产生一个恒定输出。</a:t>
            </a:r>
            <a:r>
              <a:rPr 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注意可能用到默认转移和普通转移的区别）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58788" y="1154097"/>
            <a:ext cx="438714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b="1" dirty="0">
                <a:solidFill>
                  <a:srgbClr val="C00000"/>
                </a:solidFill>
              </a:rPr>
              <a:t>实验要求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4524375"/>
            <a:ext cx="581025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实验二  恒定故障建模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9815004" cy="4351338"/>
          </a:xfrm>
        </p:spPr>
        <p:txBody>
          <a:bodyPr>
            <a:normAutofit/>
          </a:bodyPr>
          <a:lstStyle/>
          <a:p>
            <a:pPr algn="just"/>
            <a:r>
              <a:rPr sz="2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对所谓的恒定故障建模，即在随机时间，信号停留在固定的值上，不再随输入变化。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58788" y="1154097"/>
            <a:ext cx="438714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400" b="1" dirty="0">
                <a:solidFill>
                  <a:srgbClr val="C00000"/>
                </a:solidFill>
              </a:rPr>
              <a:t>实验要求</a:t>
            </a:r>
            <a:endParaRPr lang="zh-CN" altLang="en-US" sz="2400" b="1" dirty="0">
              <a:solidFill>
                <a:srgbClr val="C0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5150" y="2581275"/>
            <a:ext cx="4686300" cy="3276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25" y="2695575"/>
            <a:ext cx="61341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实验三 </a:t>
            </a:r>
            <a:r>
              <a:rPr lang="en-US" dirty="0"/>
              <a:t>M/M/1</a:t>
            </a:r>
            <a:r>
              <a:rPr lang="zh-CN" altLang="en-US" dirty="0"/>
              <a:t>队列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75005" y="2026920"/>
            <a:ext cx="10515600" cy="4351338"/>
          </a:xfrm>
        </p:spPr>
        <p:txBody>
          <a:bodyPr>
            <a:normAutofit/>
          </a:bodyPr>
          <a:lstStyle/>
          <a:p>
            <a:r>
              <a:rPr sz="2400" dirty="0"/>
              <a:t>到达时间是泊松过程（Poisson process）；</a:t>
            </a:r>
          </a:p>
          <a:p>
            <a:r>
              <a:rPr sz="2400" dirty="0"/>
              <a:t>服务时间是指数分布（exponentially distributed）；</a:t>
            </a:r>
          </a:p>
          <a:p>
            <a:r>
              <a:rPr sz="2400" dirty="0"/>
              <a:t>只有一部服务器（server）</a:t>
            </a:r>
          </a:p>
          <a:p>
            <a:r>
              <a:rPr sz="2400" dirty="0"/>
              <a:t>队列长度无限制</a:t>
            </a:r>
          </a:p>
          <a:p>
            <a:r>
              <a:rPr sz="2400" dirty="0"/>
              <a:t>可加入队列的人数为无限</a:t>
            </a:r>
            <a:endParaRPr lang="en-US" altLang="zh-CN" sz="2400" dirty="0"/>
          </a:p>
        </p:txBody>
      </p:sp>
      <p:sp>
        <p:nvSpPr>
          <p:cNvPr id="10" name="文本框 9"/>
          <p:cNvSpPr txBox="1"/>
          <p:nvPr/>
        </p:nvSpPr>
        <p:spPr>
          <a:xfrm>
            <a:off x="812165" y="1318260"/>
            <a:ext cx="3466465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sz="2800" b="1" dirty="0">
                <a:solidFill>
                  <a:srgbClr val="C00000"/>
                </a:solidFill>
                <a:sym typeface="+mn-ea"/>
              </a:rPr>
              <a:t>M/M/1排队模型介绍</a:t>
            </a:r>
            <a:endParaRPr lang="en-US" altLang="zh-CN" sz="2800" b="1" dirty="0">
              <a:solidFill>
                <a:srgbClr val="C00000"/>
              </a:solidFill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12165" y="4951730"/>
            <a:ext cx="1037844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sz="2400" dirty="0"/>
              <a:t>用</a:t>
            </a:r>
            <a:r>
              <a:rPr sz="2400" dirty="0"/>
              <a:t>PoissonClock模拟客户请求到达。在该例中，平均到达间隔时间设置为2.0</a:t>
            </a:r>
            <a:r>
              <a:rPr lang="zh-CN" altLang="en-US"/>
              <a:t>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12103" y="4198922"/>
            <a:ext cx="438714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 dirty="0">
                <a:solidFill>
                  <a:srgbClr val="C00000"/>
                </a:solidFill>
              </a:rPr>
              <a:t>实验要求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sym typeface="+mn-ea"/>
              </a:rPr>
              <a:t>实验三 </a:t>
            </a:r>
            <a:r>
              <a:rPr lang="en-US" dirty="0">
                <a:sym typeface="+mn-ea"/>
              </a:rPr>
              <a:t>M/M/1</a:t>
            </a:r>
            <a:r>
              <a:rPr lang="zh-CN" altLang="en-US" dirty="0">
                <a:sym typeface="+mn-ea"/>
              </a:rPr>
              <a:t>队列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06755" y="203454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用ColtExponential表示客户到达速率。</a:t>
            </a:r>
            <a:r>
              <a:rPr sz="2400" dirty="0"/>
              <a:t>每一个客户到达时，它就根据指数分布产生一个随机数。</a:t>
            </a:r>
            <a:r>
              <a:rPr lang="zh-CN" sz="2400" dirty="0"/>
              <a:t>将</a:t>
            </a:r>
            <a:r>
              <a:rPr sz="2400" dirty="0"/>
              <a:t>ColtExponential角色的lambda参数设置为0.5，这就使得平均值为2.0。</a:t>
            </a:r>
          </a:p>
          <a:p>
            <a:r>
              <a:rPr lang="zh-CN" altLang="en-US" sz="2400" b="1" dirty="0">
                <a:solidFill>
                  <a:srgbClr val="C00000"/>
                </a:solidFill>
              </a:rPr>
              <a:t>用Server对具有固定或可变服务时间的服务器进行建模。</a:t>
            </a:r>
            <a:r>
              <a:rPr sz="2400" dirty="0"/>
              <a:t>在任何给定时间，服务器要么忙(为客户端服务）要么空闲。如果当服务器空闲时一个输入到达，那么输出端就会产生一个输入令牌，它包含serverTime参数给定的延迟。如果当服务器忙时一个输入到达，那么输入就排队直到服务器变为空闲，此时输出端产生一个具有serverTime参数给定的附加延迟。如果在服务器忙时多个输入到达，那么就遵循先到先服务的原则。serverTime可以不由参数提供而由输入端口提供。将输入端口接收的serverTime应用到所有同时或后来到达的事件，直到接收到另一个serverTime。在每个输入处理完后，size输出产生队列的大小。</a:t>
            </a:r>
          </a:p>
          <a:p>
            <a:r>
              <a:rPr lang="zh-CN" altLang="en-US" sz="2400" b="1" dirty="0">
                <a:solidFill>
                  <a:srgbClr val="C00000"/>
                </a:solidFill>
              </a:rPr>
              <a:t>Ramp角色用来给客户标记不同的整型值作为身份识别。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12165" y="1318260"/>
            <a:ext cx="2316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要求与提示：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实验三 </a:t>
            </a:r>
            <a:r>
              <a:rPr lang="en-US" dirty="0">
                <a:sym typeface="+mn-ea"/>
              </a:rPr>
              <a:t>M/M/1</a:t>
            </a:r>
            <a:r>
              <a:rPr lang="zh-CN" altLang="en-US" dirty="0">
                <a:sym typeface="+mn-ea"/>
              </a:rPr>
              <a:t>队列</a:t>
            </a:r>
            <a:endParaRPr lang="zh-CN" altLang="en-US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1065" y="1336040"/>
            <a:ext cx="5394960" cy="32289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01065" y="5086350"/>
            <a:ext cx="40265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要求显示Server输入输出的两个客户号（一个是到达队列一个是离开队列），还显示一个客户到达或离开时队列的大小。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525" y="1188085"/>
            <a:ext cx="3891915" cy="55333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实验三 </a:t>
            </a:r>
            <a:r>
              <a:rPr lang="en-US" dirty="0">
                <a:sym typeface="+mn-ea"/>
              </a:rPr>
              <a:t>M/M/1</a:t>
            </a:r>
            <a:r>
              <a:rPr lang="zh-CN" altLang="en-US" dirty="0">
                <a:sym typeface="+mn-ea"/>
              </a:rPr>
              <a:t>队列</a:t>
            </a:r>
            <a:endParaRPr dirty="0">
              <a:sym typeface="+mn-ea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890" y="1464945"/>
            <a:ext cx="6244590" cy="43516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06155" y="5231765"/>
            <a:ext cx="2179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n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注意图表的设置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zh-CN" dirty="0">
                <a:sym typeface="+mn-ea"/>
              </a:rPr>
              <a:t>四</a:t>
            </a:r>
            <a:r>
              <a:rPr lang="en-US" altLang="zh-CN" dirty="0">
                <a:sym typeface="+mn-ea"/>
              </a:rPr>
              <a:t> </a:t>
            </a:r>
            <a:r>
              <a:rPr dirty="0">
                <a:sym typeface="+mn-ea"/>
              </a:rPr>
              <a:t>延迟值为0的 TimeDelay的</a:t>
            </a:r>
            <a:r>
              <a:rPr lang="zh-CN" dirty="0">
                <a:sym typeface="+mn-ea"/>
              </a:rPr>
              <a:t>使用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29310" y="2000885"/>
            <a:ext cx="93510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/>
              <a:t>使用反馈回路在每个整数模型时间产生数目不定的事件，生成如下曲线</a:t>
            </a:r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829248" y="1255062"/>
            <a:ext cx="438714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 dirty="0">
                <a:solidFill>
                  <a:srgbClr val="C00000"/>
                </a:solidFill>
              </a:rPr>
              <a:t>实验要求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8550" y="2848610"/>
            <a:ext cx="49149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实验四  </a:t>
            </a:r>
            <a:r>
              <a:rPr sz="3600" dirty="0">
                <a:sym typeface="+mn-ea"/>
              </a:rPr>
              <a:t>延迟值为0的 TimeDelay的</a:t>
            </a:r>
            <a:r>
              <a:rPr lang="zh-CN" sz="3600" dirty="0">
                <a:sym typeface="+mn-ea"/>
              </a:rPr>
              <a:t>使用</a:t>
            </a:r>
            <a:endParaRPr lang="zh-CN" altLang="en-US" sz="3600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55">
                <a:sym typeface="+mn-ea"/>
              </a:rPr>
              <a:t>所使用的反馈回路有一个延迟设置为0.0的</a:t>
            </a:r>
            <a:r>
              <a:rPr lang="zh-CN" altLang="en-US" sz="2855" b="1" dirty="0">
                <a:solidFill>
                  <a:srgbClr val="C00000"/>
                </a:solidFill>
                <a:sym typeface="+mn-ea"/>
              </a:rPr>
              <a:t>TimeDelay</a:t>
            </a:r>
            <a:r>
              <a:rPr lang="zh-CN" altLang="en-US" sz="2855">
                <a:sym typeface="+mn-ea"/>
              </a:rPr>
              <a:t>角色。这使得反馈的事件在相同模型时间内使用递增的微步。</a:t>
            </a:r>
          </a:p>
          <a:p>
            <a:r>
              <a:rPr lang="zh-CN" altLang="en-US" sz="2855">
                <a:sym typeface="+mn-ea"/>
              </a:rPr>
              <a:t>这个模型使用</a:t>
            </a:r>
            <a:r>
              <a:rPr lang="zh-CN" altLang="en-US" sz="2855" b="1" dirty="0">
                <a:solidFill>
                  <a:srgbClr val="C00000"/>
                </a:solidFill>
                <a:sym typeface="+mn-ea"/>
              </a:rPr>
              <a:t>BooleanSwitch</a:t>
            </a:r>
            <a:r>
              <a:rPr lang="zh-CN" altLang="en-US" sz="2855">
                <a:sym typeface="+mn-ea"/>
              </a:rPr>
              <a:t>反馈一个非负值的令牌，只要其值为非负的。</a:t>
            </a:r>
          </a:p>
          <a:p>
            <a:r>
              <a:rPr lang="zh-CN" altLang="en-US" sz="2855">
                <a:sym typeface="+mn-ea"/>
              </a:rPr>
              <a:t>使用</a:t>
            </a:r>
            <a:r>
              <a:rPr lang="zh-CN" altLang="en-US" sz="2855" b="1" dirty="0">
                <a:solidFill>
                  <a:srgbClr val="C00000"/>
                </a:solidFill>
                <a:sym typeface="+mn-ea"/>
              </a:rPr>
              <a:t>addsubtract、 comparator</a:t>
            </a:r>
            <a:r>
              <a:rPr lang="zh-CN" altLang="en-US" sz="2855">
                <a:sym typeface="+mn-ea"/>
              </a:rPr>
              <a:t>产生递减迭代效果</a:t>
            </a:r>
            <a:endParaRPr lang="zh-CN" altLang="en-US" sz="2855"/>
          </a:p>
          <a:p>
            <a:r>
              <a:rPr lang="zh-CN" altLang="en-US" sz="2855">
                <a:sym typeface="+mn-ea"/>
              </a:rPr>
              <a:t>使用</a:t>
            </a:r>
            <a:r>
              <a:rPr lang="zh-CN" altLang="en-US" sz="2855" b="1" dirty="0">
                <a:solidFill>
                  <a:srgbClr val="C00000"/>
                </a:solidFill>
                <a:sym typeface="+mn-ea"/>
              </a:rPr>
              <a:t>Merge</a:t>
            </a:r>
            <a:r>
              <a:rPr lang="zh-CN" altLang="en-US" sz="2855">
                <a:sym typeface="+mn-ea"/>
              </a:rPr>
              <a:t>，它按照时间戳顺序将输入通道中的所有事件合并到一个信号中。如果它接收到强并发事件，那么它要么放弃除了第一个事件之外的所有的事件(如果discard参数值为true)，要么增加事件的微步并输出（如果discard参数值为false)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935990" y="1184910"/>
            <a:ext cx="23164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2800" b="1" dirty="0">
                <a:solidFill>
                  <a:srgbClr val="C00000"/>
                </a:solidFill>
                <a:sym typeface="+mn-ea"/>
              </a:rPr>
              <a:t>要求与提示：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实验</a:t>
            </a:r>
            <a:r>
              <a:rPr lang="zh-CN" dirty="0">
                <a:sym typeface="+mn-ea"/>
              </a:rPr>
              <a:t>四</a:t>
            </a:r>
            <a:r>
              <a:rPr lang="en-US" altLang="zh-CN" dirty="0">
                <a:sym typeface="+mn-ea"/>
              </a:rPr>
              <a:t> </a:t>
            </a:r>
            <a:r>
              <a:rPr dirty="0">
                <a:sym typeface="+mn-ea"/>
              </a:rPr>
              <a:t>延迟值为0的 TimeDelay的</a:t>
            </a:r>
            <a:r>
              <a:rPr lang="zh-CN" dirty="0">
                <a:sym typeface="+mn-ea"/>
              </a:rPr>
              <a:t>使用</a:t>
            </a:r>
            <a:endParaRPr dirty="0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29248" y="1255062"/>
            <a:ext cx="438714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sz="2800" b="1" dirty="0">
                <a:solidFill>
                  <a:srgbClr val="C00000"/>
                </a:solidFill>
              </a:rPr>
              <a:t>实验要求</a:t>
            </a:r>
            <a:endParaRPr lang="zh-CN" altLang="en-US" sz="2800" b="1" dirty="0">
              <a:solidFill>
                <a:srgbClr val="C00000"/>
              </a:solidFill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2950" y="2095500"/>
            <a:ext cx="10515600" cy="4135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781</Words>
  <Application>Microsoft Office PowerPoint</Application>
  <PresentationFormat>宽屏</PresentationFormat>
  <Paragraphs>60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等线</vt:lpstr>
      <vt:lpstr>等线 Light</vt:lpstr>
      <vt:lpstr>Arial</vt:lpstr>
      <vt:lpstr>Wingdings</vt:lpstr>
      <vt:lpstr>Office 主题​​</vt:lpstr>
      <vt:lpstr>1_Office 主题​​</vt:lpstr>
      <vt:lpstr>信息物理系统（CPS）实验</vt:lpstr>
      <vt:lpstr>实验要求</vt:lpstr>
      <vt:lpstr>PtolemyII模型的创建和运行</vt:lpstr>
      <vt:lpstr>PtolemyII模型中的库</vt:lpstr>
      <vt:lpstr>离散事件模型</vt:lpstr>
      <vt:lpstr>实验一  时间间隔柱状图</vt:lpstr>
      <vt:lpstr>实验一  时间间隔柱状图</vt:lpstr>
      <vt:lpstr>实验二  恒定故障建模</vt:lpstr>
      <vt:lpstr>实验二  恒定故障建模</vt:lpstr>
      <vt:lpstr>实验三 M/M/1队列</vt:lpstr>
      <vt:lpstr>实验三 M/M/1队列</vt:lpstr>
      <vt:lpstr>实验三 M/M/1队列</vt:lpstr>
      <vt:lpstr>实验三 M/M/1队列</vt:lpstr>
      <vt:lpstr>实验四 延迟值为0的 TimeDelay的使用</vt:lpstr>
      <vt:lpstr>实验四  延迟值为0的 TimeDelay的使用</vt:lpstr>
      <vt:lpstr>实验四 延迟值为0的 TimeDelay的使用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信息物理系统（CPS）实验</dc:title>
  <dc:creator>扬 徐</dc:creator>
  <cp:lastModifiedBy>Windows 用户</cp:lastModifiedBy>
  <cp:revision>31</cp:revision>
  <dcterms:created xsi:type="dcterms:W3CDTF">2021-05-12T07:41:00Z</dcterms:created>
  <dcterms:modified xsi:type="dcterms:W3CDTF">2023-03-30T10:25:25Z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1402483E414A407292415E32B2E552F8</vt:lpwstr>
  </property>
  <property fmtid="{D5CDD505-2E9C-101B-9397-08002B2CF9AE}" pid="3" name="KSOProductBuildVer">
    <vt:lpwstr>2052-11.1.0.11365</vt:lpwstr>
  </property>
</Properties>
</file>