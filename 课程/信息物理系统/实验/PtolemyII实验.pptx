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6" r:id="rId7"/>
    <p:sldId id="267" r:id="rId8"/>
    <p:sldId id="268" r:id="rId9"/>
    <p:sldId id="258" r:id="rId10"/>
    <p:sldId id="264" r:id="rId11"/>
    <p:sldId id="262" r:id="rId12"/>
    <p:sldId id="263" r:id="rId13"/>
    <p:sldId id="26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3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5E4939-D14E-493C-AF2B-9FC15DB4F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5112A8-5B8D-48CC-B6C6-C66A03A5E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3B0BB3-ECAD-44A9-BA4E-324EE706B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25D296-3555-4746-840C-E5D3424E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1E4B5B-151A-424D-A856-7BFA4C9DC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83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288CF-7F90-4ED0-A232-41C7DD7F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0" y="0"/>
            <a:ext cx="8442960" cy="81464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421865-883E-4C0C-AB82-53023FC50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171446" indent="-171446">
              <a:buFont typeface="Wingdings" panose="05000000000000000000" pitchFamily="2" charset="2"/>
              <a:buChar char="Ø"/>
              <a:defRPr sz="3200"/>
            </a:lvl1pPr>
            <a:lvl2pPr marL="514337" indent="-171446">
              <a:buFont typeface="Wingdings" panose="05000000000000000000" pitchFamily="2" charset="2"/>
              <a:buChar char="Ø"/>
              <a:defRPr sz="2800"/>
            </a:lvl2pPr>
            <a:lvl3pPr marL="857228" indent="-171446">
              <a:buFont typeface="Wingdings" panose="05000000000000000000" pitchFamily="2" charset="2"/>
              <a:buChar char="Ø"/>
              <a:defRPr sz="2000"/>
            </a:lvl3pPr>
            <a:lvl4pPr marL="1200120" indent="-171446">
              <a:buFont typeface="Wingdings" panose="05000000000000000000" pitchFamily="2" charset="2"/>
              <a:buChar char="Ø"/>
              <a:defRPr sz="1800"/>
            </a:lvl4pPr>
            <a:lvl5pPr marL="1543012" indent="-171446">
              <a:buFont typeface="Wingdings" panose="05000000000000000000" pitchFamily="2" charset="2"/>
              <a:buChar char="Ø"/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744CE4-8313-4626-B9AB-EC81AC02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E87CD3-A065-419E-974A-43E6B7BBF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AF104F-58E6-4801-863D-21AA89E0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52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6D7A9-9205-4E1B-8E77-AC2134ECF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A987CA-1223-4F76-829C-4BED3A432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0CB589-4F3B-4CE2-99AB-3976650BB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FC3660-FC3A-4FCE-A49B-29A8581DF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B190F1-FEA4-4867-BEDA-AEDFB777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78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EBAD5-9770-43B4-A656-B7098575A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544FF8-7AB1-48FC-BED4-738E97ED8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AAAB01-3CF1-4273-9AA0-1D2FC2CE5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B221E5-D623-40AF-B551-47DD0F5D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98EFF8-E721-454F-9A96-1371CA358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B1705A-93F1-435C-9179-3A9C6765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504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1582D-0240-44A0-A470-FBE059819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4AA8A1-749C-426F-9700-E118E7CFF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D6EEEB-224A-4F49-8466-234802F9A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22D826-E949-4C75-A306-AAC99DEA2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56458E-209D-45D1-9651-8D089C109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A968B0F-7552-406B-AF17-37FED5174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D48DCD-F2A0-4FFA-96CC-FD7E1A89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10C63D-EC1E-45DB-BB95-2FEF1BDA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4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D95BFA-0882-42DB-BBF7-75C9EA8AA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841259-7925-4B0E-B737-56C2D1E2C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AB8003-CBA8-4157-9228-BD732071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3A3B61-9CD4-4FA7-9285-0FFA7BC4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325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14893A-4818-4093-8D41-D29F0B196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466C28-3E50-497D-83C2-2DE26F45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CAC6EE-60D3-4735-8F55-2D5334FFF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61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76356-94B4-44E1-BA26-CD40C1DA5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DE4B50-CCDB-443B-84AE-98F52ACB4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2FB201-E77C-4CD8-9946-BB6A607C6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CF0A4B-0EC9-4226-AA1C-7A8D92485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2213B8-B919-4859-8224-A56579DC5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22D139-BF64-4EF8-9AA3-BB1C701E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114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3C13E0-DAEF-450E-B892-BE4FC1616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6AD4AA0-4596-4384-9F0C-425F10F79D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156700-88BA-47D2-9AF8-A2DACDE8C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7F992A-D184-4F76-BC9B-E6B972F39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2D5DD8-998A-41FF-8D27-BFA8EBD9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E3047-1FE5-4019-9160-08CA56613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52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50294-DC40-4998-9268-84284F7D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AE2898-DC10-4BB1-8ABF-1FC309791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F84F-256E-41C8-8D10-FDA306A27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EE4F54-3873-47D9-96A9-F666ABE73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343675-4675-4A1D-AED3-0FD02F0A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131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F27524-778F-4B28-A3DC-76285395A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7775C0-C5F3-4AF8-8B84-09B1C69B0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8BBFCD-0BEA-4BAF-A093-C61ECB05C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1CD3C4-98FC-40AE-82C5-889CFD37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8E417C-147D-4592-90E7-57D58D93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711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C112C1-CE87-4BAC-A320-EA9E8ED4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FE2330-1F49-429C-B445-291896735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79E92B-6BDD-4970-9295-E7FDFB5BA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3AED7-5D20-46A9-BE62-6248C1AAE14D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1423E8-F028-44A8-8ED7-55D5CFAB5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4D222-FF1E-4673-AD4F-3C66E9C4D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DC7211A-5A99-48F0-BD68-F0FE574F249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72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tolemy.berkeley.edu/ptolemyII/ptIIlatest/windows.htm" TargetMode="External"/><Relationship Id="rId2" Type="http://schemas.openxmlformats.org/officeDocument/2006/relationships/hyperlink" Target="https://ptolemy.berkeley.edu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AC396A-3720-49B3-9CA8-11A689EF7C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信息物理系统（</a:t>
            </a:r>
            <a:r>
              <a:rPr lang="en-US" altLang="zh-CN" b="1" dirty="0"/>
              <a:t>CPS</a:t>
            </a:r>
            <a:r>
              <a:rPr lang="zh-CN" altLang="en-US" b="1" dirty="0"/>
              <a:t>）实验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36A0FB-1B91-4C54-B8A3-694BA23EBD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基于</a:t>
            </a:r>
            <a:r>
              <a:rPr lang="en-US" altLang="zh-CN" sz="2800" b="1" dirty="0" err="1">
                <a:solidFill>
                  <a:srgbClr val="C00000"/>
                </a:solidFill>
              </a:rPr>
              <a:t>PtolemyII</a:t>
            </a:r>
            <a:r>
              <a:rPr lang="zh-CN" altLang="en-US" sz="2800" b="1" dirty="0">
                <a:solidFill>
                  <a:srgbClr val="C00000"/>
                </a:solidFill>
              </a:rPr>
              <a:t>平台</a:t>
            </a:r>
          </a:p>
        </p:txBody>
      </p:sp>
    </p:spTree>
    <p:extLst>
      <p:ext uri="{BB962C8B-B14F-4D97-AF65-F5344CB8AC3E}">
        <p14:creationId xmlns:p14="http://schemas.microsoft.com/office/powerpoint/2010/main" val="282754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B1D4B-9BE9-46C1-B33E-0FE70D6B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/>
              <a:t>PtolemyII</a:t>
            </a:r>
            <a:r>
              <a:rPr lang="zh-CN" altLang="en-US" sz="3600" dirty="0"/>
              <a:t>模拟器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D52046-CB06-47D7-A5D2-7A7EE6DA0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err="1"/>
              <a:t>PtolemyII</a:t>
            </a:r>
            <a:r>
              <a:rPr lang="zh-CN" altLang="en-US" sz="2400" dirty="0"/>
              <a:t>平台官网：</a:t>
            </a:r>
            <a:r>
              <a:rPr lang="en-US" altLang="zh-CN" sz="2400" dirty="0"/>
              <a:t> </a:t>
            </a:r>
            <a:r>
              <a:rPr lang="en-US" altLang="zh-CN" sz="2400" dirty="0">
                <a:hlinkClick r:id="rId2"/>
              </a:rPr>
              <a:t>https://ptolemy.berkeley.edu/</a:t>
            </a:r>
            <a:endParaRPr lang="en-US" altLang="zh-CN" sz="2400" dirty="0"/>
          </a:p>
          <a:p>
            <a:r>
              <a:rPr lang="zh-CN" altLang="en-US" sz="2400" dirty="0"/>
              <a:t>安装细节：</a:t>
            </a:r>
            <a:r>
              <a:rPr lang="en-US" altLang="zh-CN" sz="2400" dirty="0"/>
              <a:t> </a:t>
            </a:r>
            <a:r>
              <a:rPr lang="en-US" altLang="zh-CN" sz="2400" dirty="0">
                <a:hlinkClick r:id="rId3"/>
              </a:rPr>
              <a:t>https://ptolemy.berkeley.edu/ptolemyII/ptIIlatest/windows.htm</a:t>
            </a:r>
            <a:endParaRPr lang="en-US" altLang="zh-CN" sz="2400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260EDB-2433-4361-BA9E-FF6405F60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071813"/>
            <a:ext cx="5867400" cy="2895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69FD4A6-A38A-48E0-B079-A41321218D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5450" y="3791744"/>
            <a:ext cx="29337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45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12626C-2DEC-4F53-A2E0-8CAF0F5A3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err="1"/>
              <a:t>PtolemyII</a:t>
            </a:r>
            <a:r>
              <a:rPr lang="zh-CN" altLang="en-US" sz="3600" dirty="0"/>
              <a:t>模型的创建和运行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FA9DE6-EB50-4AA4-A4CF-2B7D5E454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通过菜单</a:t>
            </a:r>
            <a:r>
              <a:rPr lang="en-US" altLang="zh-CN" dirty="0"/>
              <a:t>[File</a:t>
            </a:r>
            <a:r>
              <a:rPr lang="zh-CN" altLang="en-US" dirty="0"/>
              <a:t>→</a:t>
            </a:r>
            <a:r>
              <a:rPr lang="en-US" altLang="zh-CN" dirty="0"/>
              <a:t>New</a:t>
            </a:r>
            <a:r>
              <a:rPr lang="zh-CN" altLang="en-US" dirty="0"/>
              <a:t> →</a:t>
            </a:r>
            <a:r>
              <a:rPr lang="en-US" altLang="zh-CN" dirty="0"/>
              <a:t>Graph Editor]</a:t>
            </a:r>
            <a:r>
              <a:rPr lang="zh-CN" altLang="en-US" dirty="0"/>
              <a:t>创建一个新模型。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0082154-A0A3-4B4B-8F30-948C7C3C6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737974"/>
            <a:ext cx="4981575" cy="29622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F01AE45-CEF6-48AE-B083-C1513952C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870" y="2737974"/>
            <a:ext cx="4649930" cy="309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41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44F90-35E9-4886-A797-1E5C98E8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err="1"/>
              <a:t>PtolemyII</a:t>
            </a:r>
            <a:r>
              <a:rPr lang="zh-CN" altLang="en-US" sz="3600" dirty="0"/>
              <a:t>模型中的库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1274EB-D83C-49DC-B9E9-A7E21E2DF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00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Director</a:t>
            </a:r>
            <a:r>
              <a:rPr lang="zh-CN" altLang="en-US" sz="2400" dirty="0"/>
              <a:t>（指示器）库中的指示器进行模型功能的控制，比如模型将要执行多少次迭代。</a:t>
            </a:r>
            <a:endParaRPr lang="en-US" altLang="zh-CN" sz="2400" dirty="0"/>
          </a:p>
          <a:p>
            <a:r>
              <a:rPr lang="en-US" altLang="zh-CN" sz="2400" dirty="0"/>
              <a:t>Actors</a:t>
            </a:r>
            <a:r>
              <a:rPr lang="zh-CN" altLang="en-US" sz="2400" dirty="0"/>
              <a:t>库包含了</a:t>
            </a:r>
            <a:r>
              <a:rPr lang="en-US" altLang="zh-CN" sz="2400" dirty="0"/>
              <a:t>sources</a:t>
            </a:r>
            <a:r>
              <a:rPr lang="zh-CN" altLang="en-US" sz="2400" dirty="0"/>
              <a:t>库（信号源）、</a:t>
            </a:r>
            <a:r>
              <a:rPr lang="en-US" altLang="zh-CN" sz="2400" dirty="0"/>
              <a:t>sinks</a:t>
            </a:r>
            <a:r>
              <a:rPr lang="zh-CN" altLang="en-US" sz="2400" dirty="0"/>
              <a:t>库（信号目的地）、</a:t>
            </a:r>
            <a:r>
              <a:rPr lang="en-US" altLang="zh-CN" sz="2400" dirty="0"/>
              <a:t>Math</a:t>
            </a:r>
            <a:r>
              <a:rPr lang="zh-CN" altLang="en-US" sz="2400" dirty="0"/>
              <a:t>库（数学运算等）</a:t>
            </a: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4AEFA67-9499-42B4-BBC2-AFCD95CA0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627" y="3092007"/>
            <a:ext cx="2028825" cy="34194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BDFEF8F-449D-4491-B261-4ADE49330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50" y="3092007"/>
            <a:ext cx="196215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663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5B6D4-5254-492D-9DD7-B247428CA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复合角色构建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1A3FE2-B20C-42AC-A0C7-C526268BB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en-US" sz="2400" dirty="0"/>
              <a:t>为了创建复合角色，从</a:t>
            </a:r>
            <a:r>
              <a:rPr lang="en-US" altLang="zh-CN" sz="2400" dirty="0"/>
              <a:t>Utilities</a:t>
            </a:r>
            <a:r>
              <a:rPr lang="zh-CN" altLang="en-US" sz="2400" dirty="0"/>
              <a:t>库中拖出一个</a:t>
            </a:r>
            <a:r>
              <a:rPr lang="en-US" altLang="zh-CN" sz="2400" dirty="0" err="1"/>
              <a:t>CompositeActor</a:t>
            </a:r>
            <a:r>
              <a:rPr lang="zh-CN" altLang="en-US" sz="2400" dirty="0"/>
              <a:t>，选择</a:t>
            </a:r>
            <a:r>
              <a:rPr lang="en-US" altLang="zh-CN" sz="2400" dirty="0"/>
              <a:t>[Customize</a:t>
            </a:r>
            <a:r>
              <a:rPr lang="zh-CN" altLang="en-US" sz="2400" dirty="0"/>
              <a:t>→</a:t>
            </a:r>
            <a:r>
              <a:rPr lang="en-US" altLang="zh-CN" sz="2400" dirty="0"/>
              <a:t>Rename]</a:t>
            </a:r>
            <a:r>
              <a:rPr lang="zh-CN" altLang="en-US" sz="2400" dirty="0"/>
              <a:t>给复合角色改名，如</a:t>
            </a:r>
            <a:r>
              <a:rPr lang="en-US" altLang="zh-CN" sz="2400" dirty="0"/>
              <a:t>Channel</a:t>
            </a:r>
            <a:r>
              <a:rPr lang="zh-CN" altLang="en-US" sz="2400" dirty="0"/>
              <a:t>。之后在复合角色上右键点开</a:t>
            </a:r>
            <a:r>
              <a:rPr lang="en-US" altLang="zh-CN" sz="2400" dirty="0"/>
              <a:t>Open Actor</a:t>
            </a:r>
            <a:r>
              <a:rPr lang="zh-CN" altLang="en-US" sz="2400" dirty="0"/>
              <a:t>打开新的图形编辑器窗口，在其中创建一个高斯信道模型。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C58E27-ED38-4EDB-9820-769498921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499" y="3872467"/>
            <a:ext cx="4238625" cy="19716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98198B0-490B-49FA-A307-770FDBEFF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404" y="3236604"/>
            <a:ext cx="1676540" cy="3243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F766618-09C8-4BA0-B280-239D8F112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529" y="4329666"/>
            <a:ext cx="1447800" cy="1057275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CD8AA54F-4CED-4B4A-970F-50BEB1FC74FB}"/>
              </a:ext>
            </a:extLst>
          </p:cNvPr>
          <p:cNvSpPr/>
          <p:nvPr/>
        </p:nvSpPr>
        <p:spPr>
          <a:xfrm>
            <a:off x="3092218" y="4838329"/>
            <a:ext cx="561821" cy="299559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29893676-E6BC-4135-8421-C5B5FA3EFA8D}"/>
              </a:ext>
            </a:extLst>
          </p:cNvPr>
          <p:cNvSpPr/>
          <p:nvPr/>
        </p:nvSpPr>
        <p:spPr>
          <a:xfrm>
            <a:off x="5800093" y="4838328"/>
            <a:ext cx="561821" cy="299559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99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34EF2-4524-4315-8467-543905464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参数设置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A161FD-9E1C-473D-9E4D-B1210EBA6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380" y="1337353"/>
            <a:ext cx="10811244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在信道模型中，点击</a:t>
            </a:r>
            <a:r>
              <a:rPr lang="en-US" altLang="zh-CN" sz="2400" dirty="0"/>
              <a:t>Utilities</a:t>
            </a:r>
            <a:r>
              <a:rPr lang="zh-CN" altLang="en-US" sz="2400" dirty="0"/>
              <a:t>→</a:t>
            </a:r>
            <a:r>
              <a:rPr lang="en-US" altLang="zh-CN" sz="2400" dirty="0"/>
              <a:t>Parameters</a:t>
            </a:r>
            <a:r>
              <a:rPr lang="zh-CN" altLang="en-US" sz="2400" dirty="0"/>
              <a:t>子库选择一个参数并拖进模型，将其改名为</a:t>
            </a:r>
            <a:r>
              <a:rPr lang="en-US" altLang="zh-CN" sz="2400" dirty="0" err="1"/>
              <a:t>noisePower</a:t>
            </a:r>
            <a:r>
              <a:rPr lang="zh-CN" altLang="en-US" sz="2400" dirty="0"/>
              <a:t>并设置值。这个参数用于设置噪声大小，在</a:t>
            </a:r>
            <a:r>
              <a:rPr lang="en-US" altLang="zh-CN" sz="2400" dirty="0"/>
              <a:t>Gaussian</a:t>
            </a:r>
            <a:r>
              <a:rPr lang="zh-CN" altLang="en-US" sz="2400" dirty="0"/>
              <a:t>角色中有一个称为</a:t>
            </a:r>
            <a:r>
              <a:rPr lang="en-US" altLang="zh-CN" sz="2400" dirty="0" err="1"/>
              <a:t>standardDeviation</a:t>
            </a:r>
            <a:r>
              <a:rPr lang="en-US" altLang="zh-CN" sz="2400" dirty="0"/>
              <a:t>(</a:t>
            </a:r>
            <a:r>
              <a:rPr lang="zh-CN" altLang="en-US" sz="2400" dirty="0"/>
              <a:t>标准差</a:t>
            </a:r>
            <a:r>
              <a:rPr lang="en-US" altLang="zh-CN" sz="2400" dirty="0"/>
              <a:t>)</a:t>
            </a:r>
            <a:r>
              <a:rPr lang="zh-CN" altLang="en-US" sz="2400" dirty="0"/>
              <a:t>的参数，将其值改为</a:t>
            </a:r>
            <a:r>
              <a:rPr lang="en-US" altLang="zh-CN" sz="2400" dirty="0"/>
              <a:t>sqrt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noisePower</a:t>
            </a:r>
            <a:r>
              <a:rPr lang="zh-CN" altLang="en-US" sz="2400" dirty="0"/>
              <a:t>）。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64B4CD-75B8-40DF-BDF6-0C3BF6C51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546" y="2887172"/>
            <a:ext cx="2038350" cy="33242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3F0F9D6-1D6A-47D0-86DC-837ED7817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861" y="2527184"/>
            <a:ext cx="4238625" cy="19716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6FBE233-D11B-4965-8694-1688D2941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992" y="4787199"/>
            <a:ext cx="4800439" cy="180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3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23B8B-EC19-42DF-BE06-BB25E8DDF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实验一 </a:t>
            </a:r>
            <a:r>
              <a:rPr lang="en-US" altLang="zh-CN" dirty="0"/>
              <a:t>2</a:t>
            </a:r>
            <a:r>
              <a:rPr lang="zh-CN" altLang="en-US" dirty="0"/>
              <a:t>位计数器配置实验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52011E-84C1-4048-9FB0-CFFE15F2D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同步响应（</a:t>
            </a:r>
            <a:r>
              <a:rPr lang="en-US" altLang="zh-CN" sz="2400" dirty="0"/>
              <a:t>SR</a:t>
            </a:r>
            <a:r>
              <a:rPr lang="zh-CN" altLang="en-US" sz="2400" dirty="0"/>
              <a:t>）计算模型涉及同步系统建模，主要用于调度并发行为、管理共享资源、检测和适应系统故障。</a:t>
            </a:r>
            <a:endParaRPr lang="en-US" altLang="zh-CN" sz="2400" dirty="0"/>
          </a:p>
          <a:p>
            <a:r>
              <a:rPr lang="zh-CN" altLang="en-US" sz="2400" dirty="0"/>
              <a:t>首先构建一个复合角色解码器（</a:t>
            </a:r>
            <a:r>
              <a:rPr lang="en-US" altLang="zh-CN" sz="2400" dirty="0"/>
              <a:t>Decoder</a:t>
            </a:r>
            <a:r>
              <a:rPr lang="zh-CN" altLang="en-US" sz="2400" dirty="0"/>
              <a:t>），通过给</a:t>
            </a:r>
            <a:r>
              <a:rPr lang="en-US" altLang="zh-CN" sz="2400" dirty="0"/>
              <a:t>LOB</a:t>
            </a:r>
            <a:r>
              <a:rPr lang="zh-CN" altLang="en-US" sz="2400" dirty="0"/>
              <a:t>赋值，可以将两个布尔值转换为</a:t>
            </a:r>
            <a:r>
              <a:rPr lang="en-US" altLang="zh-CN" sz="2400" dirty="0"/>
              <a:t>0~3</a:t>
            </a:r>
            <a:r>
              <a:rPr lang="zh-CN" altLang="en-US" sz="2400" dirty="0"/>
              <a:t>的数值。它包含了两个</a:t>
            </a:r>
            <a:r>
              <a:rPr lang="en-US" altLang="zh-CN" sz="2400" dirty="0" err="1"/>
              <a:t>BooleanToAnything</a:t>
            </a:r>
            <a:r>
              <a:rPr lang="zh-CN" altLang="en-US" sz="2400" dirty="0"/>
              <a:t>的角色。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7DB6BE9-D6AF-4751-BF66-1725A39F5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37" y="4109466"/>
            <a:ext cx="1152525" cy="11811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48683F1-86EE-4E87-8715-0E26FD6E7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256" y="4061841"/>
            <a:ext cx="4448175" cy="1228725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69CD3687-0926-4628-AA30-0390762B3AD8}"/>
              </a:ext>
            </a:extLst>
          </p:cNvPr>
          <p:cNvSpPr/>
          <p:nvPr/>
        </p:nvSpPr>
        <p:spPr>
          <a:xfrm>
            <a:off x="4444555" y="4457700"/>
            <a:ext cx="978408" cy="48463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463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90B15-CA74-4238-85D4-AD9300622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697422-CF7B-41EE-AF92-7A29B1ED5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考虑用</a:t>
            </a:r>
            <a:r>
              <a:rPr lang="en-US" altLang="zh-CN" sz="2400" dirty="0" err="1"/>
              <a:t>LogicalNot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LogicalGate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xor</a:t>
            </a:r>
            <a:r>
              <a:rPr lang="zh-CN" altLang="en-US" sz="2400" dirty="0"/>
              <a:t>）、</a:t>
            </a:r>
            <a:r>
              <a:rPr lang="en-US" altLang="zh-CN" sz="2400" dirty="0" err="1"/>
              <a:t>NonstrictDelay</a:t>
            </a:r>
            <a:r>
              <a:rPr lang="zh-CN" altLang="en-US" sz="2400" dirty="0"/>
              <a:t>（功能为锁存器）以及</a:t>
            </a:r>
            <a:r>
              <a:rPr lang="en-US" altLang="zh-CN" sz="2400" dirty="0"/>
              <a:t>Decoder</a:t>
            </a:r>
            <a:r>
              <a:rPr lang="zh-CN" altLang="en-US" sz="2400" dirty="0"/>
              <a:t>和</a:t>
            </a:r>
            <a:r>
              <a:rPr lang="en-US" altLang="zh-CN" sz="2400" dirty="0"/>
              <a:t>Display</a:t>
            </a:r>
            <a:r>
              <a:rPr lang="zh-CN" altLang="en-US" sz="2400" dirty="0"/>
              <a:t>（显示运行结果）构建一个</a:t>
            </a:r>
            <a:r>
              <a:rPr lang="en-US" altLang="zh-CN" sz="2400" dirty="0"/>
              <a:t>2</a:t>
            </a:r>
            <a:r>
              <a:rPr lang="zh-CN" altLang="en-US" sz="2400" dirty="0"/>
              <a:t>位 的模</a:t>
            </a:r>
            <a:r>
              <a:rPr lang="en-US" altLang="zh-CN" sz="2400" dirty="0"/>
              <a:t>4</a:t>
            </a:r>
            <a:r>
              <a:rPr lang="zh-CN" altLang="en-US" sz="2400" dirty="0"/>
              <a:t>奇数器模型，使其产生整数序列</a:t>
            </a:r>
            <a:r>
              <a:rPr lang="en-US" altLang="zh-CN" sz="2400" dirty="0"/>
              <a:t>0,1,2,3,0,1…</a:t>
            </a:r>
            <a:r>
              <a:rPr lang="zh-CN" altLang="en-US" sz="2400" dirty="0"/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ADE351-2D85-4FDB-B7FA-A55263484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3350895"/>
            <a:ext cx="303847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61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6EE66-4EAA-4410-A122-D37EA496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实验二  恒温器配置实验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733A79-9799-4A9F-B660-760C59D03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15004" cy="4351338"/>
          </a:xfrm>
        </p:spPr>
        <p:txBody>
          <a:bodyPr>
            <a:normAutofit/>
          </a:bodyPr>
          <a:lstStyle/>
          <a:p>
            <a:pPr algn="just"/>
            <a:r>
              <a:rPr lang="en-US" altLang="zh-CN" sz="2400" dirty="0"/>
              <a:t>FSM</a:t>
            </a:r>
            <a:r>
              <a:rPr lang="zh-CN" altLang="en-US" sz="2400" dirty="0"/>
              <a:t>包含了一系列的状态与转移。其中一个是</a:t>
            </a:r>
            <a:r>
              <a:rPr lang="zh-CN" altLang="en-US" sz="2400" b="1" dirty="0">
                <a:solidFill>
                  <a:srgbClr val="C00000"/>
                </a:solidFill>
              </a:rPr>
              <a:t>初始状态</a:t>
            </a:r>
            <a:r>
              <a:rPr lang="zh-CN" altLang="en-US" sz="2400" dirty="0"/>
              <a:t>（</a:t>
            </a:r>
            <a:r>
              <a:rPr lang="en-US" altLang="zh-CN" sz="2400" dirty="0"/>
              <a:t>initial state</a:t>
            </a:r>
            <a:r>
              <a:rPr lang="zh-CN" altLang="en-US" sz="2400" dirty="0"/>
              <a:t>），还有一个</a:t>
            </a:r>
            <a:r>
              <a:rPr lang="zh-CN" altLang="en-US" sz="2400" b="1" dirty="0">
                <a:solidFill>
                  <a:srgbClr val="C00000"/>
                </a:solidFill>
              </a:rPr>
              <a:t>终止状态</a:t>
            </a:r>
            <a:r>
              <a:rPr lang="zh-CN" altLang="en-US" sz="2400" dirty="0"/>
              <a:t>（</a:t>
            </a:r>
            <a:r>
              <a:rPr lang="en-US" altLang="zh-CN" sz="2400" dirty="0"/>
              <a:t>final state</a:t>
            </a:r>
            <a:r>
              <a:rPr lang="zh-CN" altLang="en-US" sz="2400" dirty="0"/>
              <a:t>）。每个转移都有一个</a:t>
            </a:r>
            <a:r>
              <a:rPr lang="zh-CN" altLang="en-US" sz="2400" b="1" dirty="0">
                <a:solidFill>
                  <a:srgbClr val="C00000"/>
                </a:solidFill>
              </a:rPr>
              <a:t>条件表达式</a:t>
            </a:r>
            <a:r>
              <a:rPr lang="zh-CN" altLang="en-US" sz="2400" dirty="0"/>
              <a:t>和一些输出动作以及赋值动作。在状态机开始执行时，角色的状态被设置为初始状态</a:t>
            </a:r>
            <a:endParaRPr lang="en-US" altLang="zh-CN" sz="2400" dirty="0"/>
          </a:p>
          <a:p>
            <a:pPr algn="just"/>
            <a:r>
              <a:rPr lang="zh-CN" altLang="en-US" sz="2400" dirty="0"/>
              <a:t>转移条件定义：每个转移都有一个</a:t>
            </a:r>
            <a:r>
              <a:rPr lang="zh-CN" altLang="en-US" sz="2400" b="1" dirty="0">
                <a:solidFill>
                  <a:srgbClr val="C00000"/>
                </a:solidFill>
              </a:rPr>
              <a:t>条件</a:t>
            </a:r>
            <a:r>
              <a:rPr lang="zh-CN" altLang="en-US" sz="2400" dirty="0"/>
              <a:t>（</a:t>
            </a:r>
            <a:r>
              <a:rPr lang="en-US" altLang="zh-CN" sz="2400" dirty="0"/>
              <a:t>guard</a:t>
            </a:r>
            <a:r>
              <a:rPr lang="zh-CN" altLang="en-US" sz="2400" dirty="0"/>
              <a:t>），其依赖于状态机的输入、参数、变量并产生相应的输出。</a:t>
            </a:r>
            <a:endParaRPr lang="en-US" altLang="zh-CN" sz="2400" dirty="0"/>
          </a:p>
          <a:p>
            <a:pPr algn="just"/>
            <a:r>
              <a:rPr lang="zh-CN" altLang="en-US" sz="2400" dirty="0"/>
              <a:t>输出动作：一旦选择了一个转移，就执行它的</a:t>
            </a:r>
            <a:r>
              <a:rPr lang="zh-CN" altLang="en-US" sz="2400" b="1" dirty="0">
                <a:solidFill>
                  <a:srgbClr val="C00000"/>
                </a:solidFill>
              </a:rPr>
              <a:t>输出动作</a:t>
            </a:r>
            <a:r>
              <a:rPr lang="zh-CN" altLang="en-US" sz="2400" dirty="0"/>
              <a:t>（</a:t>
            </a:r>
            <a:r>
              <a:rPr lang="en-US" altLang="zh-CN" sz="2400" dirty="0"/>
              <a:t>output action</a:t>
            </a:r>
            <a:r>
              <a:rPr lang="zh-CN" altLang="en-US" sz="2400" dirty="0"/>
              <a:t>）。输出动作由转移的</a:t>
            </a:r>
            <a:r>
              <a:rPr lang="en-US" altLang="zh-CN" sz="2400" dirty="0" err="1"/>
              <a:t>outputAction</a:t>
            </a:r>
            <a:r>
              <a:rPr lang="zh-CN" altLang="en-US" sz="2400" dirty="0"/>
              <a:t>参数描述，格式为</a:t>
            </a:r>
            <a:r>
              <a:rPr lang="en-US" altLang="zh-CN" sz="2400" dirty="0" err="1"/>
              <a:t>PortName</a:t>
            </a:r>
            <a:r>
              <a:rPr lang="en-US" altLang="zh-CN" sz="2400" dirty="0"/>
              <a:t>=expression</a:t>
            </a:r>
            <a:r>
              <a:rPr lang="zh-CN" altLang="en-US" sz="2400" dirty="0"/>
              <a:t>，</a:t>
            </a:r>
            <a:r>
              <a:rPr lang="en-US" altLang="zh-CN" sz="2400" dirty="0"/>
              <a:t> expression</a:t>
            </a:r>
            <a:r>
              <a:rPr lang="zh-CN" altLang="en-US" sz="2400" dirty="0"/>
              <a:t>与输入值或者某个参数有关。</a:t>
            </a:r>
            <a:endParaRPr lang="en-US" altLang="zh-CN" sz="2400" dirty="0"/>
          </a:p>
          <a:p>
            <a:pPr algn="just"/>
            <a:r>
              <a:rPr lang="zh-CN" altLang="en-US" sz="2400" dirty="0"/>
              <a:t>赋值动作和扩展有限状态机：转移的</a:t>
            </a:r>
            <a:r>
              <a:rPr lang="zh-CN" altLang="en-US" sz="2400" b="1" dirty="0">
                <a:solidFill>
                  <a:srgbClr val="C00000"/>
                </a:solidFill>
              </a:rPr>
              <a:t>赋值动作</a:t>
            </a:r>
            <a:r>
              <a:rPr lang="zh-CN" altLang="en-US" sz="2400" dirty="0"/>
              <a:t>可以用来设置状态机参数的值。这一特性可以用来创建扩展状态机。</a:t>
            </a:r>
            <a:endParaRPr lang="en-US" altLang="zh-CN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7C0510-A244-4289-9664-13ADACF5482D}"/>
              </a:ext>
            </a:extLst>
          </p:cNvPr>
          <p:cNvSpPr txBox="1"/>
          <p:nvPr/>
        </p:nvSpPr>
        <p:spPr>
          <a:xfrm>
            <a:off x="958788" y="1154097"/>
            <a:ext cx="4387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有限状态机（</a:t>
            </a:r>
            <a:r>
              <a:rPr lang="en-US" altLang="zh-CN" sz="2400" b="1" dirty="0">
                <a:solidFill>
                  <a:srgbClr val="C00000"/>
                </a:solidFill>
              </a:rPr>
              <a:t>FSM</a:t>
            </a:r>
            <a:r>
              <a:rPr lang="zh-CN" altLang="en-US" sz="2400" b="1" dirty="0">
                <a:solidFill>
                  <a:srgbClr val="C00000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70696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6D174D-0939-4462-A740-D56FC0E0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实验二  恒温器配置实验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13FEFB-4A78-44E4-9DCE-B09F88DA0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051" y="1825625"/>
            <a:ext cx="5456068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zh-CN" altLang="en-US" sz="2400" dirty="0"/>
              <a:t>创建一个模态模型</a:t>
            </a:r>
            <a:r>
              <a:rPr lang="en-US" altLang="zh-CN" sz="2400" dirty="0" err="1"/>
              <a:t>ModalModel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FSMActor</a:t>
            </a:r>
            <a:r>
              <a:rPr lang="zh-CN" altLang="en-US" sz="2400" dirty="0"/>
              <a:t>）包含一个</a:t>
            </a:r>
            <a:r>
              <a:rPr lang="zh-CN" altLang="zh-CN" sz="2400" dirty="0"/>
              <a:t>恒温器</a:t>
            </a:r>
            <a:r>
              <a:rPr lang="zh-CN" altLang="en-US" sz="2400" dirty="0"/>
              <a:t>的</a:t>
            </a:r>
            <a:r>
              <a:rPr lang="en-US" altLang="zh-CN" sz="2400" dirty="0"/>
              <a:t>FSM</a:t>
            </a:r>
          </a:p>
          <a:p>
            <a:pPr algn="just"/>
            <a:r>
              <a:rPr lang="zh-CN" altLang="zh-CN" sz="2400" dirty="0"/>
              <a:t>恒温器</a:t>
            </a:r>
            <a:r>
              <a:rPr lang="zh-CN" altLang="en-US" sz="2400" dirty="0"/>
              <a:t>建模</a:t>
            </a:r>
            <a:r>
              <a:rPr lang="zh-CN" altLang="zh-CN" sz="2400" dirty="0"/>
              <a:t>为一个状态为</a:t>
            </a:r>
            <a:r>
              <a:rPr lang="en-US" altLang="zh-CN" sz="2400" dirty="0"/>
              <a:t>{heating</a:t>
            </a:r>
            <a:r>
              <a:rPr lang="zh-CN" altLang="zh-CN" sz="2400" dirty="0"/>
              <a:t>，</a:t>
            </a:r>
            <a:r>
              <a:rPr lang="en-US" altLang="zh-CN" sz="2400" dirty="0"/>
              <a:t>cooling}</a:t>
            </a:r>
            <a:r>
              <a:rPr lang="zh-CN" altLang="zh-CN" sz="2400" dirty="0"/>
              <a:t>的状态机。如果状态</a:t>
            </a:r>
            <a:r>
              <a:rPr lang="en-US" altLang="zh-CN" sz="2400" dirty="0"/>
              <a:t>s=heating</a:t>
            </a:r>
            <a:r>
              <a:rPr lang="zh-CN" altLang="zh-CN" sz="2400" dirty="0"/>
              <a:t>，那么开启加热器；如果</a:t>
            </a:r>
            <a:r>
              <a:rPr lang="en-US" altLang="zh-CN" sz="2400" dirty="0"/>
              <a:t>s=cooling</a:t>
            </a:r>
            <a:r>
              <a:rPr lang="zh-CN" altLang="zh-CN" sz="2400" dirty="0"/>
              <a:t>，那么停止加热器运行。假设设定的理想温度为</a:t>
            </a:r>
            <a:r>
              <a:rPr lang="en-US" altLang="zh-CN" sz="2400" dirty="0"/>
              <a:t>20</a:t>
            </a:r>
            <a:r>
              <a:rPr lang="zh-CN" altLang="zh-CN" sz="2400" dirty="0"/>
              <a:t>℃。为了避免加热器在目标温度附件来回切换，因此应设置状态机在设定理想温度值附近滞后切换。例如，加热且开启恒温器允许温度上升到</a:t>
            </a:r>
            <a:r>
              <a:rPr lang="en-US" altLang="zh-CN" sz="2400" dirty="0"/>
              <a:t>22</a:t>
            </a:r>
            <a:r>
              <a:rPr lang="zh-CN" altLang="zh-CN" sz="2400" dirty="0"/>
              <a:t>℃，如果关闭加热器，恒温器允许温度下降到</a:t>
            </a:r>
            <a:r>
              <a:rPr lang="en-US" altLang="zh-CN" sz="2400" dirty="0"/>
              <a:t>18</a:t>
            </a:r>
            <a:r>
              <a:rPr lang="zh-CN" altLang="zh-CN" sz="2400" dirty="0"/>
              <a:t>℃。设置恒温器的有限状态机（</a:t>
            </a:r>
            <a:r>
              <a:rPr lang="en-US" altLang="zh-CN" sz="2400" dirty="0"/>
              <a:t>FSM</a:t>
            </a:r>
            <a:r>
              <a:rPr lang="zh-CN" altLang="zh-CN" sz="2400" dirty="0"/>
              <a:t>）模型如下，配置相应的守卫条件。</a:t>
            </a:r>
            <a:endParaRPr lang="zh-CN" altLang="en-US" sz="2400" dirty="0"/>
          </a:p>
          <a:p>
            <a:pPr algn="just"/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69F571-1EFA-44F2-B7C7-400B1C250BD7}"/>
              </a:ext>
            </a:extLst>
          </p:cNvPr>
          <p:cNvSpPr txBox="1"/>
          <p:nvPr/>
        </p:nvSpPr>
        <p:spPr>
          <a:xfrm>
            <a:off x="3977980" y="1084355"/>
            <a:ext cx="4387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solidFill>
                  <a:srgbClr val="C00000"/>
                </a:solidFill>
              </a:rPr>
              <a:t>FSMActor</a:t>
            </a:r>
            <a:r>
              <a:rPr lang="en-US" altLang="zh-CN" sz="2400" b="1" dirty="0">
                <a:solidFill>
                  <a:srgbClr val="C00000"/>
                </a:solidFill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</a:rPr>
              <a:t>内部</a:t>
            </a:r>
            <a:r>
              <a:rPr lang="en-US" altLang="zh-CN" sz="2400" b="1" dirty="0">
                <a:solidFill>
                  <a:srgbClr val="C00000"/>
                </a:solidFill>
              </a:rPr>
              <a:t>FSM</a:t>
            </a:r>
            <a:r>
              <a:rPr lang="zh-CN" altLang="en-US" sz="2400" b="1" dirty="0">
                <a:solidFill>
                  <a:srgbClr val="C00000"/>
                </a:solidFill>
              </a:rPr>
              <a:t>参考案例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ABA1E98-FF61-42DD-805D-7402FEBFD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3779" y="1808993"/>
            <a:ext cx="1929413" cy="847210"/>
          </a:xfrm>
          <a:prstGeom prst="rect">
            <a:avLst/>
          </a:prstGeom>
        </p:spPr>
      </p:pic>
      <p:sp>
        <p:nvSpPr>
          <p:cNvPr id="7" name="箭头: 下 6">
            <a:extLst>
              <a:ext uri="{FF2B5EF4-FFF2-40B4-BE49-F238E27FC236}">
                <a16:creationId xmlns:a16="http://schemas.microsoft.com/office/drawing/2014/main" id="{C7A1AC7B-9D60-43A6-B528-FCC02479FFEE}"/>
              </a:ext>
            </a:extLst>
          </p:cNvPr>
          <p:cNvSpPr/>
          <p:nvPr/>
        </p:nvSpPr>
        <p:spPr>
          <a:xfrm>
            <a:off x="8818485" y="2724388"/>
            <a:ext cx="310718" cy="461725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926965-43B8-421E-A22A-66572784A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586" y="3254298"/>
            <a:ext cx="5353797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616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6F50A-622E-4DD8-AA16-91B5CCF67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实验二  恒温器配置实验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E5FBDF-7497-426A-B854-0E979CBB9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创建一个复合角色</a:t>
            </a:r>
            <a:r>
              <a:rPr lang="en-US" altLang="zh-CN" dirty="0"/>
              <a:t>Temperature Model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F37452-DD78-418A-A217-BA64C7A80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860" y="3331346"/>
            <a:ext cx="5629275" cy="1619250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CB700A2C-8D5B-4204-BA08-F8FCEC1A9D8C}"/>
              </a:ext>
            </a:extLst>
          </p:cNvPr>
          <p:cNvSpPr/>
          <p:nvPr/>
        </p:nvSpPr>
        <p:spPr>
          <a:xfrm>
            <a:off x="3996787" y="3898655"/>
            <a:ext cx="978408" cy="48463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8EB26AA-7F17-4E99-AA7F-8DF2E60CD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65" y="3512321"/>
            <a:ext cx="218122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53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BA0B4-0C5B-4FDE-84B7-D458CE900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实验二  恒温器配置实验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D3A65F-5792-4632-8B37-2F62E02E7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01" y="1532662"/>
            <a:ext cx="10445318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将恒温器的</a:t>
            </a:r>
            <a:r>
              <a:rPr lang="en-US" altLang="zh-CN" sz="2400" dirty="0"/>
              <a:t>FSM</a:t>
            </a:r>
            <a:r>
              <a:rPr lang="zh-CN" altLang="en-US" sz="2400" dirty="0"/>
              <a:t>模型嵌入到同步数据流（</a:t>
            </a:r>
            <a:r>
              <a:rPr lang="en-US" altLang="zh-CN" sz="2400" dirty="0"/>
              <a:t>SDF</a:t>
            </a:r>
            <a:r>
              <a:rPr lang="zh-CN" altLang="en-US" sz="2400" dirty="0"/>
              <a:t>）模型中，并用两个绘图仪分别显示出温度和加热速率变化图。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736681-D538-43EA-82C7-A845D091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409" y="2576975"/>
            <a:ext cx="639127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572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6D732-A9F2-40E7-BDAB-7B6EE580F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实验二  恒温器配置实验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810F555-BAE9-47B2-A3C7-859614B83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1952" y="2984007"/>
            <a:ext cx="4914900" cy="3429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AA409FF-0AB2-46A0-81D3-94ECB6B53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61" y="2984007"/>
            <a:ext cx="4914900" cy="3429000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60B5782-4AD3-4FA3-8450-7846573F8502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9948169" cy="748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Ø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温度和加热速率变化图展示图</a:t>
            </a:r>
          </a:p>
        </p:txBody>
      </p:sp>
    </p:spTree>
    <p:extLst>
      <p:ext uri="{BB962C8B-B14F-4D97-AF65-F5344CB8AC3E}">
        <p14:creationId xmlns:p14="http://schemas.microsoft.com/office/powerpoint/2010/main" val="1554479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708</Words>
  <Application>Microsoft Office PowerPoint</Application>
  <PresentationFormat>宽屏</PresentationFormat>
  <Paragraphs>34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Arial</vt:lpstr>
      <vt:lpstr>Wingdings</vt:lpstr>
      <vt:lpstr>Office 主题​​</vt:lpstr>
      <vt:lpstr>信息物理系统（CPS）实验</vt:lpstr>
      <vt:lpstr>PtolemyII模拟器</vt:lpstr>
      <vt:lpstr>PtolemyII模型的创建和运行</vt:lpstr>
      <vt:lpstr>PtolemyII模型中的库</vt:lpstr>
      <vt:lpstr>复合角色构建</vt:lpstr>
      <vt:lpstr>参数设置</vt:lpstr>
      <vt:lpstr>实验一 2位计数器配置实验</vt:lpstr>
      <vt:lpstr>PowerPoint 演示文稿</vt:lpstr>
      <vt:lpstr>实验二  恒温器配置实验</vt:lpstr>
      <vt:lpstr>实验二  恒温器配置实验</vt:lpstr>
      <vt:lpstr>实验二  恒温器配置实验</vt:lpstr>
      <vt:lpstr>实验二  恒温器配置实验</vt:lpstr>
      <vt:lpstr>实验二  恒温器配置实验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信息物理系统（CPS）实验</dc:title>
  <dc:creator>扬 徐</dc:creator>
  <cp:lastModifiedBy>扬 徐</cp:lastModifiedBy>
  <cp:revision>27</cp:revision>
  <dcterms:created xsi:type="dcterms:W3CDTF">2021-05-12T07:41:56Z</dcterms:created>
  <dcterms:modified xsi:type="dcterms:W3CDTF">2021-05-12T10:24:20Z</dcterms:modified>
</cp:coreProperties>
</file>