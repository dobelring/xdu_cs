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76" r:id="rId4"/>
    <p:sldId id="275" r:id="rId5"/>
    <p:sldId id="268" r:id="rId6"/>
    <p:sldId id="273" r:id="rId7"/>
    <p:sldId id="277" r:id="rId8"/>
    <p:sldId id="278" r:id="rId9"/>
    <p:sldId id="279" r:id="rId10"/>
    <p:sldId id="280" r:id="rId11"/>
    <p:sldId id="27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3B033-7A12-4718-9356-100E0D04218F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F649B-FCC1-4D35-803B-91A8C8B18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21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DF649B-FCC1-4D35-803B-91A8C8B18B4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69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9040" y="0"/>
            <a:ext cx="8442960" cy="81464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Ø"/>
              <a:defRPr sz="3200"/>
            </a:lvl1pPr>
            <a:lvl2pPr marL="514350" indent="-171450">
              <a:buFont typeface="Wingdings" panose="05000000000000000000" pitchFamily="2" charset="2"/>
              <a:buChar char="Ø"/>
              <a:defRPr sz="2800"/>
            </a:lvl2pPr>
            <a:lvl3pPr marL="857250" indent="-171450">
              <a:buFont typeface="Wingdings" panose="05000000000000000000" pitchFamily="2" charset="2"/>
              <a:buChar char="Ø"/>
              <a:defRPr sz="2000"/>
            </a:lvl3pPr>
            <a:lvl4pPr marL="1200150" indent="-171450">
              <a:buFont typeface="Wingdings" panose="05000000000000000000" pitchFamily="2" charset="2"/>
              <a:buChar char="Ø"/>
              <a:defRPr sz="1800"/>
            </a:lvl4pPr>
            <a:lvl5pPr marL="1543050" indent="-171450">
              <a:buFont typeface="Wingdings" panose="05000000000000000000" pitchFamily="2" charset="2"/>
              <a:buChar char="Ø"/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3AED7-5D20-46A9-BE62-6248C1AAE14D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信息物理系统（</a:t>
            </a:r>
            <a:r>
              <a:rPr lang="en-US" altLang="zh-CN" b="1" dirty="0"/>
              <a:t>CPS</a:t>
            </a:r>
            <a:r>
              <a:rPr lang="zh-CN" altLang="en-US" b="1" dirty="0"/>
              <a:t>）大报告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32518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基于</a:t>
            </a:r>
            <a:r>
              <a:rPr lang="en-US" altLang="zh-CN" sz="2800" b="1" dirty="0" err="1">
                <a:solidFill>
                  <a:srgbClr val="C00000"/>
                </a:solidFill>
              </a:rPr>
              <a:t>PtolemyII</a:t>
            </a:r>
            <a:r>
              <a:rPr lang="zh-CN" altLang="en-US" sz="2800" b="1" dirty="0">
                <a:solidFill>
                  <a:srgbClr val="C00000"/>
                </a:solidFill>
              </a:rPr>
              <a:t>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E67DE-E387-4845-8FD0-51BE9A4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大报告要求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8ED8A-5782-4E78-AA62-548A0230A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，不多于</a:t>
            </a:r>
            <a:r>
              <a:rPr lang="en-US" altLang="zh-CN" dirty="0"/>
              <a:t>5</a:t>
            </a:r>
            <a:r>
              <a:rPr lang="zh-CN" altLang="en-US" dirty="0"/>
              <a:t>个人成立一个小组，完成一个任务内容，明白任务原理，搭建相应模型系统。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word</a:t>
            </a:r>
            <a:r>
              <a:rPr lang="zh-CN" altLang="en-US" dirty="0"/>
              <a:t>报告写明小组成员，任务分工，并详细描述任务设计原理、步骤、以及结果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，给出</a:t>
            </a:r>
            <a:r>
              <a:rPr lang="en-US" altLang="zh-CN" dirty="0" err="1"/>
              <a:t>ptolemy</a:t>
            </a:r>
            <a:r>
              <a:rPr lang="zh-CN" altLang="en-US" dirty="0"/>
              <a:t>里所搭建系统代码，并且运行结果与</a:t>
            </a:r>
            <a:r>
              <a:rPr lang="en-US" altLang="zh-CN" dirty="0"/>
              <a:t>word</a:t>
            </a:r>
            <a:r>
              <a:rPr lang="zh-CN" altLang="en-US" dirty="0"/>
              <a:t>报告里的结果相符。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，将</a:t>
            </a:r>
            <a:r>
              <a:rPr lang="en-US" altLang="zh-CN" dirty="0"/>
              <a:t>word</a:t>
            </a:r>
            <a:r>
              <a:rPr lang="zh-CN" altLang="en-US" dirty="0"/>
              <a:t>报告和</a:t>
            </a:r>
            <a:r>
              <a:rPr lang="en-US" altLang="zh-CN" dirty="0" err="1"/>
              <a:t>ptolemy</a:t>
            </a:r>
            <a:r>
              <a:rPr lang="zh-CN" altLang="en-US" dirty="0"/>
              <a:t>程序在系统上的大作业项上传。</a:t>
            </a:r>
          </a:p>
        </p:txBody>
      </p:sp>
    </p:spTree>
    <p:extLst>
      <p:ext uri="{BB962C8B-B14F-4D97-AF65-F5344CB8AC3E}">
        <p14:creationId xmlns:p14="http://schemas.microsoft.com/office/powerpoint/2010/main" val="379792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E5A9D-2634-4AC6-8B6A-0EDE9B2E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/>
              <a:t>1</a:t>
            </a:r>
            <a:r>
              <a:rPr lang="zh-CN" altLang="en-US" dirty="0"/>
              <a:t>：盲通信接收器。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72F54-AD8A-46B4-8DCD-C32FBA51D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253331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盲通信接收器的示例信号处理模型。该系统设计用于分析和处理具有未知特性的接收信号，以确定数字相移键控（</a:t>
            </a:r>
            <a:r>
              <a:rPr lang="en-US" altLang="zh-CN" sz="2000" dirty="0"/>
              <a:t>PSK</a:t>
            </a:r>
            <a:r>
              <a:rPr lang="zh-CN" altLang="en-US" sz="2000" dirty="0"/>
              <a:t>）信号的载波频率、波特率和若干相移。参考模型：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0FDB08-0387-4359-BA71-78C1B67D0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82" y="1943100"/>
            <a:ext cx="829627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6E863-A739-4CE1-8032-5F4523E6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Rijndael</a:t>
            </a:r>
            <a:r>
              <a:rPr lang="zh-CN" altLang="en-US" dirty="0"/>
              <a:t>加密算法的同步数据流模型。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4CBF9-20E3-4ED6-A10B-750A9A9E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7120"/>
            <a:ext cx="5846445" cy="5089843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/>
              <a:t>在</a:t>
            </a:r>
            <a:r>
              <a:rPr lang="en-US" altLang="zh-CN" sz="2000" dirty="0" err="1"/>
              <a:t>ptolemy</a:t>
            </a:r>
            <a:r>
              <a:rPr lang="zh-CN" altLang="en-US" sz="2000" dirty="0"/>
              <a:t>里实现</a:t>
            </a:r>
            <a:r>
              <a:rPr lang="en-US" altLang="zh-CN" sz="2000" dirty="0"/>
              <a:t>AES</a:t>
            </a:r>
            <a:r>
              <a:rPr lang="zh-CN" altLang="en-US" sz="2000" dirty="0"/>
              <a:t>标准</a:t>
            </a:r>
            <a:r>
              <a:rPr lang="en-US" altLang="zh-CN" sz="2000" dirty="0"/>
              <a:t>Rijndael</a:t>
            </a:r>
            <a:r>
              <a:rPr lang="zh-CN" altLang="en-US" sz="2000" dirty="0"/>
              <a:t>加密算法，参考模型如图所示：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4808C1-8184-4320-9B12-0F174250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45" y="723900"/>
            <a:ext cx="4638675" cy="6134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C6FDA7-4090-474A-90B3-7CAF0DC65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004" y="2174239"/>
            <a:ext cx="4323272" cy="418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50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：自适应巡航控制系统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176283-6336-4B04-9FEB-C1701657F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1561465"/>
            <a:ext cx="10515600" cy="4351338"/>
          </a:xfrm>
        </p:spPr>
        <p:txBody>
          <a:bodyPr/>
          <a:lstStyle/>
          <a:p>
            <a:r>
              <a:rPr lang="zh-CN" altLang="en-US" dirty="0"/>
              <a:t>可参考书上同步构件里的巡航控制系统，也可参考下图提供的模型，搭建相应的系统：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ED4E2D-BF2F-44D2-BB27-3B353526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346" y="2500994"/>
            <a:ext cx="8337868" cy="3692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7C1A2-8ED8-45D8-996C-D05E02A1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：自适应巡航控制系统</a:t>
            </a:r>
            <a:endParaRPr lang="zh-CN" altLang="en-US" dirty="0"/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64577BE1-1AE6-4943-BA86-14DE8DEDBAB6}"/>
              </a:ext>
            </a:extLst>
          </p:cNvPr>
          <p:cNvSpPr txBox="1">
            <a:spLocks/>
          </p:cNvSpPr>
          <p:nvPr/>
        </p:nvSpPr>
        <p:spPr>
          <a:xfrm>
            <a:off x="919480" y="15614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参考模型：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63EC58-B9B1-42B4-A9EC-F5C9D3A4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2635567"/>
            <a:ext cx="76581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0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C3ABB-D246-45F9-A653-7C76FA28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：自适应巡航控制系统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5A85C3A-B132-474F-BE53-17853469A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825" y="2091531"/>
            <a:ext cx="9658350" cy="3819525"/>
          </a:xfrm>
        </p:spPr>
      </p:pic>
    </p:spTree>
    <p:extLst>
      <p:ext uri="{BB962C8B-B14F-4D97-AF65-F5344CB8AC3E}">
        <p14:creationId xmlns:p14="http://schemas.microsoft.com/office/powerpoint/2010/main" val="259092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60155-1180-499C-A293-AE48737E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：自适应巡航控制系统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1C31BD-B239-4EED-A48D-9045CD12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038803"/>
            <a:ext cx="6904990" cy="53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6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C4D0C-BCD1-ADFE-5B11-566A29DA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/>
              <a:t>嵌入式计算系统级建模与仿真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F9DF1-92AB-DBCD-CA4A-E85C7385D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4133" cy="4351338"/>
          </a:xfrm>
        </p:spPr>
        <p:txBody>
          <a:bodyPr/>
          <a:lstStyle/>
          <a:p>
            <a:pPr algn="l"/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控制状态在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-1.0 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1.0 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之间变动</a:t>
            </a:r>
          </a:p>
          <a:p>
            <a:pPr algn="l"/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状态的初始值由线性常微分方程给出方程表达式为</a:t>
            </a:r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参考论文：基于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Ptolemy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的嵌入式计算系统级建模与仿真</a:t>
            </a:r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>
              <a:buNone/>
            </a:pPr>
            <a:endParaRPr lang="zh-CN" altLang="en-US" sz="18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619561-F381-F61E-19EB-F2306F863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77" y="1276131"/>
            <a:ext cx="5812618" cy="4750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F65697D-90B0-E97B-63AD-C1BD5DB05A26}"/>
                  </a:ext>
                </a:extLst>
              </p:cNvPr>
              <p:cNvSpPr txBox="1"/>
              <p:nvPr/>
            </p:nvSpPr>
            <p:spPr>
              <a:xfrm>
                <a:off x="1404423" y="3077964"/>
                <a:ext cx="2834088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+0.2</m:t>
                    </m:r>
                    <m:acc>
                      <m:accPr>
                        <m:chr m:val="̇"/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+0.4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，且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=6,</m:t>
                    </m:r>
                    <m:acc>
                      <m:accPr>
                        <m:chr m:val="̇"/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F65697D-90B0-E97B-63AD-C1BD5DB05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23" y="3077964"/>
                <a:ext cx="2834088" cy="1107996"/>
              </a:xfrm>
              <a:prstGeom prst="rect">
                <a:avLst/>
              </a:prstGeom>
              <a:blipFill>
                <a:blip r:embed="rId3"/>
                <a:stretch>
                  <a:fillRect t="-3846" r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931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6FA99-25A6-F5C9-D5F3-693BD0BE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/>
              <a:t>嵌入式防火墙系统级设计与仿真研究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369DA5-5D86-64D7-AFE6-97503AA05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5824" cy="4351338"/>
          </a:xfrm>
        </p:spPr>
        <p:txBody>
          <a:bodyPr/>
          <a:lstStyle/>
          <a:p>
            <a:pPr algn="l"/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对系统模型中的</a:t>
            </a: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RTOS 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实时调度和包过滤算法等主要部分进行了仿真和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参考论文：基于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Ptolemy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的嵌入式计算系统级建模与仿真</a:t>
            </a:r>
            <a:endParaRPr lang="en-US" altLang="zh-CN" sz="2400" b="0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58BDC1-2D94-2B61-FDF0-D9ED55AC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502" y="905564"/>
            <a:ext cx="44196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0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FEC33-C426-42A0-BEA0-6C1D36F8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可选题目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16A7D-BBCD-4E70-B03F-1C4526BC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实现维纳滤波器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实现曼彻斯特编码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实现</a:t>
            </a:r>
            <a:r>
              <a:rPr lang="en-US" altLang="zh-CN" dirty="0"/>
              <a:t>DES</a:t>
            </a:r>
            <a:r>
              <a:rPr lang="zh-CN" altLang="en-US" dirty="0"/>
              <a:t>加密算法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2787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354</Words>
  <Application>Microsoft Office PowerPoint</Application>
  <PresentationFormat>宽屏</PresentationFormat>
  <Paragraphs>37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宋体</vt:lpstr>
      <vt:lpstr>Arial</vt:lpstr>
      <vt:lpstr>Cambria Math</vt:lpstr>
      <vt:lpstr>Times New Roman</vt:lpstr>
      <vt:lpstr>Wingdings</vt:lpstr>
      <vt:lpstr>Office 主题​​</vt:lpstr>
      <vt:lpstr>信息物理系统（CPS）大报告</vt:lpstr>
      <vt:lpstr>大报告要求</vt:lpstr>
      <vt:lpstr>题目1：盲通信接收器。</vt:lpstr>
      <vt:lpstr>题目2：Rijndael加密算法的同步数据流模型。</vt:lpstr>
      <vt:lpstr>题目3：自适应巡航控制系统</vt:lpstr>
      <vt:lpstr>题目3：自适应巡航控制系统</vt:lpstr>
      <vt:lpstr>题目3：自适应巡航控制系统</vt:lpstr>
      <vt:lpstr>题目3：自适应巡航控制系统</vt:lpstr>
      <vt:lpstr>题目4：嵌入式计算系统级建模与仿真</vt:lpstr>
      <vt:lpstr>题目5：嵌入式防火墙系统级设计与仿真研究</vt:lpstr>
      <vt:lpstr>题目6：可选题目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信息物理系统（CPS）实验</dc:title>
  <dc:creator>扬 徐</dc:creator>
  <cp:lastModifiedBy>Windows 用户</cp:lastModifiedBy>
  <cp:revision>45</cp:revision>
  <dcterms:created xsi:type="dcterms:W3CDTF">2021-05-12T07:41:00Z</dcterms:created>
  <dcterms:modified xsi:type="dcterms:W3CDTF">2023-04-03T09:45:35Z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1402483E414A407292415E32B2E552F8</vt:lpwstr>
  </property>
  <property fmtid="{D5CDD505-2E9C-101B-9397-08002B2CF9AE}" pid="3" name="KSOProductBuildVer">
    <vt:lpwstr>2052-11.1.0.11365</vt:lpwstr>
  </property>
</Properties>
</file>