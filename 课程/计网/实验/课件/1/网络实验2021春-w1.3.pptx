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handoutMasterIdLst>
    <p:handoutMasterId r:id="rId23"/>
  </p:handoutMasterIdLst>
  <p:sldIdLst>
    <p:sldId id="256" r:id="rId2"/>
    <p:sldId id="423" r:id="rId3"/>
    <p:sldId id="287" r:id="rId4"/>
    <p:sldId id="289" r:id="rId5"/>
    <p:sldId id="474" r:id="rId6"/>
    <p:sldId id="574" r:id="rId7"/>
    <p:sldId id="573" r:id="rId8"/>
    <p:sldId id="307" r:id="rId9"/>
    <p:sldId id="290" r:id="rId10"/>
    <p:sldId id="483" r:id="rId11"/>
    <p:sldId id="308" r:id="rId12"/>
    <p:sldId id="475" r:id="rId13"/>
    <p:sldId id="575" r:id="rId14"/>
    <p:sldId id="576" r:id="rId15"/>
    <p:sldId id="440" r:id="rId16"/>
    <p:sldId id="587" r:id="rId17"/>
    <p:sldId id="588" r:id="rId18"/>
    <p:sldId id="477" r:id="rId19"/>
    <p:sldId id="586" r:id="rId20"/>
    <p:sldId id="473" r:id="rId21"/>
  </p:sldIdLst>
  <p:sldSz cx="9144000" cy="6858000" type="screen4x3"/>
  <p:notesSz cx="7102475" cy="10234613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8">
          <p15:clr>
            <a:srgbClr val="A4A3A4"/>
          </p15:clr>
        </p15:guide>
        <p15:guide id="2" pos="286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95">
          <p15:clr>
            <a:srgbClr val="A4A3A4"/>
          </p15:clr>
        </p15:guide>
        <p15:guide id="2" pos="2226">
          <p15:clr>
            <a:srgbClr val="A4A3A4"/>
          </p15:clr>
        </p15:guide>
      </p15:notesGuideLst>
    </p:ext>
    <p:ext uri="{505F2C04-C923-438B-8C0F-E0CD2BADF298}">
      <wppc:fontMiss xmlns:wppc="http://www.wps.cn/officeDocument/PresentationCustomData" xmlns="" type="true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scj" initials="s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5050"/>
    <a:srgbClr val="FF6600"/>
    <a:srgbClr val="00CC00"/>
    <a:srgbClr val="339933"/>
    <a:srgbClr val="993300"/>
    <a:srgbClr val="FF7C80"/>
    <a:srgbClr val="FF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798" autoAdjust="0"/>
    <p:restoredTop sz="94687" autoAdjust="0"/>
  </p:normalViewPr>
  <p:slideViewPr>
    <p:cSldViewPr>
      <p:cViewPr varScale="1">
        <p:scale>
          <a:sx n="69" d="100"/>
          <a:sy n="69" d="100"/>
        </p:scale>
        <p:origin x="40" y="820"/>
      </p:cViewPr>
      <p:guideLst>
        <p:guide orient="horz" pos="2208"/>
        <p:guide pos="286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93" d="100"/>
          <a:sy n="93" d="100"/>
        </p:scale>
        <p:origin x="-1434" y="-126"/>
      </p:cViewPr>
      <p:guideLst>
        <p:guide orient="horz" pos="3295"/>
        <p:guide pos="222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耳灵 木" userId="d0ddd6bcf0ab1b29" providerId="LiveId" clId="{E9CA6964-6138-419A-82D8-D2573CE2BA88}"/>
    <pc:docChg chg="undo custSel modSld">
      <pc:chgData name="耳灵 木" userId="d0ddd6bcf0ab1b29" providerId="LiveId" clId="{E9CA6964-6138-419A-82D8-D2573CE2BA88}" dt="2025-06-01T20:22:13.119" v="1" actId="21"/>
      <pc:docMkLst>
        <pc:docMk/>
      </pc:docMkLst>
      <pc:sldChg chg="modSp mod">
        <pc:chgData name="耳灵 木" userId="d0ddd6bcf0ab1b29" providerId="LiveId" clId="{E9CA6964-6138-419A-82D8-D2573CE2BA88}" dt="2025-06-01T20:22:13.119" v="1" actId="21"/>
        <pc:sldMkLst>
          <pc:docMk/>
          <pc:sldMk cId="0" sldId="477"/>
        </pc:sldMkLst>
        <pc:spChg chg="mod">
          <ac:chgData name="耳灵 木" userId="d0ddd6bcf0ab1b29" providerId="LiveId" clId="{E9CA6964-6138-419A-82D8-D2573CE2BA88}" dt="2025-06-01T20:22:13.119" v="1" actId="21"/>
          <ac:spMkLst>
            <pc:docMk/>
            <pc:sldMk cId="0" sldId="477"/>
            <ac:spMk id="8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8163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66" tIns="49533" rIns="99066" bIns="49533" numCol="1" anchor="t" anchorCtr="0" compatLnSpc="1"/>
          <a:lstStyle>
            <a:lvl1pPr defTabSz="990600">
              <a:defRPr kumimoji="1" sz="1300" b="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2725" y="0"/>
            <a:ext cx="3078163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66" tIns="49533" rIns="99066" bIns="49533" numCol="1" anchor="t" anchorCtr="0" compatLnSpc="1"/>
          <a:lstStyle>
            <a:lvl1pPr algn="r" defTabSz="990600">
              <a:defRPr kumimoji="1" sz="1300" b="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F1D077F9-9431-4BCF-89B4-E20CA9147544}" type="datetime8">
              <a:rPr lang="zh-CN" altLang="en-US"/>
              <a:t>2025年6月2日4时22分</a:t>
            </a:fld>
            <a:endParaRPr lang="en-US" altLang="zh-CN"/>
          </a:p>
        </p:txBody>
      </p:sp>
      <p:sp>
        <p:nvSpPr>
          <p:cNvPr id="4198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850"/>
            <a:ext cx="3078163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66" tIns="49533" rIns="99066" bIns="49533" numCol="1" anchor="b" anchorCtr="0" compatLnSpc="1"/>
          <a:lstStyle>
            <a:lvl1pPr defTabSz="990600">
              <a:defRPr kumimoji="1" sz="1300" b="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98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2725" y="9721850"/>
            <a:ext cx="3078163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66" tIns="49533" rIns="99066" bIns="49533" numCol="1" anchor="b" anchorCtr="0" compatLnSpc="1"/>
          <a:lstStyle>
            <a:lvl1pPr algn="r" defTabSz="990600">
              <a:defRPr kumimoji="1" sz="1300" b="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9A148E0B-7E6D-4E1C-8769-D06485BF1472}" type="slidenum">
              <a:rPr lang="zh-CN" altLang="en-US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8163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66" tIns="49533" rIns="99066" bIns="49533" numCol="1" anchor="t" anchorCtr="0" compatLnSpc="1"/>
          <a:lstStyle>
            <a:lvl1pPr defTabSz="990600">
              <a:defRPr kumimoji="1" sz="1300" b="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9763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2725" y="0"/>
            <a:ext cx="3078163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66" tIns="49533" rIns="99066" bIns="49533" numCol="1" anchor="t" anchorCtr="0" compatLnSpc="1"/>
          <a:lstStyle>
            <a:lvl1pPr algn="r" defTabSz="990600">
              <a:defRPr kumimoji="1" sz="1300" b="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0B9DCD3C-0FFA-4237-9ACA-3A598BF9DCEA}" type="datetime8">
              <a:rPr lang="zh-CN" altLang="en-US"/>
              <a:t>2025年6月2日4时0分</a:t>
            </a:fld>
            <a:endParaRPr lang="en-US" altLang="zh-CN"/>
          </a:p>
        </p:txBody>
      </p:sp>
      <p:sp>
        <p:nvSpPr>
          <p:cNvPr id="7373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2188" y="768350"/>
            <a:ext cx="5118100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763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60925"/>
            <a:ext cx="5683250" cy="46053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66" tIns="49533" rIns="99066" bIns="49533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19763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6235700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66" tIns="49533" rIns="99066" bIns="49533" numCol="1" anchor="b" anchorCtr="0" compatLnSpc="1"/>
          <a:lstStyle>
            <a:lvl1pPr defTabSz="990600">
              <a:defRPr kumimoji="1" sz="1300" b="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9763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725" y="9721850"/>
            <a:ext cx="3078163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66" tIns="49533" rIns="99066" bIns="49533" numCol="1" anchor="b" anchorCtr="0" compatLnSpc="1"/>
          <a:lstStyle>
            <a:lvl1pPr algn="r" defTabSz="990600">
              <a:defRPr kumimoji="1" sz="1300" b="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45587EE8-4802-4C9F-9CF6-B846E434352D}" type="slidenum">
              <a:rPr lang="zh-CN" altLang="en-US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93775" y="768350"/>
            <a:ext cx="5114925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0B9DCD3C-0FFA-4237-9ACA-3A598BF9DCEA}" type="datetime8">
              <a:rPr lang="zh-CN" altLang="en-US" smtClean="0"/>
              <a:t>2025年6月2日4时0分</a:t>
            </a:fld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5587EE8-4802-4C9F-9CF6-B846E434352D}" type="slidenum">
              <a:rPr lang="zh-CN" altLang="en-US" smtClean="0"/>
              <a:t>1</a:t>
            </a:fld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8A2BB0-6029-43E0-B089-C9F8F029FC56}" type="datetime1">
              <a:rPr lang="zh-CN" altLang="en-US" smtClean="0"/>
              <a:t>2025/6/2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计算机通信与网络实验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5CFEAB-ACDD-43AD-A349-00DCB3E34968}" type="slidenum">
              <a:rPr lang="zh-CN" altLang="en-US" smtClean="0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计算机通信与网络实验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3C39F8-319A-4B97-A372-C5232DA5B560}" type="slidenum">
              <a:rPr lang="zh-CN" altLang="en-US" smtClean="0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A68FE86-D051-4D55-88A0-47B2137E4FB9}" type="datetime1">
              <a:rPr lang="zh-CN" altLang="en-US" smtClean="0"/>
              <a:t>2025/6/2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计算机通信与网络实验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AABEE1-B244-40D1-B1F7-AB8E6BF9C6C8}" type="slidenum">
              <a:rPr lang="zh-CN" altLang="en-US" smtClean="0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3B7ECB-340A-4041-8DE2-15A624FD3964}" type="datetime1">
              <a:rPr lang="zh-CN" altLang="en-US" smtClean="0"/>
              <a:t>2025/6/2</a:t>
            </a:fld>
            <a:endParaRPr lang="en-US" altLang="zh-CN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计算机通信与网络实验</a:t>
            </a:r>
            <a:endParaRPr lang="en-US" altLang="zh-CN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079848-85DC-4DD6-8B2C-F16A52343E98}" type="slidenum">
              <a:rPr lang="zh-CN" altLang="en-US" smtClean="0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4D519E-804E-4411-96AD-6B630CD287AB}" type="datetime1">
              <a:rPr lang="zh-CN" altLang="en-US" smtClean="0"/>
              <a:t>2025/6/2</a:t>
            </a:fld>
            <a:endParaRPr lang="en-US" altLang="zh-CN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计算机通信与网络实验</a:t>
            </a:r>
            <a:endParaRPr lang="en-US" altLang="zh-CN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908156-4BE5-440A-B51D-B3E9F3826002}" type="slidenum">
              <a:rPr lang="zh-CN" altLang="en-US" smtClean="0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1907813-625B-431C-A9C2-EDFA54508FE9}" type="datetime1">
              <a:rPr lang="zh-CN" altLang="en-US" smtClean="0"/>
              <a:t>2025/6/2</a:t>
            </a:fld>
            <a:endParaRPr lang="en-US" altLang="zh-CN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计算机通信与网络实验</a:t>
            </a:r>
            <a:endParaRPr lang="en-US" altLang="zh-CN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2E800E-00D4-499C-AB09-2046DE10D792}" type="slidenum">
              <a:rPr lang="zh-CN" altLang="en-US" smtClean="0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BB3C4E-0CB3-4763-9148-72A5154C11C1}" type="datetime1">
              <a:rPr lang="zh-CN" altLang="en-US" smtClean="0"/>
              <a:t>2025/6/2</a:t>
            </a:fld>
            <a:endParaRPr lang="en-US" altLang="zh-CN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计算机通信与网络实验</a:t>
            </a:r>
            <a:endParaRPr lang="en-US" altLang="zh-CN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5F95D4-404A-410D-9BF8-8777176DE4DB}" type="slidenum">
              <a:rPr lang="zh-CN" altLang="en-US" smtClean="0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BB3650-B912-4365-ACDD-69B9DE614E76}" type="datetime1">
              <a:rPr lang="zh-CN" altLang="en-US" smtClean="0"/>
              <a:t>2025/6/2</a:t>
            </a:fld>
            <a:endParaRPr lang="en-US" altLang="zh-CN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计算机通信与网络实验</a:t>
            </a:r>
            <a:endParaRPr lang="en-US" altLang="zh-CN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8E04B0-CE03-4AD6-A98F-62F6FF7CBE23}" type="slidenum">
              <a:rPr lang="zh-CN" altLang="en-US" smtClean="0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521168-557D-4013-96D6-B8F26767955C}" type="datetime1">
              <a:rPr lang="zh-CN" altLang="en-US" smtClean="0"/>
              <a:t>2025/6/2</a:t>
            </a:fld>
            <a:endParaRPr lang="en-US" altLang="zh-CN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计算机通信与网络实验</a:t>
            </a:r>
            <a:endParaRPr lang="en-US" altLang="zh-CN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411EB8-CAA5-4954-80BE-0CD1ABD7A30B}" type="slidenum">
              <a:rPr lang="zh-CN" altLang="en-US" smtClean="0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C13BD2-0DB3-4E41-818F-A238A43E32DC}" type="datetime1">
              <a:rPr lang="zh-CN" altLang="en-US" smtClean="0"/>
              <a:t>2025/6/2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计算机通信与网络实验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116138-EC2A-4DD8-8622-2857B3A297B3}" type="slidenum">
              <a:rPr lang="zh-CN" altLang="en-US" smtClean="0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FA577C-4EC1-4A49-A2D4-9F5131F0F1E6}" type="datetime1">
              <a:rPr lang="zh-CN" altLang="en-US" smtClean="0"/>
              <a:t>2025/6/2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计算机通信与网络实验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8E1135-B1AB-49C1-BF22-0CCE1E84BF40}" type="slidenum">
              <a:rPr lang="zh-CN" altLang="en-US" smtClean="0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0938" y="617538"/>
            <a:ext cx="7793037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B797C8-9FA1-44CA-8851-00CC0B9C1C29}" type="datetime1">
              <a:rPr lang="zh-CN" altLang="en-US" smtClean="0"/>
              <a:t>2025/6/2</a:t>
            </a:fld>
            <a:endParaRPr lang="en-US" altLang="zh-CN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计算机通信与网络实验</a:t>
            </a:r>
            <a:endParaRPr lang="en-US" altLang="zh-CN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B9DBAA-A710-45E9-94A9-B00A3333E196}" type="slidenum">
              <a:rPr lang="zh-CN" altLang="en-US" smtClean="0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0938" y="617538"/>
            <a:ext cx="7793037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 hasCustomPrompt="1"/>
          </p:nvPr>
        </p:nvSpPr>
        <p:spPr>
          <a:xfrm>
            <a:off x="1182688" y="2017713"/>
            <a:ext cx="7772400" cy="4114800"/>
          </a:xfrm>
        </p:spPr>
        <p:txBody>
          <a:bodyPr rtlCol="0">
            <a:normAutofit/>
          </a:bodyPr>
          <a:lstStyle/>
          <a:p>
            <a:pPr lvl="0"/>
            <a:r>
              <a:rPr lang="zh-CN" altLang="en-US" noProof="0"/>
              <a:t>单击图标添加表格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E940A1-776B-4683-AA99-5317717B906C}" type="datetime1">
              <a:rPr lang="zh-CN" altLang="en-US" smtClean="0"/>
              <a:t>2025/6/2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计算机通信与网络实验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FC5A35-DD2A-4BED-8988-6AB412333937}" type="slidenum">
              <a:rPr lang="zh-CN" altLang="en-US" smtClean="0"/>
              <a:t>‹#›</a:t>
            </a:fld>
            <a:endParaRPr lang="en-US" altLang="zh-CN"/>
          </a:p>
        </p:txBody>
      </p:sp>
    </p:spTree>
  </p:cSld>
  <p:clrMapOvr>
    <a:masterClrMapping/>
  </p:clrMapOvr>
  <p:hf sldNum="0"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ABE940A1-776B-4683-AA99-5317717B906C}" type="datetime1">
              <a:rPr lang="zh-CN" altLang="en-US" smtClean="0"/>
              <a:t>2025/6/2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zh-CN" altLang="en-US"/>
              <a:t>计算机通信与网络实验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BAFC5A35-DD2A-4BED-8988-6AB412333937}" type="slidenum">
              <a:rPr lang="zh-CN" altLang="en-US" smtClean="0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网络5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6670" y="689610"/>
            <a:ext cx="9192895" cy="6153785"/>
          </a:xfrm>
          <a:prstGeom prst="rect">
            <a:avLst/>
          </a:prstGeom>
        </p:spPr>
      </p:pic>
      <p:sp>
        <p:nvSpPr>
          <p:cNvPr id="3075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33450" y="2098040"/>
            <a:ext cx="7272655" cy="1645920"/>
          </a:xfrm>
        </p:spPr>
        <p:txBody>
          <a:bodyPr/>
          <a:lstStyle/>
          <a:p>
            <a:pPr eaLnBrk="1" hangingPunct="1"/>
            <a:r>
              <a:rPr lang="zh-CN" altLang="en-US" b="1" dirty="0">
                <a:solidFill>
                  <a:srgbClr val="0000FF"/>
                </a:solidFill>
                <a:ea typeface="楷体_GB2312" pitchFamily="49" charset="-122"/>
              </a:rPr>
              <a:t>《计算机通信与网络》</a:t>
            </a:r>
            <a:br>
              <a:rPr lang="zh-CN" altLang="en-US" b="1" dirty="0">
                <a:solidFill>
                  <a:srgbClr val="0000FF"/>
                </a:solidFill>
                <a:ea typeface="楷体_GB2312" pitchFamily="49" charset="-122"/>
                <a:sym typeface="+mn-ea"/>
              </a:rPr>
            </a:br>
            <a:br>
              <a:rPr lang="zh-CN" altLang="en-US" sz="2000" b="1" dirty="0">
                <a:solidFill>
                  <a:srgbClr val="0000FF"/>
                </a:solidFill>
                <a:ea typeface="楷体_GB2312" pitchFamily="49" charset="-122"/>
                <a:sym typeface="+mn-ea"/>
              </a:rPr>
            </a:br>
            <a:r>
              <a:rPr lang="zh-CN" altLang="en-US" b="1" dirty="0">
                <a:solidFill>
                  <a:srgbClr val="0000FF"/>
                </a:solidFill>
                <a:ea typeface="楷体_GB2312" pitchFamily="49" charset="-122"/>
                <a:sym typeface="+mn-ea"/>
              </a:rPr>
              <a:t>网 络 实 验</a:t>
            </a:r>
            <a:r>
              <a:rPr lang="en-US" altLang="zh-CN" b="1" dirty="0">
                <a:solidFill>
                  <a:srgbClr val="FFC000"/>
                </a:solidFill>
                <a:ea typeface="楷体_GB2312" pitchFamily="49" charset="-122"/>
                <a:sym typeface="+mn-ea"/>
              </a:rPr>
              <a:t>1.3</a:t>
            </a:r>
            <a:br>
              <a:rPr lang="zh-CN" altLang="en-US" b="1" dirty="0">
                <a:solidFill>
                  <a:srgbClr val="0000FF"/>
                </a:solidFill>
                <a:ea typeface="楷体_GB2312" pitchFamily="49" charset="-122"/>
              </a:rPr>
            </a:br>
            <a:endParaRPr lang="zh-CN" altLang="en-US" b="1" dirty="0">
              <a:solidFill>
                <a:srgbClr val="0000FF"/>
              </a:solidFill>
              <a:ea typeface="楷体_GB2312" pitchFamily="49" charset="-122"/>
            </a:endParaRPr>
          </a:p>
        </p:txBody>
      </p:sp>
      <p:sp>
        <p:nvSpPr>
          <p:cNvPr id="3076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193483" y="3850323"/>
            <a:ext cx="7127875" cy="1249362"/>
          </a:xfrm>
        </p:spPr>
        <p:txBody>
          <a:bodyPr/>
          <a:lstStyle/>
          <a:p>
            <a:pPr eaLnBrk="1" hangingPunct="1"/>
            <a:r>
              <a:rPr lang="zh-CN" altLang="en-US" sz="3600" b="1" dirty="0">
                <a:solidFill>
                  <a:srgbClr val="FF0000"/>
                </a:solidFill>
              </a:rPr>
              <a:t>华三</a:t>
            </a:r>
            <a:r>
              <a:rPr lang="en-US" altLang="zh-CN" sz="3600" b="1" dirty="0">
                <a:solidFill>
                  <a:srgbClr val="FF0000"/>
                </a:solidFill>
              </a:rPr>
              <a:t>H3C</a:t>
            </a:r>
            <a:r>
              <a:rPr lang="zh-CN" altLang="en-US" sz="3600" b="1" dirty="0">
                <a:solidFill>
                  <a:srgbClr val="FF0000"/>
                </a:solidFill>
              </a:rPr>
              <a:t>网络设备</a:t>
            </a:r>
          </a:p>
        </p:txBody>
      </p:sp>
      <p:sp>
        <p:nvSpPr>
          <p:cNvPr id="3074" name="Rectangle 17"/>
          <p:cNvSpPr>
            <a:spLocks noGrp="1" noChangeArrowheads="1"/>
          </p:cNvSpPr>
          <p:nvPr>
            <p:ph type="ftr" sz="quarter" idx="11"/>
          </p:nvPr>
        </p:nvSpPr>
        <p:spPr>
          <a:xfrm>
            <a:off x="2488565" y="6410325"/>
            <a:ext cx="3911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b="0">
                <a:solidFill>
                  <a:schemeClr val="tx1"/>
                </a:solidFill>
              </a:rPr>
              <a:t>《计算机通信与网络》实验</a:t>
            </a:r>
            <a:endParaRPr lang="en-US" altLang="zh-CN" sz="2000" b="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981200"/>
            <a:ext cx="8229600" cy="2239963"/>
          </a:xfrm>
        </p:spPr>
        <p:txBody>
          <a:bodyPr/>
          <a:lstStyle/>
          <a:p>
            <a:pPr eaLnBrk="1" hangingPunct="1"/>
            <a:r>
              <a:rPr lang="zh-CN" altLang="en-US" sz="2400" b="1" dirty="0">
                <a:solidFill>
                  <a:srgbClr val="FF6600"/>
                </a:solidFill>
              </a:rPr>
              <a:t>实验目的</a:t>
            </a:r>
          </a:p>
          <a:p>
            <a:pPr lvl="1" eaLnBrk="1" hangingPunct="1"/>
            <a:r>
              <a:rPr lang="zh-CN" altLang="en-US" sz="2400" dirty="0"/>
              <a:t>学习访问网络设备的方法；</a:t>
            </a:r>
          </a:p>
          <a:p>
            <a:pPr lvl="1" eaLnBrk="1" hangingPunct="1"/>
            <a:r>
              <a:rPr lang="zh-CN" altLang="en-US" sz="2400" dirty="0"/>
              <a:t>熟悉网络连接设备及附件的使用；</a:t>
            </a:r>
          </a:p>
          <a:p>
            <a:pPr lvl="1" eaLnBrk="1" hangingPunct="1"/>
            <a:r>
              <a:rPr lang="zh-CN" altLang="en-US" sz="2400" dirty="0"/>
              <a:t>学习交换机和路由器配置管理的方法和指令</a:t>
            </a:r>
          </a:p>
        </p:txBody>
      </p:sp>
      <p:sp>
        <p:nvSpPr>
          <p:cNvPr id="12290" name="页脚占位符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0">
                <a:solidFill>
                  <a:schemeClr val="tx1"/>
                </a:solidFill>
              </a:rPr>
              <a:t>计算机通信与网络实验</a:t>
            </a:r>
            <a:endParaRPr lang="en-US" altLang="zh-CN" b="0">
              <a:solidFill>
                <a:schemeClr val="tx1"/>
              </a:solidFill>
            </a:endParaRPr>
          </a:p>
        </p:txBody>
      </p:sp>
      <p:sp>
        <p:nvSpPr>
          <p:cNvPr id="10246" name="Rectangle 4"/>
          <p:cNvSpPr>
            <a:spLocks noChangeArrowheads="1"/>
          </p:cNvSpPr>
          <p:nvPr/>
        </p:nvSpPr>
        <p:spPr bwMode="auto">
          <a:xfrm>
            <a:off x="396558" y="4076700"/>
            <a:ext cx="8229600" cy="22320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0" indent="0">
              <a:spcBef>
                <a:spcPct val="20000"/>
              </a:spcBef>
              <a:buClr>
                <a:schemeClr val="bg2"/>
              </a:buClr>
              <a:buSzPct val="75000"/>
              <a:buNone/>
              <a:defRPr/>
            </a:pPr>
            <a:r>
              <a:rPr lang="en-US" altLang="zh-CN" b="1" dirty="0">
                <a:solidFill>
                  <a:srgbClr val="FF6600"/>
                </a:solidFill>
              </a:rPr>
              <a:t>H3C</a:t>
            </a:r>
            <a:r>
              <a:rPr lang="zh-CN" altLang="en-US" b="1" dirty="0">
                <a:solidFill>
                  <a:srgbClr val="FF6600"/>
                </a:solidFill>
              </a:rPr>
              <a:t>网络设备：</a:t>
            </a:r>
            <a:endParaRPr lang="zh-CN" altLang="en-US" b="1" dirty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pPr lvl="2" indent="-457200" algn="l" fontAlgn="t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/>
            </a:pPr>
            <a:r>
              <a:rPr lang="zh-CN" altLang="en-US" b="0" dirty="0">
                <a:solidFill>
                  <a:schemeClr val="tx1"/>
                </a:solidFill>
              </a:rPr>
              <a:t>二层交换机</a:t>
            </a:r>
            <a:r>
              <a:rPr lang="en-US" altLang="zh-CN" b="0" dirty="0">
                <a:solidFill>
                  <a:srgbClr val="FF0000"/>
                </a:solidFill>
              </a:rPr>
              <a:t>H3C</a:t>
            </a:r>
            <a:r>
              <a:rPr lang="en-US" altLang="zh-CN" b="0" dirty="0">
                <a:solidFill>
                  <a:schemeClr val="tx1"/>
                </a:solidFill>
              </a:rPr>
              <a:t> E126 / 3100</a:t>
            </a:r>
          </a:p>
          <a:p>
            <a:pPr lvl="2" indent="-457200" algn="l" fontAlgn="t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/>
            </a:pPr>
            <a:r>
              <a:rPr lang="zh-CN" altLang="en-US" b="0" dirty="0">
                <a:solidFill>
                  <a:schemeClr val="tx1"/>
                </a:solidFill>
              </a:rPr>
              <a:t>三层交换机</a:t>
            </a:r>
            <a:r>
              <a:rPr lang="en-US" altLang="zh-CN" dirty="0">
                <a:solidFill>
                  <a:srgbClr val="FF0000"/>
                </a:solidFill>
                <a:sym typeface="+mn-ea"/>
              </a:rPr>
              <a:t>H3C</a:t>
            </a:r>
            <a:r>
              <a:rPr lang="en-US" altLang="zh-CN" dirty="0">
                <a:sym typeface="+mn-ea"/>
              </a:rPr>
              <a:t> </a:t>
            </a:r>
            <a:r>
              <a:rPr lang="en-US" altLang="zh-CN" b="0" dirty="0">
                <a:solidFill>
                  <a:schemeClr val="tx1"/>
                </a:solidFill>
              </a:rPr>
              <a:t>E528 / </a:t>
            </a:r>
            <a:r>
              <a:rPr lang="en-US" altLang="zh-CN" b="0" dirty="0">
                <a:solidFill>
                  <a:srgbClr val="FF0000"/>
                </a:solidFill>
              </a:rPr>
              <a:t>HP </a:t>
            </a:r>
            <a:r>
              <a:rPr lang="en-US" altLang="zh-CN" b="0" dirty="0">
                <a:solidFill>
                  <a:schemeClr val="tx1"/>
                </a:solidFill>
              </a:rPr>
              <a:t>5120</a:t>
            </a:r>
          </a:p>
          <a:p>
            <a:pPr marL="1085850" lvl="2" indent="-457200" algn="l" fontAlgn="t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/>
            </a:pPr>
            <a:r>
              <a:rPr lang="zh-CN" altLang="en-US" b="0" dirty="0">
                <a:solidFill>
                  <a:schemeClr val="tx1"/>
                </a:solidFill>
              </a:rPr>
              <a:t>路由器</a:t>
            </a:r>
            <a:r>
              <a:rPr lang="en-US" altLang="zh-CN" dirty="0">
                <a:solidFill>
                  <a:srgbClr val="FF0000"/>
                </a:solidFill>
                <a:sym typeface="+mn-ea"/>
              </a:rPr>
              <a:t>H3C</a:t>
            </a:r>
            <a:r>
              <a:rPr lang="en-US" altLang="zh-CN" dirty="0">
                <a:sym typeface="+mn-ea"/>
              </a:rPr>
              <a:t> </a:t>
            </a:r>
            <a:r>
              <a:rPr lang="en-US" altLang="zh-CN" b="0" dirty="0">
                <a:solidFill>
                  <a:schemeClr val="tx1"/>
                </a:solidFill>
              </a:rPr>
              <a:t>MSR</a:t>
            </a:r>
            <a:r>
              <a:rPr lang="en-US" altLang="zh-CN" dirty="0">
                <a:sym typeface="+mn-ea"/>
              </a:rPr>
              <a:t>830</a:t>
            </a:r>
            <a:r>
              <a:rPr lang="en-US" altLang="zh-CN" b="0" dirty="0">
                <a:solidFill>
                  <a:schemeClr val="tx1"/>
                </a:solidFill>
              </a:rPr>
              <a:t>/</a:t>
            </a:r>
            <a:r>
              <a:rPr lang="en-US" altLang="zh-CN" dirty="0">
                <a:sym typeface="+mn-ea"/>
              </a:rPr>
              <a:t>2010E</a:t>
            </a:r>
            <a:r>
              <a:rPr lang="en-US" altLang="zh-CN" b="0" dirty="0">
                <a:solidFill>
                  <a:schemeClr val="tx1"/>
                </a:solidFill>
              </a:rPr>
              <a:t> </a:t>
            </a:r>
            <a:endParaRPr lang="zh-CN" altLang="en-US" b="0" dirty="0">
              <a:solidFill>
                <a:schemeClr val="tx1"/>
              </a:solidFill>
            </a:endParaRPr>
          </a:p>
        </p:txBody>
      </p:sp>
      <p:sp>
        <p:nvSpPr>
          <p:cNvPr id="9219" name="Rectangle 4"/>
          <p:cNvSpPr>
            <a:spLocks noGrp="1" noChangeArrowheads="1"/>
          </p:cNvSpPr>
          <p:nvPr/>
        </p:nvSpPr>
        <p:spPr>
          <a:xfrm>
            <a:off x="1298238" y="743654"/>
            <a:ext cx="6860436" cy="661521"/>
          </a:xfrm>
          <a:prstGeom prst="rect">
            <a:avLst/>
          </a:prstGeom>
          <a:noFill/>
          <a:ln>
            <a:noFill/>
          </a:ln>
        </p:spPr>
        <p:txBody>
          <a:bodyPr vert="horz" wrap="square" lIns="77952" tIns="38975" rIns="77952" bIns="38975" numCol="1" anchor="ctr" anchorCtr="0" compatLnSpc="1"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l" latinLnBrk="0">
              <a:lnSpc>
                <a:spcPct val="150000"/>
              </a:lnSpc>
            </a:pPr>
            <a:r>
              <a:rPr lang="zh-CN" altLang="zh-CN" sz="36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实验1.</a:t>
            </a:r>
            <a:r>
              <a:rPr lang="en-US" altLang="zh-CN" sz="36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</a:t>
            </a:r>
            <a:r>
              <a:rPr lang="zh-CN" altLang="zh-CN" sz="36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访问配置</a:t>
            </a:r>
            <a:r>
              <a:rPr lang="zh-CN" altLang="zh-CN" sz="36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网络设备</a:t>
            </a:r>
            <a:r>
              <a:rPr lang="zh-CN" altLang="en-US" sz="3600" b="1" dirty="0"/>
              <a:t>         </a:t>
            </a:r>
            <a:r>
              <a:rPr lang="zh-CN" altLang="en-US" sz="3755" b="1" dirty="0"/>
              <a:t>  </a:t>
            </a:r>
            <a:endParaRPr lang="zh-CN" altLang="en-US" sz="1705" b="1" dirty="0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3" name="Rectangle 3"/>
          <p:cNvSpPr>
            <a:spLocks noGrp="1" noChangeArrowheads="1"/>
          </p:cNvSpPr>
          <p:nvPr>
            <p:ph idx="1"/>
          </p:nvPr>
        </p:nvSpPr>
        <p:spPr>
          <a:xfrm>
            <a:off x="107315" y="1830070"/>
            <a:ext cx="8523605" cy="427291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2400" dirty="0"/>
              <a:t>访问配置网络设备的主要方法有以下几种：</a:t>
            </a:r>
            <a:endParaRPr lang="en-US" altLang="zh-CN" sz="2400" dirty="0"/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endParaRPr lang="zh-CN" altLang="en-US" sz="1000" dirty="0"/>
          </a:p>
          <a:p>
            <a:pPr lvl="1" eaLnBrk="1" hangingPunct="1">
              <a:buFont typeface="Wingdings" panose="05000000000000000000" charset="0"/>
              <a:buChar char="ü"/>
              <a:defRPr/>
            </a:pPr>
            <a:r>
              <a:rPr lang="zh-CN" altLang="en-US" sz="2400" b="1" dirty="0">
                <a:solidFill>
                  <a:srgbClr val="0000FF"/>
                </a:solidFill>
              </a:rPr>
              <a:t>通过运行</a:t>
            </a:r>
            <a:r>
              <a:rPr lang="zh-CN" altLang="en-US" sz="2400" b="1" dirty="0">
                <a:solidFill>
                  <a:srgbClr val="FF0000"/>
                </a:solidFill>
              </a:rPr>
              <a:t>超级终端仿真软件；</a:t>
            </a:r>
          </a:p>
          <a:p>
            <a:pPr marL="457200" lvl="1" indent="0" eaLnBrk="1" hangingPunct="1">
              <a:buNone/>
              <a:defRPr/>
            </a:pPr>
            <a:r>
              <a:rPr lang="zh-CN" altLang="en-US" sz="2400" b="1" dirty="0">
                <a:solidFill>
                  <a:srgbClr val="0000FF"/>
                </a:solidFill>
              </a:rPr>
              <a:t>     （网络设备的</a:t>
            </a:r>
            <a:r>
              <a:rPr lang="en-US" altLang="zh-CN" sz="2400" b="1" dirty="0">
                <a:solidFill>
                  <a:srgbClr val="FF0000"/>
                </a:solidFill>
                <a:sym typeface="+mn-ea"/>
              </a:rPr>
              <a:t>CONsole</a:t>
            </a:r>
            <a:r>
              <a:rPr lang="zh-CN" altLang="en-US" sz="2400" b="1" dirty="0">
                <a:solidFill>
                  <a:srgbClr val="0000FF"/>
                </a:solidFill>
                <a:sym typeface="+mn-ea"/>
              </a:rPr>
              <a:t>端口，连接电脑的</a:t>
            </a:r>
            <a:r>
              <a:rPr lang="en-US" altLang="zh-CN" sz="2400" b="1" dirty="0">
                <a:solidFill>
                  <a:srgbClr val="0000FF"/>
                </a:solidFill>
                <a:sym typeface="+mn-ea"/>
              </a:rPr>
              <a:t>COM</a:t>
            </a:r>
            <a:r>
              <a:rPr lang="zh-CN" altLang="en-US" sz="2400" b="1" dirty="0">
                <a:solidFill>
                  <a:srgbClr val="0000FF"/>
                </a:solidFill>
                <a:sym typeface="+mn-ea"/>
              </a:rPr>
              <a:t>串口）</a:t>
            </a:r>
            <a:endParaRPr lang="zh-CN" altLang="en-US" sz="2400" b="1" dirty="0">
              <a:solidFill>
                <a:srgbClr val="0000FF"/>
              </a:solidFill>
            </a:endParaRPr>
          </a:p>
          <a:p>
            <a:pPr lvl="1" eaLnBrk="1" hangingPunct="1">
              <a:buFont typeface="Wingdings" panose="05000000000000000000" charset="0"/>
              <a:buChar char="l"/>
              <a:defRPr/>
            </a:pPr>
            <a:r>
              <a:rPr lang="zh-CN" altLang="en-US" sz="2400" dirty="0"/>
              <a:t>通过</a:t>
            </a:r>
            <a:r>
              <a:rPr lang="en-US" altLang="zh-CN" sz="2400" dirty="0"/>
              <a:t>Telnet</a:t>
            </a:r>
            <a:r>
              <a:rPr lang="zh-CN" altLang="en-US" sz="2400" dirty="0"/>
              <a:t>程序</a:t>
            </a:r>
            <a:r>
              <a:rPr lang="en-US" altLang="zh-CN" sz="2400" b="1" dirty="0">
                <a:solidFill>
                  <a:srgbClr val="0000FF"/>
                </a:solidFill>
              </a:rPr>
              <a:t>(</a:t>
            </a:r>
            <a:r>
              <a:rPr lang="zh-CN" altLang="en-US" sz="2400" b="1" dirty="0">
                <a:solidFill>
                  <a:srgbClr val="0000FF"/>
                </a:solidFill>
              </a:rPr>
              <a:t>网口，</a:t>
            </a:r>
            <a:r>
              <a:rPr lang="en-US" altLang="zh-CN" sz="2400" b="1" dirty="0">
                <a:solidFill>
                  <a:srgbClr val="0000FF"/>
                </a:solidFill>
              </a:rPr>
              <a:t>IP) </a:t>
            </a:r>
            <a:r>
              <a:rPr lang="zh-CN" altLang="en-US" sz="2400" b="1" dirty="0">
                <a:solidFill>
                  <a:srgbClr val="0000FF"/>
                </a:solidFill>
              </a:rPr>
              <a:t>；</a:t>
            </a:r>
            <a:endParaRPr lang="zh-CN" altLang="en-US" sz="1000" b="1" dirty="0">
              <a:solidFill>
                <a:srgbClr val="0000FF"/>
              </a:solidFill>
            </a:endParaRPr>
          </a:p>
          <a:p>
            <a:pPr marL="457200" lvl="1" indent="0" eaLnBrk="1" hangingPunct="1">
              <a:buFont typeface="Wingdings" panose="05000000000000000000" charset="0"/>
              <a:buNone/>
              <a:defRPr/>
            </a:pPr>
            <a:endParaRPr lang="zh-CN" altLang="en-US" sz="1000" dirty="0"/>
          </a:p>
          <a:p>
            <a:pPr lvl="1" eaLnBrk="1" hangingPunct="1">
              <a:buFont typeface="Wingdings" panose="05000000000000000000" charset="0"/>
              <a:buChar char="ü"/>
              <a:defRPr/>
            </a:pPr>
            <a:r>
              <a:rPr lang="zh-CN" altLang="en-US" sz="2400" dirty="0">
                <a:solidFill>
                  <a:srgbClr val="0000FF"/>
                </a:solidFill>
              </a:rPr>
              <a:t>通过</a:t>
            </a:r>
            <a:r>
              <a:rPr lang="en-US" altLang="zh-CN" sz="2400" dirty="0">
                <a:solidFill>
                  <a:srgbClr val="0000FF"/>
                </a:solidFill>
              </a:rPr>
              <a:t>WEB</a:t>
            </a:r>
            <a:r>
              <a:rPr lang="zh-CN" altLang="en-US" sz="2400" dirty="0">
                <a:solidFill>
                  <a:srgbClr val="0000FF"/>
                </a:solidFill>
              </a:rPr>
              <a:t>浏览器</a:t>
            </a:r>
            <a:r>
              <a:rPr lang="zh-CN" altLang="en-US" sz="2400" dirty="0"/>
              <a:t>来访问</a:t>
            </a:r>
            <a:r>
              <a:rPr lang="en-US" altLang="zh-CN" sz="2400" b="1" dirty="0">
                <a:solidFill>
                  <a:srgbClr val="0000FF"/>
                </a:solidFill>
              </a:rPr>
              <a:t>(</a:t>
            </a:r>
            <a:r>
              <a:rPr lang="zh-CN" altLang="en-US" sz="2400" b="1" dirty="0">
                <a:solidFill>
                  <a:srgbClr val="0000FF"/>
                </a:solidFill>
              </a:rPr>
              <a:t>网口，</a:t>
            </a:r>
            <a:r>
              <a:rPr lang="en-US" altLang="zh-CN" sz="2400" b="1" dirty="0">
                <a:solidFill>
                  <a:srgbClr val="0000FF"/>
                </a:solidFill>
              </a:rPr>
              <a:t>IP) </a:t>
            </a:r>
            <a:r>
              <a:rPr lang="zh-CN" altLang="en-US" sz="2400" b="1" dirty="0">
                <a:solidFill>
                  <a:srgbClr val="0000FF"/>
                </a:solidFill>
              </a:rPr>
              <a:t>；</a:t>
            </a:r>
            <a:endParaRPr lang="zh-CN" altLang="en-US" sz="2400" dirty="0"/>
          </a:p>
          <a:p>
            <a:pPr lvl="1" eaLnBrk="1" hangingPunct="1">
              <a:buFont typeface="Wingdings" panose="05000000000000000000" charset="0"/>
              <a:buChar char="l"/>
              <a:defRPr/>
            </a:pPr>
            <a:r>
              <a:rPr lang="zh-CN" altLang="en-US" sz="2400" dirty="0"/>
              <a:t>通过专业网管软件</a:t>
            </a:r>
            <a:r>
              <a:rPr lang="en-US" altLang="zh-CN" sz="2400" b="1" dirty="0">
                <a:solidFill>
                  <a:srgbClr val="0000FF"/>
                </a:solidFill>
              </a:rPr>
              <a:t>(</a:t>
            </a:r>
            <a:r>
              <a:rPr lang="zh-CN" altLang="en-US" sz="2400" b="1" dirty="0">
                <a:solidFill>
                  <a:srgbClr val="0000FF"/>
                </a:solidFill>
              </a:rPr>
              <a:t>网口，</a:t>
            </a:r>
            <a:r>
              <a:rPr lang="en-US" altLang="zh-CN" sz="2400" b="1" dirty="0">
                <a:solidFill>
                  <a:srgbClr val="0000FF"/>
                </a:solidFill>
              </a:rPr>
              <a:t>IP) </a:t>
            </a:r>
            <a:r>
              <a:rPr lang="zh-CN" altLang="en-US" sz="2400" b="1" dirty="0">
                <a:solidFill>
                  <a:srgbClr val="0000FF"/>
                </a:solidFill>
              </a:rPr>
              <a:t>；</a:t>
            </a:r>
          </a:p>
          <a:p>
            <a:pPr lvl="1" eaLnBrk="1" hangingPunct="1">
              <a:buFont typeface="Wingdings" panose="05000000000000000000" charset="0"/>
              <a:buChar char="l"/>
              <a:defRPr/>
            </a:pPr>
            <a:endParaRPr lang="en-US" altLang="zh-CN" sz="1000" dirty="0"/>
          </a:p>
          <a:p>
            <a:pPr lvl="1" eaLnBrk="1" hangingPunct="1">
              <a:defRPr/>
            </a:pPr>
            <a:r>
              <a:rPr lang="zh-CN" altLang="en-US" sz="2400" dirty="0"/>
              <a:t>通过</a:t>
            </a:r>
            <a:r>
              <a:rPr lang="en-US" altLang="zh-CN" sz="2400" dirty="0"/>
              <a:t>Aux/COM</a:t>
            </a:r>
            <a:r>
              <a:rPr lang="zh-CN" altLang="en-US" sz="2400" dirty="0"/>
              <a:t>端口接窄带</a:t>
            </a:r>
            <a:r>
              <a:rPr lang="en-US" altLang="zh-CN" sz="2400" dirty="0"/>
              <a:t>MODEM</a:t>
            </a:r>
            <a:r>
              <a:rPr lang="zh-CN" altLang="en-US" sz="2400" dirty="0"/>
              <a:t>，通过固定电话线与远方的终端连接，运行超级终端仿真软件。</a:t>
            </a:r>
          </a:p>
        </p:txBody>
      </p:sp>
      <p:sp>
        <p:nvSpPr>
          <p:cNvPr id="13314" name="页脚占位符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0">
                <a:solidFill>
                  <a:schemeClr val="tx1"/>
                </a:solidFill>
              </a:rPr>
              <a:t>计算机通信与网络实验</a:t>
            </a:r>
            <a:endParaRPr lang="en-US" altLang="zh-CN" b="0">
              <a:solidFill>
                <a:schemeClr val="tx1"/>
              </a:solidFill>
            </a:endParaRPr>
          </a:p>
        </p:txBody>
      </p:sp>
      <p:sp>
        <p:nvSpPr>
          <p:cNvPr id="9219" name="Rectangle 4"/>
          <p:cNvSpPr>
            <a:spLocks noGrp="1" noChangeArrowheads="1"/>
          </p:cNvSpPr>
          <p:nvPr/>
        </p:nvSpPr>
        <p:spPr>
          <a:xfrm>
            <a:off x="1298238" y="743654"/>
            <a:ext cx="6860436" cy="661521"/>
          </a:xfrm>
          <a:prstGeom prst="rect">
            <a:avLst/>
          </a:prstGeom>
          <a:noFill/>
          <a:ln>
            <a:noFill/>
          </a:ln>
        </p:spPr>
        <p:txBody>
          <a:bodyPr vert="horz" wrap="square" lIns="77952" tIns="38975" rIns="77952" bIns="38975" numCol="1" anchor="ctr" anchorCtr="0" compatLnSpc="1"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l" latinLnBrk="0">
              <a:lnSpc>
                <a:spcPct val="150000"/>
              </a:lnSpc>
            </a:pPr>
            <a:r>
              <a:rPr lang="zh-CN" altLang="zh-CN" sz="36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实验1.</a:t>
            </a:r>
            <a:r>
              <a:rPr lang="en-US" altLang="zh-CN" sz="36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</a:t>
            </a:r>
            <a:r>
              <a:rPr lang="zh-CN" altLang="zh-CN" sz="36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访问配置</a:t>
            </a:r>
            <a:r>
              <a:rPr lang="zh-CN" altLang="zh-CN" sz="36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网络设备</a:t>
            </a:r>
            <a:r>
              <a:rPr lang="zh-CN" altLang="en-US" sz="3600" b="1" dirty="0"/>
              <a:t>         </a:t>
            </a:r>
            <a:r>
              <a:rPr lang="zh-CN" altLang="en-US" sz="3755" b="1" dirty="0"/>
              <a:t>  </a:t>
            </a:r>
            <a:endParaRPr lang="zh-CN" altLang="en-US" sz="1705" b="1" dirty="0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7" name="Rectangle 3"/>
          <p:cNvSpPr>
            <a:spLocks noGrp="1" noChangeArrowheads="1"/>
          </p:cNvSpPr>
          <p:nvPr>
            <p:ph idx="1"/>
          </p:nvPr>
        </p:nvSpPr>
        <p:spPr>
          <a:xfrm>
            <a:off x="101600" y="1503045"/>
            <a:ext cx="9042400" cy="2700020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zh-CN" altLang="en-US" sz="2800" b="1" dirty="0">
                <a:solidFill>
                  <a:srgbClr val="FF0000"/>
                </a:solidFill>
                <a:sym typeface="+mn-ea"/>
              </a:rPr>
              <a:t>通过</a:t>
            </a:r>
            <a:r>
              <a:rPr lang="zh-CN" altLang="en-US" sz="2800" b="1" dirty="0">
                <a:solidFill>
                  <a:srgbClr val="0000FF"/>
                </a:solidFill>
                <a:sym typeface="+mn-ea"/>
              </a:rPr>
              <a:t>运行超级终端仿真软件</a:t>
            </a:r>
            <a:r>
              <a:rPr lang="zh-CN" altLang="en-US" sz="2800" b="1" dirty="0">
                <a:solidFill>
                  <a:srgbClr val="FF0000"/>
                </a:solidFill>
                <a:sym typeface="+mn-ea"/>
              </a:rPr>
              <a:t>配置</a:t>
            </a:r>
            <a:endParaRPr lang="zh-CN" altLang="en-US" sz="2800" dirty="0"/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zh-CN" sz="2400" dirty="0"/>
              <a:t>H3C</a:t>
            </a:r>
            <a:r>
              <a:rPr lang="zh-CN" altLang="en-US" sz="2400" dirty="0"/>
              <a:t>路由器和交换机；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zh-CN" sz="2400" dirty="0"/>
              <a:t>PC</a:t>
            </a:r>
            <a:r>
              <a:rPr lang="zh-CN" altLang="en-US" sz="2400" dirty="0"/>
              <a:t>机，</a:t>
            </a:r>
            <a:r>
              <a:rPr lang="en-US" altLang="zh-CN" sz="2400" dirty="0" err="1"/>
              <a:t>Win7</a:t>
            </a:r>
            <a:r>
              <a:rPr lang="en-US" altLang="zh-CN" sz="2400" dirty="0"/>
              <a:t>/Win2003/Win10</a:t>
            </a:r>
            <a:r>
              <a:rPr lang="zh-CN" altLang="en-US" sz="2400" dirty="0"/>
              <a:t>等操作系统，运行有</a:t>
            </a:r>
            <a:r>
              <a:rPr lang="zh-CN" altLang="en-US" sz="2400" dirty="0">
                <a:solidFill>
                  <a:srgbClr val="FF0000"/>
                </a:solidFill>
              </a:rPr>
              <a:t>超级终端</a:t>
            </a:r>
            <a:r>
              <a:rPr lang="zh-CN" altLang="en-US" sz="2400" dirty="0"/>
              <a:t>仿真软件：</a:t>
            </a:r>
            <a:r>
              <a:rPr lang="en-US" altLang="zh-CN" sz="2400" dirty="0">
                <a:solidFill>
                  <a:srgbClr val="FF0000"/>
                </a:solidFill>
              </a:rPr>
              <a:t>hypertrm.exe  , HyperTerminal.exe</a:t>
            </a:r>
            <a:r>
              <a:rPr lang="zh-CN" altLang="en-US" sz="2400" dirty="0">
                <a:solidFill>
                  <a:srgbClr val="FF0000"/>
                </a:solidFill>
              </a:rPr>
              <a:t>；</a:t>
            </a:r>
            <a:endParaRPr lang="en-US" altLang="zh-CN" sz="2400" dirty="0">
              <a:solidFill>
                <a:srgbClr val="FF0000"/>
              </a:solidFill>
            </a:endParaRP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zh-CN" sz="2400" dirty="0"/>
              <a:t>Console</a:t>
            </a:r>
            <a:r>
              <a:rPr lang="zh-CN" altLang="en-US" sz="2400" dirty="0"/>
              <a:t>控制台电缆</a:t>
            </a:r>
            <a:r>
              <a:rPr lang="en-US" altLang="zh-CN" sz="2400" dirty="0"/>
              <a:t>1</a:t>
            </a:r>
            <a:r>
              <a:rPr lang="zh-CN" altLang="en-US" sz="2400" dirty="0"/>
              <a:t>根。</a:t>
            </a:r>
          </a:p>
          <a:p>
            <a:pPr lvl="1" eaLnBrk="1" hangingPunct="1">
              <a:lnSpc>
                <a:spcPct val="90000"/>
              </a:lnSpc>
              <a:defRPr/>
            </a:pPr>
            <a:endParaRPr lang="en-US" altLang="zh-CN" sz="1500" dirty="0"/>
          </a:p>
          <a:p>
            <a:pPr marL="0" lvl="1" indent="0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>
                <a:solidFill>
                  <a:srgbClr val="0000FF"/>
                </a:solidFill>
              </a:rPr>
              <a:t>     </a:t>
            </a:r>
            <a:r>
              <a:rPr lang="zh-CN" altLang="en-US" sz="2000" dirty="0">
                <a:solidFill>
                  <a:srgbClr val="0000FF"/>
                </a:solidFill>
                <a:sym typeface="+mn-ea"/>
              </a:rPr>
              <a:t>台式机的</a:t>
            </a:r>
            <a:r>
              <a:rPr lang="en-US" altLang="zh-CN" sz="2000" b="1" dirty="0">
                <a:solidFill>
                  <a:srgbClr val="FF0000"/>
                </a:solidFill>
                <a:sym typeface="+mn-ea"/>
              </a:rPr>
              <a:t>COM</a:t>
            </a:r>
            <a:r>
              <a:rPr lang="zh-CN" altLang="en-US" sz="2000" dirty="0">
                <a:solidFill>
                  <a:srgbClr val="0000FF"/>
                </a:solidFill>
                <a:sym typeface="+mn-ea"/>
              </a:rPr>
              <a:t>接口                       </a:t>
            </a:r>
            <a:r>
              <a:rPr lang="en-US" altLang="zh-CN" sz="2000" dirty="0">
                <a:solidFill>
                  <a:srgbClr val="0000FF"/>
                </a:solidFill>
              </a:rPr>
              <a:t>Console</a:t>
            </a:r>
            <a:r>
              <a:rPr lang="zh-CN" altLang="en-US" sz="2000" dirty="0">
                <a:solidFill>
                  <a:srgbClr val="0000FF"/>
                </a:solidFill>
              </a:rPr>
              <a:t>电缆</a:t>
            </a:r>
            <a:r>
              <a:rPr lang="en-US" altLang="zh-CN" sz="2000" dirty="0">
                <a:solidFill>
                  <a:srgbClr val="0000FF"/>
                </a:solidFill>
              </a:rPr>
              <a:t>                    </a:t>
            </a:r>
            <a:r>
              <a:rPr lang="zh-CN" altLang="en-US" sz="2000" dirty="0">
                <a:solidFill>
                  <a:srgbClr val="0000FF"/>
                </a:solidFill>
                <a:sym typeface="Wingdings" panose="05000000000000000000" pitchFamily="2" charset="2"/>
              </a:rPr>
              <a:t>网络设备的</a:t>
            </a:r>
            <a:r>
              <a:rPr lang="en-US" altLang="zh-CN" sz="2000" b="1" dirty="0">
                <a:solidFill>
                  <a:srgbClr val="FF0000"/>
                </a:solidFill>
                <a:sym typeface="Wingdings" panose="05000000000000000000" pitchFamily="2" charset="2"/>
              </a:rPr>
              <a:t>CON</a:t>
            </a:r>
            <a:r>
              <a:rPr lang="en-US" altLang="zh-CN" sz="2000" dirty="0">
                <a:solidFill>
                  <a:srgbClr val="0000FF"/>
                </a:solidFill>
                <a:sym typeface="Wingdings" panose="05000000000000000000" pitchFamily="2" charset="2"/>
              </a:rPr>
              <a:t>sole</a:t>
            </a:r>
            <a:r>
              <a:rPr lang="zh-CN" altLang="en-US" sz="2000" dirty="0">
                <a:solidFill>
                  <a:srgbClr val="0000FF"/>
                </a:solidFill>
                <a:sym typeface="Wingdings" panose="05000000000000000000" pitchFamily="2" charset="2"/>
              </a:rPr>
              <a:t>端口</a:t>
            </a:r>
            <a:endParaRPr lang="en-US" altLang="zh-CN" sz="2000" dirty="0">
              <a:solidFill>
                <a:srgbClr val="0000FF"/>
              </a:solidFill>
              <a:sym typeface="Wingdings" panose="05000000000000000000" pitchFamily="2" charset="2"/>
            </a:endParaRPr>
          </a:p>
          <a:p>
            <a:pPr marL="457200" lvl="1" indent="0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>
                <a:solidFill>
                  <a:srgbClr val="0000FF"/>
                </a:solidFill>
                <a:sym typeface="Wingdings" panose="05000000000000000000" pitchFamily="2" charset="2"/>
              </a:rPr>
              <a:t>                                                                            </a:t>
            </a:r>
            <a:endParaRPr lang="zh-CN" altLang="en-US" sz="2400" dirty="0">
              <a:solidFill>
                <a:srgbClr val="0000FF"/>
              </a:solidFill>
            </a:endParaRPr>
          </a:p>
        </p:txBody>
      </p:sp>
      <p:sp>
        <p:nvSpPr>
          <p:cNvPr id="14338" name="页脚占位符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0">
                <a:solidFill>
                  <a:schemeClr val="tx1"/>
                </a:solidFill>
              </a:rPr>
              <a:t>计算机通信与网络实验</a:t>
            </a:r>
            <a:endParaRPr lang="en-US" altLang="zh-CN" b="0">
              <a:solidFill>
                <a:schemeClr val="tx1"/>
              </a:solidFill>
            </a:endParaRPr>
          </a:p>
        </p:txBody>
      </p:sp>
      <p:pic>
        <p:nvPicPr>
          <p:cNvPr id="14341" name="Picture 7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4505" y="4355703"/>
            <a:ext cx="2316163" cy="176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66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342" name="Picture 8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208" y="4301093"/>
            <a:ext cx="885825" cy="160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66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343" name="Picture 9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0378" y="4355703"/>
            <a:ext cx="906462" cy="151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66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344" name="Picture 9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1433" y="4342050"/>
            <a:ext cx="1368425" cy="154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66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3" name="直接箭头连接符 2"/>
          <p:cNvCxnSpPr/>
          <p:nvPr/>
        </p:nvCxnSpPr>
        <p:spPr>
          <a:xfrm flipH="1" flipV="1">
            <a:off x="2339975" y="5085080"/>
            <a:ext cx="1379220" cy="705485"/>
          </a:xfrm>
          <a:prstGeom prst="straightConnector1">
            <a:avLst/>
          </a:prstGeom>
          <a:ln>
            <a:solidFill>
              <a:srgbClr val="FF5050"/>
            </a:solidFill>
            <a:tailEnd type="arrow" w="med" len="med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4" name="直接箭头连接符 3"/>
          <p:cNvCxnSpPr/>
          <p:nvPr/>
        </p:nvCxnSpPr>
        <p:spPr>
          <a:xfrm flipV="1">
            <a:off x="4860290" y="5156835"/>
            <a:ext cx="2160270" cy="575945"/>
          </a:xfrm>
          <a:prstGeom prst="straightConnector1">
            <a:avLst/>
          </a:prstGeom>
          <a:ln>
            <a:solidFill>
              <a:srgbClr val="FF5050"/>
            </a:solidFill>
            <a:tailEnd type="arrow" w="med" len="med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5" name="直接箭头连接符 4"/>
          <p:cNvCxnSpPr/>
          <p:nvPr/>
        </p:nvCxnSpPr>
        <p:spPr>
          <a:xfrm flipH="1">
            <a:off x="2656840" y="4004310"/>
            <a:ext cx="1202055" cy="635"/>
          </a:xfrm>
          <a:prstGeom prst="straightConnector1">
            <a:avLst/>
          </a:prstGeom>
          <a:ln>
            <a:solidFill>
              <a:srgbClr val="FF5050"/>
            </a:solidFill>
            <a:tailEnd type="arrow" w="med" len="med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6" name="直接箭头连接符 5"/>
          <p:cNvCxnSpPr/>
          <p:nvPr/>
        </p:nvCxnSpPr>
        <p:spPr>
          <a:xfrm flipV="1">
            <a:off x="5241925" y="4003675"/>
            <a:ext cx="1089025" cy="635"/>
          </a:xfrm>
          <a:prstGeom prst="straightConnector1">
            <a:avLst/>
          </a:prstGeom>
          <a:ln>
            <a:solidFill>
              <a:srgbClr val="FF5050"/>
            </a:solidFill>
            <a:tailEnd type="arrow" w="med" len="med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398145" y="6068060"/>
            <a:ext cx="603504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2000">
                <a:solidFill>
                  <a:srgbClr val="0000FF"/>
                </a:solidFill>
              </a:rPr>
              <a:t>笔记本没有</a:t>
            </a:r>
            <a:r>
              <a:rPr lang="en-US" altLang="zh-CN" sz="2000">
                <a:solidFill>
                  <a:srgbClr val="0000FF"/>
                </a:solidFill>
              </a:rPr>
              <a:t>COM</a:t>
            </a:r>
            <a:r>
              <a:rPr lang="zh-CN" altLang="en-US" sz="2000">
                <a:solidFill>
                  <a:srgbClr val="0000FF"/>
                </a:solidFill>
              </a:rPr>
              <a:t>口，可用</a:t>
            </a:r>
            <a:r>
              <a:rPr lang="en-US" altLang="zh-CN" sz="2000" u="sng">
                <a:solidFill>
                  <a:srgbClr val="FF0000"/>
                </a:solidFill>
              </a:rPr>
              <a:t>USB</a:t>
            </a:r>
            <a:r>
              <a:rPr lang="zh-CN" altLang="en-US" sz="2000" u="sng">
                <a:solidFill>
                  <a:srgbClr val="FF0000"/>
                </a:solidFill>
              </a:rPr>
              <a:t>转</a:t>
            </a:r>
            <a:r>
              <a:rPr lang="en-US" altLang="zh-CN" sz="2000" u="sng">
                <a:solidFill>
                  <a:srgbClr val="FF0000"/>
                </a:solidFill>
              </a:rPr>
              <a:t>RJ45 CONsole</a:t>
            </a:r>
            <a:r>
              <a:rPr lang="zh-CN" altLang="en-US" sz="2000" u="sng">
                <a:solidFill>
                  <a:srgbClr val="FF0000"/>
                </a:solidFill>
              </a:rPr>
              <a:t>线</a:t>
            </a:r>
            <a:r>
              <a:rPr lang="zh-CN" altLang="en-US" sz="2000">
                <a:solidFill>
                  <a:srgbClr val="0000FF"/>
                </a:solidFill>
              </a:rPr>
              <a:t>连接</a:t>
            </a:r>
          </a:p>
        </p:txBody>
      </p:sp>
      <p:sp>
        <p:nvSpPr>
          <p:cNvPr id="9219" name="Rectangle 4"/>
          <p:cNvSpPr>
            <a:spLocks noGrp="1" noChangeArrowheads="1"/>
          </p:cNvSpPr>
          <p:nvPr/>
        </p:nvSpPr>
        <p:spPr>
          <a:xfrm>
            <a:off x="1298238" y="743654"/>
            <a:ext cx="6860436" cy="661521"/>
          </a:xfrm>
          <a:prstGeom prst="rect">
            <a:avLst/>
          </a:prstGeom>
          <a:noFill/>
          <a:ln>
            <a:noFill/>
          </a:ln>
        </p:spPr>
        <p:txBody>
          <a:bodyPr vert="horz" wrap="square" lIns="77952" tIns="38975" rIns="77952" bIns="38975" numCol="1" anchor="ctr" anchorCtr="0" compatLnSpc="1"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l" latinLnBrk="0">
              <a:lnSpc>
                <a:spcPct val="150000"/>
              </a:lnSpc>
            </a:pPr>
            <a:r>
              <a:rPr lang="zh-CN" altLang="zh-CN" sz="36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实验1.</a:t>
            </a:r>
            <a:r>
              <a:rPr lang="en-US" altLang="zh-CN" sz="36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</a:t>
            </a:r>
            <a:r>
              <a:rPr lang="zh-CN" altLang="zh-CN" sz="36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访问配置</a:t>
            </a:r>
            <a:r>
              <a:rPr lang="zh-CN" altLang="zh-CN" sz="36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网络设备</a:t>
            </a:r>
            <a:r>
              <a:rPr lang="zh-CN" altLang="en-US" sz="3600" b="1" dirty="0"/>
              <a:t>         </a:t>
            </a:r>
            <a:r>
              <a:rPr lang="zh-CN" altLang="en-US" sz="3755" b="1" dirty="0"/>
              <a:t>  </a:t>
            </a:r>
            <a:endParaRPr lang="zh-CN" altLang="en-US" sz="1705" b="1" dirty="0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4" name="Picture 8" descr="TQK@1O12OB8Z][]%VXJ_UD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" y="3216275"/>
            <a:ext cx="8876030" cy="20847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2" name="页脚占位符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0">
                <a:solidFill>
                  <a:schemeClr val="tx1"/>
                </a:solidFill>
              </a:rPr>
              <a:t>计算机通信与网络实验</a:t>
            </a:r>
            <a:endParaRPr lang="en-US" altLang="zh-CN" b="0">
              <a:solidFill>
                <a:schemeClr val="tx1"/>
              </a:solidFill>
            </a:endParaRPr>
          </a:p>
        </p:txBody>
      </p:sp>
      <p:sp>
        <p:nvSpPr>
          <p:cNvPr id="15365" name="Text Box 9"/>
          <p:cNvSpPr txBox="1">
            <a:spLocks noChangeArrowheads="1"/>
          </p:cNvSpPr>
          <p:nvPr/>
        </p:nvSpPr>
        <p:spPr bwMode="auto">
          <a:xfrm>
            <a:off x="282575" y="5285105"/>
            <a:ext cx="8682355" cy="11068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CC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rIns="0">
            <a:spAutoFit/>
          </a:bodyPr>
          <a:lstStyle>
            <a:lvl1pPr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200" b="0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交换机是一种基于</a:t>
            </a:r>
            <a:r>
              <a:rPr lang="en-US" altLang="zh-CN" sz="2200" b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MAC</a:t>
            </a:r>
            <a:r>
              <a:rPr lang="zh-CN" altLang="en-US" sz="2200" b="0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地址识别，能完成封装、转发数据包功能的网络设备；</a:t>
            </a:r>
            <a:r>
              <a:rPr lang="zh-CN" altLang="en-US" sz="2200" b="0" dirty="0">
                <a:solidFill>
                  <a:srgbClr val="FF0000"/>
                </a:solidFill>
                <a:latin typeface="宋体" panose="02010600030101010101" pitchFamily="2" charset="-122"/>
                <a:sym typeface="+mn-ea"/>
              </a:rPr>
              <a:t>交换机</a:t>
            </a:r>
            <a:r>
              <a:rPr lang="zh-CN" altLang="en-US" sz="2200" b="0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通过通讯介质连接电脑等设备，</a:t>
            </a:r>
            <a:r>
              <a:rPr lang="zh-CN" altLang="en-US" sz="2200" dirty="0">
                <a:solidFill>
                  <a:srgbClr val="0000FF"/>
                </a:solidFill>
                <a:latin typeface="宋体" panose="02010600030101010101" pitchFamily="2" charset="-122"/>
                <a:sym typeface="+mn-ea"/>
              </a:rPr>
              <a:t>组建局域网</a:t>
            </a:r>
            <a:r>
              <a:rPr lang="zh-CN" altLang="en-US" sz="2200" b="0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；</a:t>
            </a:r>
          </a:p>
          <a:p>
            <a:pPr eaLnBrk="1" hangingPunct="1"/>
            <a:r>
              <a:rPr lang="zh-CN" altLang="en-US" sz="2200" b="0" dirty="0">
                <a:solidFill>
                  <a:schemeClr val="folHlink"/>
                </a:solidFill>
                <a:latin typeface="Tahoma" panose="020B0604030504040204" pitchFamily="34" charset="0"/>
                <a:sym typeface="+mn-ea"/>
              </a:rPr>
              <a:t>交换机工作于</a:t>
            </a:r>
            <a:r>
              <a:rPr lang="en-US" altLang="zh-CN" sz="2200" b="0" dirty="0">
                <a:solidFill>
                  <a:schemeClr val="folHlink"/>
                </a:solidFill>
                <a:latin typeface="Tahoma" panose="020B0604030504040204" pitchFamily="34" charset="0"/>
                <a:sym typeface="+mn-ea"/>
              </a:rPr>
              <a:t>OSI</a:t>
            </a:r>
            <a:r>
              <a:rPr lang="zh-CN" altLang="en-US" sz="2200" b="0" dirty="0">
                <a:solidFill>
                  <a:schemeClr val="folHlink"/>
                </a:solidFill>
                <a:latin typeface="Tahoma" panose="020B0604030504040204" pitchFamily="34" charset="0"/>
                <a:sym typeface="+mn-ea"/>
              </a:rPr>
              <a:t>参考模型的</a:t>
            </a:r>
            <a:r>
              <a:rPr lang="zh-CN" altLang="en-US" sz="2200" dirty="0">
                <a:solidFill>
                  <a:srgbClr val="FF0000"/>
                </a:solidFill>
                <a:latin typeface="Tahoma" panose="020B0604030504040204" pitchFamily="34" charset="0"/>
                <a:sym typeface="+mn-ea"/>
              </a:rPr>
              <a:t>第二层</a:t>
            </a:r>
            <a:r>
              <a:rPr lang="zh-CN" altLang="en-US" sz="2200" dirty="0">
                <a:solidFill>
                  <a:srgbClr val="0000FF"/>
                </a:solidFill>
                <a:latin typeface="Tahoma" panose="020B0604030504040204" pitchFamily="34" charset="0"/>
                <a:sym typeface="+mn-ea"/>
              </a:rPr>
              <a:t>数据链路层</a:t>
            </a:r>
          </a:p>
        </p:txBody>
      </p:sp>
      <p:pic>
        <p:nvPicPr>
          <p:cNvPr id="15366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9358" y="1475110"/>
            <a:ext cx="5484812" cy="1511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66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367" name="Text Box 9"/>
          <p:cNvSpPr txBox="1">
            <a:spLocks noChangeArrowheads="1"/>
          </p:cNvSpPr>
          <p:nvPr/>
        </p:nvSpPr>
        <p:spPr bwMode="auto">
          <a:xfrm>
            <a:off x="6019800" y="2201545"/>
            <a:ext cx="3202940" cy="10147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CC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rIns="0">
            <a:spAutoFit/>
          </a:bodyPr>
          <a:lstStyle>
            <a:lvl1pPr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>
                <a:solidFill>
                  <a:srgbClr val="0000FF"/>
                </a:solidFill>
              </a:rPr>
              <a:t>         </a:t>
            </a:r>
            <a:r>
              <a:rPr lang="zh-CN" altLang="en-US" sz="2000">
                <a:solidFill>
                  <a:srgbClr val="0000FF"/>
                </a:solidFill>
              </a:rPr>
              <a:t>网络设备</a:t>
            </a:r>
          </a:p>
          <a:p>
            <a:pPr eaLnBrk="1" hangingPunct="1"/>
            <a:endParaRPr lang="zh-CN" altLang="en-US" sz="2000">
              <a:solidFill>
                <a:srgbClr val="0000FF"/>
              </a:solidFill>
            </a:endParaRPr>
          </a:p>
          <a:p>
            <a:pPr eaLnBrk="1" hangingPunct="1"/>
            <a:r>
              <a:rPr lang="zh-CN" altLang="en-US" sz="2000">
                <a:solidFill>
                  <a:srgbClr val="0000FF"/>
                </a:solidFill>
              </a:rPr>
              <a:t>网络交换机</a:t>
            </a:r>
            <a:r>
              <a:rPr lang="en-US" altLang="zh-CN" sz="2000">
                <a:solidFill>
                  <a:srgbClr val="0000FF"/>
                </a:solidFill>
              </a:rPr>
              <a:t>SWITCH</a:t>
            </a:r>
          </a:p>
        </p:txBody>
      </p:sp>
      <p:sp>
        <p:nvSpPr>
          <p:cNvPr id="9219" name="Rectangle 4"/>
          <p:cNvSpPr>
            <a:spLocks noGrp="1" noChangeArrowheads="1"/>
          </p:cNvSpPr>
          <p:nvPr/>
        </p:nvSpPr>
        <p:spPr>
          <a:xfrm>
            <a:off x="1298238" y="743654"/>
            <a:ext cx="6860436" cy="661521"/>
          </a:xfrm>
          <a:prstGeom prst="rect">
            <a:avLst/>
          </a:prstGeom>
          <a:noFill/>
          <a:ln>
            <a:noFill/>
          </a:ln>
        </p:spPr>
        <p:txBody>
          <a:bodyPr vert="horz" wrap="square" lIns="77952" tIns="38975" rIns="77952" bIns="38975" numCol="1" anchor="ctr" anchorCtr="0" compatLnSpc="1"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l" latinLnBrk="0">
              <a:lnSpc>
                <a:spcPct val="150000"/>
              </a:lnSpc>
            </a:pPr>
            <a:r>
              <a:rPr lang="zh-CN" altLang="zh-CN" sz="36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实验1.</a:t>
            </a:r>
            <a:r>
              <a:rPr lang="en-US" altLang="zh-CN" sz="36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</a:t>
            </a:r>
            <a:r>
              <a:rPr lang="zh-CN" altLang="zh-CN" sz="36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访问配置</a:t>
            </a:r>
            <a:r>
              <a:rPr lang="zh-CN" altLang="zh-CN" sz="36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网络设备</a:t>
            </a:r>
            <a:r>
              <a:rPr lang="zh-CN" altLang="en-US" sz="3600" b="1" dirty="0"/>
              <a:t>         </a:t>
            </a:r>
            <a:r>
              <a:rPr lang="zh-CN" altLang="en-US" sz="3755" b="1" dirty="0"/>
              <a:t>  </a:t>
            </a:r>
            <a:endParaRPr lang="zh-CN" altLang="en-US" sz="1705" b="1" dirty="0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4" name="Picture 8" descr="TQK@1O12OB8Z][]%VXJ_UD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985" y="1550392"/>
            <a:ext cx="8875713" cy="2314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2" name="页脚占位符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0">
                <a:solidFill>
                  <a:schemeClr val="tx1"/>
                </a:solidFill>
              </a:rPr>
              <a:t>计算机通信与网络实验</a:t>
            </a:r>
            <a:endParaRPr lang="en-US" altLang="zh-CN" b="0">
              <a:solidFill>
                <a:schemeClr val="tx1"/>
              </a:solidFill>
            </a:endParaRPr>
          </a:p>
        </p:txBody>
      </p:sp>
      <p:sp>
        <p:nvSpPr>
          <p:cNvPr id="15365" name="Text Box 9"/>
          <p:cNvSpPr txBox="1">
            <a:spLocks noChangeArrowheads="1"/>
          </p:cNvSpPr>
          <p:nvPr/>
        </p:nvSpPr>
        <p:spPr bwMode="auto">
          <a:xfrm>
            <a:off x="267970" y="5249500"/>
            <a:ext cx="8412163" cy="11068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CC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>
            <a:lvl1pPr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200" dirty="0">
                <a:solidFill>
                  <a:srgbClr val="0000FF"/>
                </a:solidFill>
              </a:rPr>
              <a:t>网络端口名称编号：</a:t>
            </a:r>
            <a:r>
              <a:rPr lang="zh-CN" altLang="en-US" sz="2200" dirty="0">
                <a:solidFill>
                  <a:srgbClr val="FF0000"/>
                </a:solidFill>
              </a:rPr>
              <a:t>百兆口</a:t>
            </a:r>
            <a:r>
              <a:rPr lang="en-US" altLang="zh-CN" sz="2200" dirty="0">
                <a:solidFill>
                  <a:srgbClr val="0000FF"/>
                </a:solidFill>
              </a:rPr>
              <a:t> </a:t>
            </a:r>
            <a:r>
              <a:rPr lang="en-US" altLang="zh-CN" sz="2200" dirty="0">
                <a:solidFill>
                  <a:srgbClr val="FF0000"/>
                </a:solidFill>
              </a:rPr>
              <a:t>Ethernet1/0/1</a:t>
            </a:r>
            <a:r>
              <a:rPr lang="zh-CN" altLang="en-US" sz="2200" dirty="0">
                <a:solidFill>
                  <a:srgbClr val="0000FF"/>
                </a:solidFill>
              </a:rPr>
              <a:t>，可缩写为</a:t>
            </a:r>
            <a:r>
              <a:rPr lang="en-US" altLang="zh-CN" sz="2200" dirty="0">
                <a:solidFill>
                  <a:srgbClr val="FF0000"/>
                </a:solidFill>
              </a:rPr>
              <a:t>e1/0/1</a:t>
            </a:r>
          </a:p>
          <a:p>
            <a:pPr eaLnBrk="1" hangingPunct="1"/>
            <a:r>
              <a:rPr lang="en-US" altLang="zh-CN" sz="2200" dirty="0">
                <a:solidFill>
                  <a:srgbClr val="0000FF"/>
                </a:solidFill>
              </a:rPr>
              <a:t> interface  </a:t>
            </a:r>
            <a:r>
              <a:rPr lang="zh-CN" altLang="en-US" sz="2200" dirty="0">
                <a:solidFill>
                  <a:srgbClr val="FF0000"/>
                </a:solidFill>
              </a:rPr>
              <a:t>千兆口</a:t>
            </a:r>
            <a:r>
              <a:rPr lang="en-US" altLang="zh-CN" sz="2200" dirty="0">
                <a:solidFill>
                  <a:srgbClr val="FF0000"/>
                </a:solidFill>
              </a:rPr>
              <a:t>GigabitEthernet1/0/25</a:t>
            </a:r>
            <a:r>
              <a:rPr lang="zh-CN" altLang="en-US" sz="2200" dirty="0">
                <a:solidFill>
                  <a:srgbClr val="0000FF"/>
                </a:solidFill>
              </a:rPr>
              <a:t>，</a:t>
            </a:r>
            <a:r>
              <a:rPr lang="en-US" altLang="zh-CN" sz="2200" dirty="0">
                <a:solidFill>
                  <a:srgbClr val="0000FF"/>
                </a:solidFill>
              </a:rPr>
              <a:t> </a:t>
            </a:r>
            <a:r>
              <a:rPr lang="zh-CN" altLang="en-US" sz="2200" dirty="0">
                <a:solidFill>
                  <a:srgbClr val="0000FF"/>
                </a:solidFill>
                <a:sym typeface="+mn-ea"/>
              </a:rPr>
              <a:t>可缩写为</a:t>
            </a:r>
            <a:r>
              <a:rPr lang="en-US" altLang="zh-CN" sz="2200" dirty="0">
                <a:solidFill>
                  <a:srgbClr val="FF0000"/>
                </a:solidFill>
              </a:rPr>
              <a:t>g1/0/25</a:t>
            </a:r>
          </a:p>
          <a:p>
            <a:pPr eaLnBrk="1" hangingPunct="1"/>
            <a:r>
              <a:rPr lang="zh-CN" altLang="en-US" sz="2200" dirty="0">
                <a:solidFill>
                  <a:srgbClr val="0000FF"/>
                </a:solidFill>
              </a:rPr>
              <a:t>各个厂家的设备中，端口名称可能不一样，但基本类似</a:t>
            </a:r>
          </a:p>
        </p:txBody>
      </p:sp>
      <p:sp>
        <p:nvSpPr>
          <p:cNvPr id="15367" name="Text Box 9"/>
          <p:cNvSpPr txBox="1">
            <a:spLocks noChangeArrowheads="1"/>
          </p:cNvSpPr>
          <p:nvPr/>
        </p:nvSpPr>
        <p:spPr bwMode="auto">
          <a:xfrm>
            <a:off x="6878955" y="2105025"/>
            <a:ext cx="1656080" cy="3987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CC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rIns="0">
            <a:spAutoFit/>
          </a:bodyPr>
          <a:lstStyle>
            <a:lvl1pPr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>
                <a:solidFill>
                  <a:srgbClr val="0000FF"/>
                </a:solidFill>
              </a:rPr>
              <a:t>网络交换机</a:t>
            </a:r>
          </a:p>
        </p:txBody>
      </p:sp>
      <p:sp>
        <p:nvSpPr>
          <p:cNvPr id="9219" name="Rectangle 4"/>
          <p:cNvSpPr>
            <a:spLocks noGrp="1" noChangeArrowheads="1"/>
          </p:cNvSpPr>
          <p:nvPr/>
        </p:nvSpPr>
        <p:spPr>
          <a:xfrm>
            <a:off x="1298238" y="743654"/>
            <a:ext cx="6860436" cy="661521"/>
          </a:xfrm>
          <a:prstGeom prst="rect">
            <a:avLst/>
          </a:prstGeom>
          <a:noFill/>
          <a:ln>
            <a:noFill/>
          </a:ln>
        </p:spPr>
        <p:txBody>
          <a:bodyPr vert="horz" wrap="square" lIns="77952" tIns="38975" rIns="77952" bIns="38975" numCol="1" anchor="ctr" anchorCtr="0" compatLnSpc="1"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l" latinLnBrk="0">
              <a:lnSpc>
                <a:spcPct val="150000"/>
              </a:lnSpc>
            </a:pPr>
            <a:r>
              <a:rPr lang="zh-CN" altLang="zh-CN" sz="36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实验1.</a:t>
            </a:r>
            <a:r>
              <a:rPr lang="en-US" altLang="zh-CN" sz="36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</a:t>
            </a:r>
            <a:r>
              <a:rPr lang="zh-CN" altLang="zh-CN" sz="36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访问配置</a:t>
            </a:r>
            <a:r>
              <a:rPr lang="zh-CN" altLang="zh-CN" sz="36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网络设备</a:t>
            </a:r>
            <a:r>
              <a:rPr lang="zh-CN" altLang="en-US" sz="3600" b="1" dirty="0"/>
              <a:t>         </a:t>
            </a:r>
            <a:r>
              <a:rPr lang="zh-CN" altLang="en-US" sz="3755" b="1" dirty="0"/>
              <a:t>  </a:t>
            </a:r>
            <a:endParaRPr lang="zh-CN" altLang="en-US" sz="1705" b="1" dirty="0">
              <a:solidFill>
                <a:srgbClr val="0000FF"/>
              </a:solidFill>
            </a:endParaRPr>
          </a:p>
        </p:txBody>
      </p:sp>
      <p:sp>
        <p:nvSpPr>
          <p:cNvPr id="2" name="Text Box 9"/>
          <p:cNvSpPr txBox="1">
            <a:spLocks noChangeArrowheads="1"/>
          </p:cNvSpPr>
          <p:nvPr/>
        </p:nvSpPr>
        <p:spPr bwMode="auto">
          <a:xfrm>
            <a:off x="267970" y="4117975"/>
            <a:ext cx="8602980" cy="11068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CC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rIns="0">
            <a:spAutoFit/>
          </a:bodyPr>
          <a:lstStyle>
            <a:lvl1pPr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200" dirty="0">
                <a:solidFill>
                  <a:schemeClr val="tx1"/>
                </a:solidFill>
              </a:rPr>
              <a:t>从外观上，以</a:t>
            </a:r>
            <a:r>
              <a:rPr lang="zh-CN" altLang="en-US" sz="2200" dirty="0">
                <a:solidFill>
                  <a:srgbClr val="FF0000"/>
                </a:solidFill>
              </a:rPr>
              <a:t>太网交换机</a:t>
            </a:r>
            <a:r>
              <a:rPr lang="zh-CN" altLang="en-US" sz="2200" dirty="0">
                <a:solidFill>
                  <a:srgbClr val="0000FF"/>
                </a:solidFill>
              </a:rPr>
              <a:t>的</a:t>
            </a:r>
            <a:r>
              <a:rPr lang="zh-CN" altLang="en-US" sz="2200" dirty="0">
                <a:solidFill>
                  <a:srgbClr val="FF0000"/>
                </a:solidFill>
              </a:rPr>
              <a:t>接口类型单一、接口数量多且密集，</a:t>
            </a:r>
          </a:p>
          <a:p>
            <a:pPr eaLnBrk="1" hangingPunct="1"/>
            <a:r>
              <a:rPr lang="zh-CN" altLang="en-US" sz="2200" b="0" dirty="0">
                <a:solidFill>
                  <a:srgbClr val="FF0000"/>
                </a:solidFill>
                <a:latin typeface="宋体" panose="02010600030101010101" pitchFamily="2" charset="-122"/>
                <a:sym typeface="+mn-ea"/>
              </a:rPr>
              <a:t>交换机</a:t>
            </a:r>
            <a:r>
              <a:rPr lang="zh-CN" altLang="en-US" sz="2200" b="0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通过通讯介质连接电脑等设备，</a:t>
            </a:r>
            <a:r>
              <a:rPr lang="zh-CN" altLang="en-US" sz="2200" dirty="0">
                <a:solidFill>
                  <a:srgbClr val="0000FF"/>
                </a:solidFill>
                <a:latin typeface="宋体" panose="02010600030101010101" pitchFamily="2" charset="-122"/>
                <a:sym typeface="+mn-ea"/>
              </a:rPr>
              <a:t>组建局域网</a:t>
            </a:r>
            <a:r>
              <a:rPr lang="en-US" altLang="zh-CN" sz="2200" dirty="0">
                <a:solidFill>
                  <a:srgbClr val="0000FF"/>
                </a:solidFill>
                <a:latin typeface="宋体" panose="02010600030101010101" pitchFamily="2" charset="-122"/>
                <a:sym typeface="+mn-ea"/>
              </a:rPr>
              <a:t>LAN</a:t>
            </a:r>
            <a:r>
              <a:rPr lang="zh-CN" altLang="en-US" sz="2200" b="0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；</a:t>
            </a:r>
          </a:p>
          <a:p>
            <a:pPr eaLnBrk="1" hangingPunct="1"/>
            <a:r>
              <a:rPr lang="zh-CN" altLang="en-US" sz="2200" dirty="0">
                <a:solidFill>
                  <a:srgbClr val="FF0000"/>
                </a:solidFill>
              </a:rPr>
              <a:t>交换机的网络端口称为</a:t>
            </a:r>
            <a:r>
              <a:rPr lang="en-US" altLang="zh-CN" sz="2200" dirty="0">
                <a:solidFill>
                  <a:srgbClr val="0000FF"/>
                </a:solidFill>
              </a:rPr>
              <a:t>LAN</a:t>
            </a:r>
            <a:r>
              <a:rPr lang="zh-CN" altLang="en-US" sz="2200" dirty="0">
                <a:solidFill>
                  <a:srgbClr val="0000FF"/>
                </a:solidFill>
              </a:rPr>
              <a:t>口</a:t>
            </a:r>
            <a:r>
              <a:rPr lang="zh-CN" altLang="en-US" sz="2200" dirty="0">
                <a:solidFill>
                  <a:srgbClr val="FF0000"/>
                </a:solidFill>
              </a:rPr>
              <a:t>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页脚占位符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0">
                <a:solidFill>
                  <a:schemeClr val="tx1"/>
                </a:solidFill>
              </a:rPr>
              <a:t>计算机通信与网络实验</a:t>
            </a:r>
            <a:endParaRPr lang="en-US" altLang="zh-CN" b="0">
              <a:solidFill>
                <a:schemeClr val="tx1"/>
              </a:solidFill>
            </a:endParaRPr>
          </a:p>
        </p:txBody>
      </p:sp>
      <p:sp>
        <p:nvSpPr>
          <p:cNvPr id="15365" name="Text Box 9"/>
          <p:cNvSpPr txBox="1">
            <a:spLocks noChangeArrowheads="1"/>
          </p:cNvSpPr>
          <p:nvPr/>
        </p:nvSpPr>
        <p:spPr bwMode="auto">
          <a:xfrm>
            <a:off x="295275" y="3206750"/>
            <a:ext cx="8658225" cy="21228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CC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rIns="0">
            <a:spAutoFit/>
          </a:bodyPr>
          <a:lstStyle>
            <a:lvl1pPr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200" dirty="0">
                <a:solidFill>
                  <a:srgbClr val="FF0000"/>
                </a:solidFill>
                <a:sym typeface="+mn-ea"/>
              </a:rPr>
              <a:t>路由器</a:t>
            </a:r>
            <a:r>
              <a:rPr lang="en-US" altLang="zh-CN" sz="2200" dirty="0">
                <a:solidFill>
                  <a:srgbClr val="FF0000"/>
                </a:solidFill>
                <a:sym typeface="+mn-ea"/>
              </a:rPr>
              <a:t>ROUTER</a:t>
            </a:r>
            <a:r>
              <a:rPr lang="zh-CN" altLang="en-US" sz="2200" b="0" dirty="0">
                <a:solidFill>
                  <a:schemeClr val="tx1"/>
                </a:solidFill>
                <a:sym typeface="+mn-ea"/>
              </a:rPr>
              <a:t>是一种</a:t>
            </a:r>
            <a:r>
              <a:rPr lang="zh-CN" altLang="en-US" sz="2200" dirty="0">
                <a:solidFill>
                  <a:srgbClr val="0000FF"/>
                </a:solidFill>
                <a:sym typeface="+mn-ea"/>
              </a:rPr>
              <a:t>连接多个局域网络或网段</a:t>
            </a:r>
            <a:r>
              <a:rPr lang="zh-CN" altLang="en-US" sz="2200" dirty="0">
                <a:solidFill>
                  <a:schemeClr val="tx1"/>
                </a:solidFill>
                <a:sym typeface="+mn-ea"/>
              </a:rPr>
              <a:t>的网络设备</a:t>
            </a:r>
            <a:r>
              <a:rPr lang="zh-CN" altLang="en-US" sz="2200" b="0" dirty="0">
                <a:solidFill>
                  <a:schemeClr val="tx1"/>
                </a:solidFill>
                <a:sym typeface="+mn-ea"/>
              </a:rPr>
              <a:t>，它能将不同网络或网段之间的数据信息进行“翻译”，以使它们能够相互理解对方的数据，从而构成一个更大的网络（</a:t>
            </a:r>
            <a:r>
              <a:rPr lang="en-US" altLang="zh-CN" sz="2200" b="0" dirty="0">
                <a:solidFill>
                  <a:srgbClr val="FF0000"/>
                </a:solidFill>
                <a:sym typeface="+mn-ea"/>
              </a:rPr>
              <a:t>WAN</a:t>
            </a:r>
            <a:r>
              <a:rPr lang="zh-CN" altLang="en-US" sz="2200" b="0" dirty="0">
                <a:solidFill>
                  <a:srgbClr val="FF0000"/>
                </a:solidFill>
                <a:sym typeface="+mn-ea"/>
              </a:rPr>
              <a:t>广域网</a:t>
            </a:r>
            <a:r>
              <a:rPr lang="zh-CN" altLang="en-US" sz="2200" b="0" dirty="0">
                <a:solidFill>
                  <a:schemeClr val="tx1"/>
                </a:solidFill>
                <a:sym typeface="+mn-ea"/>
              </a:rPr>
              <a:t>）。</a:t>
            </a:r>
          </a:p>
          <a:p>
            <a:pPr eaLnBrk="1" hangingPunct="1"/>
            <a:r>
              <a:rPr lang="zh-CN" altLang="en-US" sz="2200" dirty="0">
                <a:solidFill>
                  <a:srgbClr val="FF0000"/>
                </a:solidFill>
                <a:sym typeface="+mn-ea"/>
              </a:rPr>
              <a:t>路由器</a:t>
            </a:r>
            <a:r>
              <a:rPr lang="zh-CN" altLang="en-US" sz="2200" b="0" dirty="0">
                <a:solidFill>
                  <a:schemeClr val="tx1"/>
                </a:solidFill>
                <a:sym typeface="+mn-ea"/>
              </a:rPr>
              <a:t>接口类型丰富、但数量少，连接不同的局域网</a:t>
            </a:r>
            <a:r>
              <a:rPr lang="en-US" altLang="zh-CN" sz="2200" b="0" dirty="0">
                <a:solidFill>
                  <a:schemeClr val="tx1"/>
                </a:solidFill>
                <a:sym typeface="+mn-ea"/>
              </a:rPr>
              <a:t>LAN</a:t>
            </a:r>
            <a:r>
              <a:rPr lang="zh-CN" altLang="en-US" sz="2200" b="0" dirty="0">
                <a:solidFill>
                  <a:schemeClr val="tx1"/>
                </a:solidFill>
                <a:sym typeface="+mn-ea"/>
              </a:rPr>
              <a:t>。</a:t>
            </a:r>
          </a:p>
          <a:p>
            <a:pPr eaLnBrk="1" hangingPunct="1"/>
            <a:r>
              <a:rPr lang="zh-CN" altLang="en-US" sz="2200" dirty="0">
                <a:solidFill>
                  <a:srgbClr val="FF0000"/>
                </a:solidFill>
                <a:sym typeface="+mn-ea"/>
              </a:rPr>
              <a:t>路由器</a:t>
            </a:r>
            <a:r>
              <a:rPr lang="zh-CN" altLang="en-US" sz="2200" b="0" dirty="0">
                <a:solidFill>
                  <a:schemeClr val="folHlink"/>
                </a:solidFill>
                <a:latin typeface="Tahoma" panose="020B0604030504040204" pitchFamily="34" charset="0"/>
                <a:sym typeface="+mn-ea"/>
              </a:rPr>
              <a:t>工作于</a:t>
            </a:r>
            <a:r>
              <a:rPr lang="en-US" altLang="zh-CN" sz="2200" b="0" dirty="0">
                <a:solidFill>
                  <a:schemeClr val="folHlink"/>
                </a:solidFill>
                <a:latin typeface="Tahoma" panose="020B0604030504040204" pitchFamily="34" charset="0"/>
                <a:sym typeface="+mn-ea"/>
              </a:rPr>
              <a:t>OSI</a:t>
            </a:r>
            <a:r>
              <a:rPr lang="zh-CN" altLang="en-US" sz="2200" b="0" dirty="0">
                <a:solidFill>
                  <a:schemeClr val="folHlink"/>
                </a:solidFill>
                <a:latin typeface="Tahoma" panose="020B0604030504040204" pitchFamily="34" charset="0"/>
                <a:sym typeface="+mn-ea"/>
              </a:rPr>
              <a:t>参考模型的</a:t>
            </a:r>
            <a:r>
              <a:rPr lang="zh-CN" altLang="en-US" sz="2200" dirty="0">
                <a:solidFill>
                  <a:srgbClr val="FF0000"/>
                </a:solidFill>
                <a:sym typeface="+mn-ea"/>
              </a:rPr>
              <a:t>第三层</a:t>
            </a:r>
            <a:r>
              <a:rPr lang="zh-CN" altLang="en-US" sz="2200" dirty="0">
                <a:solidFill>
                  <a:srgbClr val="0000FF"/>
                </a:solidFill>
                <a:sym typeface="+mn-ea"/>
              </a:rPr>
              <a:t>网络层</a:t>
            </a:r>
            <a:r>
              <a:rPr lang="zh-CN" altLang="en-US" sz="2200" dirty="0">
                <a:solidFill>
                  <a:schemeClr val="tx1"/>
                </a:solidFill>
                <a:sym typeface="+mn-ea"/>
              </a:rPr>
              <a:t>， 用于分割一个广播域，把数据从一个网络发送到另一个网络。</a:t>
            </a:r>
          </a:p>
        </p:txBody>
      </p:sp>
      <p:sp>
        <p:nvSpPr>
          <p:cNvPr id="15367" name="Text Box 9"/>
          <p:cNvSpPr txBox="1">
            <a:spLocks noChangeArrowheads="1"/>
          </p:cNvSpPr>
          <p:nvPr/>
        </p:nvSpPr>
        <p:spPr bwMode="auto">
          <a:xfrm>
            <a:off x="7211695" y="1103630"/>
            <a:ext cx="1656080" cy="3987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CC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rIns="0">
            <a:spAutoFit/>
          </a:bodyPr>
          <a:lstStyle>
            <a:lvl1pPr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>
                <a:solidFill>
                  <a:srgbClr val="0000FF"/>
                </a:solidFill>
              </a:rPr>
              <a:t>路由器</a:t>
            </a:r>
          </a:p>
        </p:txBody>
      </p:sp>
      <p:sp>
        <p:nvSpPr>
          <p:cNvPr id="9219" name="Rectangle 4"/>
          <p:cNvSpPr>
            <a:spLocks noGrp="1" noChangeArrowheads="1"/>
          </p:cNvSpPr>
          <p:nvPr/>
        </p:nvSpPr>
        <p:spPr>
          <a:xfrm>
            <a:off x="1298238" y="743654"/>
            <a:ext cx="6860436" cy="661521"/>
          </a:xfrm>
          <a:prstGeom prst="rect">
            <a:avLst/>
          </a:prstGeom>
          <a:noFill/>
          <a:ln>
            <a:noFill/>
          </a:ln>
        </p:spPr>
        <p:txBody>
          <a:bodyPr vert="horz" wrap="square" lIns="77952" tIns="38975" rIns="77952" bIns="38975" numCol="1" anchor="ctr" anchorCtr="0" compatLnSpc="1"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l" latinLnBrk="0">
              <a:lnSpc>
                <a:spcPct val="150000"/>
              </a:lnSpc>
            </a:pPr>
            <a:r>
              <a:rPr lang="zh-CN" altLang="zh-CN" sz="36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实验1.</a:t>
            </a:r>
            <a:r>
              <a:rPr lang="en-US" altLang="zh-CN" sz="36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</a:t>
            </a:r>
            <a:r>
              <a:rPr lang="zh-CN" altLang="zh-CN" sz="36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访问配置</a:t>
            </a:r>
            <a:r>
              <a:rPr lang="zh-CN" altLang="zh-CN" sz="36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网络设备</a:t>
            </a:r>
            <a:r>
              <a:rPr lang="zh-CN" altLang="en-US" sz="3600" b="1" dirty="0"/>
              <a:t>         </a:t>
            </a:r>
            <a:r>
              <a:rPr lang="zh-CN" altLang="en-US" sz="3755" b="1" dirty="0"/>
              <a:t>  </a:t>
            </a:r>
            <a:endParaRPr lang="zh-CN" altLang="en-US" sz="1705" b="1" dirty="0">
              <a:solidFill>
                <a:srgbClr val="0000FF"/>
              </a:solidFill>
            </a:endParaRPr>
          </a:p>
        </p:txBody>
      </p:sp>
      <p:pic>
        <p:nvPicPr>
          <p:cNvPr id="7373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275" y="1404620"/>
            <a:ext cx="7299960" cy="15386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 Box 9"/>
          <p:cNvSpPr txBox="1">
            <a:spLocks noChangeArrowheads="1"/>
          </p:cNvSpPr>
          <p:nvPr/>
        </p:nvSpPr>
        <p:spPr bwMode="auto">
          <a:xfrm>
            <a:off x="209550" y="5511800"/>
            <a:ext cx="8658225" cy="768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CC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rIns="0">
            <a:spAutoFit/>
          </a:bodyPr>
          <a:lstStyle>
            <a:lvl1pPr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200" dirty="0">
                <a:solidFill>
                  <a:schemeClr val="tx1"/>
                </a:solidFill>
                <a:sym typeface="+mn-ea"/>
              </a:rPr>
              <a:t>网络接口指示灯：</a:t>
            </a:r>
            <a:r>
              <a:rPr lang="en-US" altLang="zh-CN" sz="2200" dirty="0">
                <a:solidFill>
                  <a:srgbClr val="FF0000"/>
                </a:solidFill>
                <a:sym typeface="+mn-ea"/>
              </a:rPr>
              <a:t>Link-</a:t>
            </a:r>
            <a:r>
              <a:rPr lang="zh-CN" altLang="en-US" sz="2200" dirty="0">
                <a:solidFill>
                  <a:srgbClr val="FF0000"/>
                </a:solidFill>
                <a:sym typeface="+mn-ea"/>
              </a:rPr>
              <a:t>长亮，</a:t>
            </a:r>
            <a:r>
              <a:rPr lang="zh-CN" altLang="en-US" sz="2200" dirty="0">
                <a:solidFill>
                  <a:srgbClr val="0000FF"/>
                </a:solidFill>
                <a:sym typeface="+mn-ea"/>
              </a:rPr>
              <a:t>网络链路连接正常</a:t>
            </a:r>
            <a:r>
              <a:rPr lang="zh-CN" altLang="en-US" sz="2200" dirty="0">
                <a:solidFill>
                  <a:schemeClr val="tx1"/>
                </a:solidFill>
                <a:sym typeface="+mn-ea"/>
              </a:rPr>
              <a:t>；</a:t>
            </a:r>
          </a:p>
          <a:p>
            <a:pPr eaLnBrk="1" hangingPunct="1"/>
            <a:r>
              <a:rPr lang="en-US" altLang="zh-CN" sz="2200" dirty="0">
                <a:solidFill>
                  <a:srgbClr val="FF0000"/>
                </a:solidFill>
                <a:sym typeface="+mn-ea"/>
              </a:rPr>
              <a:t>Data / Act:</a:t>
            </a:r>
            <a:r>
              <a:rPr lang="zh-CN" altLang="en-US" sz="2200" dirty="0">
                <a:solidFill>
                  <a:srgbClr val="FF0000"/>
                </a:solidFill>
                <a:sym typeface="+mn-ea"/>
              </a:rPr>
              <a:t>闪烁，</a:t>
            </a:r>
            <a:r>
              <a:rPr lang="zh-CN" altLang="en-US" sz="2200" dirty="0">
                <a:solidFill>
                  <a:srgbClr val="0000FF"/>
                </a:solidFill>
                <a:sym typeface="+mn-ea"/>
              </a:rPr>
              <a:t>有数据包传输；  </a:t>
            </a:r>
            <a:r>
              <a:rPr lang="en-US" altLang="zh-CN" sz="2200" dirty="0">
                <a:solidFill>
                  <a:srgbClr val="FF0000"/>
                </a:solidFill>
                <a:sym typeface="+mn-ea"/>
              </a:rPr>
              <a:t>Speed</a:t>
            </a:r>
            <a:r>
              <a:rPr lang="zh-CN" altLang="en-US" sz="2200" dirty="0">
                <a:solidFill>
                  <a:srgbClr val="0000FF"/>
                </a:solidFill>
                <a:sym typeface="+mn-ea"/>
              </a:rPr>
              <a:t>：网络链接速度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8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981200"/>
            <a:ext cx="8507413" cy="2743200"/>
          </a:xfrm>
          <a:noFill/>
        </p:spPr>
        <p:txBody>
          <a:bodyPr/>
          <a:lstStyle/>
          <a:p>
            <a:pPr marL="609600" indent="-609600" eaLnBrk="1" hangingPunct="1"/>
            <a:r>
              <a:rPr lang="zh-CN" altLang="en-US" dirty="0"/>
              <a:t>实验内容  </a:t>
            </a:r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lang="zh-CN" altLang="en-US" sz="2400" dirty="0"/>
              <a:t>通过</a:t>
            </a:r>
            <a:r>
              <a:rPr lang="en-US" altLang="zh-CN" sz="2400" b="1" dirty="0">
                <a:solidFill>
                  <a:srgbClr val="FF0000"/>
                </a:solidFill>
              </a:rPr>
              <a:t>CONsole</a:t>
            </a:r>
            <a:r>
              <a:rPr lang="zh-CN" altLang="en-US" sz="2400" b="1" dirty="0">
                <a:solidFill>
                  <a:srgbClr val="FF0000"/>
                </a:solidFill>
              </a:rPr>
              <a:t>电缆</a:t>
            </a:r>
            <a:r>
              <a:rPr lang="zh-CN" altLang="en-US" sz="2400" dirty="0"/>
              <a:t>实现网络设备与</a:t>
            </a:r>
            <a:r>
              <a:rPr lang="en-US" altLang="zh-CN" sz="2400" dirty="0"/>
              <a:t>PC</a:t>
            </a:r>
            <a:r>
              <a:rPr lang="zh-CN" altLang="en-US" sz="2400" dirty="0"/>
              <a:t>机</a:t>
            </a:r>
            <a:r>
              <a:rPr lang="en-US" altLang="zh-CN" sz="2400" dirty="0"/>
              <a:t>COM</a:t>
            </a:r>
            <a:r>
              <a:rPr lang="zh-CN" altLang="en-US" sz="2400" dirty="0"/>
              <a:t>串口连接；</a:t>
            </a:r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lang="zh-CN" altLang="en-US" sz="2400" dirty="0"/>
              <a:t>正确配置</a:t>
            </a:r>
            <a:r>
              <a:rPr lang="en-US" altLang="zh-CN" sz="2400" dirty="0"/>
              <a:t>PC</a:t>
            </a:r>
            <a:r>
              <a:rPr lang="zh-CN" altLang="en-US" sz="2400" dirty="0"/>
              <a:t>机超级终端程序的</a:t>
            </a:r>
            <a:r>
              <a:rPr lang="zh-CN" altLang="en-US" sz="2400" b="1" dirty="0">
                <a:solidFill>
                  <a:srgbClr val="0000FF"/>
                </a:solidFill>
              </a:rPr>
              <a:t>串口参数</a:t>
            </a:r>
            <a:r>
              <a:rPr lang="zh-CN" altLang="en-US" sz="2400" dirty="0"/>
              <a:t>；</a:t>
            </a:r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lang="zh-CN" altLang="en-US" sz="2400" dirty="0"/>
              <a:t>熟悉</a:t>
            </a:r>
            <a:r>
              <a:rPr lang="en-US" altLang="zh-CN" sz="2400" dirty="0"/>
              <a:t>H3C</a:t>
            </a:r>
            <a:r>
              <a:rPr lang="zh-CN" altLang="en-US" sz="2400" dirty="0"/>
              <a:t>路由器和交换机的开机自检过程和输出界面；</a:t>
            </a:r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lang="zh-CN" altLang="en-US" sz="2400" dirty="0"/>
              <a:t>学会处理实验中出现的异常问题。</a:t>
            </a:r>
          </a:p>
        </p:txBody>
      </p:sp>
      <p:sp>
        <p:nvSpPr>
          <p:cNvPr id="16386" name="页脚占位符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0">
                <a:solidFill>
                  <a:schemeClr val="tx1"/>
                </a:solidFill>
              </a:rPr>
              <a:t>计算机通信与网络实验</a:t>
            </a:r>
            <a:endParaRPr lang="en-US" altLang="zh-CN" b="0">
              <a:solidFill>
                <a:schemeClr val="tx1"/>
              </a:solidFill>
            </a:endParaRPr>
          </a:p>
        </p:txBody>
      </p:sp>
      <p:sp>
        <p:nvSpPr>
          <p:cNvPr id="9219" name="Rectangle 4"/>
          <p:cNvSpPr>
            <a:spLocks noGrp="1" noChangeArrowheads="1"/>
          </p:cNvSpPr>
          <p:nvPr/>
        </p:nvSpPr>
        <p:spPr>
          <a:xfrm>
            <a:off x="1298238" y="743654"/>
            <a:ext cx="6860436" cy="661521"/>
          </a:xfrm>
          <a:prstGeom prst="rect">
            <a:avLst/>
          </a:prstGeom>
          <a:noFill/>
          <a:ln>
            <a:noFill/>
          </a:ln>
        </p:spPr>
        <p:txBody>
          <a:bodyPr vert="horz" wrap="square" lIns="77952" tIns="38975" rIns="77952" bIns="38975" numCol="1" anchor="ctr" anchorCtr="0" compatLnSpc="1"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l" latinLnBrk="0">
              <a:lnSpc>
                <a:spcPct val="150000"/>
              </a:lnSpc>
            </a:pPr>
            <a:r>
              <a:rPr lang="zh-CN" altLang="zh-CN" sz="36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实验1.</a:t>
            </a:r>
            <a:r>
              <a:rPr lang="en-US" altLang="zh-CN" sz="36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</a:t>
            </a:r>
            <a:r>
              <a:rPr lang="zh-CN" altLang="zh-CN" sz="36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访问配置</a:t>
            </a:r>
            <a:r>
              <a:rPr lang="zh-CN" altLang="zh-CN" sz="36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网络设备</a:t>
            </a:r>
            <a:r>
              <a:rPr lang="zh-CN" altLang="en-US" sz="3600" b="1" dirty="0"/>
              <a:t>         </a:t>
            </a:r>
            <a:r>
              <a:rPr lang="zh-CN" altLang="en-US" sz="3755" b="1" dirty="0"/>
              <a:t>  </a:t>
            </a:r>
            <a:endParaRPr lang="zh-CN" altLang="en-US" sz="1705" b="1" dirty="0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9845" y="3284855"/>
            <a:ext cx="3194050" cy="1127125"/>
          </a:xfrm>
          <a:prstGeom prst="rect">
            <a:avLst/>
          </a:prstGeom>
        </p:spPr>
      </p:pic>
      <p:sp>
        <p:nvSpPr>
          <p:cNvPr id="17412" name="Rectangle 3"/>
          <p:cNvSpPr>
            <a:spLocks noGrp="1" noChangeArrowheads="1"/>
          </p:cNvSpPr>
          <p:nvPr>
            <p:ph idx="1"/>
          </p:nvPr>
        </p:nvSpPr>
        <p:spPr>
          <a:xfrm>
            <a:off x="250825" y="1916430"/>
            <a:ext cx="8865235" cy="4030345"/>
          </a:xfrm>
          <a:noFill/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sz="2800" dirty="0"/>
              <a:t>实验步骤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sz="2200" dirty="0"/>
              <a:t>电缆连接及配置说明：连接如图所示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sz="2200" dirty="0"/>
              <a:t>超级终端配置连接时</a:t>
            </a:r>
            <a:r>
              <a:rPr lang="zh-CN" altLang="en-US" sz="2200" dirty="0">
                <a:solidFill>
                  <a:srgbClr val="FF0000"/>
                </a:solidFill>
              </a:rPr>
              <a:t>计算机</a:t>
            </a:r>
            <a:r>
              <a:rPr lang="en-US" altLang="zh-CN" sz="2200" dirty="0">
                <a:solidFill>
                  <a:srgbClr val="FF0000"/>
                </a:solidFill>
              </a:rPr>
              <a:t>COM</a:t>
            </a:r>
            <a:r>
              <a:rPr lang="zh-CN" altLang="en-US" sz="2200" dirty="0">
                <a:solidFill>
                  <a:srgbClr val="FF0000"/>
                </a:solidFill>
              </a:rPr>
              <a:t>串口</a:t>
            </a:r>
            <a:r>
              <a:rPr lang="zh-CN" altLang="en-US" sz="2200" dirty="0"/>
              <a:t>的</a:t>
            </a:r>
            <a:r>
              <a:rPr lang="zh-CN" altLang="en-US" sz="2200" b="1" dirty="0">
                <a:solidFill>
                  <a:srgbClr val="0000FF"/>
                </a:solidFill>
              </a:rPr>
              <a:t>缺省参数</a:t>
            </a:r>
            <a:r>
              <a:rPr lang="zh-CN" altLang="en-US" sz="2200" dirty="0"/>
              <a:t>如下：</a:t>
            </a:r>
            <a:endParaRPr lang="zh-CN" altLang="en-US" sz="2400" dirty="0"/>
          </a:p>
          <a:p>
            <a:pPr lvl="2" eaLnBrk="1" hangingPunct="1">
              <a:lnSpc>
                <a:spcPct val="90000"/>
              </a:lnSpc>
            </a:pPr>
            <a:r>
              <a:rPr lang="zh-CN" altLang="en-US" sz="2000" b="1" dirty="0">
                <a:solidFill>
                  <a:srgbClr val="FF0000"/>
                </a:solidFill>
              </a:rPr>
              <a:t>端口速率：</a:t>
            </a:r>
            <a:r>
              <a:rPr lang="en-US" altLang="zh-CN" sz="2000" b="1" dirty="0">
                <a:solidFill>
                  <a:srgbClr val="FF0000"/>
                </a:solidFill>
              </a:rPr>
              <a:t>9600 bit/s</a:t>
            </a:r>
            <a:r>
              <a:rPr lang="zh-CN" altLang="en-US" sz="2000" b="1" dirty="0">
                <a:solidFill>
                  <a:srgbClr val="FF0000"/>
                </a:solidFill>
              </a:rPr>
              <a:t>；</a:t>
            </a:r>
          </a:p>
          <a:p>
            <a:pPr lvl="2" eaLnBrk="1" hangingPunct="1">
              <a:lnSpc>
                <a:spcPct val="90000"/>
              </a:lnSpc>
            </a:pPr>
            <a:r>
              <a:rPr lang="zh-CN" altLang="en-US" sz="2000" b="1" dirty="0">
                <a:solidFill>
                  <a:srgbClr val="FF0000"/>
                </a:solidFill>
              </a:rPr>
              <a:t>数据位：</a:t>
            </a:r>
            <a:r>
              <a:rPr lang="en-US" altLang="zh-CN" sz="2000" b="1" dirty="0">
                <a:solidFill>
                  <a:srgbClr val="FF0000"/>
                </a:solidFill>
              </a:rPr>
              <a:t>8</a:t>
            </a:r>
            <a:r>
              <a:rPr lang="zh-CN" altLang="en-US" sz="2000" b="1" dirty="0">
                <a:solidFill>
                  <a:srgbClr val="FF0000"/>
                </a:solidFill>
              </a:rPr>
              <a:t>；</a:t>
            </a:r>
          </a:p>
          <a:p>
            <a:pPr lvl="2" eaLnBrk="1" hangingPunct="1">
              <a:lnSpc>
                <a:spcPct val="90000"/>
              </a:lnSpc>
            </a:pPr>
            <a:r>
              <a:rPr lang="zh-CN" altLang="en-US" sz="2000" b="1" dirty="0">
                <a:solidFill>
                  <a:srgbClr val="FF0000"/>
                </a:solidFill>
              </a:rPr>
              <a:t>奇偶校验：无；</a:t>
            </a:r>
          </a:p>
          <a:p>
            <a:pPr lvl="2" eaLnBrk="1" hangingPunct="1">
              <a:lnSpc>
                <a:spcPct val="90000"/>
              </a:lnSpc>
            </a:pPr>
            <a:r>
              <a:rPr lang="zh-CN" altLang="en-US" sz="2000" b="1" dirty="0">
                <a:solidFill>
                  <a:srgbClr val="FF0000"/>
                </a:solidFill>
              </a:rPr>
              <a:t>停止位：</a:t>
            </a:r>
            <a:r>
              <a:rPr lang="en-US" altLang="zh-CN" sz="2000" b="1" dirty="0">
                <a:solidFill>
                  <a:srgbClr val="FF0000"/>
                </a:solidFill>
              </a:rPr>
              <a:t>1</a:t>
            </a:r>
            <a:r>
              <a:rPr lang="zh-CN" altLang="en-US" sz="2000" b="1" dirty="0">
                <a:solidFill>
                  <a:srgbClr val="FF0000"/>
                </a:solidFill>
              </a:rPr>
              <a:t>；</a:t>
            </a:r>
          </a:p>
          <a:p>
            <a:pPr lvl="2" eaLnBrk="1" hangingPunct="1">
              <a:lnSpc>
                <a:spcPct val="90000"/>
              </a:lnSpc>
            </a:pPr>
            <a:r>
              <a:rPr lang="zh-CN" altLang="en-US" sz="2000" b="1" dirty="0">
                <a:solidFill>
                  <a:srgbClr val="FF0000"/>
                </a:solidFill>
              </a:rPr>
              <a:t>数据流控制：无。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sz="2200" dirty="0"/>
              <a:t>在配置</a:t>
            </a:r>
            <a:r>
              <a:rPr lang="en-US" altLang="zh-CN" sz="2200" dirty="0"/>
              <a:t>PC</a:t>
            </a:r>
            <a:r>
              <a:rPr lang="zh-CN" altLang="en-US" sz="2200" dirty="0"/>
              <a:t>机串口</a:t>
            </a:r>
            <a:r>
              <a:rPr lang="en-US" altLang="zh-CN" sz="2200" dirty="0"/>
              <a:t>COM</a:t>
            </a:r>
            <a:r>
              <a:rPr lang="zh-CN" altLang="en-US" sz="2200" dirty="0"/>
              <a:t>时只有与上述参数相匹配，才能成功地访问到网络设备。（可在设备管理器中查看修改</a:t>
            </a:r>
            <a:r>
              <a:rPr lang="en-US" altLang="zh-CN" sz="2200" dirty="0"/>
              <a:t>COM</a:t>
            </a:r>
            <a:r>
              <a:rPr lang="zh-CN" altLang="en-US" sz="2200" dirty="0"/>
              <a:t>默认参数）</a:t>
            </a:r>
          </a:p>
        </p:txBody>
      </p:sp>
      <p:sp>
        <p:nvSpPr>
          <p:cNvPr id="17410" name="页脚占位符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0">
                <a:solidFill>
                  <a:schemeClr val="tx1"/>
                </a:solidFill>
              </a:rPr>
              <a:t>计算机通信与网络实验</a:t>
            </a:r>
            <a:endParaRPr lang="en-US" altLang="zh-CN" b="0">
              <a:solidFill>
                <a:schemeClr val="tx1"/>
              </a:solidFill>
            </a:endParaRPr>
          </a:p>
        </p:txBody>
      </p:sp>
      <p:sp>
        <p:nvSpPr>
          <p:cNvPr id="17414" name="Text Box 9"/>
          <p:cNvSpPr txBox="1">
            <a:spLocks noChangeArrowheads="1"/>
          </p:cNvSpPr>
          <p:nvPr/>
        </p:nvSpPr>
        <p:spPr bwMode="auto">
          <a:xfrm>
            <a:off x="7748588" y="3284538"/>
            <a:ext cx="1144587" cy="3987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CC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>
            <a:lvl1pPr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>
                <a:solidFill>
                  <a:srgbClr val="0000FF"/>
                </a:solidFill>
              </a:rPr>
              <a:t>网络设备</a:t>
            </a:r>
          </a:p>
        </p:txBody>
      </p:sp>
      <p:sp>
        <p:nvSpPr>
          <p:cNvPr id="9219" name="Rectangle 4"/>
          <p:cNvSpPr>
            <a:spLocks noGrp="1" noChangeArrowheads="1"/>
          </p:cNvSpPr>
          <p:nvPr/>
        </p:nvSpPr>
        <p:spPr>
          <a:xfrm>
            <a:off x="1298238" y="743654"/>
            <a:ext cx="6860436" cy="661521"/>
          </a:xfrm>
          <a:prstGeom prst="rect">
            <a:avLst/>
          </a:prstGeom>
          <a:noFill/>
          <a:ln>
            <a:noFill/>
          </a:ln>
        </p:spPr>
        <p:txBody>
          <a:bodyPr vert="horz" wrap="square" lIns="77952" tIns="38975" rIns="77952" bIns="38975" numCol="1" anchor="ctr" anchorCtr="0" compatLnSpc="1"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l" latinLnBrk="0">
              <a:lnSpc>
                <a:spcPct val="150000"/>
              </a:lnSpc>
            </a:pPr>
            <a:r>
              <a:rPr lang="zh-CN" altLang="zh-CN" sz="36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实验1.</a:t>
            </a:r>
            <a:r>
              <a:rPr lang="en-US" altLang="zh-CN" sz="36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</a:t>
            </a:r>
            <a:r>
              <a:rPr lang="zh-CN" altLang="zh-CN" sz="36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访问配置</a:t>
            </a:r>
            <a:r>
              <a:rPr lang="zh-CN" altLang="zh-CN" sz="36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网络设备</a:t>
            </a:r>
            <a:r>
              <a:rPr lang="zh-CN" altLang="en-US" sz="3600" b="1" dirty="0"/>
              <a:t>         </a:t>
            </a:r>
            <a:r>
              <a:rPr lang="zh-CN" altLang="en-US" sz="3755" b="1" dirty="0"/>
              <a:t>  </a:t>
            </a:r>
            <a:endParaRPr lang="zh-CN" altLang="en-US" sz="1705" b="1" dirty="0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68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0213" y="738188"/>
            <a:ext cx="5743575" cy="538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97294" y="1484784"/>
            <a:ext cx="1049645" cy="3020888"/>
          </a:xfrm>
        </p:spPr>
        <p:txBody>
          <a:bodyPr/>
          <a:lstStyle/>
          <a:p>
            <a:r>
              <a:rPr lang="zh-CN" altLang="en-US" sz="2800" b="1" dirty="0">
                <a:solidFill>
                  <a:srgbClr val="0000FF"/>
                </a:solidFill>
              </a:rPr>
              <a:t>连</a:t>
            </a:r>
            <a:br>
              <a:rPr lang="en-US" altLang="zh-CN" sz="2800" b="1" dirty="0">
                <a:solidFill>
                  <a:srgbClr val="0000FF"/>
                </a:solidFill>
              </a:rPr>
            </a:br>
            <a:r>
              <a:rPr lang="zh-CN" altLang="en-US" sz="2800" b="1" dirty="0">
                <a:solidFill>
                  <a:srgbClr val="0000FF"/>
                </a:solidFill>
              </a:rPr>
              <a:t>接</a:t>
            </a:r>
            <a:br>
              <a:rPr lang="en-US" altLang="zh-CN" sz="2800" b="1" dirty="0">
                <a:solidFill>
                  <a:srgbClr val="0000FF"/>
                </a:solidFill>
              </a:rPr>
            </a:br>
            <a:r>
              <a:rPr lang="zh-CN" altLang="en-US" sz="2800" b="1" dirty="0">
                <a:solidFill>
                  <a:srgbClr val="0000FF"/>
                </a:solidFill>
              </a:rPr>
              <a:t>示</a:t>
            </a:r>
            <a:br>
              <a:rPr lang="en-US" altLang="zh-CN" sz="2800" b="1" dirty="0">
                <a:solidFill>
                  <a:srgbClr val="0000FF"/>
                </a:solidFill>
              </a:rPr>
            </a:br>
            <a:r>
              <a:rPr lang="zh-CN" altLang="en-US" sz="2800" b="1" dirty="0">
                <a:solidFill>
                  <a:srgbClr val="0000FF"/>
                </a:solidFill>
              </a:rPr>
              <a:t>意</a:t>
            </a:r>
            <a:br>
              <a:rPr lang="en-US" altLang="zh-CN" sz="2800" b="1" dirty="0">
                <a:solidFill>
                  <a:srgbClr val="0000FF"/>
                </a:solidFill>
              </a:rPr>
            </a:br>
            <a:r>
              <a:rPr lang="zh-CN" altLang="en-US" sz="2800" b="1" dirty="0">
                <a:solidFill>
                  <a:srgbClr val="0000FF"/>
                </a:solidFill>
              </a:rPr>
              <a:t>图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计算机通信与网络实验</a:t>
            </a:r>
            <a:endParaRPr lang="en-US" altLang="zh-CN"/>
          </a:p>
        </p:txBody>
      </p:sp>
      <p:sp>
        <p:nvSpPr>
          <p:cNvPr id="3" name="标题 1"/>
          <p:cNvSpPr>
            <a:spLocks noGrp="1"/>
          </p:cNvSpPr>
          <p:nvPr/>
        </p:nvSpPr>
        <p:spPr>
          <a:xfrm>
            <a:off x="3206115" y="2984500"/>
            <a:ext cx="859790" cy="11080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 dirty="0">
                <a:solidFill>
                  <a:srgbClr val="0000FF"/>
                </a:solidFill>
              </a:rPr>
              <a:t>网</a:t>
            </a:r>
          </a:p>
          <a:p>
            <a:r>
              <a:rPr lang="zh-CN" altLang="en-US" sz="2800" b="1" dirty="0">
                <a:solidFill>
                  <a:srgbClr val="0000FF"/>
                </a:solidFill>
              </a:rPr>
              <a:t>线</a:t>
            </a:r>
          </a:p>
        </p:txBody>
      </p:sp>
      <p:sp>
        <p:nvSpPr>
          <p:cNvPr id="5" name="标题 1"/>
          <p:cNvSpPr>
            <a:spLocks noGrp="1"/>
          </p:cNvSpPr>
          <p:nvPr/>
        </p:nvSpPr>
        <p:spPr>
          <a:xfrm>
            <a:off x="4626610" y="2984500"/>
            <a:ext cx="859790" cy="11080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 dirty="0">
                <a:solidFill>
                  <a:srgbClr val="0000FF"/>
                </a:solidFill>
              </a:rPr>
              <a:t>网</a:t>
            </a:r>
          </a:p>
          <a:p>
            <a:r>
              <a:rPr lang="zh-CN" altLang="en-US" sz="2800" b="1" dirty="0">
                <a:solidFill>
                  <a:srgbClr val="0000FF"/>
                </a:solidFill>
              </a:rPr>
              <a:t>线</a:t>
            </a:r>
          </a:p>
        </p:txBody>
      </p:sp>
      <p:sp>
        <p:nvSpPr>
          <p:cNvPr id="6" name="标题 1"/>
          <p:cNvSpPr>
            <a:spLocks noGrp="1"/>
          </p:cNvSpPr>
          <p:nvPr/>
        </p:nvSpPr>
        <p:spPr>
          <a:xfrm>
            <a:off x="6507480" y="3397250"/>
            <a:ext cx="859790" cy="11080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800" b="1" dirty="0">
                <a:solidFill>
                  <a:srgbClr val="0000FF"/>
                </a:solidFill>
              </a:rPr>
              <a:t>CON</a:t>
            </a:r>
            <a:r>
              <a:rPr lang="zh-CN" altLang="en-US" sz="2800" b="1" dirty="0">
                <a:solidFill>
                  <a:srgbClr val="0000FF"/>
                </a:solidFill>
              </a:rPr>
              <a:t>线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0" y="1494790"/>
            <a:ext cx="1477645" cy="1706880"/>
          </a:xfrm>
          <a:prstGeom prst="rect">
            <a:avLst/>
          </a:prstGeom>
        </p:spPr>
      </p:pic>
      <p:sp>
        <p:nvSpPr>
          <p:cNvPr id="18436" name="Rectangle 3"/>
          <p:cNvSpPr>
            <a:spLocks noGrp="1" noChangeArrowheads="1"/>
          </p:cNvSpPr>
          <p:nvPr>
            <p:ph idx="1"/>
          </p:nvPr>
        </p:nvSpPr>
        <p:spPr>
          <a:xfrm>
            <a:off x="0" y="1494790"/>
            <a:ext cx="4824730" cy="2139315"/>
          </a:xfrm>
        </p:spPr>
        <p:txBody>
          <a:bodyPr/>
          <a:lstStyle/>
          <a:p>
            <a:pPr eaLnBrk="1" hangingPunct="1"/>
            <a:r>
              <a:rPr lang="zh-CN" altLang="en-US" sz="2000" dirty="0"/>
              <a:t>实验配置串口</a:t>
            </a:r>
            <a:r>
              <a:rPr lang="en-US" altLang="zh-CN" sz="2000" dirty="0"/>
              <a:t>COM</a:t>
            </a:r>
          </a:p>
          <a:p>
            <a:pPr marL="0" indent="0" eaLnBrk="1" hangingPunct="1">
              <a:buNone/>
            </a:pPr>
            <a:r>
              <a:rPr lang="zh-CN" altLang="en-US" sz="2000" dirty="0"/>
              <a:t>打开超级终端程序</a:t>
            </a:r>
            <a:r>
              <a:rPr lang="en-US" altLang="zh-CN" sz="2000" dirty="0"/>
              <a:t>:</a:t>
            </a:r>
          </a:p>
          <a:p>
            <a:pPr marL="0" indent="0" eaLnBrk="1" hangingPunct="1">
              <a:buNone/>
            </a:pPr>
            <a:r>
              <a:rPr lang="en-US" altLang="zh-CN" sz="2000" dirty="0"/>
              <a:t>【</a:t>
            </a:r>
            <a:r>
              <a:rPr lang="zh-CN" altLang="en-US" sz="2000" dirty="0"/>
              <a:t>开始</a:t>
            </a:r>
            <a:r>
              <a:rPr lang="en-US" altLang="zh-CN" sz="2000" dirty="0"/>
              <a:t>】→【</a:t>
            </a:r>
            <a:r>
              <a:rPr lang="zh-CN" altLang="en-US" sz="2000" dirty="0"/>
              <a:t>程序、</a:t>
            </a:r>
          </a:p>
          <a:p>
            <a:pPr marL="0" indent="0" eaLnBrk="1" hangingPunct="1">
              <a:buNone/>
            </a:pPr>
            <a:r>
              <a:rPr lang="en-US" altLang="zh-CN" sz="2000" dirty="0"/>
              <a:t>→</a:t>
            </a:r>
            <a:r>
              <a:rPr lang="zh-CN" altLang="en-US" sz="2000" dirty="0"/>
              <a:t>附件</a:t>
            </a:r>
            <a:r>
              <a:rPr lang="en-US" altLang="zh-CN" sz="2000" dirty="0"/>
              <a:t>→</a:t>
            </a:r>
            <a:r>
              <a:rPr lang="zh-CN" altLang="en-US" sz="2000" dirty="0"/>
              <a:t>通讯</a:t>
            </a:r>
            <a:r>
              <a:rPr lang="en-US" altLang="zh-CN" sz="2000" dirty="0"/>
              <a:t>】</a:t>
            </a:r>
            <a:r>
              <a:rPr lang="zh-CN" altLang="en-US" sz="2000" dirty="0"/>
              <a:t>下的</a:t>
            </a:r>
          </a:p>
          <a:p>
            <a:pPr marL="0" indent="0" eaLnBrk="1" hangingPunct="1">
              <a:buNone/>
            </a:pPr>
            <a:r>
              <a:rPr lang="zh-CN" altLang="en-US" sz="2000" b="1" dirty="0">
                <a:solidFill>
                  <a:srgbClr val="0000FF"/>
                </a:solidFill>
              </a:rPr>
              <a:t>“超级终端”程序</a:t>
            </a:r>
          </a:p>
          <a:p>
            <a:pPr marL="0" indent="0" eaLnBrk="1" hangingPunct="1">
              <a:buNone/>
            </a:pPr>
            <a:r>
              <a:rPr lang="zh-CN" altLang="en-US" sz="2000" b="1" dirty="0">
                <a:solidFill>
                  <a:srgbClr val="FF0000"/>
                </a:solidFill>
              </a:rPr>
              <a:t>Hyper Terminal</a:t>
            </a:r>
          </a:p>
        </p:txBody>
      </p:sp>
      <p:sp>
        <p:nvSpPr>
          <p:cNvPr id="18434" name="页脚占位符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0">
                <a:solidFill>
                  <a:schemeClr val="tx1"/>
                </a:solidFill>
              </a:rPr>
              <a:t>计算机通信与网络实验</a:t>
            </a:r>
            <a:endParaRPr lang="en-US" altLang="zh-CN" b="0">
              <a:solidFill>
                <a:schemeClr val="tx1"/>
              </a:solidFill>
            </a:endParaRPr>
          </a:p>
        </p:txBody>
      </p:sp>
      <p:pic>
        <p:nvPicPr>
          <p:cNvPr id="18439" name="Picture 6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7625" y="2659380"/>
            <a:ext cx="3029585" cy="41954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37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387215"/>
            <a:ext cx="2900680" cy="24707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38" name="Picture 5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7186" y="4217948"/>
            <a:ext cx="2961109" cy="26370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19" name="Rectangle 4"/>
          <p:cNvSpPr>
            <a:spLocks noGrp="1" noChangeArrowheads="1"/>
          </p:cNvSpPr>
          <p:nvPr/>
        </p:nvSpPr>
        <p:spPr>
          <a:xfrm>
            <a:off x="1298238" y="743654"/>
            <a:ext cx="6860436" cy="661521"/>
          </a:xfrm>
          <a:prstGeom prst="rect">
            <a:avLst/>
          </a:prstGeom>
          <a:noFill/>
          <a:ln>
            <a:noFill/>
          </a:ln>
        </p:spPr>
        <p:txBody>
          <a:bodyPr vert="horz" wrap="square" lIns="77952" tIns="38975" rIns="77952" bIns="38975" numCol="1" anchor="ctr" anchorCtr="0" compatLnSpc="1"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l" latinLnBrk="0">
              <a:lnSpc>
                <a:spcPct val="150000"/>
              </a:lnSpc>
            </a:pPr>
            <a:r>
              <a:rPr lang="zh-CN" altLang="zh-CN" sz="36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实验1.</a:t>
            </a:r>
            <a:r>
              <a:rPr lang="en-US" altLang="zh-CN" sz="36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</a:t>
            </a:r>
            <a:r>
              <a:rPr lang="zh-CN" altLang="zh-CN" sz="36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访问配置</a:t>
            </a:r>
            <a:r>
              <a:rPr lang="zh-CN" altLang="zh-CN" sz="36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网络设备</a:t>
            </a:r>
            <a:r>
              <a:rPr lang="zh-CN" altLang="en-US" sz="3600" b="1" dirty="0"/>
              <a:t>         </a:t>
            </a:r>
            <a:r>
              <a:rPr lang="zh-CN" altLang="en-US" sz="3755" b="1" dirty="0"/>
              <a:t>  </a:t>
            </a:r>
            <a:endParaRPr lang="zh-CN" altLang="en-US" sz="1705" b="1" dirty="0">
              <a:solidFill>
                <a:srgbClr val="0000FF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97485" y="3818890"/>
            <a:ext cx="388239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>
                <a:solidFill>
                  <a:srgbClr val="0000FF"/>
                </a:solidFill>
              </a:rPr>
              <a:t>新建连接</a:t>
            </a:r>
            <a:r>
              <a:rPr lang="en-US" altLang="zh-CN" sz="2000" b="1">
                <a:solidFill>
                  <a:srgbClr val="0000FF"/>
                </a:solidFill>
              </a:rPr>
              <a:t>-COM</a:t>
            </a:r>
            <a:r>
              <a:rPr lang="zh-CN" altLang="en-US" sz="2000" b="1">
                <a:solidFill>
                  <a:srgbClr val="0000FF"/>
                </a:solidFill>
              </a:rPr>
              <a:t>口</a:t>
            </a:r>
            <a:r>
              <a:rPr lang="en-US" altLang="zh-CN" sz="2000" b="1">
                <a:solidFill>
                  <a:srgbClr val="0000FF"/>
                </a:solidFill>
              </a:rPr>
              <a:t>-</a:t>
            </a:r>
            <a:r>
              <a:rPr lang="zh-CN" altLang="en-US" sz="2000" b="1">
                <a:solidFill>
                  <a:srgbClr val="0000FF"/>
                </a:solidFill>
              </a:rPr>
              <a:t>配置</a:t>
            </a:r>
            <a:r>
              <a:rPr lang="en-US" altLang="zh-CN" sz="2000" b="1">
                <a:solidFill>
                  <a:srgbClr val="0000FF"/>
                </a:solidFill>
              </a:rPr>
              <a:t>COM</a:t>
            </a:r>
            <a:r>
              <a:rPr lang="zh-CN" altLang="en-US" sz="2000" b="1">
                <a:solidFill>
                  <a:srgbClr val="0000FF"/>
                </a:solidFill>
              </a:rPr>
              <a:t>参数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7330" y="1680845"/>
            <a:ext cx="3293745" cy="51739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8" name="Rectangle 3"/>
          <p:cNvSpPr>
            <a:spLocks noGrp="1" noChangeArrowheads="1"/>
          </p:cNvSpPr>
          <p:nvPr>
            <p:ph idx="1"/>
          </p:nvPr>
        </p:nvSpPr>
        <p:spPr>
          <a:xfrm>
            <a:off x="452437" y="1626811"/>
            <a:ext cx="8675687" cy="1728787"/>
          </a:xfrm>
        </p:spPr>
        <p:txBody>
          <a:bodyPr/>
          <a:lstStyle/>
          <a:p>
            <a:pPr lvl="1" eaLnBrk="1" hangingPunct="1"/>
            <a:r>
              <a:rPr lang="zh-CN" altLang="en-US" sz="2200" dirty="0"/>
              <a:t>完成配置后，打开交换机电源，</a:t>
            </a:r>
          </a:p>
          <a:p>
            <a:pPr lvl="1" eaLnBrk="1" hangingPunct="1"/>
            <a:r>
              <a:rPr lang="zh-CN" altLang="en-US" sz="2200" dirty="0">
                <a:sym typeface="+mn-ea"/>
              </a:rPr>
              <a:t>交换机开始自检（引导</a:t>
            </a:r>
            <a:r>
              <a:rPr lang="en-US" altLang="zh-CN" sz="2200" dirty="0">
                <a:sym typeface="+mn-ea"/>
              </a:rPr>
              <a:t>BIOS</a:t>
            </a:r>
            <a:r>
              <a:rPr lang="zh-CN" altLang="en-US" sz="2200" dirty="0">
                <a:sym typeface="+mn-ea"/>
              </a:rPr>
              <a:t>及自检）、初始化过程（释放网络设备操作系统</a:t>
            </a:r>
            <a:r>
              <a:rPr lang="en-US" altLang="zh-CN" sz="2200" dirty="0">
                <a:sym typeface="+mn-ea"/>
              </a:rPr>
              <a:t>OS</a:t>
            </a:r>
            <a:r>
              <a:rPr lang="zh-CN" altLang="en-US" sz="2200" dirty="0">
                <a:sym typeface="+mn-ea"/>
              </a:rPr>
              <a:t>到内存，开始引导）；</a:t>
            </a:r>
          </a:p>
          <a:p>
            <a:pPr lvl="1" eaLnBrk="1" hangingPunct="1"/>
            <a:r>
              <a:rPr lang="zh-CN" altLang="en-US" sz="2200" dirty="0">
                <a:sym typeface="+mn-ea"/>
              </a:rPr>
              <a:t>直到出现</a:t>
            </a:r>
            <a:r>
              <a:rPr lang="en-US" altLang="zh-CN" sz="2400" dirty="0">
                <a:solidFill>
                  <a:srgbClr val="FF0000"/>
                </a:solidFill>
                <a:sym typeface="+mn-ea"/>
              </a:rPr>
              <a:t>Press ENTER to get started!</a:t>
            </a:r>
            <a:r>
              <a:rPr lang="en-US" altLang="zh-CN" sz="2400" dirty="0">
                <a:sym typeface="+mn-ea"/>
              </a:rPr>
              <a:t>  </a:t>
            </a:r>
            <a:r>
              <a:rPr lang="zh-CN" altLang="en-US" sz="2400" dirty="0">
                <a:sym typeface="+mn-ea"/>
              </a:rPr>
              <a:t>，引导完毕。</a:t>
            </a:r>
            <a:endParaRPr lang="zh-CN" altLang="en-US" sz="2400" dirty="0"/>
          </a:p>
          <a:p>
            <a:pPr lvl="1" eaLnBrk="1" hangingPunct="1"/>
            <a:endParaRPr lang="zh-CN" altLang="en-US" dirty="0"/>
          </a:p>
          <a:p>
            <a:pPr lvl="1" eaLnBrk="1" hangingPunct="1"/>
            <a:endParaRPr lang="zh-CN" altLang="en-US" dirty="0"/>
          </a:p>
        </p:txBody>
      </p:sp>
      <p:sp>
        <p:nvSpPr>
          <p:cNvPr id="21506" name="页脚占位符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0">
                <a:solidFill>
                  <a:schemeClr val="tx1"/>
                </a:solidFill>
              </a:rPr>
              <a:t>计算机通信与网络实验</a:t>
            </a:r>
            <a:endParaRPr lang="en-US" altLang="zh-CN" b="0">
              <a:solidFill>
                <a:schemeClr val="tx1"/>
              </a:solidFill>
            </a:endParaRPr>
          </a:p>
        </p:txBody>
      </p:sp>
      <p:sp>
        <p:nvSpPr>
          <p:cNvPr id="21510" name="Text Box 5"/>
          <p:cNvSpPr txBox="1">
            <a:spLocks noChangeArrowheads="1"/>
          </p:cNvSpPr>
          <p:nvPr/>
        </p:nvSpPr>
        <p:spPr bwMode="auto">
          <a:xfrm>
            <a:off x="923925" y="3355340"/>
            <a:ext cx="8203565" cy="2922905"/>
          </a:xfrm>
          <a:prstGeom prst="rect">
            <a:avLst/>
          </a:prstGeom>
          <a:noFill/>
          <a:ln w="28575">
            <a:solidFill>
              <a:schemeClr val="accent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 dirty="0">
                <a:sym typeface="+mn-ea"/>
              </a:rPr>
              <a:t>Starting...…</a:t>
            </a:r>
            <a:r>
              <a:rPr lang="zh-CN" altLang="en-US" sz="2000" dirty="0">
                <a:sym typeface="+mn-ea"/>
              </a:rPr>
              <a:t>初始化引导，</a:t>
            </a:r>
            <a:r>
              <a:rPr lang="zh-CN" altLang="en-US" sz="2000" dirty="0">
                <a:solidFill>
                  <a:schemeClr val="tx1"/>
                </a:solidFill>
              </a:rPr>
              <a:t>若已打开交换机电源、连接参数正确，界面不出现任何字符时，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en-US" sz="2000" dirty="0">
                <a:solidFill>
                  <a:srgbClr val="0000FF"/>
                </a:solidFill>
              </a:rPr>
              <a:t>多敲几次回车键后</a:t>
            </a:r>
            <a:r>
              <a:rPr lang="zh-CN" altLang="en-US" sz="2000" dirty="0">
                <a:solidFill>
                  <a:schemeClr val="tx1"/>
                </a:solidFill>
              </a:rPr>
              <a:t>，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en-US" sz="2000" dirty="0">
                <a:solidFill>
                  <a:schemeClr val="tx1"/>
                </a:solidFill>
              </a:rPr>
              <a:t>出现</a:t>
            </a:r>
            <a:r>
              <a:rPr lang="en-US" altLang="zh-CN" sz="2000" dirty="0">
                <a:solidFill>
                  <a:schemeClr val="tx1"/>
                </a:solidFill>
              </a:rPr>
              <a:t>Press ENTER to get started! 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2000" dirty="0">
                <a:solidFill>
                  <a:schemeClr val="tx1"/>
                </a:solidFill>
              </a:rPr>
              <a:t> </a:t>
            </a:r>
            <a:r>
              <a:rPr lang="en-US" altLang="zh-CN" sz="2000" dirty="0">
                <a:solidFill>
                  <a:srgbClr val="FF6600"/>
                </a:solidFill>
              </a:rPr>
              <a:t>&lt;H3C&gt;</a:t>
            </a:r>
            <a:r>
              <a:rPr lang="en-US" altLang="zh-CN" sz="2000" dirty="0"/>
              <a:t>                          </a:t>
            </a:r>
            <a:r>
              <a:rPr lang="en-US" altLang="zh-CN" sz="2000" dirty="0">
                <a:solidFill>
                  <a:srgbClr val="FF6600"/>
                </a:solidFill>
              </a:rPr>
              <a:t>(</a:t>
            </a:r>
            <a:r>
              <a:rPr lang="zh-CN" altLang="en-US" sz="2000" dirty="0">
                <a:solidFill>
                  <a:srgbClr val="FF6600"/>
                </a:solidFill>
              </a:rPr>
              <a:t>用户视图下，等待输入其它指令</a:t>
            </a:r>
            <a:r>
              <a:rPr lang="en-US" altLang="zh-CN" sz="2000" dirty="0">
                <a:solidFill>
                  <a:srgbClr val="FF6600"/>
                </a:solidFill>
              </a:rPr>
              <a:t>)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1800" dirty="0">
                <a:solidFill>
                  <a:srgbClr val="FF6600"/>
                </a:solidFill>
              </a:rPr>
              <a:t>&lt;</a:t>
            </a:r>
            <a:r>
              <a:rPr lang="zh-CN" altLang="en-US" sz="1800" dirty="0">
                <a:solidFill>
                  <a:srgbClr val="FF6600"/>
                </a:solidFill>
              </a:rPr>
              <a:t>设备名称</a:t>
            </a:r>
            <a:r>
              <a:rPr lang="en-US" altLang="zh-CN" sz="1800" dirty="0">
                <a:solidFill>
                  <a:srgbClr val="FF6600"/>
                </a:solidFill>
              </a:rPr>
              <a:t>&gt;</a:t>
            </a:r>
            <a:r>
              <a:rPr lang="en-US" altLang="zh-CN" sz="1800" dirty="0">
                <a:solidFill>
                  <a:schemeClr val="tx1"/>
                </a:solidFill>
              </a:rPr>
              <a:t>:</a:t>
            </a:r>
            <a:r>
              <a:rPr lang="zh-CN" altLang="en-US" sz="1800" dirty="0">
                <a:solidFill>
                  <a:schemeClr val="tx1"/>
                </a:solidFill>
              </a:rPr>
              <a:t>表示当前处于</a:t>
            </a:r>
            <a:r>
              <a:rPr lang="zh-CN" altLang="en-US" sz="1800" dirty="0">
                <a:solidFill>
                  <a:srgbClr val="0000FF"/>
                </a:solidFill>
              </a:rPr>
              <a:t> 用户视图模式</a:t>
            </a:r>
            <a:r>
              <a:rPr lang="zh-CN" altLang="en-US" sz="1800" dirty="0">
                <a:solidFill>
                  <a:schemeClr val="tx1"/>
                </a:solidFill>
              </a:rPr>
              <a:t>下，只能查看系统硬件和系统信息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en-US" sz="1800" dirty="0">
                <a:solidFill>
                  <a:schemeClr val="tx1"/>
                </a:solidFill>
              </a:rPr>
              <a:t>括号中的 </a:t>
            </a:r>
            <a:r>
              <a:rPr lang="en-US" altLang="zh-CN" sz="1800" dirty="0">
                <a:solidFill>
                  <a:srgbClr val="FF0000"/>
                </a:solidFill>
              </a:rPr>
              <a:t>H3C </a:t>
            </a:r>
            <a:r>
              <a:rPr lang="zh-CN" altLang="en-US" sz="1800" dirty="0">
                <a:solidFill>
                  <a:schemeClr val="tx1"/>
                </a:solidFill>
              </a:rPr>
              <a:t>是该设备的默认名称，可以修改</a:t>
            </a:r>
          </a:p>
        </p:txBody>
      </p:sp>
      <p:sp>
        <p:nvSpPr>
          <p:cNvPr id="9219" name="Rectangle 4"/>
          <p:cNvSpPr>
            <a:spLocks noGrp="1" noChangeArrowheads="1"/>
          </p:cNvSpPr>
          <p:nvPr/>
        </p:nvSpPr>
        <p:spPr>
          <a:xfrm>
            <a:off x="1298238" y="743654"/>
            <a:ext cx="6860436" cy="661521"/>
          </a:xfrm>
          <a:prstGeom prst="rect">
            <a:avLst/>
          </a:prstGeom>
          <a:noFill/>
          <a:ln>
            <a:noFill/>
          </a:ln>
        </p:spPr>
        <p:txBody>
          <a:bodyPr vert="horz" wrap="square" lIns="77952" tIns="38975" rIns="77952" bIns="38975" numCol="1" anchor="ctr" anchorCtr="0" compatLnSpc="1"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l" latinLnBrk="0">
              <a:lnSpc>
                <a:spcPct val="150000"/>
              </a:lnSpc>
            </a:pPr>
            <a:r>
              <a:rPr lang="zh-CN" altLang="zh-CN" sz="36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实验1.</a:t>
            </a:r>
            <a:r>
              <a:rPr lang="en-US" altLang="zh-CN" sz="36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</a:t>
            </a:r>
            <a:r>
              <a:rPr lang="zh-CN" altLang="zh-CN" sz="36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访问配置</a:t>
            </a:r>
            <a:r>
              <a:rPr lang="zh-CN" altLang="zh-CN" sz="36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网络设备</a:t>
            </a:r>
            <a:r>
              <a:rPr lang="zh-CN" altLang="en-US" sz="3600" b="1" dirty="0"/>
              <a:t>         </a:t>
            </a:r>
            <a:r>
              <a:rPr lang="zh-CN" altLang="en-US" sz="3755" b="1" dirty="0"/>
              <a:t>  </a:t>
            </a:r>
            <a:endParaRPr lang="zh-CN" altLang="en-US" sz="1705" b="1" dirty="0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页脚占位符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0">
                <a:solidFill>
                  <a:schemeClr val="tx1"/>
                </a:solidFill>
              </a:rPr>
              <a:t>计算机通信与网络实验</a:t>
            </a:r>
            <a:endParaRPr lang="en-US" altLang="zh-CN" b="0">
              <a:solidFill>
                <a:schemeClr val="tx1"/>
              </a:solidFill>
            </a:endParaRPr>
          </a:p>
        </p:txBody>
      </p:sp>
      <p:sp>
        <p:nvSpPr>
          <p:cNvPr id="9219" name="Rectangle 4"/>
          <p:cNvSpPr>
            <a:spLocks noGrp="1" noChangeArrowheads="1"/>
          </p:cNvSpPr>
          <p:nvPr/>
        </p:nvSpPr>
        <p:spPr>
          <a:xfrm>
            <a:off x="-34290" y="1188085"/>
            <a:ext cx="4150995" cy="1835150"/>
          </a:xfrm>
          <a:prstGeom prst="rect">
            <a:avLst/>
          </a:prstGeom>
          <a:noFill/>
          <a:ln>
            <a:noFill/>
          </a:ln>
        </p:spPr>
        <p:txBody>
          <a:bodyPr vert="horz" wrap="square" lIns="77952" tIns="38975" rIns="77952" bIns="38975" numCol="1" anchor="ctr" anchorCtr="0" compatLnSpc="1"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l" latinLnBrk="0">
              <a:lnSpc>
                <a:spcPct val="150000"/>
              </a:lnSpc>
            </a:pPr>
            <a:r>
              <a:rPr lang="en-US" altLang="zh-CN" sz="36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lang="zh-CN" altLang="zh-CN" sz="36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实验1.</a:t>
            </a:r>
            <a:r>
              <a:rPr lang="en-US" altLang="zh-CN" sz="36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</a:t>
            </a:r>
            <a:r>
              <a:rPr lang="zh-CN" altLang="zh-CN" sz="36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</a:p>
          <a:p>
            <a:pPr algn="l" latinLnBrk="0">
              <a:lnSpc>
                <a:spcPct val="150000"/>
              </a:lnSpc>
            </a:pPr>
            <a:r>
              <a:rPr lang="zh-CN" altLang="zh-CN" sz="36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访问配置</a:t>
            </a:r>
            <a:r>
              <a:rPr lang="zh-CN" altLang="zh-CN" sz="36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网络设备</a:t>
            </a:r>
            <a:r>
              <a:rPr lang="zh-CN" altLang="en-US" sz="3600" b="1" dirty="0"/>
              <a:t>         </a:t>
            </a:r>
            <a:r>
              <a:rPr lang="zh-CN" altLang="en-US" sz="3755" b="1" dirty="0"/>
              <a:t>  </a:t>
            </a:r>
            <a:endParaRPr lang="zh-CN" altLang="en-US" sz="1705" b="1" dirty="0">
              <a:solidFill>
                <a:srgbClr val="0000FF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9205" y="704850"/>
            <a:ext cx="5314315" cy="6016625"/>
          </a:xfrm>
          <a:prstGeom prst="rect">
            <a:avLst/>
          </a:prstGeom>
        </p:spPr>
      </p:pic>
      <p:sp>
        <p:nvSpPr>
          <p:cNvPr id="4" name="Text Box 5"/>
          <p:cNvSpPr txBox="1">
            <a:spLocks noChangeArrowheads="1"/>
          </p:cNvSpPr>
          <p:nvPr/>
        </p:nvSpPr>
        <p:spPr bwMode="auto">
          <a:xfrm>
            <a:off x="380365" y="4883785"/>
            <a:ext cx="3279775" cy="860425"/>
          </a:xfrm>
          <a:prstGeom prst="rect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sysDot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000" dirty="0">
                <a:solidFill>
                  <a:schemeClr val="tx1"/>
                </a:solidFill>
              </a:rPr>
              <a:t>超级终端程序的窗口，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zh-CN" sz="2000" dirty="0">
                <a:solidFill>
                  <a:schemeClr val="tx1"/>
                </a:solidFill>
              </a:rPr>
              <a:t>显示了交换机启动的过程</a:t>
            </a:r>
          </a:p>
        </p:txBody>
      </p:sp>
      <p:sp>
        <p:nvSpPr>
          <p:cNvPr id="6" name="矩形 5"/>
          <p:cNvSpPr/>
          <p:nvPr/>
        </p:nvSpPr>
        <p:spPr>
          <a:xfrm>
            <a:off x="5441315" y="2389505"/>
            <a:ext cx="1152000" cy="36000"/>
          </a:xfrm>
          <a:prstGeom prst="rect">
            <a:avLst/>
          </a:prstGeom>
          <a:solidFill>
            <a:schemeClr val="accent2"/>
          </a:solidFill>
          <a:ln w="12700" cmpd="sng">
            <a:solidFill>
              <a:srgbClr val="FF66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 flipV="1">
            <a:off x="3799205" y="3945255"/>
            <a:ext cx="2335530" cy="36000"/>
          </a:xfrm>
          <a:prstGeom prst="rect">
            <a:avLst/>
          </a:prstGeom>
          <a:solidFill>
            <a:schemeClr val="accent2"/>
          </a:solidFill>
          <a:ln w="12700" cmpd="sng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 flipV="1">
            <a:off x="6649085" y="4485640"/>
            <a:ext cx="2184400" cy="36000"/>
          </a:xfrm>
          <a:prstGeom prst="rect">
            <a:avLst/>
          </a:prstGeom>
          <a:solidFill>
            <a:schemeClr val="accent2"/>
          </a:solidFill>
          <a:ln w="12700" cmpd="sng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 flipV="1">
            <a:off x="3880485" y="5901690"/>
            <a:ext cx="1708785" cy="36000"/>
          </a:xfrm>
          <a:prstGeom prst="rect">
            <a:avLst/>
          </a:prstGeom>
          <a:solidFill>
            <a:schemeClr val="accent2"/>
          </a:solidFill>
          <a:ln w="12700" cmpd="sng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5441315" y="1856740"/>
            <a:ext cx="13315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b="1">
                <a:solidFill>
                  <a:srgbClr val="0000FF"/>
                </a:solidFill>
              </a:rPr>
              <a:t>引导版本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6134735" y="3708400"/>
            <a:ext cx="20561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b="1">
                <a:solidFill>
                  <a:srgbClr val="0000FF"/>
                </a:solidFill>
              </a:rPr>
              <a:t>设备的</a:t>
            </a:r>
            <a:r>
              <a:rPr lang="en-US" altLang="zh-CN" sz="1800" b="1">
                <a:solidFill>
                  <a:srgbClr val="0000FF"/>
                </a:solidFill>
              </a:rPr>
              <a:t>MAC</a:t>
            </a:r>
            <a:r>
              <a:rPr lang="zh-CN" altLang="en-US" sz="1800" b="1">
                <a:solidFill>
                  <a:srgbClr val="0000FF"/>
                </a:solidFill>
              </a:rPr>
              <a:t>地址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6772910" y="4515485"/>
            <a:ext cx="20561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b="1">
                <a:solidFill>
                  <a:srgbClr val="0000FF"/>
                </a:solidFill>
              </a:rPr>
              <a:t>设备的固件版本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5645785" y="5674995"/>
            <a:ext cx="31254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b="1">
                <a:solidFill>
                  <a:srgbClr val="0000FF"/>
                </a:solidFill>
              </a:rPr>
              <a:t>引导完成，等待输入指令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8" name="Rectangle 3"/>
          <p:cNvSpPr>
            <a:spLocks noGrp="1" noChangeArrowheads="1"/>
          </p:cNvSpPr>
          <p:nvPr>
            <p:ph idx="1"/>
          </p:nvPr>
        </p:nvSpPr>
        <p:spPr>
          <a:xfrm>
            <a:off x="452437" y="1626811"/>
            <a:ext cx="8675687" cy="1728787"/>
          </a:xfrm>
        </p:spPr>
        <p:txBody>
          <a:bodyPr/>
          <a:lstStyle/>
          <a:p>
            <a:pPr lvl="1" eaLnBrk="1" hangingPunct="1"/>
            <a:r>
              <a:rPr lang="zh-CN" altLang="en-US" sz="2200" dirty="0"/>
              <a:t>完成配置后，打开交换机电源，</a:t>
            </a:r>
          </a:p>
          <a:p>
            <a:pPr lvl="1" eaLnBrk="1" hangingPunct="1"/>
            <a:r>
              <a:rPr lang="zh-CN" altLang="en-US" sz="2200" dirty="0">
                <a:sym typeface="+mn-ea"/>
              </a:rPr>
              <a:t>交换机开始自检（引导</a:t>
            </a:r>
            <a:r>
              <a:rPr lang="en-US" altLang="zh-CN" sz="2200" dirty="0">
                <a:sym typeface="+mn-ea"/>
              </a:rPr>
              <a:t>BIOS</a:t>
            </a:r>
            <a:r>
              <a:rPr lang="zh-CN" altLang="en-US" sz="2200" dirty="0">
                <a:sym typeface="+mn-ea"/>
              </a:rPr>
              <a:t>及自检）、初始化过程（释放网络设备操作系统</a:t>
            </a:r>
            <a:r>
              <a:rPr lang="en-US" altLang="zh-CN" sz="2200" dirty="0">
                <a:sym typeface="+mn-ea"/>
              </a:rPr>
              <a:t>OS</a:t>
            </a:r>
            <a:r>
              <a:rPr lang="zh-CN" altLang="en-US" sz="2200" dirty="0">
                <a:sym typeface="+mn-ea"/>
              </a:rPr>
              <a:t>到内存，开始引导）；</a:t>
            </a:r>
          </a:p>
          <a:p>
            <a:pPr lvl="1" eaLnBrk="1" hangingPunct="1"/>
            <a:r>
              <a:rPr lang="zh-CN" altLang="en-US" sz="2200" dirty="0">
                <a:sym typeface="+mn-ea"/>
              </a:rPr>
              <a:t>直到出现</a:t>
            </a:r>
            <a:r>
              <a:rPr lang="en-US" altLang="zh-CN" sz="2400" dirty="0">
                <a:solidFill>
                  <a:srgbClr val="FF0000"/>
                </a:solidFill>
                <a:sym typeface="+mn-ea"/>
              </a:rPr>
              <a:t>Press ENTER to get started!</a:t>
            </a:r>
            <a:r>
              <a:rPr lang="en-US" altLang="zh-CN" sz="2400" dirty="0">
                <a:sym typeface="+mn-ea"/>
              </a:rPr>
              <a:t>  </a:t>
            </a:r>
            <a:r>
              <a:rPr lang="zh-CN" altLang="en-US" sz="2400" dirty="0">
                <a:sym typeface="+mn-ea"/>
              </a:rPr>
              <a:t>，引导完毕。</a:t>
            </a:r>
            <a:endParaRPr lang="zh-CN" altLang="en-US" sz="2400" dirty="0"/>
          </a:p>
          <a:p>
            <a:pPr lvl="1" eaLnBrk="1" hangingPunct="1"/>
            <a:endParaRPr lang="zh-CN" altLang="en-US" dirty="0"/>
          </a:p>
          <a:p>
            <a:pPr lvl="1" eaLnBrk="1" hangingPunct="1"/>
            <a:endParaRPr lang="zh-CN" altLang="en-US" dirty="0"/>
          </a:p>
        </p:txBody>
      </p:sp>
      <p:sp>
        <p:nvSpPr>
          <p:cNvPr id="21506" name="页脚占位符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0">
                <a:solidFill>
                  <a:schemeClr val="tx1"/>
                </a:solidFill>
              </a:rPr>
              <a:t>计算机通信与网络实验</a:t>
            </a:r>
            <a:endParaRPr lang="en-US" altLang="zh-CN" b="0">
              <a:solidFill>
                <a:schemeClr val="tx1"/>
              </a:solidFill>
            </a:endParaRPr>
          </a:p>
        </p:txBody>
      </p:sp>
      <p:sp>
        <p:nvSpPr>
          <p:cNvPr id="21510" name="Text Box 5"/>
          <p:cNvSpPr txBox="1">
            <a:spLocks noChangeArrowheads="1"/>
          </p:cNvSpPr>
          <p:nvPr/>
        </p:nvSpPr>
        <p:spPr bwMode="auto">
          <a:xfrm>
            <a:off x="451485" y="3355340"/>
            <a:ext cx="8676005" cy="1014730"/>
          </a:xfrm>
          <a:prstGeom prst="rect">
            <a:avLst/>
          </a:prstGeom>
          <a:noFill/>
          <a:ln w="28575">
            <a:solidFill>
              <a:schemeClr val="accent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 dirty="0">
                <a:sym typeface="+mn-ea"/>
              </a:rPr>
              <a:t>Starting...…</a:t>
            </a:r>
            <a:r>
              <a:rPr lang="zh-CN" altLang="en-US" sz="2000" dirty="0">
                <a:sym typeface="+mn-ea"/>
              </a:rPr>
              <a:t>初始化引导，</a:t>
            </a:r>
            <a:r>
              <a:rPr lang="zh-CN" altLang="en-US" sz="2000" dirty="0">
                <a:solidFill>
                  <a:schemeClr val="tx1"/>
                </a:solidFill>
              </a:rPr>
              <a:t>若已打开交换机电源、连接参数正确，界面不出现任何字符时，</a:t>
            </a:r>
            <a:r>
              <a:rPr lang="zh-CN" altLang="en-US" sz="2000" dirty="0">
                <a:solidFill>
                  <a:srgbClr val="0000FF"/>
                </a:solidFill>
              </a:rPr>
              <a:t>多敲几次回车键后</a:t>
            </a:r>
            <a:r>
              <a:rPr lang="zh-CN" altLang="en-US" sz="2000" dirty="0">
                <a:solidFill>
                  <a:schemeClr val="tx1"/>
                </a:solidFill>
              </a:rPr>
              <a:t>，出现</a:t>
            </a:r>
            <a:r>
              <a:rPr lang="en-US" altLang="zh-CN" sz="2000" dirty="0">
                <a:solidFill>
                  <a:schemeClr val="tx1"/>
                </a:solidFill>
              </a:rPr>
              <a:t>Press ENTER to get started!  </a:t>
            </a:r>
            <a:r>
              <a:rPr lang="en-US" altLang="zh-CN" sz="2000" dirty="0">
                <a:solidFill>
                  <a:srgbClr val="FF6600"/>
                </a:solidFill>
              </a:rPr>
              <a:t>&lt;H3C&gt;</a:t>
            </a:r>
            <a:r>
              <a:rPr lang="en-US" altLang="zh-CN" sz="2000" dirty="0"/>
              <a:t>                                      </a:t>
            </a:r>
            <a:r>
              <a:rPr lang="en-US" altLang="zh-CN" sz="2000" dirty="0">
                <a:solidFill>
                  <a:srgbClr val="FF6600"/>
                </a:solidFill>
              </a:rPr>
              <a:t>(</a:t>
            </a:r>
            <a:r>
              <a:rPr lang="zh-CN" altLang="en-US" sz="2000" dirty="0">
                <a:solidFill>
                  <a:srgbClr val="FF6600"/>
                </a:solidFill>
              </a:rPr>
              <a:t>用户视图下，等待输入其它指令</a:t>
            </a:r>
            <a:r>
              <a:rPr lang="en-US" altLang="zh-CN" sz="2000" dirty="0">
                <a:solidFill>
                  <a:srgbClr val="FF6600"/>
                </a:solidFill>
              </a:rPr>
              <a:t>)</a:t>
            </a:r>
            <a:endParaRPr lang="zh-CN" altLang="en-US" sz="2000" dirty="0">
              <a:solidFill>
                <a:srgbClr val="FF6600"/>
              </a:solidFill>
            </a:endParaRPr>
          </a:p>
        </p:txBody>
      </p:sp>
      <p:sp>
        <p:nvSpPr>
          <p:cNvPr id="9219" name="Rectangle 4"/>
          <p:cNvSpPr>
            <a:spLocks noGrp="1" noChangeArrowheads="1"/>
          </p:cNvSpPr>
          <p:nvPr/>
        </p:nvSpPr>
        <p:spPr>
          <a:xfrm>
            <a:off x="1298238" y="743654"/>
            <a:ext cx="6860436" cy="661521"/>
          </a:xfrm>
          <a:prstGeom prst="rect">
            <a:avLst/>
          </a:prstGeom>
          <a:noFill/>
          <a:ln>
            <a:noFill/>
          </a:ln>
        </p:spPr>
        <p:txBody>
          <a:bodyPr vert="horz" wrap="square" lIns="77952" tIns="38975" rIns="77952" bIns="38975" numCol="1" anchor="ctr" anchorCtr="0" compatLnSpc="1"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l" latinLnBrk="0">
              <a:lnSpc>
                <a:spcPct val="150000"/>
              </a:lnSpc>
            </a:pPr>
            <a:r>
              <a:rPr lang="zh-CN" altLang="zh-CN" sz="36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实验1.</a:t>
            </a:r>
            <a:r>
              <a:rPr lang="en-US" altLang="zh-CN" sz="36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</a:t>
            </a:r>
            <a:r>
              <a:rPr lang="zh-CN" altLang="zh-CN" sz="36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访问配置</a:t>
            </a:r>
            <a:r>
              <a:rPr lang="zh-CN" altLang="zh-CN" sz="36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网络设备</a:t>
            </a:r>
            <a:r>
              <a:rPr lang="zh-CN" altLang="en-US" sz="3600" b="1" dirty="0"/>
              <a:t>         </a:t>
            </a:r>
            <a:r>
              <a:rPr lang="zh-CN" altLang="en-US" sz="3755" b="1" dirty="0"/>
              <a:t>  </a:t>
            </a:r>
            <a:endParaRPr lang="zh-CN" altLang="en-US" sz="1705" b="1" dirty="0">
              <a:solidFill>
                <a:srgbClr val="0000FF"/>
              </a:solidFill>
            </a:endParaRPr>
          </a:p>
        </p:txBody>
      </p:sp>
      <p:sp>
        <p:nvSpPr>
          <p:cNvPr id="3" name="Text Box 5"/>
          <p:cNvSpPr txBox="1">
            <a:spLocks noChangeArrowheads="1"/>
          </p:cNvSpPr>
          <p:nvPr/>
        </p:nvSpPr>
        <p:spPr bwMode="auto">
          <a:xfrm>
            <a:off x="452120" y="4370070"/>
            <a:ext cx="8676005" cy="1783715"/>
          </a:xfrm>
          <a:prstGeom prst="rect">
            <a:avLst/>
          </a:prstGeom>
          <a:noFill/>
          <a:ln w="28575">
            <a:solidFill>
              <a:schemeClr val="accent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000" dirty="0">
                <a:solidFill>
                  <a:srgbClr val="0000FF"/>
                </a:solidFill>
              </a:rPr>
              <a:t>注意</a:t>
            </a:r>
            <a:r>
              <a:rPr lang="zh-CN" altLang="en-US" sz="2000" dirty="0">
                <a:solidFill>
                  <a:schemeClr val="tx1"/>
                </a:solidFill>
              </a:rPr>
              <a:t>：超级终端程序的窗口，相当于</a:t>
            </a:r>
            <a:r>
              <a:rPr lang="zh-CN" altLang="en-US" sz="2000" dirty="0">
                <a:solidFill>
                  <a:srgbClr val="FF0000"/>
                </a:solidFill>
              </a:rPr>
              <a:t>交换机的显示窗口</a:t>
            </a:r>
            <a:r>
              <a:rPr lang="zh-CN" altLang="en-US" sz="2000" dirty="0">
                <a:solidFill>
                  <a:schemeClr val="tx1"/>
                </a:solidFill>
              </a:rPr>
              <a:t>，在此窗口里键盘输入的字符指令，经回车后，经过串口</a:t>
            </a:r>
            <a:r>
              <a:rPr lang="en-US" altLang="zh-CN" sz="2000" dirty="0">
                <a:solidFill>
                  <a:schemeClr val="tx1"/>
                </a:solidFill>
              </a:rPr>
              <a:t>COM</a:t>
            </a:r>
            <a:r>
              <a:rPr lang="zh-CN" altLang="en-US" sz="2000" dirty="0">
                <a:solidFill>
                  <a:schemeClr val="tx1"/>
                </a:solidFill>
              </a:rPr>
              <a:t>，传输到交换机的内存里逐条执行，每执行完毕一条指令，就</a:t>
            </a:r>
            <a:r>
              <a:rPr lang="zh-CN" altLang="en-US" sz="2000" dirty="0">
                <a:solidFill>
                  <a:srgbClr val="FF0000"/>
                </a:solidFill>
              </a:rPr>
              <a:t>把该条指令的结果传输到该窗口中显示</a:t>
            </a:r>
            <a:r>
              <a:rPr lang="zh-CN" altLang="en-US" sz="2000" dirty="0">
                <a:solidFill>
                  <a:schemeClr val="tx1"/>
                </a:solidFill>
              </a:rPr>
              <a:t>。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en-US" sz="2000" dirty="0">
                <a:solidFill>
                  <a:srgbClr val="0000FF"/>
                </a:solidFill>
              </a:rPr>
              <a:t>备注：</a:t>
            </a:r>
            <a:r>
              <a:rPr lang="zh-CN" altLang="en-US" sz="2000" dirty="0">
                <a:solidFill>
                  <a:schemeClr val="tx1"/>
                </a:solidFill>
              </a:rPr>
              <a:t>对网络设备的</a:t>
            </a:r>
            <a:r>
              <a:rPr lang="zh-CN" altLang="en-US" sz="2000" dirty="0">
                <a:solidFill>
                  <a:srgbClr val="0000FF"/>
                </a:solidFill>
              </a:rPr>
              <a:t>配置管理，相当于顺序编程</a:t>
            </a:r>
            <a:r>
              <a:rPr lang="zh-CN" altLang="en-US" sz="2000" dirty="0">
                <a:solidFill>
                  <a:schemeClr val="tx1"/>
                </a:solidFill>
              </a:rPr>
              <a:t>，先把网络</a:t>
            </a:r>
            <a:r>
              <a:rPr lang="en-US" altLang="zh-CN" sz="2000" dirty="0">
                <a:solidFill>
                  <a:schemeClr val="tx1"/>
                </a:solidFill>
              </a:rPr>
              <a:t>OS</a:t>
            </a:r>
            <a:r>
              <a:rPr lang="zh-CN" altLang="en-US" sz="2000" dirty="0">
                <a:solidFill>
                  <a:schemeClr val="tx1"/>
                </a:solidFill>
              </a:rPr>
              <a:t>支持的命令和语法分析清楚，再分解要完成的任务，用</a:t>
            </a:r>
            <a:r>
              <a:rPr lang="zh-CN" altLang="en-US" sz="2000" dirty="0">
                <a:solidFill>
                  <a:srgbClr val="0000FF"/>
                </a:solidFill>
              </a:rPr>
              <a:t>多条顺序执行的指令</a:t>
            </a:r>
            <a:r>
              <a:rPr lang="zh-CN" altLang="en-US" sz="2000" dirty="0">
                <a:solidFill>
                  <a:schemeClr val="tx1"/>
                </a:solidFill>
              </a:rPr>
              <a:t>来完成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2"/>
          <p:cNvSpPr>
            <a:spLocks noGrp="1" noChangeArrowheads="1"/>
          </p:cNvSpPr>
          <p:nvPr>
            <p:ph type="title"/>
          </p:nvPr>
        </p:nvSpPr>
        <p:spPr>
          <a:xfrm>
            <a:off x="274955" y="622300"/>
            <a:ext cx="8594725" cy="694055"/>
          </a:xfrm>
        </p:spPr>
        <p:txBody>
          <a:bodyPr/>
          <a:lstStyle/>
          <a:p>
            <a:pPr eaLnBrk="1" hangingPunct="1"/>
            <a:r>
              <a:rPr lang="en-US" altLang="zh-CN" sz="2400" dirty="0"/>
              <a:t>  H3C</a:t>
            </a:r>
            <a:r>
              <a:rPr lang="zh-CN" altLang="en-US" sz="2400" dirty="0"/>
              <a:t>以太网网络设备的命令行视图 </a:t>
            </a:r>
          </a:p>
        </p:txBody>
      </p:sp>
      <p:sp>
        <p:nvSpPr>
          <p:cNvPr id="23554" name="页脚占位符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0">
                <a:solidFill>
                  <a:schemeClr val="tx1"/>
                </a:solidFill>
              </a:rPr>
              <a:t>计算机通信与网络实验</a:t>
            </a:r>
            <a:endParaRPr lang="en-US" altLang="zh-CN" b="0">
              <a:solidFill>
                <a:schemeClr val="tx1"/>
              </a:solidFill>
            </a:endParaRPr>
          </a:p>
        </p:txBody>
      </p:sp>
      <p:pic>
        <p:nvPicPr>
          <p:cNvPr id="23556" name="Picture 5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075" y="1217930"/>
            <a:ext cx="5327650" cy="55619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66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3557" name="Rectangle 2"/>
          <p:cNvSpPr txBox="1">
            <a:spLocks noChangeArrowheads="1"/>
          </p:cNvSpPr>
          <p:nvPr/>
        </p:nvSpPr>
        <p:spPr bwMode="auto">
          <a:xfrm>
            <a:off x="417195" y="5964555"/>
            <a:ext cx="3552825" cy="7181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>
                <a:solidFill>
                  <a:srgbClr val="0000FF"/>
                </a:solidFill>
              </a:rPr>
              <a:t>   </a:t>
            </a:r>
            <a:r>
              <a:rPr lang="en-US" altLang="zh-CN" sz="2400">
                <a:solidFill>
                  <a:srgbClr val="FF0000"/>
                </a:solidFill>
              </a:rPr>
              <a:t>H3C</a:t>
            </a:r>
            <a:r>
              <a:rPr lang="zh-CN" altLang="en-US" sz="2400">
                <a:solidFill>
                  <a:srgbClr val="FF0000"/>
                </a:solidFill>
              </a:rPr>
              <a:t>设备命令视图</a:t>
            </a:r>
          </a:p>
          <a:p>
            <a:pPr eaLnBrk="1" hangingPunct="1"/>
            <a:r>
              <a:rPr lang="zh-CN" altLang="en-US" sz="1800">
                <a:solidFill>
                  <a:srgbClr val="0000FF"/>
                </a:solidFill>
              </a:rPr>
              <a:t>不同的视图下，有不同的命令</a:t>
            </a:r>
          </a:p>
        </p:txBody>
      </p:sp>
      <p:pic>
        <p:nvPicPr>
          <p:cNvPr id="23558" name="Picture 6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9915" y="1172845"/>
            <a:ext cx="3303270" cy="55492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66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计算机通信与网络实验</a:t>
            </a:r>
            <a:endParaRPr lang="en-US" altLang="zh-CN"/>
          </a:p>
        </p:txBody>
      </p:sp>
      <p:pic>
        <p:nvPicPr>
          <p:cNvPr id="24580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845" y="845185"/>
            <a:ext cx="7416800" cy="46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1"/>
          <p:cNvSpPr txBox="1"/>
          <p:nvPr/>
        </p:nvSpPr>
        <p:spPr>
          <a:xfrm>
            <a:off x="791845" y="5526405"/>
            <a:ext cx="8097520" cy="82994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0000FF"/>
                </a:solidFill>
              </a:rPr>
              <a:t>不同的视图下，提示符不同，有不同的命令；</a:t>
            </a:r>
          </a:p>
          <a:p>
            <a:r>
              <a:rPr lang="zh-CN" altLang="zh-CN" dirty="0">
                <a:solidFill>
                  <a:srgbClr val="0000FF"/>
                </a:solidFill>
              </a:rPr>
              <a:t>有的命令在不同视图都有，但可能参数</a:t>
            </a:r>
            <a:r>
              <a:rPr lang="en-US" altLang="zh-CN" dirty="0">
                <a:solidFill>
                  <a:srgbClr val="0000FF"/>
                </a:solidFill>
              </a:rPr>
              <a:t>.</a:t>
            </a:r>
            <a:r>
              <a:rPr lang="zh-CN" altLang="en-US" dirty="0">
                <a:solidFill>
                  <a:srgbClr val="0000FF"/>
                </a:solidFill>
              </a:rPr>
              <a:t>语法</a:t>
            </a:r>
            <a:r>
              <a:rPr lang="en-US" altLang="zh-CN" dirty="0">
                <a:solidFill>
                  <a:srgbClr val="0000FF"/>
                </a:solidFill>
              </a:rPr>
              <a:t>.</a:t>
            </a:r>
            <a:r>
              <a:rPr lang="zh-CN" altLang="en-US" dirty="0">
                <a:solidFill>
                  <a:srgbClr val="0000FF"/>
                </a:solidFill>
              </a:rPr>
              <a:t>结果有差异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计算机通信与网络实验</a:t>
            </a:r>
            <a:endParaRPr lang="en-US" altLang="zh-CN"/>
          </a:p>
        </p:txBody>
      </p:sp>
      <p:pic>
        <p:nvPicPr>
          <p:cNvPr id="2560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5990" y="1270000"/>
            <a:ext cx="7416874" cy="2376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04" name="Picture 5" descr="0JVUGICBG[3F1)D(OGGN)[W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6128" y="3646488"/>
            <a:ext cx="7417371" cy="237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05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5989" y="802958"/>
            <a:ext cx="7344867" cy="46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页脚占位符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0">
                <a:solidFill>
                  <a:schemeClr val="tx1"/>
                </a:solidFill>
              </a:rPr>
              <a:t>计算机通信与网络实验</a:t>
            </a:r>
            <a:endParaRPr lang="en-US" altLang="zh-CN" b="0">
              <a:solidFill>
                <a:schemeClr val="tx1"/>
              </a:solidFill>
            </a:endParaRP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186690" y="1477010"/>
            <a:ext cx="8951595" cy="533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9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2200" b="0" dirty="0">
                <a:solidFill>
                  <a:srgbClr val="0000FF"/>
                </a:solidFill>
              </a:rPr>
              <a:t>？</a:t>
            </a:r>
            <a:r>
              <a:rPr lang="en-US" altLang="zh-CN" sz="2200" b="0" dirty="0">
                <a:solidFill>
                  <a:schemeClr val="tx1"/>
                </a:solidFill>
              </a:rPr>
              <a:t>---</a:t>
            </a:r>
            <a:r>
              <a:rPr lang="zh-CN" altLang="en-US" sz="2200" b="0" dirty="0">
                <a:solidFill>
                  <a:schemeClr val="tx1"/>
                </a:solidFill>
              </a:rPr>
              <a:t>帮助，显示出在当前视图下可用的命令或参数</a:t>
            </a:r>
            <a:endParaRPr lang="en-US" altLang="zh-CN" sz="2200" b="0" dirty="0">
              <a:solidFill>
                <a:schemeClr val="tx1"/>
              </a:solidFill>
            </a:endParaRPr>
          </a:p>
          <a:p>
            <a:pPr eaLnBrk="1" hangingPunct="1">
              <a:lnSpc>
                <a:spcPct val="9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2200" b="0" dirty="0">
                <a:solidFill>
                  <a:schemeClr val="tx1"/>
                </a:solidFill>
              </a:rPr>
              <a:t>命令缩写</a:t>
            </a:r>
            <a:r>
              <a:rPr lang="en-US" altLang="zh-CN" sz="2200" b="0" dirty="0">
                <a:solidFill>
                  <a:schemeClr val="tx1"/>
                </a:solidFill>
              </a:rPr>
              <a:t>:</a:t>
            </a:r>
            <a:r>
              <a:rPr lang="zh-CN" altLang="en-US" sz="2200" b="0" dirty="0">
                <a:solidFill>
                  <a:schemeClr val="tx1"/>
                </a:solidFill>
              </a:rPr>
              <a:t>只要命令的前几个字母在这个模式下是唯一的，就可缩写；</a:t>
            </a:r>
            <a:endParaRPr lang="en-US" altLang="zh-CN" sz="2200" b="0" dirty="0">
              <a:solidFill>
                <a:schemeClr val="tx1"/>
              </a:solidFill>
            </a:endParaRPr>
          </a:p>
          <a:p>
            <a:pPr eaLnBrk="1" hangingPunct="1">
              <a:lnSpc>
                <a:spcPct val="9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2200" b="1" dirty="0">
                <a:solidFill>
                  <a:srgbClr val="0000FF"/>
                </a:solidFill>
              </a:rPr>
              <a:t>命令</a:t>
            </a:r>
            <a:r>
              <a:rPr lang="en-US" altLang="zh-CN" sz="2200" b="1" dirty="0">
                <a:solidFill>
                  <a:srgbClr val="0000FF"/>
                </a:solidFill>
              </a:rPr>
              <a:t>  </a:t>
            </a:r>
            <a:r>
              <a:rPr lang="zh-CN" altLang="en-US" sz="2200" b="1" dirty="0">
                <a:solidFill>
                  <a:srgbClr val="0000FF"/>
                </a:solidFill>
              </a:rPr>
              <a:t>？</a:t>
            </a:r>
            <a:r>
              <a:rPr lang="zh-CN" altLang="en-US" sz="2200" b="0" dirty="0">
                <a:solidFill>
                  <a:schemeClr val="tx1"/>
                </a:solidFill>
              </a:rPr>
              <a:t>：执行该命令及后续的参数，</a:t>
            </a:r>
            <a:endParaRPr lang="en-US" altLang="zh-CN" sz="2200" b="0" dirty="0">
              <a:solidFill>
                <a:schemeClr val="tx1"/>
              </a:solidFill>
            </a:endParaRPr>
          </a:p>
          <a:p>
            <a:pPr eaLnBrk="1" hangingPunct="1">
              <a:lnSpc>
                <a:spcPct val="9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CN" sz="2200" b="0" dirty="0">
                <a:solidFill>
                  <a:schemeClr val="tx1"/>
                </a:solidFill>
              </a:rPr>
              <a:t>      </a:t>
            </a:r>
            <a:r>
              <a:rPr lang="zh-CN" altLang="en-US" sz="2200" b="0" dirty="0">
                <a:solidFill>
                  <a:schemeClr val="tx1"/>
                </a:solidFill>
              </a:rPr>
              <a:t>如 </a:t>
            </a:r>
            <a:r>
              <a:rPr lang="en-US" altLang="zh-CN" sz="2200" b="0" dirty="0">
                <a:solidFill>
                  <a:srgbClr val="0000FF"/>
                </a:solidFill>
              </a:rPr>
              <a:t>display </a:t>
            </a:r>
            <a:r>
              <a:rPr lang="zh-CN" altLang="en-US" sz="2200" b="0" dirty="0">
                <a:solidFill>
                  <a:srgbClr val="0000FF"/>
                </a:solidFill>
              </a:rPr>
              <a:t>？</a:t>
            </a:r>
            <a:r>
              <a:rPr lang="zh-CN" altLang="en-US" sz="2200" b="0" dirty="0">
                <a:solidFill>
                  <a:schemeClr val="tx1"/>
                </a:solidFill>
              </a:rPr>
              <a:t>：执行 </a:t>
            </a:r>
            <a:r>
              <a:rPr lang="en-US" altLang="zh-CN" sz="2200" b="0" dirty="0">
                <a:solidFill>
                  <a:schemeClr val="tx1"/>
                </a:solidFill>
              </a:rPr>
              <a:t>display</a:t>
            </a:r>
            <a:r>
              <a:rPr lang="zh-CN" altLang="en-US" sz="2200" b="0" dirty="0">
                <a:solidFill>
                  <a:schemeClr val="tx1"/>
                </a:solidFill>
              </a:rPr>
              <a:t>命令需要的后续命令或参数；</a:t>
            </a:r>
            <a:endParaRPr lang="en-US" altLang="zh-CN" sz="2200" b="0" dirty="0">
              <a:solidFill>
                <a:schemeClr val="tx1"/>
              </a:solidFill>
            </a:endParaRPr>
          </a:p>
          <a:p>
            <a:pPr eaLnBrk="1" hangingPunct="1">
              <a:lnSpc>
                <a:spcPct val="90000"/>
              </a:lnSpc>
              <a:defRPr/>
            </a:pPr>
            <a:r>
              <a:rPr kumimoji="0" lang="zh-CN" altLang="en-US" sz="2000" b="0" dirty="0">
                <a:solidFill>
                  <a:srgbClr val="0000FF"/>
                </a:solidFill>
              </a:rPr>
              <a:t>system</a:t>
            </a:r>
            <a:r>
              <a:rPr lang="en-US" altLang="zh-CN" sz="2200" b="0" dirty="0">
                <a:solidFill>
                  <a:srgbClr val="0000FF"/>
                </a:solidFill>
              </a:rPr>
              <a:t>-view</a:t>
            </a:r>
            <a:r>
              <a:rPr lang="en-US" altLang="zh-CN" sz="2200" b="0" dirty="0">
                <a:solidFill>
                  <a:schemeClr val="tx1"/>
                </a:solidFill>
              </a:rPr>
              <a:t>   </a:t>
            </a:r>
            <a:r>
              <a:rPr lang="zh-CN" altLang="zh-CN" sz="2200" b="0" dirty="0">
                <a:solidFill>
                  <a:schemeClr val="tx1"/>
                </a:solidFill>
              </a:rPr>
              <a:t>进入系统视图模式</a:t>
            </a:r>
            <a:r>
              <a:rPr lang="zh-CN" altLang="en-US" sz="2200" b="0" dirty="0">
                <a:solidFill>
                  <a:schemeClr val="tx1"/>
                </a:solidFill>
              </a:rPr>
              <a:t>，可缩写为</a:t>
            </a:r>
            <a:r>
              <a:rPr lang="en-US" altLang="zh-CN" sz="2200" b="0" dirty="0" err="1">
                <a:solidFill>
                  <a:schemeClr val="tx1"/>
                </a:solidFill>
              </a:rPr>
              <a:t>sy</a:t>
            </a:r>
            <a:r>
              <a:rPr lang="zh-CN" altLang="en-US" sz="2200" b="0" dirty="0">
                <a:solidFill>
                  <a:schemeClr val="tx1"/>
                </a:solidFill>
              </a:rPr>
              <a:t>、</a:t>
            </a:r>
            <a:r>
              <a:rPr lang="en-US" altLang="zh-CN" sz="2200" b="0" dirty="0">
                <a:solidFill>
                  <a:schemeClr val="tx1"/>
                </a:solidFill>
              </a:rPr>
              <a:t>sys</a:t>
            </a:r>
            <a:r>
              <a:rPr lang="zh-CN" altLang="en-US" sz="2200" b="0" dirty="0">
                <a:solidFill>
                  <a:schemeClr val="tx1"/>
                </a:solidFill>
              </a:rPr>
              <a:t>等</a:t>
            </a:r>
            <a:endParaRPr lang="en-US" altLang="zh-CN" sz="2200" b="0" dirty="0">
              <a:solidFill>
                <a:schemeClr val="tx1"/>
              </a:solidFill>
            </a:endParaRPr>
          </a:p>
          <a:p>
            <a:pPr eaLnBrk="1" hangingPunct="1">
              <a:lnSpc>
                <a:spcPct val="9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CN" sz="2200" b="0" dirty="0" err="1">
                <a:solidFill>
                  <a:srgbClr val="0000FF"/>
                </a:solidFill>
              </a:rPr>
              <a:t>sysname</a:t>
            </a:r>
            <a:r>
              <a:rPr lang="en-US" altLang="zh-CN" sz="2200" b="0" dirty="0">
                <a:solidFill>
                  <a:schemeClr val="tx1"/>
                </a:solidFill>
              </a:rPr>
              <a:t>   </a:t>
            </a:r>
            <a:r>
              <a:rPr lang="zh-CN" altLang="zh-CN" sz="2200" b="0" dirty="0">
                <a:solidFill>
                  <a:schemeClr val="tx1"/>
                </a:solidFill>
              </a:rPr>
              <a:t>为设备命名</a:t>
            </a:r>
            <a:r>
              <a:rPr lang="en-US" altLang="zh-CN" sz="2200" b="0" dirty="0">
                <a:solidFill>
                  <a:schemeClr val="tx1"/>
                </a:solidFill>
              </a:rPr>
              <a:t> </a:t>
            </a:r>
            <a:endParaRPr lang="zh-CN" altLang="en-US" sz="2200" b="0" dirty="0">
              <a:solidFill>
                <a:schemeClr val="tx1"/>
              </a:solidFill>
            </a:endParaRPr>
          </a:p>
          <a:p>
            <a:pPr eaLnBrk="1" hangingPunct="1">
              <a:lnSpc>
                <a:spcPct val="9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CN" sz="2200" b="0" dirty="0">
                <a:solidFill>
                  <a:srgbClr val="0000FF"/>
                </a:solidFill>
              </a:rPr>
              <a:t>display </a:t>
            </a:r>
            <a:r>
              <a:rPr lang="zh-CN" altLang="en-US" sz="2200" b="0" dirty="0">
                <a:solidFill>
                  <a:schemeClr val="tx1"/>
                </a:solidFill>
              </a:rPr>
              <a:t>显示，可缩写为</a:t>
            </a:r>
            <a:r>
              <a:rPr lang="en-US" altLang="zh-CN" sz="2200" b="0" dirty="0">
                <a:solidFill>
                  <a:schemeClr val="tx1"/>
                </a:solidFill>
              </a:rPr>
              <a:t>di</a:t>
            </a:r>
            <a:r>
              <a:rPr lang="zh-CN" altLang="en-US" sz="2200" b="0" dirty="0">
                <a:solidFill>
                  <a:schemeClr val="tx1"/>
                </a:solidFill>
              </a:rPr>
              <a:t>、</a:t>
            </a:r>
            <a:r>
              <a:rPr lang="en-US" altLang="zh-CN" sz="2200" b="0" dirty="0">
                <a:solidFill>
                  <a:schemeClr val="tx1"/>
                </a:solidFill>
              </a:rPr>
              <a:t>dis</a:t>
            </a:r>
            <a:r>
              <a:rPr lang="zh-CN" altLang="en-US" sz="2200" b="0" dirty="0">
                <a:solidFill>
                  <a:schemeClr val="tx1"/>
                </a:solidFill>
              </a:rPr>
              <a:t>、</a:t>
            </a:r>
            <a:r>
              <a:rPr lang="en-US" altLang="zh-CN" sz="2200" b="0" dirty="0" err="1">
                <a:solidFill>
                  <a:schemeClr val="tx1"/>
                </a:solidFill>
              </a:rPr>
              <a:t>disp</a:t>
            </a:r>
            <a:r>
              <a:rPr lang="zh-CN" altLang="en-US" sz="2200" b="0" dirty="0">
                <a:solidFill>
                  <a:schemeClr val="tx1"/>
                </a:solidFill>
              </a:rPr>
              <a:t>等，</a:t>
            </a:r>
            <a:endParaRPr lang="en-US" altLang="zh-CN" sz="2200" b="0" dirty="0">
              <a:solidFill>
                <a:schemeClr val="tx1"/>
              </a:solidFill>
            </a:endParaRPr>
          </a:p>
          <a:p>
            <a:pPr eaLnBrk="1" hangingPunct="1">
              <a:lnSpc>
                <a:spcPct val="9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CN" sz="2200" b="0" dirty="0">
                <a:solidFill>
                  <a:srgbClr val="0000FF"/>
                </a:solidFill>
              </a:rPr>
              <a:t>display current-configuration</a:t>
            </a:r>
            <a:r>
              <a:rPr lang="en-US" altLang="zh-CN" sz="2200" b="0" dirty="0">
                <a:solidFill>
                  <a:srgbClr val="FF0000"/>
                </a:solidFill>
              </a:rPr>
              <a:t> </a:t>
            </a:r>
            <a:r>
              <a:rPr lang="zh-CN" altLang="en-US" sz="2200" b="0" dirty="0">
                <a:solidFill>
                  <a:srgbClr val="FF0000"/>
                </a:solidFill>
              </a:rPr>
              <a:t>显示</a:t>
            </a:r>
            <a:r>
              <a:rPr lang="zh-CN" altLang="zh-CN" sz="2200" b="0" dirty="0">
                <a:solidFill>
                  <a:srgbClr val="FF0000"/>
                </a:solidFill>
              </a:rPr>
              <a:t>当前配置情况</a:t>
            </a:r>
            <a:r>
              <a:rPr lang="zh-CN" altLang="en-US" sz="2200" b="0" dirty="0">
                <a:solidFill>
                  <a:srgbClr val="FF0000"/>
                </a:solidFill>
              </a:rPr>
              <a:t>：常用</a:t>
            </a:r>
            <a:endParaRPr lang="zh-CN" altLang="en-US" sz="2200" b="0" dirty="0">
              <a:solidFill>
                <a:schemeClr val="tx1"/>
              </a:solidFill>
            </a:endParaRPr>
          </a:p>
          <a:p>
            <a:pPr eaLnBrk="1" hangingPunct="1">
              <a:lnSpc>
                <a:spcPct val="9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CN" sz="2200" b="0" dirty="0">
                <a:solidFill>
                  <a:srgbClr val="0000FF"/>
                </a:solidFill>
              </a:rPr>
              <a:t>undo</a:t>
            </a:r>
            <a:r>
              <a:rPr lang="en-US" altLang="zh-CN" sz="2200" b="0" dirty="0">
                <a:solidFill>
                  <a:schemeClr val="tx1"/>
                </a:solidFill>
              </a:rPr>
              <a:t>  ---</a:t>
            </a:r>
            <a:r>
              <a:rPr lang="zh-CN" altLang="en-US" sz="2200" b="0" dirty="0">
                <a:solidFill>
                  <a:schemeClr val="tx1"/>
                </a:solidFill>
              </a:rPr>
              <a:t>删除，取消该命令后面的操作；</a:t>
            </a:r>
            <a:endParaRPr lang="en-US" altLang="zh-CN" sz="2200" b="0" dirty="0">
              <a:solidFill>
                <a:schemeClr val="tx1"/>
              </a:solidFill>
            </a:endParaRPr>
          </a:p>
          <a:p>
            <a:pPr eaLnBrk="1" hangingPunct="1">
              <a:lnSpc>
                <a:spcPct val="9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CN" sz="2200" b="0" dirty="0">
                <a:solidFill>
                  <a:srgbClr val="0000FF"/>
                </a:solidFill>
              </a:rPr>
              <a:t>undo shutdown  </a:t>
            </a:r>
            <a:r>
              <a:rPr lang="en-US" altLang="zh-CN" sz="2200" b="0" dirty="0">
                <a:solidFill>
                  <a:schemeClr val="tx1"/>
                </a:solidFill>
              </a:rPr>
              <a:t> </a:t>
            </a:r>
            <a:r>
              <a:rPr lang="zh-CN" altLang="zh-CN" sz="2200" b="0" dirty="0">
                <a:solidFill>
                  <a:schemeClr val="tx1"/>
                </a:solidFill>
              </a:rPr>
              <a:t>打开</a:t>
            </a:r>
            <a:r>
              <a:rPr lang="zh-CN" altLang="en-US" sz="2200" b="0" dirty="0">
                <a:solidFill>
                  <a:schemeClr val="tx1"/>
                </a:solidFill>
              </a:rPr>
              <a:t>关闭的</a:t>
            </a:r>
            <a:r>
              <a:rPr lang="zh-CN" altLang="zh-CN" sz="2200" b="0" dirty="0">
                <a:solidFill>
                  <a:schemeClr val="tx1"/>
                </a:solidFill>
              </a:rPr>
              <a:t>端口</a:t>
            </a:r>
            <a:endParaRPr lang="en-US" altLang="zh-CN" sz="2200" b="0" dirty="0">
              <a:solidFill>
                <a:schemeClr val="tx1"/>
              </a:solidFill>
            </a:endParaRPr>
          </a:p>
          <a:p>
            <a:pPr eaLnBrk="1" hangingPunct="1">
              <a:buFont typeface="Arial" panose="020B0604020202020204" pitchFamily="34" charset="0"/>
              <a:buChar char="•"/>
              <a:defRPr/>
            </a:pPr>
            <a:r>
              <a:rPr lang="en-US" altLang="zh-CN" sz="2200" b="0" dirty="0">
                <a:solidFill>
                  <a:srgbClr val="0000FF"/>
                </a:solidFill>
              </a:rPr>
              <a:t>↑ ↓</a:t>
            </a:r>
            <a:r>
              <a:rPr lang="zh-CN" altLang="en-US" sz="2200" b="0" dirty="0">
                <a:solidFill>
                  <a:srgbClr val="0000FF"/>
                </a:solidFill>
              </a:rPr>
              <a:t>箭头键</a:t>
            </a:r>
            <a:r>
              <a:rPr lang="zh-CN" altLang="en-US" sz="2200" b="0" dirty="0">
                <a:solidFill>
                  <a:schemeClr val="tx1"/>
                </a:solidFill>
              </a:rPr>
              <a:t>：调出上一条</a:t>
            </a:r>
            <a:r>
              <a:rPr lang="en-US" altLang="zh-CN" sz="2200" b="0" dirty="0">
                <a:solidFill>
                  <a:schemeClr val="tx1"/>
                </a:solidFill>
              </a:rPr>
              <a:t>/</a:t>
            </a:r>
            <a:r>
              <a:rPr lang="zh-CN" altLang="en-US" sz="2200" b="0" dirty="0">
                <a:solidFill>
                  <a:schemeClr val="tx1"/>
                </a:solidFill>
              </a:rPr>
              <a:t>下一条历史命令</a:t>
            </a:r>
          </a:p>
          <a:p>
            <a:pPr eaLnBrk="1" hangingPunct="1">
              <a:lnSpc>
                <a:spcPct val="9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2200" b="0" dirty="0">
                <a:solidFill>
                  <a:schemeClr val="tx1"/>
                </a:solidFill>
              </a:rPr>
              <a:t>在命令缩写的后面，按</a:t>
            </a:r>
            <a:r>
              <a:rPr lang="en-US" altLang="zh-CN" sz="2200" b="0" dirty="0">
                <a:solidFill>
                  <a:srgbClr val="0000FF"/>
                </a:solidFill>
              </a:rPr>
              <a:t>Tab</a:t>
            </a:r>
            <a:r>
              <a:rPr lang="zh-CN" altLang="en-US" sz="2200" b="0" dirty="0">
                <a:solidFill>
                  <a:srgbClr val="0000FF"/>
                </a:solidFill>
              </a:rPr>
              <a:t>键可以补全命令</a:t>
            </a:r>
            <a:endParaRPr lang="en-US" altLang="zh-CN" sz="2200" b="0" dirty="0">
              <a:solidFill>
                <a:srgbClr val="0000FF"/>
              </a:solidFill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200" b="0" dirty="0"/>
              <a:t>        </a:t>
            </a:r>
            <a:endParaRPr lang="zh-CN" altLang="en-US" sz="2200" b="0" dirty="0"/>
          </a:p>
        </p:txBody>
      </p:sp>
      <p:sp>
        <p:nvSpPr>
          <p:cNvPr id="9219" name="Rectangle 4"/>
          <p:cNvSpPr>
            <a:spLocks noGrp="1" noChangeArrowheads="1"/>
          </p:cNvSpPr>
          <p:nvPr/>
        </p:nvSpPr>
        <p:spPr>
          <a:xfrm>
            <a:off x="1298238" y="743654"/>
            <a:ext cx="6860436" cy="661521"/>
          </a:xfrm>
          <a:prstGeom prst="rect">
            <a:avLst/>
          </a:prstGeom>
          <a:noFill/>
          <a:ln>
            <a:noFill/>
          </a:ln>
        </p:spPr>
        <p:txBody>
          <a:bodyPr vert="horz" wrap="square" lIns="77952" tIns="38975" rIns="77952" bIns="38975" numCol="1" anchor="ctr" anchorCtr="0" compatLnSpc="1"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l" latinLnBrk="0">
              <a:lnSpc>
                <a:spcPct val="150000"/>
              </a:lnSpc>
            </a:pPr>
            <a:r>
              <a:rPr lang="zh-CN" altLang="zh-CN" sz="36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实验1.</a:t>
            </a:r>
            <a:r>
              <a:rPr lang="en-US" altLang="zh-CN" sz="36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</a:t>
            </a:r>
            <a:r>
              <a:rPr lang="zh-CN" altLang="zh-CN" sz="36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访问配置</a:t>
            </a:r>
            <a:r>
              <a:rPr lang="zh-CN" altLang="zh-CN" sz="36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网络设备</a:t>
            </a:r>
            <a:r>
              <a:rPr lang="zh-CN" altLang="en-US" sz="3600" b="1" dirty="0"/>
              <a:t>         </a:t>
            </a:r>
            <a:r>
              <a:rPr lang="zh-CN" altLang="en-US" sz="3755" b="1" dirty="0"/>
              <a:t>  </a:t>
            </a:r>
            <a:endParaRPr lang="zh-CN" altLang="en-US" sz="1705" b="1" dirty="0">
              <a:solidFill>
                <a:srgbClr val="0000FF"/>
              </a:solidFill>
            </a:endParaRPr>
          </a:p>
        </p:txBody>
      </p:sp>
      <p:sp>
        <p:nvSpPr>
          <p:cNvPr id="3" name="圆角矩形 2"/>
          <p:cNvSpPr/>
          <p:nvPr/>
        </p:nvSpPr>
        <p:spPr>
          <a:xfrm>
            <a:off x="125730" y="1405890"/>
            <a:ext cx="8832850" cy="4726305"/>
          </a:xfrm>
          <a:prstGeom prst="roundRect">
            <a:avLst/>
          </a:prstGeom>
          <a:noFill/>
          <a:ln w="28575" cmpd="sng">
            <a:solidFill>
              <a:srgbClr val="0000FF">
                <a:alpha val="81000"/>
              </a:srgb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45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页脚占位符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0">
                <a:solidFill>
                  <a:schemeClr val="tx1"/>
                </a:solidFill>
              </a:rPr>
              <a:t>计算机通信与网络实验</a:t>
            </a:r>
            <a:endParaRPr lang="en-US" altLang="zh-CN" b="0">
              <a:solidFill>
                <a:schemeClr val="tx1"/>
              </a:solidFill>
            </a:endParaRP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186055" y="1496060"/>
            <a:ext cx="8771255" cy="36017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90000"/>
              </a:lnSpc>
              <a:buFont typeface="Arial" panose="020B0604020202020204" pitchFamily="34" charset="0"/>
              <a:buNone/>
              <a:defRPr/>
            </a:pPr>
            <a:r>
              <a:rPr lang="en-US" altLang="zh-CN" sz="2200" dirty="0">
                <a:sym typeface="+mn-ea"/>
              </a:rPr>
              <a:t>OS</a:t>
            </a:r>
            <a:r>
              <a:rPr lang="zh-CN" altLang="en-US" sz="2200" dirty="0">
                <a:sym typeface="+mn-ea"/>
              </a:rPr>
              <a:t>启动时，加载配置文件</a:t>
            </a:r>
            <a:r>
              <a:rPr lang="en-US" altLang="zh-CN" sz="2200" dirty="0" err="1">
                <a:solidFill>
                  <a:srgbClr val="0000FF"/>
                </a:solidFill>
                <a:sym typeface="+mn-ea"/>
              </a:rPr>
              <a:t>startup.cfg</a:t>
            </a:r>
            <a:endParaRPr lang="zh-CN" altLang="zh-CN" sz="2200" b="0" dirty="0">
              <a:solidFill>
                <a:srgbClr val="0000FF"/>
              </a:solidFill>
            </a:endParaRPr>
          </a:p>
          <a:p>
            <a:pPr marL="0" indent="0" eaLnBrk="1" hangingPunct="1">
              <a:lnSpc>
                <a:spcPct val="90000"/>
              </a:lnSpc>
              <a:buFont typeface="Arial" panose="020B0604020202020204" pitchFamily="34" charset="0"/>
              <a:buNone/>
              <a:defRPr/>
            </a:pPr>
            <a:endParaRPr lang="zh-CN" altLang="zh-CN" sz="2200" b="0" dirty="0">
              <a:solidFill>
                <a:srgbClr val="FF0000"/>
              </a:solidFill>
            </a:endParaRPr>
          </a:p>
          <a:p>
            <a:pPr marL="0" indent="0" eaLnBrk="1" hangingPunct="1">
              <a:lnSpc>
                <a:spcPct val="90000"/>
              </a:lnSpc>
              <a:buFont typeface="Arial" panose="020B0604020202020204" pitchFamily="34" charset="0"/>
              <a:buNone/>
              <a:defRPr/>
            </a:pPr>
            <a:r>
              <a:rPr lang="en-US" altLang="zh-CN" sz="2200" dirty="0">
                <a:solidFill>
                  <a:srgbClr val="0000FF"/>
                </a:solidFill>
                <a:sym typeface="+mn-ea"/>
              </a:rPr>
              <a:t>display</a:t>
            </a:r>
            <a:r>
              <a:rPr lang="en-US" altLang="zh-CN" sz="2200" dirty="0">
                <a:solidFill>
                  <a:srgbClr val="FF0000"/>
                </a:solidFill>
                <a:sym typeface="+mn-ea"/>
              </a:rPr>
              <a:t> current-configuration </a:t>
            </a:r>
            <a:r>
              <a:rPr lang="zh-CN" altLang="en-US" sz="2200" dirty="0">
                <a:solidFill>
                  <a:srgbClr val="FF0000"/>
                </a:solidFill>
                <a:sym typeface="+mn-ea"/>
              </a:rPr>
              <a:t>：可缩写</a:t>
            </a:r>
            <a:r>
              <a:rPr lang="en-US" altLang="zh-CN" sz="2200" dirty="0">
                <a:solidFill>
                  <a:srgbClr val="FF0000"/>
                </a:solidFill>
                <a:sym typeface="+mn-ea"/>
              </a:rPr>
              <a:t> </a:t>
            </a:r>
            <a:r>
              <a:rPr lang="zh-CN" altLang="en-US" sz="2200" dirty="0">
                <a:solidFill>
                  <a:srgbClr val="FF0000"/>
                </a:solidFill>
                <a:sym typeface="+mn-ea"/>
              </a:rPr>
              <a:t>为</a:t>
            </a:r>
            <a:r>
              <a:rPr lang="en-US" altLang="zh-CN" sz="2200" dirty="0">
                <a:solidFill>
                  <a:srgbClr val="0000FF"/>
                </a:solidFill>
                <a:sym typeface="+mn-ea"/>
              </a:rPr>
              <a:t>disp curr</a:t>
            </a:r>
            <a:r>
              <a:rPr lang="zh-CN" altLang="en-US" sz="2200" dirty="0">
                <a:solidFill>
                  <a:srgbClr val="0000FF"/>
                </a:solidFill>
                <a:sym typeface="+mn-ea"/>
              </a:rPr>
              <a:t>，</a:t>
            </a:r>
            <a:r>
              <a:rPr lang="zh-CN" altLang="en-US" sz="2200" dirty="0">
                <a:solidFill>
                  <a:srgbClr val="FF0000"/>
                </a:solidFill>
                <a:sym typeface="+mn-ea"/>
              </a:rPr>
              <a:t>显示</a:t>
            </a:r>
            <a:r>
              <a:rPr lang="zh-CN" altLang="zh-CN" sz="2200" dirty="0">
                <a:solidFill>
                  <a:srgbClr val="FF0000"/>
                </a:solidFill>
                <a:sym typeface="+mn-ea"/>
              </a:rPr>
              <a:t>当前配置情况：</a:t>
            </a:r>
          </a:p>
          <a:p>
            <a:pPr marL="0" indent="0" eaLnBrk="1" hangingPunct="1">
              <a:lnSpc>
                <a:spcPct val="90000"/>
              </a:lnSpc>
              <a:buFont typeface="Arial" panose="020B0604020202020204" pitchFamily="34" charset="0"/>
              <a:buNone/>
              <a:defRPr/>
            </a:pPr>
            <a:r>
              <a:rPr lang="zh-CN" altLang="zh-CN" sz="2200" dirty="0">
                <a:solidFill>
                  <a:srgbClr val="FF0000"/>
                </a:solidFill>
                <a:sym typeface="+mn-ea"/>
              </a:rPr>
              <a:t>                   </a:t>
            </a:r>
            <a:r>
              <a:rPr lang="zh-CN" altLang="zh-CN" sz="2200" dirty="0">
                <a:solidFill>
                  <a:schemeClr val="tx1"/>
                </a:solidFill>
                <a:sym typeface="+mn-ea"/>
              </a:rPr>
              <a:t>空格</a:t>
            </a:r>
            <a:r>
              <a:rPr lang="en-US" altLang="zh-CN" sz="2200" dirty="0">
                <a:solidFill>
                  <a:schemeClr val="tx1"/>
                </a:solidFill>
                <a:sym typeface="+mn-ea"/>
              </a:rPr>
              <a:t>-</a:t>
            </a:r>
            <a:r>
              <a:rPr lang="zh-CN" altLang="zh-CN" sz="2200" dirty="0">
                <a:solidFill>
                  <a:schemeClr val="tx1"/>
                </a:solidFill>
                <a:sym typeface="+mn-ea"/>
              </a:rPr>
              <a:t>翻页，回车</a:t>
            </a:r>
            <a:r>
              <a:rPr lang="en-US" altLang="zh-CN" sz="2200" dirty="0">
                <a:solidFill>
                  <a:schemeClr val="tx1"/>
                </a:solidFill>
                <a:sym typeface="+mn-ea"/>
              </a:rPr>
              <a:t>-</a:t>
            </a:r>
            <a:r>
              <a:rPr lang="zh-CN" altLang="en-US" sz="2200" dirty="0">
                <a:solidFill>
                  <a:schemeClr val="tx1"/>
                </a:solidFill>
                <a:sym typeface="+mn-ea"/>
              </a:rPr>
              <a:t>下一行，其他键</a:t>
            </a:r>
            <a:r>
              <a:rPr lang="en-US" altLang="zh-CN" sz="2200" dirty="0">
                <a:solidFill>
                  <a:schemeClr val="tx1"/>
                </a:solidFill>
                <a:sym typeface="+mn-ea"/>
              </a:rPr>
              <a:t>-</a:t>
            </a:r>
            <a:r>
              <a:rPr lang="zh-CN" altLang="en-US" sz="2200" dirty="0">
                <a:solidFill>
                  <a:schemeClr val="tx1"/>
                </a:solidFill>
                <a:sym typeface="+mn-ea"/>
              </a:rPr>
              <a:t>退出显示</a:t>
            </a:r>
            <a:r>
              <a:rPr lang="zh-CN" altLang="zh-CN" sz="2200" dirty="0">
                <a:solidFill>
                  <a:schemeClr val="tx1"/>
                </a:solidFill>
                <a:sym typeface="+mn-ea"/>
              </a:rPr>
              <a:t>  </a:t>
            </a:r>
            <a:endParaRPr lang="zh-CN" altLang="zh-CN" sz="2200" b="0" dirty="0">
              <a:solidFill>
                <a:schemeClr val="tx1"/>
              </a:solidFill>
            </a:endParaRPr>
          </a:p>
          <a:p>
            <a:pPr marL="0" indent="0" eaLnBrk="1" hangingPunct="1">
              <a:lnSpc>
                <a:spcPct val="90000"/>
              </a:lnSpc>
              <a:buFont typeface="Arial" panose="020B0604020202020204" pitchFamily="34" charset="0"/>
              <a:buNone/>
              <a:defRPr/>
            </a:pPr>
            <a:r>
              <a:rPr lang="zh-CN" altLang="en-US" sz="2200" b="0" dirty="0"/>
              <a:t>举例如下：</a:t>
            </a:r>
          </a:p>
          <a:p>
            <a:pPr marL="0" indent="0" eaLnBrk="1" hangingPunct="1">
              <a:lnSpc>
                <a:spcPct val="90000"/>
              </a:lnSpc>
              <a:buFont typeface="Arial" panose="020B0604020202020204" pitchFamily="34" charset="0"/>
              <a:buNone/>
              <a:defRPr/>
            </a:pPr>
            <a:r>
              <a:rPr lang="zh-CN" altLang="en-US" sz="2200" b="0" dirty="0"/>
              <a:t>version  </a:t>
            </a:r>
            <a:r>
              <a:rPr lang="en-US" altLang="zh-CN" sz="2200" b="0" dirty="0"/>
              <a:t>xxx.xx.xx </a:t>
            </a:r>
            <a:r>
              <a:rPr lang="zh-CN" altLang="en-US" sz="2200" b="0" dirty="0"/>
              <a:t>：固件版本号</a:t>
            </a:r>
          </a:p>
          <a:p>
            <a:pPr marL="0" indent="0" eaLnBrk="1" hangingPunct="1">
              <a:lnSpc>
                <a:spcPct val="90000"/>
              </a:lnSpc>
              <a:buFont typeface="Arial" panose="020B0604020202020204" pitchFamily="34" charset="0"/>
              <a:buNone/>
              <a:defRPr/>
            </a:pPr>
            <a:r>
              <a:rPr lang="en-US" altLang="zh-CN" sz="2200" b="0" dirty="0"/>
              <a:t>sysname  </a:t>
            </a:r>
            <a:r>
              <a:rPr lang="en-US" altLang="zh-CN" sz="2200" b="0" dirty="0">
                <a:solidFill>
                  <a:srgbClr val="FF0000"/>
                </a:solidFill>
              </a:rPr>
              <a:t>H3C</a:t>
            </a:r>
            <a:r>
              <a:rPr lang="en-US" altLang="zh-CN" sz="2200" b="0" dirty="0"/>
              <a:t> </a:t>
            </a:r>
            <a:r>
              <a:rPr lang="zh-CN" altLang="en-US" sz="2200" b="0" dirty="0"/>
              <a:t>：设备名称</a:t>
            </a:r>
          </a:p>
          <a:p>
            <a:pPr marL="0" indent="0" eaLnBrk="1" hangingPunct="1">
              <a:lnSpc>
                <a:spcPct val="90000"/>
              </a:lnSpc>
              <a:buFont typeface="Arial" panose="020B0604020202020204" pitchFamily="34" charset="0"/>
              <a:buNone/>
              <a:defRPr/>
            </a:pPr>
            <a:r>
              <a:rPr lang="zh-CN" altLang="en-US" sz="2200" b="0" dirty="0"/>
              <a:t>telnet server </a:t>
            </a:r>
            <a:r>
              <a:rPr lang="zh-CN" altLang="en-US" sz="2200" b="0" dirty="0">
                <a:solidFill>
                  <a:srgbClr val="FF0000"/>
                </a:solidFill>
              </a:rPr>
              <a:t>enable</a:t>
            </a:r>
            <a:r>
              <a:rPr lang="zh-CN" altLang="en-US" sz="2200" b="0" dirty="0"/>
              <a:t> ：允许</a:t>
            </a:r>
            <a:r>
              <a:rPr lang="en-US" altLang="zh-CN" sz="2200" b="0" dirty="0"/>
              <a:t>telnet</a:t>
            </a:r>
            <a:r>
              <a:rPr lang="zh-CN" altLang="en-US" sz="2200" b="0" dirty="0"/>
              <a:t>配置</a:t>
            </a:r>
          </a:p>
          <a:p>
            <a:pPr marL="0" indent="0" eaLnBrk="1" hangingPunct="1">
              <a:lnSpc>
                <a:spcPct val="90000"/>
              </a:lnSpc>
              <a:buFont typeface="Arial" panose="020B0604020202020204" pitchFamily="34" charset="0"/>
              <a:buNone/>
              <a:defRPr/>
            </a:pPr>
            <a:r>
              <a:rPr lang="en-US" altLang="zh-CN" sz="2200" b="0" dirty="0"/>
              <a:t>vlan</a:t>
            </a:r>
            <a:r>
              <a:rPr lang="en-US" altLang="zh-CN" sz="2200" b="0" dirty="0">
                <a:solidFill>
                  <a:srgbClr val="FF0000"/>
                </a:solidFill>
              </a:rPr>
              <a:t>  1</a:t>
            </a:r>
            <a:r>
              <a:rPr lang="en-US" altLang="zh-CN" sz="2200" b="0" dirty="0"/>
              <a:t> </a:t>
            </a:r>
            <a:r>
              <a:rPr lang="zh-CN" altLang="en-US" sz="2200" b="0" dirty="0"/>
              <a:t>：默认状态下，所有网络端口都在</a:t>
            </a:r>
            <a:r>
              <a:rPr lang="en-US" altLang="zh-CN" sz="2200" b="0" dirty="0"/>
              <a:t>VLAN1</a:t>
            </a:r>
            <a:r>
              <a:rPr lang="zh-CN" altLang="en-US" sz="2200" b="0" dirty="0"/>
              <a:t>下</a:t>
            </a:r>
          </a:p>
          <a:p>
            <a:pPr marL="0" indent="0" eaLnBrk="1" hangingPunct="1">
              <a:lnSpc>
                <a:spcPct val="90000"/>
              </a:lnSpc>
              <a:buFont typeface="Arial" panose="020B0604020202020204" pitchFamily="34" charset="0"/>
              <a:buNone/>
              <a:defRPr/>
            </a:pPr>
            <a:r>
              <a:rPr lang="zh-CN" altLang="en-US" sz="2200" b="0" dirty="0"/>
              <a:t>interface </a:t>
            </a:r>
            <a:r>
              <a:rPr lang="zh-CN" altLang="en-US" sz="2200" b="0" dirty="0">
                <a:solidFill>
                  <a:srgbClr val="FF0000"/>
                </a:solidFill>
              </a:rPr>
              <a:t>GigabitEthernet1/0/</a:t>
            </a:r>
            <a:r>
              <a:rPr lang="en-US" sz="2200" b="0" dirty="0">
                <a:solidFill>
                  <a:srgbClr val="FF0000"/>
                </a:solidFill>
              </a:rPr>
              <a:t>8</a:t>
            </a:r>
            <a:r>
              <a:rPr lang="zh-CN" altLang="en-US" sz="2200" b="0" dirty="0">
                <a:solidFill>
                  <a:srgbClr val="FF0000"/>
                </a:solidFill>
              </a:rPr>
              <a:t> </a:t>
            </a:r>
            <a:r>
              <a:rPr lang="zh-CN" altLang="en-US" sz="2200" b="0" dirty="0"/>
              <a:t>： 该设备的接口</a:t>
            </a:r>
            <a:r>
              <a:rPr lang="en-US" altLang="zh-CN" sz="2200" dirty="0">
                <a:sym typeface="+mn-ea"/>
              </a:rPr>
              <a:t>8</a:t>
            </a:r>
            <a:r>
              <a:rPr lang="zh-CN" altLang="en-US" sz="2200" dirty="0">
                <a:sym typeface="+mn-ea"/>
              </a:rPr>
              <a:t>号口</a:t>
            </a:r>
            <a:r>
              <a:rPr lang="zh-CN" altLang="en-US" sz="2200" b="0" dirty="0"/>
              <a:t>的全称</a:t>
            </a:r>
          </a:p>
          <a:p>
            <a:pPr marL="0" indent="0" eaLnBrk="1" hangingPunct="1">
              <a:lnSpc>
                <a:spcPct val="90000"/>
              </a:lnSpc>
              <a:buFont typeface="Arial" panose="020B0604020202020204" pitchFamily="34" charset="0"/>
              <a:buNone/>
              <a:defRPr/>
            </a:pPr>
            <a:endParaRPr lang="zh-CN" altLang="en-US" sz="2200" b="0" dirty="0"/>
          </a:p>
          <a:p>
            <a:pPr marL="0" indent="0" eaLnBrk="1" hangingPunct="1">
              <a:lnSpc>
                <a:spcPct val="90000"/>
              </a:lnSpc>
              <a:buFont typeface="Arial" panose="020B0604020202020204" pitchFamily="34" charset="0"/>
              <a:buNone/>
              <a:defRPr/>
            </a:pPr>
            <a:r>
              <a:rPr lang="zh-CN" altLang="en-US" sz="2200" b="0" dirty="0"/>
              <a:t>对某接口操作时，必须知道接口名称，用</a:t>
            </a:r>
            <a:r>
              <a:rPr lang="en-US" altLang="zh-CN" sz="2200" dirty="0">
                <a:solidFill>
                  <a:srgbClr val="0000FF"/>
                </a:solidFill>
                <a:sym typeface="+mn-ea"/>
              </a:rPr>
              <a:t>disp curr</a:t>
            </a:r>
            <a:r>
              <a:rPr lang="zh-CN" altLang="en-US" sz="2200" dirty="0">
                <a:solidFill>
                  <a:schemeClr val="tx1"/>
                </a:solidFill>
                <a:sym typeface="+mn-ea"/>
              </a:rPr>
              <a:t>查看接口名称</a:t>
            </a:r>
          </a:p>
          <a:p>
            <a:pPr marL="0" indent="0" eaLnBrk="1" hangingPunct="1">
              <a:lnSpc>
                <a:spcPct val="90000"/>
              </a:lnSpc>
              <a:buFont typeface="Arial" panose="020B0604020202020204" pitchFamily="34" charset="0"/>
              <a:buNone/>
              <a:defRPr/>
            </a:pPr>
            <a:r>
              <a:rPr lang="zh-CN" altLang="en-US" sz="2200" b="0" dirty="0"/>
              <a:t>指令执行后的结果，也用</a:t>
            </a:r>
            <a:r>
              <a:rPr lang="en-US" altLang="zh-CN" sz="2200" dirty="0">
                <a:solidFill>
                  <a:srgbClr val="0000FF"/>
                </a:solidFill>
                <a:sym typeface="+mn-ea"/>
              </a:rPr>
              <a:t>disp curr</a:t>
            </a:r>
            <a:r>
              <a:rPr lang="zh-CN" altLang="en-US" sz="2200" dirty="0">
                <a:sym typeface="+mn-ea"/>
              </a:rPr>
              <a:t>查看结果。</a:t>
            </a:r>
            <a:endParaRPr lang="zh-CN" altLang="en-US" sz="2200" b="0" dirty="0"/>
          </a:p>
          <a:p>
            <a:pPr marL="0" indent="0" eaLnBrk="1" hangingPunct="1">
              <a:lnSpc>
                <a:spcPct val="90000"/>
              </a:lnSpc>
              <a:buFont typeface="Arial" panose="020B0604020202020204" pitchFamily="34" charset="0"/>
              <a:buNone/>
              <a:defRPr/>
            </a:pPr>
            <a:endParaRPr lang="zh-CN" altLang="en-US" sz="2200" b="0" dirty="0"/>
          </a:p>
          <a:p>
            <a:pPr marL="0" indent="0" eaLnBrk="1" hangingPunct="1">
              <a:lnSpc>
                <a:spcPct val="90000"/>
              </a:lnSpc>
              <a:buFont typeface="Arial" panose="020B0604020202020204" pitchFamily="34" charset="0"/>
              <a:buNone/>
              <a:defRPr/>
            </a:pPr>
            <a:endParaRPr lang="zh-CN" altLang="en-US" sz="2200" b="0" dirty="0"/>
          </a:p>
        </p:txBody>
      </p:sp>
      <p:sp>
        <p:nvSpPr>
          <p:cNvPr id="9219" name="Rectangle 4"/>
          <p:cNvSpPr>
            <a:spLocks noGrp="1" noChangeArrowheads="1"/>
          </p:cNvSpPr>
          <p:nvPr/>
        </p:nvSpPr>
        <p:spPr>
          <a:xfrm>
            <a:off x="1298238" y="743654"/>
            <a:ext cx="6860436" cy="661521"/>
          </a:xfrm>
          <a:prstGeom prst="rect">
            <a:avLst/>
          </a:prstGeom>
          <a:noFill/>
          <a:ln>
            <a:noFill/>
          </a:ln>
        </p:spPr>
        <p:txBody>
          <a:bodyPr vert="horz" wrap="square" lIns="77952" tIns="38975" rIns="77952" bIns="38975" numCol="1" anchor="ctr" anchorCtr="0" compatLnSpc="1"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l" latinLnBrk="0">
              <a:lnSpc>
                <a:spcPct val="150000"/>
              </a:lnSpc>
            </a:pPr>
            <a:r>
              <a:rPr lang="zh-CN" altLang="zh-CN" sz="36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实验1.</a:t>
            </a:r>
            <a:r>
              <a:rPr lang="en-US" altLang="zh-CN" sz="36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</a:t>
            </a:r>
            <a:r>
              <a:rPr lang="zh-CN" altLang="zh-CN" sz="36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访问配置</a:t>
            </a:r>
            <a:r>
              <a:rPr lang="zh-CN" altLang="zh-CN" sz="36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网络设备</a:t>
            </a:r>
            <a:r>
              <a:rPr lang="zh-CN" altLang="en-US" sz="3600" b="1" dirty="0"/>
              <a:t>         </a:t>
            </a:r>
            <a:r>
              <a:rPr lang="zh-CN" altLang="en-US" sz="3755" b="1" dirty="0"/>
              <a:t>  </a:t>
            </a:r>
            <a:endParaRPr lang="zh-CN" altLang="en-US" sz="1705" b="1" dirty="0">
              <a:solidFill>
                <a:srgbClr val="0000FF"/>
              </a:solidFill>
            </a:endParaRPr>
          </a:p>
        </p:txBody>
      </p:sp>
      <p:sp>
        <p:nvSpPr>
          <p:cNvPr id="3" name="圆角矩形 2"/>
          <p:cNvSpPr/>
          <p:nvPr/>
        </p:nvSpPr>
        <p:spPr>
          <a:xfrm>
            <a:off x="62230" y="2068195"/>
            <a:ext cx="8771255" cy="3225800"/>
          </a:xfrm>
          <a:prstGeom prst="roundRect">
            <a:avLst/>
          </a:prstGeom>
          <a:noFill/>
          <a:ln w="28575" cmpd="sng">
            <a:solidFill>
              <a:srgbClr val="0000FF">
                <a:alpha val="81000"/>
              </a:srgb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45"/>
          </a:p>
        </p:txBody>
      </p:sp>
      <p:sp>
        <p:nvSpPr>
          <p:cNvPr id="4" name="圆角矩形 3"/>
          <p:cNvSpPr/>
          <p:nvPr/>
        </p:nvSpPr>
        <p:spPr>
          <a:xfrm>
            <a:off x="62230" y="5374005"/>
            <a:ext cx="8771255" cy="902335"/>
          </a:xfrm>
          <a:prstGeom prst="roundRect">
            <a:avLst/>
          </a:prstGeom>
          <a:noFill/>
          <a:ln w="28575" cmpd="sng">
            <a:solidFill>
              <a:srgbClr val="0000FF">
                <a:alpha val="81000"/>
              </a:srgb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45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>
          <a:xfrm>
            <a:off x="13970" y="1557655"/>
            <a:ext cx="9097645" cy="4751070"/>
          </a:xfrm>
          <a:ln w="12700" cmpd="sng">
            <a:solidFill>
              <a:schemeClr val="accent1">
                <a:shade val="50000"/>
              </a:schemeClr>
            </a:solidFill>
            <a:prstDash val="sysDot"/>
          </a:ln>
        </p:spPr>
        <p:txBody>
          <a:bodyPr/>
          <a:lstStyle/>
          <a:p>
            <a:pPr marL="0" indent="0" algn="l">
              <a:buClrTx/>
              <a:buSzTx/>
              <a:buFont typeface="Wingdings" panose="05000000000000000000" charset="0"/>
              <a:buNone/>
              <a:defRPr/>
            </a:pPr>
            <a:r>
              <a:rPr lang="zh-CN" altLang="en-US" sz="2200" dirty="0"/>
              <a:t>熟悉本次课件</a:t>
            </a:r>
            <a:r>
              <a:rPr lang="en-US" altLang="zh-CN" sz="2200" dirty="0"/>
              <a:t>1.1</a:t>
            </a:r>
            <a:r>
              <a:rPr lang="zh-CN" altLang="en-US" sz="2200" dirty="0"/>
              <a:t>、</a:t>
            </a:r>
            <a:r>
              <a:rPr lang="en-US" altLang="zh-CN" sz="2200" dirty="0"/>
              <a:t>1.2</a:t>
            </a:r>
            <a:r>
              <a:rPr lang="zh-CN" altLang="en-US" sz="2200" dirty="0"/>
              <a:t>、</a:t>
            </a:r>
            <a:r>
              <a:rPr lang="en-US" altLang="zh-CN" sz="2200" dirty="0"/>
              <a:t>1.3</a:t>
            </a:r>
            <a:r>
              <a:rPr lang="zh-CN" altLang="en-US" sz="2200" dirty="0"/>
              <a:t>的内容，熟练掌握各个知识点：</a:t>
            </a:r>
          </a:p>
          <a:p>
            <a:pPr marL="342900" algn="l" latinLnBrk="0">
              <a:lnSpc>
                <a:spcPct val="100000"/>
              </a:lnSpc>
              <a:buClrTx/>
              <a:buSzTx/>
              <a:buFont typeface="Wingdings" panose="05000000000000000000" charset="0"/>
              <a:buChar char="l"/>
              <a:defRPr/>
            </a:pPr>
            <a:r>
              <a:rPr lang="en-US" altLang="zh-CN" sz="2200" dirty="0">
                <a:sym typeface="+mn-ea"/>
              </a:rPr>
              <a:t>1</a:t>
            </a:r>
            <a:r>
              <a:rPr lang="zh-CN" altLang="en-US" sz="2200" dirty="0">
                <a:sym typeface="+mn-ea"/>
              </a:rPr>
              <a:t>、每组：1台交换机通过网线连接3台电脑PC，构建小的星型以太网</a:t>
            </a:r>
          </a:p>
          <a:p>
            <a:pPr marL="342900" algn="l" latinLnBrk="0">
              <a:lnSpc>
                <a:spcPct val="100000"/>
              </a:lnSpc>
              <a:buClrTx/>
              <a:buSzTx/>
              <a:buFont typeface="Wingdings" panose="05000000000000000000" charset="0"/>
              <a:buChar char="l"/>
              <a:defRPr/>
            </a:pPr>
            <a:r>
              <a:rPr lang="zh-CN" altLang="en-US" sz="2200" dirty="0">
                <a:sym typeface="+mn-ea"/>
              </a:rPr>
              <a:t>2、为3台PC配置相同子网的不同ip，用</a:t>
            </a:r>
            <a:r>
              <a:rPr lang="zh-CN" altLang="en-US" sz="2200" dirty="0">
                <a:solidFill>
                  <a:srgbClr val="0000FF"/>
                </a:solidFill>
                <a:sym typeface="+mn-ea"/>
              </a:rPr>
              <a:t>ipconfig</a:t>
            </a:r>
            <a:r>
              <a:rPr lang="zh-CN" altLang="en-US" sz="2200" dirty="0">
                <a:sym typeface="+mn-ea"/>
              </a:rPr>
              <a:t>查看网卡有关配置信息</a:t>
            </a:r>
          </a:p>
          <a:p>
            <a:pPr marL="342900" algn="l" latinLnBrk="0">
              <a:lnSpc>
                <a:spcPct val="100000"/>
              </a:lnSpc>
              <a:buClrTx/>
              <a:buSzTx/>
              <a:buFont typeface="Wingdings" panose="05000000000000000000" charset="0"/>
              <a:buChar char="l"/>
              <a:defRPr/>
            </a:pPr>
            <a:r>
              <a:rPr lang="zh-CN" altLang="en-US" sz="2200" dirty="0">
                <a:sym typeface="+mn-ea"/>
              </a:rPr>
              <a:t>3、用</a:t>
            </a:r>
            <a:r>
              <a:rPr lang="zh-CN" altLang="en-US" sz="2200" dirty="0">
                <a:solidFill>
                  <a:srgbClr val="0000FF"/>
                </a:solidFill>
                <a:sym typeface="+mn-ea"/>
              </a:rPr>
              <a:t>ping</a:t>
            </a:r>
            <a:r>
              <a:rPr lang="zh-CN" altLang="en-US" sz="2200" dirty="0">
                <a:sym typeface="+mn-ea"/>
              </a:rPr>
              <a:t>命令：测试从本机源地址到目标ip的网络连通情况</a:t>
            </a:r>
          </a:p>
          <a:p>
            <a:pPr marL="342900" algn="l" latinLnBrk="0">
              <a:lnSpc>
                <a:spcPct val="100000"/>
              </a:lnSpc>
              <a:buClrTx/>
              <a:buSzTx/>
              <a:buFont typeface="Wingdings" panose="05000000000000000000" charset="0"/>
              <a:buChar char="l"/>
              <a:defRPr/>
            </a:pPr>
            <a:r>
              <a:rPr lang="zh-CN" altLang="en-US" sz="2200" dirty="0">
                <a:sym typeface="+mn-ea"/>
              </a:rPr>
              <a:t>4、为PC配置不同子网的ip，互相</a:t>
            </a:r>
            <a:r>
              <a:rPr lang="zh-CN" altLang="en-US" sz="2200" dirty="0">
                <a:solidFill>
                  <a:srgbClr val="0000FF"/>
                </a:solidFill>
                <a:sym typeface="+mn-ea"/>
              </a:rPr>
              <a:t>ping</a:t>
            </a:r>
            <a:r>
              <a:rPr lang="zh-CN" altLang="en-US" sz="2200" dirty="0">
                <a:sym typeface="+mn-ea"/>
              </a:rPr>
              <a:t>测试等，理解IP有关知识点</a:t>
            </a:r>
          </a:p>
          <a:p>
            <a:pPr marL="0" indent="0" algn="l" latinLnBrk="0">
              <a:lnSpc>
                <a:spcPct val="100000"/>
              </a:lnSpc>
              <a:buClrTx/>
              <a:buSzTx/>
              <a:buFont typeface="Wingdings" panose="05000000000000000000" charset="0"/>
              <a:buNone/>
              <a:defRPr/>
            </a:pPr>
            <a:r>
              <a:rPr lang="zh-CN" altLang="en-US" sz="2200" dirty="0">
                <a:solidFill>
                  <a:schemeClr val="tx1"/>
                </a:solidFill>
                <a:sym typeface="+mn-ea"/>
              </a:rPr>
              <a:t>            </a:t>
            </a:r>
            <a:r>
              <a:rPr lang="zh-CN" altLang="en-US" sz="2200" dirty="0">
                <a:sym typeface="+mn-ea"/>
              </a:rPr>
              <a:t>验证：同一个网段子网的机器可以直接通讯；不同子网下则不通</a:t>
            </a:r>
            <a:endParaRPr lang="zh-CN" altLang="en-US" sz="2200" dirty="0">
              <a:solidFill>
                <a:schemeClr val="tx1"/>
              </a:solidFill>
              <a:sym typeface="+mn-ea"/>
            </a:endParaRPr>
          </a:p>
          <a:p>
            <a:pPr marL="342900" algn="l" latinLnBrk="0">
              <a:lnSpc>
                <a:spcPct val="100000"/>
              </a:lnSpc>
              <a:buClrTx/>
              <a:buSzTx/>
              <a:buFont typeface="Wingdings" panose="05000000000000000000" charset="0"/>
              <a:buChar char="l"/>
              <a:defRPr/>
            </a:pPr>
            <a:r>
              <a:rPr lang="zh-CN" altLang="en-US" sz="2200" dirty="0">
                <a:sym typeface="+mn-ea"/>
              </a:rPr>
              <a:t>5、以上操作要画好网络拓扑图，标注清晰有关信息，做好实验记录，理解网络知识点   </a:t>
            </a:r>
          </a:p>
          <a:p>
            <a:pPr marL="342900" algn="l" latinLnBrk="0">
              <a:lnSpc>
                <a:spcPct val="100000"/>
              </a:lnSpc>
              <a:buClrTx/>
              <a:buSzTx/>
              <a:buFont typeface="Wingdings" panose="05000000000000000000" charset="0"/>
              <a:buChar char="l"/>
              <a:defRPr/>
            </a:pPr>
            <a:r>
              <a:rPr lang="en-US" altLang="zh-CN" sz="2200" dirty="0">
                <a:sym typeface="+mn-ea"/>
              </a:rPr>
              <a:t>6</a:t>
            </a:r>
            <a:r>
              <a:rPr lang="zh-CN" altLang="en-US" sz="2200" dirty="0">
                <a:sym typeface="+mn-ea"/>
              </a:rPr>
              <a:t>、</a:t>
            </a:r>
            <a:r>
              <a:rPr lang="zh-CN" altLang="en-US" sz="2200" dirty="0"/>
              <a:t>练习：通过CONSOLE口，熟练使用</a:t>
            </a:r>
            <a:r>
              <a:rPr lang="zh-CN" altLang="en-US" sz="2200" dirty="0">
                <a:solidFill>
                  <a:srgbClr val="0000FF"/>
                </a:solidFill>
              </a:rPr>
              <a:t>超级终端软件</a:t>
            </a:r>
            <a:r>
              <a:rPr lang="zh-CN" altLang="en-US" sz="2200" dirty="0"/>
              <a:t>访问网络设备，学习交换机常用命令。</a:t>
            </a:r>
          </a:p>
          <a:p>
            <a:pPr marL="342900" lvl="1" indent="-342900" algn="l">
              <a:buClrTx/>
              <a:buSzTx/>
              <a:buFont typeface="Wingdings" panose="05000000000000000000" charset="0"/>
              <a:buChar char="l"/>
              <a:defRPr/>
            </a:pPr>
            <a:r>
              <a:rPr lang="en-US" altLang="zh-CN" sz="2200" dirty="0">
                <a:solidFill>
                  <a:schemeClr val="tx1"/>
                </a:solidFill>
              </a:rPr>
              <a:t>7</a:t>
            </a:r>
            <a:r>
              <a:rPr lang="zh-CN" altLang="en-US" sz="2200" dirty="0">
                <a:solidFill>
                  <a:schemeClr val="tx1"/>
                </a:solidFill>
              </a:rPr>
              <a:t>、</a:t>
            </a:r>
            <a:r>
              <a:rPr lang="zh-CN" altLang="en-US" sz="2200" dirty="0">
                <a:solidFill>
                  <a:srgbClr val="0000FF"/>
                </a:solidFill>
              </a:rPr>
              <a:t>display current-configuration</a:t>
            </a:r>
            <a:r>
              <a:rPr lang="zh-CN" altLang="en-US" sz="2200" dirty="0">
                <a:solidFill>
                  <a:schemeClr val="tx1"/>
                </a:solidFill>
              </a:rPr>
              <a:t>：查看配置信息，并理解之</a:t>
            </a:r>
          </a:p>
          <a:p>
            <a:pPr marL="342900" lvl="1" indent="-342900" algn="l">
              <a:buClrTx/>
              <a:buSzTx/>
              <a:buFont typeface="Wingdings" panose="05000000000000000000" charset="0"/>
              <a:buChar char="l"/>
              <a:defRPr/>
            </a:pPr>
            <a:r>
              <a:rPr lang="en-US" altLang="zh-CN" sz="2200" dirty="0">
                <a:sym typeface="+mn-ea"/>
              </a:rPr>
              <a:t>8</a:t>
            </a:r>
            <a:r>
              <a:rPr lang="zh-CN" altLang="en-US" sz="2200" dirty="0">
                <a:sym typeface="+mn-ea"/>
              </a:rPr>
              <a:t>、每2人做一根标准的网络直通线</a:t>
            </a:r>
            <a:endParaRPr lang="zh-CN" altLang="en-US" sz="2200" dirty="0"/>
          </a:p>
        </p:txBody>
      </p:sp>
      <p:sp>
        <p:nvSpPr>
          <p:cNvPr id="29700" name="页脚占位符 1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0">
                <a:solidFill>
                  <a:schemeClr val="tx1"/>
                </a:solidFill>
              </a:rPr>
              <a:t>计算机通信与网络实验</a:t>
            </a:r>
            <a:endParaRPr lang="en-US" altLang="zh-CN" b="0">
              <a:solidFill>
                <a:schemeClr val="tx1"/>
              </a:solidFill>
            </a:endParaRPr>
          </a:p>
        </p:txBody>
      </p:sp>
      <p:sp>
        <p:nvSpPr>
          <p:cNvPr id="9219" name="Rectangle 4"/>
          <p:cNvSpPr>
            <a:spLocks noGrp="1" noChangeArrowheads="1"/>
          </p:cNvSpPr>
          <p:nvPr/>
        </p:nvSpPr>
        <p:spPr>
          <a:xfrm>
            <a:off x="592455" y="782955"/>
            <a:ext cx="8010525" cy="661670"/>
          </a:xfrm>
          <a:prstGeom prst="rect">
            <a:avLst/>
          </a:prstGeom>
          <a:noFill/>
          <a:ln>
            <a:noFill/>
          </a:ln>
        </p:spPr>
        <p:txBody>
          <a:bodyPr vert="horz" wrap="square" lIns="77952" tIns="38975" rIns="77952" bIns="38975" numCol="1" anchor="ctr" anchorCtr="0" compatLnSpc="1"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l" latinLnBrk="0">
              <a:lnSpc>
                <a:spcPct val="150000"/>
              </a:lnSpc>
            </a:pPr>
            <a:r>
              <a:rPr lang="zh-CN" altLang="zh-CN" sz="36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实验1.</a:t>
            </a:r>
            <a:r>
              <a:rPr lang="en-US" altLang="zh-CN" sz="36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</a:t>
            </a:r>
            <a:r>
              <a:rPr lang="zh-CN" altLang="zh-CN" sz="36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本次实验</a:t>
            </a:r>
            <a:r>
              <a:rPr lang="zh-CN" altLang="zh-CN" sz="36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基本要求</a:t>
            </a:r>
            <a:r>
              <a:rPr lang="zh-CN" altLang="en-US" sz="3600" b="1" dirty="0"/>
              <a:t>         </a:t>
            </a:r>
            <a:r>
              <a:rPr lang="zh-CN" altLang="en-US" sz="3755" b="1" dirty="0"/>
              <a:t>  </a:t>
            </a:r>
            <a:endParaRPr lang="zh-CN" altLang="en-US" sz="1705" b="1" dirty="0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>
          <a:tailEnd type="arrow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1742</Words>
  <Application>Microsoft Office PowerPoint</Application>
  <PresentationFormat>全屏显示(4:3)</PresentationFormat>
  <Paragraphs>174</Paragraphs>
  <Slides>20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8" baseType="lpstr">
      <vt:lpstr>楷体_GB2312</vt:lpstr>
      <vt:lpstr>宋体</vt:lpstr>
      <vt:lpstr>Arial</vt:lpstr>
      <vt:lpstr>Calibri</vt:lpstr>
      <vt:lpstr>Tahoma</vt:lpstr>
      <vt:lpstr>Times New Roman</vt:lpstr>
      <vt:lpstr>Wingdings</vt:lpstr>
      <vt:lpstr>Office 主题</vt:lpstr>
      <vt:lpstr>《计算机通信与网络》  网 络 实 验1.3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连 接 示 意 图</vt:lpstr>
      <vt:lpstr>PowerPoint 演示文稿</vt:lpstr>
      <vt:lpstr>PowerPoint 演示文稿</vt:lpstr>
      <vt:lpstr>PowerPoint 演示文稿</vt:lpstr>
      <vt:lpstr>PowerPoint 演示文稿</vt:lpstr>
      <vt:lpstr>  H3C以太网网络设备的命令行视图 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Administrator</dc:creator>
  <cp:lastModifiedBy>耳灵 木</cp:lastModifiedBy>
  <cp:revision>428</cp:revision>
  <dcterms:created xsi:type="dcterms:W3CDTF">2113-01-01T00:00:00Z</dcterms:created>
  <dcterms:modified xsi:type="dcterms:W3CDTF">2025-06-01T20:22:21Z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2052-11.3.0.9228</vt:lpwstr>
  </property>
</Properties>
</file>