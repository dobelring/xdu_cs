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615" r:id="rId3"/>
    <p:sldId id="309" r:id="rId4"/>
    <p:sldId id="639" r:id="rId5"/>
    <p:sldId id="701" r:id="rId6"/>
    <p:sldId id="641" r:id="rId7"/>
    <p:sldId id="643" r:id="rId8"/>
    <p:sldId id="703" r:id="rId9"/>
    <p:sldId id="702" r:id="rId10"/>
    <p:sldId id="704" r:id="rId11"/>
    <p:sldId id="705" r:id="rId12"/>
    <p:sldId id="706" r:id="rId13"/>
    <p:sldId id="707" r:id="rId14"/>
    <p:sldId id="652" r:id="rId15"/>
    <p:sldId id="708" r:id="rId16"/>
    <p:sldId id="709" r:id="rId17"/>
    <p:sldId id="710" r:id="rId18"/>
    <p:sldId id="711" r:id="rId19"/>
    <p:sldId id="712" r:id="rId20"/>
    <p:sldId id="713" r:id="rId21"/>
    <p:sldId id="714" r:id="rId22"/>
    <p:sldId id="715" r:id="rId23"/>
    <p:sldId id="716" r:id="rId24"/>
    <p:sldId id="717" r:id="rId25"/>
    <p:sldId id="718" r:id="rId26"/>
    <p:sldId id="719" r:id="rId27"/>
    <p:sldId id="721" r:id="rId28"/>
    <p:sldId id="722" r:id="rId29"/>
    <p:sldId id="723" r:id="rId30"/>
    <p:sldId id="663" r:id="rId31"/>
    <p:sldId id="638" r:id="rId32"/>
    <p:sldId id="700" r:id="rId33"/>
    <p:sldId id="877" r:id="rId34"/>
  </p:sldIdLst>
  <p:sldSz cx="9144000" cy="6858000" type="screen4x3"/>
  <p:notesSz cx="7102475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76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j" initials="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5050"/>
    <a:srgbClr val="FF6600"/>
    <a:srgbClr val="00CC00"/>
    <a:srgbClr val="339933"/>
    <a:srgbClr val="993300"/>
    <a:srgbClr val="FF7C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8" autoAdjust="0"/>
    <p:restoredTop sz="94687" autoAdjust="0"/>
  </p:normalViewPr>
  <p:slideViewPr>
    <p:cSldViewPr>
      <p:cViewPr varScale="1">
        <p:scale>
          <a:sx n="68" d="100"/>
          <a:sy n="68" d="100"/>
        </p:scale>
        <p:origin x="72" y="848"/>
      </p:cViewPr>
      <p:guideLst>
        <p:guide orient="horz" pos="21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1434" y="-126"/>
      </p:cViewPr>
      <p:guideLst>
        <p:guide orient="horz" pos="3276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耳灵 木" userId="d0ddd6bcf0ab1b29" providerId="LiveId" clId="{833E39EB-CBC2-4250-AFAE-25977A423D76}"/>
    <pc:docChg chg="undo custSel modSld">
      <pc:chgData name="耳灵 木" userId="d0ddd6bcf0ab1b29" providerId="LiveId" clId="{833E39EB-CBC2-4250-AFAE-25977A423D76}" dt="2025-06-02T10:18:59.138" v="7" actId="14100"/>
      <pc:docMkLst>
        <pc:docMk/>
      </pc:docMkLst>
      <pc:sldChg chg="modSp mod">
        <pc:chgData name="耳灵 木" userId="d0ddd6bcf0ab1b29" providerId="LiveId" clId="{833E39EB-CBC2-4250-AFAE-25977A423D76}" dt="2025-06-02T10:18:59.138" v="7" actId="14100"/>
        <pc:sldMkLst>
          <pc:docMk/>
          <pc:sldMk cId="1875399851" sldId="700"/>
        </pc:sldMkLst>
        <pc:picChg chg="mod">
          <ac:chgData name="耳灵 木" userId="d0ddd6bcf0ab1b29" providerId="LiveId" clId="{833E39EB-CBC2-4250-AFAE-25977A423D76}" dt="2025-06-02T10:18:59.138" v="7" actId="14100"/>
          <ac:picMkLst>
            <pc:docMk/>
            <pc:sldMk cId="1875399851" sldId="700"/>
            <ac:picMk id="5" creationId="{00000000-0000-0000-0000-000000000000}"/>
          </ac:picMkLst>
        </pc:picChg>
        <pc:picChg chg="mod">
          <ac:chgData name="耳灵 木" userId="d0ddd6bcf0ab1b29" providerId="LiveId" clId="{833E39EB-CBC2-4250-AFAE-25977A423D76}" dt="2025-06-02T10:18:58.986" v="6" actId="1076"/>
          <ac:picMkLst>
            <pc:docMk/>
            <pc:sldMk cId="1875399851" sldId="700"/>
            <ac:picMk id="6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1D077F9-9431-4BCF-89B4-E20CA9147544}" type="datetime8">
              <a:rPr lang="zh-CN" altLang="en-US"/>
              <a:pPr>
                <a:defRPr/>
              </a:pPr>
              <a:t>2025年6月2日6时16分</a:t>
            </a:fld>
            <a:endParaRPr lang="en-US" altLang="zh-CN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A148E0B-7E6D-4E1C-8769-D06485BF147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B9DCD3C-0FFA-4237-9ACA-3A598BF9DCEA}" type="datetime8">
              <a:rPr lang="zh-CN" altLang="en-US"/>
              <a:pPr>
                <a:defRPr/>
              </a:pPr>
              <a:t>2025年6月2日6时8分</a:t>
            </a:fld>
            <a:endParaRPr lang="en-US" altLang="zh-CN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246" y="768350"/>
            <a:ext cx="5115984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62357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7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5587EE8-4802-4C9F-9CF6-B846E43435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860682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B9DCD3C-0FFA-4237-9ACA-3A598BF9DCEA}" type="datetime8">
              <a:rPr lang="zh-CN" altLang="en-US" smtClean="0"/>
              <a:pPr>
                <a:defRPr/>
              </a:pPr>
              <a:t>2025年6月2日6时8分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587EE8-4802-4C9F-9CF6-B846E434352D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B9DCD3C-0FFA-4237-9ACA-3A598BF9DCEA}" type="datetime8">
              <a:rPr lang="zh-CN" altLang="en-US" smtClean="0"/>
              <a:t>2025年6月2日6时8分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587EE8-4802-4C9F-9CF6-B846E434352D}" type="slidenum">
              <a:rPr lang="zh-CN" altLang="en-US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19" y="2130425"/>
            <a:ext cx="777262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39" y="3886200"/>
            <a:ext cx="640098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2BB0-6029-43E0-B089-C9F8F029FC56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CFEAB-ACDD-43AD-A349-00DCB3E3496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C39F8-319A-4B97-A372-C5232DA5B56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33" y="4406900"/>
            <a:ext cx="777262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33" y="2906713"/>
            <a:ext cx="777262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8FE86-D051-4D55-88A0-47B2137E4FB9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ABEE1-B244-40D1-B1F7-AB8E6BF9C6C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13" y="1600200"/>
            <a:ext cx="403871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332" y="1600200"/>
            <a:ext cx="403871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B7ECB-340A-4041-8DE2-15A624FD3964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79848-85DC-4DD6-8B2C-F16A52343E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13" y="1535113"/>
            <a:ext cx="404030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13" y="2174875"/>
            <a:ext cx="404030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156" y="1535113"/>
            <a:ext cx="404188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156" y="2174875"/>
            <a:ext cx="404188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D519E-804E-4411-96AD-6B630CD287AB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08156-4BE5-440A-B51D-B3E9F382600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07813-625B-431C-A9C2-EDFA54508FE9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E800E-00D4-499C-AB09-2046DE10D79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3C4E-0CB3-4763-9148-72A5154C11C1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F95D4-404A-410D-9BF8-8777176DE4D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3" y="273050"/>
            <a:ext cx="300839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151" y="273050"/>
            <a:ext cx="511189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3" y="1435100"/>
            <a:ext cx="300839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BB3650-B912-4365-ACDD-69B9DE614E76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E04B0-CE03-4AD6-A98F-62F6FF7CBE2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339" y="4800600"/>
            <a:ext cx="548655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339" y="612775"/>
            <a:ext cx="5486555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339" y="5367338"/>
            <a:ext cx="548655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21168-557D-4013-96D6-B8F26767955C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11EB8-CAA5-4954-80BE-0CD1ABD7A30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13BD2-0DB3-4E41-818F-A238A43E32DC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16138-EC2A-4DD8-8622-2857B3A297B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588" y="274638"/>
            <a:ext cx="2057458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13" y="274638"/>
            <a:ext cx="601997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A577C-4EC1-4A49-A2D4-9F5131F0F1E6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E1135-B1AB-49C1-BF22-0CCE1E84BF4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71" y="617538"/>
            <a:ext cx="7793258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721" y="2017713"/>
            <a:ext cx="3810108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234" y="2017713"/>
            <a:ext cx="3810108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797C8-9FA1-44CA-8851-00CC0B9C1C29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9DBAA-A710-45E9-94A9-B00A3333E196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71" y="617538"/>
            <a:ext cx="7793258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1182721" y="2017713"/>
            <a:ext cx="7772620" cy="41148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940A1-776B-4683-AA99-5317717B906C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C5A35-DD2A-4BED-8988-6AB41233393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13" y="274638"/>
            <a:ext cx="822983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13" y="1600200"/>
            <a:ext cx="822983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13" y="6356350"/>
            <a:ext cx="2133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BE940A1-776B-4683-AA99-5317717B906C}" type="datetime1">
              <a:rPr lang="zh-CN" altLang="en-US" smtClean="0"/>
              <a:pPr>
                <a:defRPr/>
              </a:pPr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88" y="6356350"/>
            <a:ext cx="28956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385" y="6356350"/>
            <a:ext cx="213366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AFC5A35-DD2A-4BED-8988-6AB41233393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网络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1" y="1093648"/>
            <a:ext cx="7837018" cy="5246152"/>
          </a:xfrm>
          <a:prstGeom prst="rect">
            <a:avLst/>
          </a:prstGeom>
        </p:spPr>
      </p:pic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95350" y="1880870"/>
            <a:ext cx="7186295" cy="1402715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《计算机通信与网络》</a:t>
            </a:r>
            <a:b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</a:br>
            <a:br>
              <a:rPr lang="zh-CN" altLang="en-US" sz="2000" b="1" dirty="0">
                <a:solidFill>
                  <a:srgbClr val="0000FF"/>
                </a:solidFill>
                <a:ea typeface="楷体_GB2312" pitchFamily="49" charset="-122"/>
              </a:rPr>
            </a:b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网 络 实 验</a:t>
            </a:r>
            <a:endParaRPr lang="zh-CN" altLang="en-US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12752" y="3673146"/>
            <a:ext cx="6076571" cy="1949375"/>
          </a:xfrm>
        </p:spPr>
        <p:txBody>
          <a:bodyPr/>
          <a:lstStyle/>
          <a:p>
            <a:pPr eaLnBrk="1" hangingPunct="1"/>
            <a:r>
              <a:rPr lang="zh-CN" altLang="en-US" sz="3070" b="1" dirty="0">
                <a:solidFill>
                  <a:srgbClr val="FF0000"/>
                </a:solidFill>
              </a:rPr>
              <a:t>（华三</a:t>
            </a:r>
            <a:r>
              <a:rPr lang="en-US" altLang="zh-CN" sz="3070" b="1" dirty="0">
                <a:solidFill>
                  <a:srgbClr val="FF0000"/>
                </a:solidFill>
              </a:rPr>
              <a:t>H3C</a:t>
            </a:r>
            <a:r>
              <a:rPr lang="zh-CN" altLang="en-US" sz="3070" b="1" dirty="0">
                <a:solidFill>
                  <a:srgbClr val="FF0000"/>
                </a:solidFill>
              </a:rPr>
              <a:t>网络设备）</a:t>
            </a:r>
          </a:p>
          <a:p>
            <a:pPr eaLnBrk="1" hangingPunct="1"/>
            <a:endParaRPr lang="zh-CN" altLang="en-US" sz="307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070" b="1" dirty="0">
              <a:solidFill>
                <a:srgbClr val="FF0000"/>
              </a:solidFill>
            </a:endParaRPr>
          </a:p>
        </p:txBody>
      </p:sp>
      <p:sp>
        <p:nvSpPr>
          <p:cNvPr id="3074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2795979" y="5970604"/>
            <a:ext cx="3334671" cy="3112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705" b="0">
                <a:solidFill>
                  <a:schemeClr val="tx1"/>
                </a:solidFill>
              </a:rPr>
              <a:t>《计算机通信与网络》实验</a:t>
            </a:r>
            <a:endParaRPr lang="en-US" altLang="zh-CN" sz="1705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891536" y="1304251"/>
            <a:ext cx="7015801" cy="974417"/>
          </a:xfrm>
        </p:spPr>
        <p:txBody>
          <a:bodyPr/>
          <a:lstStyle/>
          <a:p>
            <a:pPr algn="ctr" eaLnBrk="1" hangingPunct="1">
              <a:buClrTx/>
              <a:buSzTx/>
              <a:buFontTx/>
            </a:pPr>
            <a:r>
              <a:rPr lang="zh-CN" altLang="en-US" sz="3070">
                <a:solidFill>
                  <a:srgbClr val="0000FF"/>
                </a:solidFill>
                <a:sym typeface="+mn-ea"/>
              </a:rPr>
              <a:t>《</a:t>
            </a:r>
            <a:r>
              <a:rPr lang="zh-CN" altLang="en-US" sz="307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计算机通信与网络》</a:t>
            </a:r>
            <a:r>
              <a:rPr lang="zh-CN" altLang="en-US" sz="307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实验内容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1164372" y="2278647"/>
            <a:ext cx="7015801" cy="3455390"/>
          </a:xfrm>
        </p:spPr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一、网络基础知识及双绞线制作、访问</a:t>
            </a: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</a:t>
            </a:r>
            <a:r>
              <a:rPr lang="zh-CN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设备实验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二、交换机</a:t>
            </a:r>
            <a:r>
              <a:rPr lang="en-US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VLAN</a:t>
            </a: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相关实验</a:t>
            </a:r>
            <a:endParaRPr lang="zh-CN" altLang="zh-CN" sz="2045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三、路由器基础配置</a:t>
            </a: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四、</a:t>
            </a:r>
            <a:r>
              <a:rPr lang="en-US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RIP</a:t>
            </a: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路由、</a:t>
            </a:r>
            <a:r>
              <a:rPr lang="en-US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OSPF</a:t>
            </a: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路由配置</a:t>
            </a:r>
            <a:endParaRPr lang="zh-CN" altLang="zh-CN" sz="2045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zh-CN" sz="204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五、</a:t>
            </a:r>
            <a:r>
              <a:rPr lang="en-US" altLang="zh-CN" sz="204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Windows</a:t>
            </a:r>
            <a:r>
              <a:rPr lang="zh-CN" altLang="en-US" sz="204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lang="en-US" altLang="zh-CN" sz="204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DNS</a:t>
            </a:r>
            <a:r>
              <a:rPr lang="zh-CN" altLang="en-US" sz="204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4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DHCP</a:t>
            </a:r>
            <a:r>
              <a:rPr lang="zh-CN" altLang="zh-CN" sz="204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服务器配置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六、</a:t>
            </a:r>
            <a:r>
              <a:rPr lang="en-US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Windows</a:t>
            </a: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lang="en-US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FTP</a:t>
            </a:r>
            <a:r>
              <a:rPr lang="zh-CN" altLang="zh-CN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服务器配置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en-US" sz="204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七、扩展实验</a:t>
            </a:r>
          </a:p>
        </p:txBody>
      </p:sp>
      <p:sp>
        <p:nvSpPr>
          <p:cNvPr id="819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48690" y="1638935"/>
            <a:ext cx="7165975" cy="3152140"/>
          </a:xfrm>
        </p:spPr>
        <p:txBody>
          <a:bodyPr/>
          <a:lstStyle/>
          <a:p>
            <a:pPr algn="ctr" latinLnBrk="0">
              <a:lnSpc>
                <a:spcPct val="150000"/>
              </a:lnSpc>
            </a:pPr>
            <a:br>
              <a:rPr lang="zh-CN" altLang="en-US" dirty="0"/>
            </a:br>
            <a:r>
              <a:rPr lang="zh-CN" altLang="en-US" sz="3070" b="1" dirty="0">
                <a:solidFill>
                  <a:srgbClr val="0000FF"/>
                </a:solidFill>
              </a:rPr>
              <a:t>实验</a:t>
            </a:r>
            <a:r>
              <a:rPr lang="en-US" altLang="zh-CN" sz="3070" b="1" dirty="0">
                <a:solidFill>
                  <a:srgbClr val="0000FF"/>
                </a:solidFill>
              </a:rPr>
              <a:t>5.2</a:t>
            </a:r>
            <a:br>
              <a:rPr lang="zh-CN" altLang="en-US" sz="1200" b="1" dirty="0">
                <a:solidFill>
                  <a:srgbClr val="0000FF"/>
                </a:solidFill>
              </a:rPr>
            </a:br>
            <a:r>
              <a:rPr lang="zh-CN" altLang="en-US" sz="1200" dirty="0"/>
              <a:t>    </a:t>
            </a:r>
            <a:br>
              <a:rPr lang="zh-CN" altLang="en-US" sz="1200" dirty="0"/>
            </a:b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Windows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下的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服务器配置</a:t>
            </a:r>
            <a:br>
              <a:rPr lang="zh-CN" altLang="en-US" sz="3070" b="1" dirty="0"/>
            </a:br>
            <a:r>
              <a:rPr lang="zh-CN" altLang="en-US" sz="3755" b="1" dirty="0"/>
              <a:t>                     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9218" name="Rectangle 1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22399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6600"/>
                </a:solidFill>
              </a:rPr>
              <a:t>实验目的</a:t>
            </a:r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理解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服务器的基本概念和原理；</a:t>
            </a:r>
          </a:p>
          <a:p>
            <a:pPr lvl="1"/>
            <a:r>
              <a:rPr lang="zh-CN" altLang="en-US" sz="2400" dirty="0"/>
              <a:t>掌握在</a:t>
            </a:r>
            <a:r>
              <a:rPr lang="en-US" altLang="zh-CN" sz="2400" dirty="0"/>
              <a:t>Windows 2003 server </a:t>
            </a:r>
            <a:r>
              <a:rPr lang="zh-CN" altLang="en-US" sz="2400" dirty="0"/>
              <a:t>上安装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服务器的方法；</a:t>
            </a:r>
          </a:p>
          <a:p>
            <a:pPr lvl="1" eaLnBrk="1" hangingPunct="1"/>
            <a:r>
              <a:rPr lang="zh-CN" altLang="en-US" sz="2400" dirty="0"/>
              <a:t>掌握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服务器的配置方法；</a:t>
            </a:r>
          </a:p>
          <a:p>
            <a:pPr lvl="1" eaLnBrk="1" hangingPunct="1"/>
            <a:r>
              <a:rPr lang="zh-CN" altLang="en-US" sz="2400" dirty="0"/>
              <a:t>掌握基于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服务器的客户机</a:t>
            </a:r>
            <a:r>
              <a:rPr lang="en-US" altLang="zh-CN" sz="2400" dirty="0"/>
              <a:t>IP</a:t>
            </a:r>
            <a:r>
              <a:rPr lang="zh-CN" altLang="en-US" sz="2400" dirty="0"/>
              <a:t>地址动态获取方法。</a:t>
            </a:r>
            <a:endParaRPr lang="en-US" altLang="zh-CN" sz="2400" dirty="0"/>
          </a:p>
        </p:txBody>
      </p:sp>
      <p:sp>
        <p:nvSpPr>
          <p:cNvPr id="12290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C8567-B75A-4FFE-A6C5-D0C91FA0B290}"/>
              </a:ext>
            </a:extLst>
          </p:cNvPr>
          <p:cNvSpPr>
            <a:spLocks noGrp="1" noChangeArrowheads="1"/>
          </p:cNvSpPr>
          <p:nvPr/>
        </p:nvSpPr>
        <p:spPr>
          <a:xfrm>
            <a:off x="285720" y="928670"/>
            <a:ext cx="8429684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Windows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下的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22399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6600"/>
                </a:solidFill>
              </a:rPr>
              <a:t>设备需求</a:t>
            </a:r>
            <a:endParaRPr lang="en-US" altLang="zh-CN" sz="2400" b="1" dirty="0">
              <a:solidFill>
                <a:srgbClr val="FF6600"/>
              </a:solidFill>
            </a:endParaRPr>
          </a:p>
        </p:txBody>
      </p:sp>
      <p:sp>
        <p:nvSpPr>
          <p:cNvPr id="12290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DD3D135-8205-4B45-A988-08101ACBD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78497"/>
            <a:ext cx="8229600" cy="19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kumimoji="0" lang="zh-CN" altLang="en-US" sz="2400" dirty="0"/>
              <a:t> 交换机                   </a:t>
            </a:r>
            <a:r>
              <a:rPr kumimoji="0" lang="en-US" altLang="zh-CN" sz="2400" dirty="0"/>
              <a:t>1</a:t>
            </a:r>
            <a:r>
              <a:rPr kumimoji="0" lang="zh-CN" altLang="en-US" sz="2400" dirty="0"/>
              <a:t>台</a:t>
            </a:r>
          </a:p>
          <a:p>
            <a:pPr lvl="1"/>
            <a:r>
              <a:rPr kumimoji="0" lang="en-US" altLang="zh-CN" sz="2400" dirty="0"/>
              <a:t> PC</a:t>
            </a:r>
            <a:r>
              <a:rPr kumimoji="0" lang="zh-CN" altLang="en-US" sz="2400" dirty="0"/>
              <a:t>机                       </a:t>
            </a:r>
            <a:r>
              <a:rPr kumimoji="0" lang="en-US" altLang="zh-CN" sz="2400" dirty="0"/>
              <a:t>2</a:t>
            </a:r>
            <a:r>
              <a:rPr kumimoji="0" lang="zh-CN" altLang="en-US" sz="2400" dirty="0"/>
              <a:t>台                </a:t>
            </a:r>
            <a:r>
              <a:rPr kumimoji="0" lang="en-US" altLang="zh-CN" sz="2400" dirty="0"/>
              <a:t> </a:t>
            </a:r>
            <a:endParaRPr kumimoji="0" lang="zh-CN" altLang="en-US" sz="2400" dirty="0"/>
          </a:p>
          <a:p>
            <a:pPr lvl="1"/>
            <a:r>
              <a:rPr kumimoji="0" lang="zh-CN" altLang="en-US" sz="2400" dirty="0"/>
              <a:t> </a:t>
            </a:r>
            <a:r>
              <a:rPr kumimoji="0" lang="en-US" altLang="zh-CN" sz="2400" dirty="0"/>
              <a:t>RJ45</a:t>
            </a:r>
            <a:r>
              <a:rPr kumimoji="0" lang="zh-CN" altLang="en-US" sz="2400" dirty="0"/>
              <a:t>双绞线           </a:t>
            </a:r>
            <a:r>
              <a:rPr kumimoji="0" lang="en-US" altLang="zh-CN" sz="2400" dirty="0"/>
              <a:t>2</a:t>
            </a:r>
            <a:r>
              <a:rPr kumimoji="0" lang="zh-CN" altLang="en-US" sz="2400" dirty="0"/>
              <a:t>根         </a:t>
            </a:r>
            <a:endParaRPr kumimoji="0" lang="en-US" altLang="zh-CN" sz="2400" dirty="0"/>
          </a:p>
          <a:p>
            <a:pPr lvl="1"/>
            <a:endParaRPr kumimoji="0" lang="en-US" altLang="zh-CN" sz="2400" dirty="0"/>
          </a:p>
          <a:p>
            <a:pPr lvl="1"/>
            <a:endParaRPr kumimoji="0" lang="en-US" altLang="zh-CN" sz="2400" dirty="0"/>
          </a:p>
          <a:p>
            <a:pPr marL="457200" lvl="1" indent="0">
              <a:buNone/>
            </a:pPr>
            <a:r>
              <a:rPr kumimoji="0" lang="zh-CN" altLang="en-US" sz="2400" dirty="0">
                <a:solidFill>
                  <a:srgbClr val="FF0000"/>
                </a:solidFill>
              </a:rPr>
              <a:t>需要注意：</a:t>
            </a:r>
            <a:r>
              <a:rPr kumimoji="0" lang="zh-CN" altLang="en-US" sz="2400" dirty="0"/>
              <a:t>作为</a:t>
            </a:r>
            <a:r>
              <a:rPr kumimoji="0" lang="en-US" altLang="zh-CN" sz="2400" dirty="0"/>
              <a:t>DHCP</a:t>
            </a:r>
            <a:r>
              <a:rPr kumimoji="0" lang="zh-CN" altLang="en-US" sz="2400" dirty="0"/>
              <a:t>服务器的</a:t>
            </a:r>
            <a:r>
              <a:rPr kumimoji="0" lang="en-US" altLang="zh-CN" sz="2400" dirty="0"/>
              <a:t>PC</a:t>
            </a:r>
            <a:r>
              <a:rPr kumimoji="0" lang="zh-CN" altLang="en-US" sz="2400" dirty="0"/>
              <a:t>机必须安装</a:t>
            </a:r>
            <a:r>
              <a:rPr kumimoji="0" lang="en-US" altLang="zh-CN" sz="2400" dirty="0"/>
              <a:t>Windows Server</a:t>
            </a:r>
            <a:r>
              <a:rPr kumimoji="0" lang="zh-CN" altLang="en-US" sz="2400" dirty="0"/>
              <a:t>版本的操作系统</a:t>
            </a:r>
            <a:endParaRPr kumimoji="0" lang="en-US" altLang="zh-CN" sz="2400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kumimoji="0" lang="zh-CN" altLang="en-US" dirty="0"/>
              <a:t> </a:t>
            </a:r>
          </a:p>
        </p:txBody>
      </p:sp>
      <p:pic>
        <p:nvPicPr>
          <p:cNvPr id="7" name="图片 29" descr="IMG_256">
            <a:extLst>
              <a:ext uri="{FF2B5EF4-FFF2-40B4-BE49-F238E27FC236}">
                <a16:creationId xmlns:a16="http://schemas.microsoft.com/office/drawing/2014/main" id="{6B714529-9A33-46AC-87EF-D2B7BB61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2128821"/>
            <a:ext cx="2934970" cy="24110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38AC1FB-D72E-4C14-9692-D716345C96D8}"/>
              </a:ext>
            </a:extLst>
          </p:cNvPr>
          <p:cNvSpPr>
            <a:spLocks noGrp="1" noChangeArrowheads="1"/>
          </p:cNvSpPr>
          <p:nvPr/>
        </p:nvSpPr>
        <p:spPr>
          <a:xfrm>
            <a:off x="285720" y="928670"/>
            <a:ext cx="8429684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Windows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下的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5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22399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6600"/>
                </a:solidFill>
              </a:rPr>
              <a:t>实验内容</a:t>
            </a:r>
            <a:endParaRPr lang="en-US" altLang="zh-CN" sz="2400" b="1" dirty="0">
              <a:solidFill>
                <a:srgbClr val="FF6600"/>
              </a:solidFill>
            </a:endParaRPr>
          </a:p>
        </p:txBody>
      </p:sp>
      <p:sp>
        <p:nvSpPr>
          <p:cNvPr id="12290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DD3D135-8205-4B45-A988-08101ACBD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884" y="2678497"/>
            <a:ext cx="8229600" cy="19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2400" dirty="0"/>
              <a:t>在</a:t>
            </a:r>
            <a:r>
              <a:rPr lang="en-US" altLang="zh-CN" sz="2400" dirty="0"/>
              <a:t>Windows 2003 server </a:t>
            </a:r>
            <a:r>
              <a:rPr lang="zh-CN" altLang="en-US" sz="2400" dirty="0"/>
              <a:t>上安装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服务器；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在</a:t>
            </a:r>
            <a:r>
              <a:rPr lang="en-US" altLang="zh-CN" sz="2400" dirty="0"/>
              <a:t>Windows 2003 server </a:t>
            </a:r>
            <a:r>
              <a:rPr lang="zh-CN" altLang="en-US" sz="2400" dirty="0"/>
              <a:t>上配置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</a:t>
            </a:r>
          </a:p>
          <a:p>
            <a:pPr marL="813600"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建立</a:t>
            </a:r>
            <a:r>
              <a:rPr lang="en-US" altLang="zh-CN" sz="2400" dirty="0"/>
              <a:t>IP</a:t>
            </a:r>
            <a:r>
              <a:rPr lang="zh-CN" altLang="en-US" sz="2400" dirty="0"/>
              <a:t>作用域；</a:t>
            </a:r>
          </a:p>
          <a:p>
            <a:pPr marL="813600" lvl="1" eaLnBrk="1" hangingPunct="1">
              <a:buFont typeface="Wingdings" panose="05000000000000000000" pitchFamily="2" charset="2"/>
              <a:buChar char="ü"/>
            </a:pPr>
            <a:r>
              <a:rPr lang="en-US" altLang="zh-CN" sz="2400" dirty="0"/>
              <a:t>DHCP</a:t>
            </a:r>
            <a:r>
              <a:rPr lang="zh-CN" altLang="en-US" sz="2400" dirty="0"/>
              <a:t>选项配置（默认网关、</a:t>
            </a:r>
            <a:r>
              <a:rPr lang="en-US" altLang="zh-CN" sz="2400" dirty="0"/>
              <a:t>DNS</a:t>
            </a:r>
            <a:r>
              <a:rPr lang="zh-CN" altLang="en-US" sz="2400" dirty="0"/>
              <a:t>等）；</a:t>
            </a:r>
            <a:endParaRPr lang="en-US" altLang="zh-CN" sz="2400" dirty="0"/>
          </a:p>
          <a:p>
            <a:pPr marL="813600" lvl="1"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/>
              <a:t>保留特定的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地址给特定的客户端使用；</a:t>
            </a:r>
            <a:endParaRPr lang="en-US" altLang="zh-CN" sz="2400" dirty="0"/>
          </a:p>
          <a:p>
            <a:pPr lvl="1"/>
            <a:r>
              <a:rPr lang="en-US" altLang="zh-CN" sz="2400" dirty="0"/>
              <a:t>DHCP</a:t>
            </a:r>
            <a:r>
              <a:rPr lang="zh-CN" altLang="en-US" sz="2400" dirty="0"/>
              <a:t>客户端的配置与测试。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kumimoji="0" lang="zh-CN" altLang="en-US" dirty="0"/>
              <a:t>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983E20-52A8-449E-90D4-CEAE7D58393E}"/>
              </a:ext>
            </a:extLst>
          </p:cNvPr>
          <p:cNvSpPr>
            <a:spLocks noGrp="1" noChangeArrowheads="1"/>
          </p:cNvSpPr>
          <p:nvPr/>
        </p:nvSpPr>
        <p:spPr>
          <a:xfrm>
            <a:off x="285720" y="928670"/>
            <a:ext cx="8429684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Windows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下的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44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 dirty="0">
                <a:solidFill>
                  <a:schemeClr val="tx1"/>
                </a:solidFill>
              </a:rPr>
              <a:t>计算机通信与网络实验</a:t>
            </a:r>
            <a:endParaRPr lang="en-US" altLang="zh-CN" sz="1025" b="0" dirty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2.1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的基本概念和原理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>
          <a:xfrm>
            <a:off x="275907" y="2531792"/>
            <a:ext cx="8592185" cy="179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l" latinLnBrk="0">
              <a:lnSpc>
                <a:spcPts val="3000"/>
              </a:lnSpc>
            </a:pP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是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Dynamic Host Configuration Protocol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（动态主机配置协议）的缩写。在常见的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小型网络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中，</a:t>
            </a:r>
            <a:r>
              <a:rPr lang="en-US" altLang="zh-CN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IP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地址的分配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一般都采用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静态方式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，但在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大中型网络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中，为每一台计算机分配一个静态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IP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地址，这样将会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加重网管人员的负担，并且容易导致</a:t>
            </a:r>
            <a:r>
              <a:rPr lang="en-US" altLang="zh-CN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IP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地址分配错误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。因此，在大中型网络中使用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服务是非常有效率的。</a:t>
            </a:r>
            <a:endParaRPr lang="en-US" altLang="zh-CN" sz="2045" b="1" dirty="0">
              <a:latin typeface="+mn-ea"/>
              <a:ea typeface="+mn-ea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5F7A1B-DE25-4219-BF61-EAF10AD5A9F5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的基本概念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C7E47F9-7504-451D-8F4B-94249EAB3CC5}"/>
              </a:ext>
            </a:extLst>
          </p:cNvPr>
          <p:cNvSpPr>
            <a:spLocks noGrp="1" noChangeArrowheads="1"/>
          </p:cNvSpPr>
          <p:nvPr/>
        </p:nvSpPr>
        <p:spPr>
          <a:xfrm>
            <a:off x="275907" y="3933056"/>
            <a:ext cx="8592185" cy="179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800100" indent="-342900" algn="l" latinLnBrk="0">
              <a:lnSpc>
                <a:spcPts val="3000"/>
              </a:lnSpc>
              <a:buFont typeface="Wingdings" panose="05000000000000000000" pitchFamily="2" charset="2"/>
              <a:buChar char="l"/>
            </a:pPr>
            <a:endParaRPr lang="zh-CN" altLang="en-US" sz="2045" b="1" dirty="0">
              <a:latin typeface="+mn-ea"/>
              <a:ea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790953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 dirty="0">
                <a:solidFill>
                  <a:schemeClr val="tx1"/>
                </a:solidFill>
              </a:rPr>
              <a:t>计算机通信与网络实验</a:t>
            </a:r>
            <a:endParaRPr lang="en-US" altLang="zh-CN" sz="1025" b="0" dirty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2.1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的基本概念和原理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>
          <a:xfrm>
            <a:off x="309529" y="3350287"/>
            <a:ext cx="8592185" cy="179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702000" algn="l" latinLnBrk="0">
              <a:lnSpc>
                <a:spcPts val="3000"/>
              </a:lnSpc>
              <a:buFont typeface="Wingdings" panose="05000000000000000000" pitchFamily="2" charset="2"/>
              <a:buChar char="p"/>
            </a:pPr>
            <a:r>
              <a:rPr lang="zh-CN" altLang="en-US" sz="2045" b="1" dirty="0">
                <a:latin typeface="+mn-ea"/>
                <a:ea typeface="+mn-ea"/>
                <a:sym typeface="+mn-ea"/>
              </a:rPr>
              <a:t> 管理员可以快速地验证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IP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地址和其它配置参数，而不用去检查每个主机。</a:t>
            </a:r>
          </a:p>
          <a:p>
            <a:pPr marL="702000" algn="l" latinLnBrk="0">
              <a:lnSpc>
                <a:spcPts val="3000"/>
              </a:lnSpc>
              <a:buFont typeface="Wingdings" panose="05000000000000000000" pitchFamily="2" charset="2"/>
              <a:buChar char="p"/>
            </a:pPr>
            <a:r>
              <a:rPr lang="zh-CN" altLang="en-US" sz="2045" b="1" dirty="0">
                <a:latin typeface="+mn-ea"/>
                <a:ea typeface="+mn-ea"/>
                <a:sym typeface="+mn-ea"/>
              </a:rPr>
              <a:t> 可以为每个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范围（或者说所有的范围）设置若干选项（比如可以为每台计算机设置缺省网关、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DNS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服务器的地址）。</a:t>
            </a:r>
          </a:p>
          <a:p>
            <a:pPr marL="702000" algn="l" latinLnBrk="0">
              <a:lnSpc>
                <a:spcPts val="3000"/>
              </a:lnSpc>
              <a:buFont typeface="Wingdings" panose="05000000000000000000" pitchFamily="2" charset="2"/>
              <a:buChar char="p"/>
            </a:pPr>
            <a:r>
              <a:rPr lang="en-US" altLang="zh-CN" sz="2045" b="1" dirty="0">
                <a:latin typeface="+mn-ea"/>
                <a:ea typeface="+mn-ea"/>
                <a:sym typeface="+mn-ea"/>
              </a:rPr>
              <a:t> 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不会从一个范围里同时租借相同的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IP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地址给两台主机，避免了手工操作的重复。</a:t>
            </a:r>
          </a:p>
          <a:p>
            <a:pPr marL="702000" algn="l" latinLnBrk="0">
              <a:lnSpc>
                <a:spcPts val="3000"/>
              </a:lnSpc>
              <a:buFont typeface="Wingdings" panose="05000000000000000000" pitchFamily="2" charset="2"/>
              <a:buChar char="p"/>
            </a:pPr>
            <a:r>
              <a:rPr lang="zh-CN" altLang="en-US" sz="2045" b="1" dirty="0">
                <a:latin typeface="+mn-ea"/>
                <a:ea typeface="+mn-ea"/>
                <a:sym typeface="+mn-ea"/>
              </a:rPr>
              <a:t> 如果主机物理上被移动到了不同的子网上，该子网上的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服务器将会自动用适当的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TCP/IP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配置信息重新配置该主机。</a:t>
            </a:r>
          </a:p>
          <a:p>
            <a:pPr marL="702000" algn="l" latinLnBrk="0">
              <a:lnSpc>
                <a:spcPts val="3000"/>
              </a:lnSpc>
              <a:buFont typeface="Wingdings" panose="05000000000000000000" pitchFamily="2" charset="2"/>
              <a:buChar char="p"/>
            </a:pPr>
            <a:r>
              <a:rPr lang="zh-CN" altLang="en-US" sz="2045" b="1" dirty="0">
                <a:latin typeface="+mn-ea"/>
                <a:ea typeface="+mn-ea"/>
                <a:sym typeface="+mn-ea"/>
              </a:rPr>
              <a:t> 大大方便了便携机用户，移动到不同的子网上不再要为便携机分配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IP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地址。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5F7A1B-DE25-4219-BF61-EAF10AD5A9F5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服务的优点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C7E47F9-7504-451D-8F4B-94249EAB3CC5}"/>
              </a:ext>
            </a:extLst>
          </p:cNvPr>
          <p:cNvSpPr>
            <a:spLocks noGrp="1" noChangeArrowheads="1"/>
          </p:cNvSpPr>
          <p:nvPr/>
        </p:nvSpPr>
        <p:spPr>
          <a:xfrm>
            <a:off x="275907" y="3933056"/>
            <a:ext cx="8592185" cy="179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800100" indent="-342900" algn="l" latinLnBrk="0">
              <a:lnSpc>
                <a:spcPts val="3000"/>
              </a:lnSpc>
              <a:buFont typeface="Wingdings" panose="05000000000000000000" pitchFamily="2" charset="2"/>
              <a:buChar char="l"/>
            </a:pPr>
            <a:endParaRPr lang="zh-CN" altLang="en-US" sz="2045" b="1" dirty="0">
              <a:latin typeface="+mn-ea"/>
              <a:ea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91953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 dirty="0">
                <a:solidFill>
                  <a:schemeClr val="tx1"/>
                </a:solidFill>
              </a:rPr>
              <a:t>计算机通信与网络实验</a:t>
            </a:r>
            <a:endParaRPr lang="en-US" altLang="zh-CN" sz="1025" b="0" dirty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2.1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的基本概念和原理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5F7A1B-DE25-4219-BF61-EAF10AD5A9F5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服务的工作流程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C7E47F9-7504-451D-8F4B-94249EAB3CC5}"/>
              </a:ext>
            </a:extLst>
          </p:cNvPr>
          <p:cNvSpPr>
            <a:spLocks noGrp="1" noChangeArrowheads="1"/>
          </p:cNvSpPr>
          <p:nvPr/>
        </p:nvSpPr>
        <p:spPr>
          <a:xfrm>
            <a:off x="275907" y="3933056"/>
            <a:ext cx="8592185" cy="179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800100" indent="-342900" algn="l" latinLnBrk="0">
              <a:lnSpc>
                <a:spcPts val="3000"/>
              </a:lnSpc>
              <a:buFont typeface="Wingdings" panose="05000000000000000000" pitchFamily="2" charset="2"/>
              <a:buChar char="l"/>
            </a:pPr>
            <a:endParaRPr lang="zh-CN" altLang="en-US" sz="2045" b="1" dirty="0">
              <a:latin typeface="+mn-ea"/>
              <a:ea typeface="+mn-ea"/>
              <a:sym typeface="+mn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72F38A4-65F7-4DCB-82B9-6309F29DC4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8338225"/>
              </p:ext>
            </p:extLst>
          </p:nvPr>
        </p:nvGraphicFramePr>
        <p:xfrm>
          <a:off x="1187624" y="4306004"/>
          <a:ext cx="6613525" cy="175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63950" imgH="958850" progId="Paint.Picture">
                  <p:embed/>
                </p:oleObj>
              </mc:Choice>
              <mc:Fallback>
                <p:oleObj r:id="rId2" imgW="3663950" imgH="958850" progId="Paint.Picture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72F38A4-65F7-4DCB-82B9-6309F29DC4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7624" y="4306004"/>
                        <a:ext cx="6613525" cy="1755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9AC707F3-B2C4-42D7-B637-E9ACE912FC04}"/>
              </a:ext>
            </a:extLst>
          </p:cNvPr>
          <p:cNvSpPr>
            <a:spLocks noGrp="1" noChangeArrowheads="1"/>
          </p:cNvSpPr>
          <p:nvPr/>
        </p:nvSpPr>
        <p:spPr>
          <a:xfrm>
            <a:off x="275907" y="2386690"/>
            <a:ext cx="8592185" cy="179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l" latinLnBrk="0">
              <a:lnSpc>
                <a:spcPts val="3000"/>
              </a:lnSpc>
            </a:pP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客户机在启动时，会搜寻网络中是否存在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服务器。如果找到，则给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服务器发送一个请求。</a:t>
            </a:r>
          </a:p>
          <a:p>
            <a:pPr indent="457200" algn="l" latinLnBrk="0">
              <a:lnSpc>
                <a:spcPts val="3000"/>
              </a:lnSpc>
            </a:pP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服务器接到请求后，为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DHCP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客户机选择</a:t>
            </a:r>
            <a:r>
              <a:rPr lang="en-US" altLang="zh-CN" sz="2045" b="1" dirty="0">
                <a:latin typeface="+mn-ea"/>
                <a:ea typeface="+mn-ea"/>
                <a:sym typeface="+mn-ea"/>
              </a:rPr>
              <a:t>TCP/IP</a:t>
            </a:r>
            <a:r>
              <a:rPr lang="zh-CN" altLang="en-US" sz="2045" b="1" dirty="0">
                <a:latin typeface="+mn-ea"/>
                <a:ea typeface="+mn-ea"/>
                <a:sym typeface="+mn-ea"/>
              </a:rPr>
              <a:t>配置的参数，并把这些参数发送给客户端。</a:t>
            </a:r>
          </a:p>
          <a:p>
            <a:pPr indent="457200" algn="l" latinLnBrk="0">
              <a:lnSpc>
                <a:spcPts val="3000"/>
              </a:lnSpc>
            </a:pPr>
            <a:r>
              <a:rPr lang="zh-CN" altLang="en-US" sz="2045" b="1" dirty="0">
                <a:latin typeface="+mn-ea"/>
                <a:ea typeface="+mn-ea"/>
                <a:sym typeface="+mn-ea"/>
              </a:rPr>
              <a:t>新客户租约过程的步骤如下：</a:t>
            </a:r>
          </a:p>
        </p:txBody>
      </p:sp>
    </p:spTree>
    <p:extLst>
      <p:ext uri="{BB962C8B-B14F-4D97-AF65-F5344CB8AC3E}">
        <p14:creationId xmlns:p14="http://schemas.microsoft.com/office/powerpoint/2010/main" val="354725857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516302" y="2636912"/>
            <a:ext cx="3240360" cy="292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选择一台已经安装好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Windows 2003 server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版本操作系统的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PC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机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在这台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PC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机上安装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服务器，确认其已安装了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TCP/IP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协议，将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服务器的</a:t>
            </a:r>
            <a:r>
              <a:rPr lang="en-US" altLang="zh-CN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地址设为静态的</a:t>
            </a:r>
            <a:r>
              <a:rPr lang="en-US" altLang="zh-CN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地址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，并设置服务器自己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TCP/IP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协议的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配置。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C85CFE7-9CCE-47CA-B727-3416D7D6B447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7984" y="2160786"/>
            <a:ext cx="381000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4D08A5A-7A21-44A4-8CB6-894F3740BAA3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服务器的</a:t>
            </a:r>
            <a:r>
              <a:rPr lang="en-US" altLang="zh-CN" dirty="0"/>
              <a:t>IP</a:t>
            </a:r>
            <a:r>
              <a:rPr lang="zh-CN" altLang="en-US" dirty="0"/>
              <a:t>地址配置</a:t>
            </a:r>
          </a:p>
        </p:txBody>
      </p:sp>
    </p:spTree>
    <p:extLst>
      <p:ext uri="{BB962C8B-B14F-4D97-AF65-F5344CB8AC3E}">
        <p14:creationId xmlns:p14="http://schemas.microsoft.com/office/powerpoint/2010/main" val="272004661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539552" y="2995455"/>
            <a:ext cx="3096344" cy="229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选择“开始”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/“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设置”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/“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控制面板”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/“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添加或删除程序”，选择“添加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删除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Windows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组件”</a:t>
            </a:r>
            <a:r>
              <a:rPr lang="zh-CN" altLang="en-US" sz="2045" b="1" dirty="0">
                <a:latin typeface="+mn-ea"/>
                <a:ea typeface="+mn-ea"/>
              </a:rPr>
              <a:t>，弹出安装向导对话框，选择“网络服务”，点击“详细信息”按钮。 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B7202D-8E86-4E8D-82A7-2AB1D49D6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74" y="2060846"/>
            <a:ext cx="5262574" cy="41044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服务器安装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A83D47B-CD0B-476E-8E5E-B9778A1160C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3803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服务器安装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2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A83D47B-CD0B-476E-8E5E-B9778A1160C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2CA54E-8730-48EA-BD95-802F229E8B9C}"/>
              </a:ext>
            </a:extLst>
          </p:cNvPr>
          <p:cNvSpPr txBox="1"/>
          <p:nvPr/>
        </p:nvSpPr>
        <p:spPr>
          <a:xfrm>
            <a:off x="539552" y="2995455"/>
            <a:ext cx="3096344" cy="135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选择“域名解析协议（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）、动态主机配置协议（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 复选框，单击“确定”按钮</a:t>
            </a:r>
            <a:r>
              <a:rPr lang="zh-CN" altLang="en-US" sz="2045" b="1" dirty="0">
                <a:latin typeface="+mn-ea"/>
                <a:ea typeface="+mn-ea"/>
              </a:rPr>
              <a:t>。 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 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362BF6A-B159-4658-B083-2146BC092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36665" y="2095726"/>
            <a:ext cx="5367010" cy="414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1426642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服务器安装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A83D47B-CD0B-476E-8E5E-B9778A1160C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2B3631-B2F5-40B3-9B60-1B55797D5CD3}"/>
              </a:ext>
            </a:extLst>
          </p:cNvPr>
          <p:cNvSpPr txBox="1"/>
          <p:nvPr/>
        </p:nvSpPr>
        <p:spPr>
          <a:xfrm>
            <a:off x="539552" y="2995455"/>
            <a:ext cx="3096344" cy="135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选择“域名解析协议（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）、动态主机配置协议（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 复选框，单击“确定”按钮</a:t>
            </a:r>
            <a:r>
              <a:rPr lang="zh-CN" altLang="en-US" sz="2045" b="1" dirty="0">
                <a:latin typeface="+mn-ea"/>
                <a:ea typeface="+mn-ea"/>
              </a:rPr>
              <a:t>。 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B0C6DF-2B1A-4CA8-88FF-65C15C7EEDA0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2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F74E6B73-5BAB-4A28-8BBB-E2504257F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78238" y="1832683"/>
            <a:ext cx="4029075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E77A4D2D-EE53-41A1-88E2-4D3CD7267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78237" y="4349620"/>
            <a:ext cx="4029075" cy="2071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箭头: 下 16">
            <a:extLst>
              <a:ext uri="{FF2B5EF4-FFF2-40B4-BE49-F238E27FC236}">
                <a16:creationId xmlns:a16="http://schemas.microsoft.com/office/drawing/2014/main" id="{28C6F255-0404-4E2F-A56D-234B7194A834}"/>
              </a:ext>
            </a:extLst>
          </p:cNvPr>
          <p:cNvSpPr/>
          <p:nvPr/>
        </p:nvSpPr>
        <p:spPr>
          <a:xfrm>
            <a:off x="5022416" y="3763491"/>
            <a:ext cx="269663" cy="226713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916A7C0-A69A-44BA-8C4A-0EA82189D778}"/>
              </a:ext>
            </a:extLst>
          </p:cNvPr>
          <p:cNvSpPr/>
          <p:nvPr/>
        </p:nvSpPr>
        <p:spPr>
          <a:xfrm>
            <a:off x="4644008" y="6030624"/>
            <a:ext cx="1872208" cy="3257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7995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539552" y="2995455"/>
            <a:ext cx="3096344" cy="1980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服务组件完成安装后，在“开始”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/“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程序”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/“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管理工具”应用程序组中会出现“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DHCP”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进入</a:t>
            </a:r>
            <a:r>
              <a:rPr lang="en-US" altLang="zh-CN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服务器管理窗口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进行配置</a:t>
            </a:r>
            <a:r>
              <a:rPr lang="zh-CN" altLang="en-US" sz="2045" b="1" dirty="0">
                <a:latin typeface="+mn-ea"/>
                <a:ea typeface="+mn-ea"/>
              </a:rPr>
              <a:t>。 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6506705-EBAF-4228-A76E-0832E15F2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7944" y="1820563"/>
            <a:ext cx="4809129" cy="47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7792275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539552" y="2995455"/>
            <a:ext cx="3096344" cy="1980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服务组件完成安装后，在“开始”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/“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程序”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/“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管理工具”应用程序组中会出现“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DHCP”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进入</a:t>
            </a:r>
            <a:r>
              <a:rPr lang="en-US" altLang="zh-CN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服务器管理窗口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进行配置</a:t>
            </a:r>
            <a:r>
              <a:rPr lang="zh-CN" altLang="en-US" sz="2045" b="1" dirty="0">
                <a:latin typeface="+mn-ea"/>
                <a:ea typeface="+mn-ea"/>
              </a:rPr>
              <a:t>。 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B129507B-0CA3-4DBB-82E3-8634E5208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3748" y="2277967"/>
            <a:ext cx="5600252" cy="392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044867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539552" y="2995455"/>
            <a:ext cx="3096344" cy="292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在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管理窗口，用鼠标右键单击要创建作用域的服务器，选择“新建作用域”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出现“欢迎使用新建作用域向导”对话框时，单击“下一步”，为该域设置一个名称并输入一些说明文字，单击“下一步”。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2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3242C8C-12C9-47F8-B927-5C09C249D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1920" y="2385969"/>
            <a:ext cx="5003379" cy="3534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2460139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539552" y="2995455"/>
            <a:ext cx="3096344" cy="292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在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管理窗口，用鼠标右键单击要创建作用域的服务器，选择“新建作用域”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出现“欢迎使用新建作用域向导”对话框时，单击“下一步”，为该域设置一个名称并输入一些说明文字，单击“下一步”。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2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055140D-3E5A-4C5E-B35A-E3F30907B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8257" y="2416637"/>
            <a:ext cx="4997041" cy="38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8151453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323528" y="2995455"/>
            <a:ext cx="3312368" cy="260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在如图所示对话框，在定义新作用域可用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地址范围，子网掩码等信息。例如分配供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客户机使用的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地址是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192.168.5.1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至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192.168.5.100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，子网掩码是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255.255.255.0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，单击“下一步”。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3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1700AC-0D8B-41A9-B1E7-9A30B642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754" y="2214939"/>
            <a:ext cx="5280228" cy="402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3368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3018969"/>
            <a:ext cx="3456384" cy="260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如果想禁止上面设置的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作用域内部分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地址提供给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客户端使用，则可以在如图所示对话框中设置需排除的地址范围。例如：输入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192.168.5.1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至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192.168.5.10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，单击“添加”，单击“下一步”。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4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952FCE8-8E6B-4143-88DE-3E217AE60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85150" y="2214764"/>
            <a:ext cx="5420924" cy="4141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49335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3018969"/>
            <a:ext cx="3456384" cy="260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如果想禁止上面设置的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作用域内部分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地址提供给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客户端使用，则可以在如图所示对话框中设置需排除的地址范围。例如：输入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192.168.5.1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至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192.168.5.10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，单击“添加”，单击“下一步”。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4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F25A11D5-8147-460F-B4AA-01D0EC1A8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2468" y="2241634"/>
            <a:ext cx="5392444" cy="4114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9059132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3018969"/>
            <a:ext cx="3456384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地址租约期限，如可以设置为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7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天。出现如图所示对话框时，选择“是，我想现在配置这些选项（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Y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）”，然后单击“下一步”为这个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选项，分别是默认网关、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服务器等。当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服务器在给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客户端分派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地址时，同时将这些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选项中的服务器数据指定给客户端。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492896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5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E1B764F-DEAE-4933-A65C-2848ADC73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8314" y="2185050"/>
            <a:ext cx="5258419" cy="405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52915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地址租约期限，如可以设置为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7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天。出现如图所示对话框时，选择“是，我想现在配置这些选项（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Y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）”，然后单击“下一步”为这个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选项，分别是默认网关、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服务器等。当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服务器在给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客户端分派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地址时，同时将这些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选项中的服务器数据指定给客户端。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5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DCD6610F-ECDA-4739-B284-62D2CD41A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742" y="2095726"/>
            <a:ext cx="5184360" cy="396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158182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地址租约期限，如可以设置为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7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天。出现如图所示对话框时，选择“是，我想现在配置这些选项（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Y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）”，然后单击“下一步”为这个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选项，分别是默认网关、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服务器等。当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服务器在给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客户端分派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地址时，同时将这些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选项中的服务器数据指定给客户端。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5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F4DA05E-8D84-4A6F-B0B3-6ED1CCE63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5967" y="2271410"/>
            <a:ext cx="5291787" cy="4037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8667809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地址租约期限，如可以设置为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7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天。出现如图所示对话框时，选择“是，我想现在配置这些选项（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Y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）”，然后单击“下一步”为这个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选项，分别是默认网关、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服务器等。当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服务器在给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客户端分派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地址时，同时将这些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选项中的服务器数据指定给客户端。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5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F293E2B-CE4C-49FB-8DB5-6726E4DEB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25754" y="2264732"/>
            <a:ext cx="5300538" cy="404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0702896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地址租约期限，如可以设置为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7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天。出现如图所示对话框时，选择“是，我想现在配置这些选项（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Y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）”，然后单击“下一步”为这个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选项，分别是默认网关、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服务器等。当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服务器在给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客户端分派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地址时，同时将这些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选项中的服务器数据指定给客户端。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5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071A5FF-3C4D-4712-A39E-768694563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3927" y="2295904"/>
            <a:ext cx="5151761" cy="394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7984645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地址租约期限，如可以设置为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7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天。出现如图所示对话框时，选择“是，我想现在配置这些选项（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Y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）”，然后单击“下一步”为这个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作用域设置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选项，分别是默认网关、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服务器等。当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服务器在给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客户端分派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地址时，同时将这些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选项中的服务器数据指定给客户端。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5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52C774E-1014-4531-8D94-CAB52B32E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64910" y="2254576"/>
            <a:ext cx="5278617" cy="405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3853574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260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出现如图所示对话框时，选择“是，我想现在激活此作用域”，开始激活新的作用域，然后在“完成新建作用域向导”中单击“完成”即可。完成上述设置，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服务器就可以开始接受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客户端索取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地址的要求了。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6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5540CC79-E44F-4E7C-800A-1DBD7A737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149" y="2198684"/>
            <a:ext cx="5278045" cy="403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34469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260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出现如图所示对话框时，选择“是，我想现在激活此作用域”，开始激活新的作用域，然后在“完成新建作用域向导”中单击“完成”即可。完成上述设置，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服务器就可以开始接受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客户端索取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地址的要求了。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6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0A7C71B-6B5D-4E74-B3C2-672AD9E09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7107" y="2166974"/>
            <a:ext cx="5566893" cy="3894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4209232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 dirty="0">
                <a:solidFill>
                  <a:schemeClr val="tx1"/>
                </a:solidFill>
              </a:rPr>
              <a:t>计算机通信与网络实验</a:t>
            </a:r>
            <a:endParaRPr lang="en-US" altLang="zh-CN" sz="1025" b="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228766" y="2755270"/>
            <a:ext cx="3456384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可以保留特定的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地址给特定的客户端使用，以便该客户端每次申请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地址时都拥有相同的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地址。例如一个管理单位的网络，采用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服务一方面可以避免用户随意更改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地址，另一方面可以通过此功能逐一为用户设置固定的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地址，即所谓“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IP-MAC”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绑定，这会减少不少维护工作量。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1309-8581-4CD8-A036-ED9AE0CF0FFA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DHCP</a:t>
            </a:r>
            <a:r>
              <a:rPr lang="zh-CN" altLang="en-US" dirty="0"/>
              <a:t>服务器配置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0A57B-5F66-4350-BE40-1F56747699C9}"/>
              </a:ext>
            </a:extLst>
          </p:cNvPr>
          <p:cNvSpPr txBox="1"/>
          <p:nvPr/>
        </p:nvSpPr>
        <p:spPr>
          <a:xfrm>
            <a:off x="509117" y="2229197"/>
            <a:ext cx="289568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步骤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7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：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6B700C-12A5-41F4-809E-79055EBEA68B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服务器的安装与配置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E87B29-DC9B-4516-AE3F-AB5AB248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34" y="2046661"/>
            <a:ext cx="4572000" cy="435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4910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25" b="0">
                <a:solidFill>
                  <a:schemeClr val="tx1"/>
                </a:solidFill>
              </a:rPr>
              <a:t>计算机通信与网络实验</a:t>
            </a:r>
            <a:endParaRPr lang="en-US" altLang="zh-CN" sz="1025" b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18CCE-C61D-451D-BB31-246C72564DDB}"/>
              </a:ext>
            </a:extLst>
          </p:cNvPr>
          <p:cNvSpPr txBox="1"/>
          <p:nvPr/>
        </p:nvSpPr>
        <p:spPr>
          <a:xfrm>
            <a:off x="516302" y="2311074"/>
            <a:ext cx="3240360" cy="355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20700" eaLnBrk="1" hangingPunct="1">
              <a:buFontTx/>
              <a:buNone/>
            </a:pPr>
            <a:r>
              <a:rPr lang="zh-CN" altLang="en-US" sz="2045" b="1" dirty="0">
                <a:latin typeface="+mn-ea"/>
                <a:ea typeface="+mn-ea"/>
                <a:cs typeface="+mj-cs"/>
              </a:rPr>
              <a:t>当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服务器配置完成后，客户机就可以使用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DHCP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功能，可以通过设置网络属性中的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TCP/IP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通讯协议属性，设定采用 “自动获取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地址”方式获取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地址，设定“自动获取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服务器地址”获取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DNS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服务器地址。而无须为每台客户机设置</a:t>
            </a:r>
            <a:r>
              <a:rPr lang="en-US" altLang="zh-CN" sz="2045" b="1" dirty="0">
                <a:latin typeface="+mn-ea"/>
                <a:ea typeface="+mn-ea"/>
                <a:cs typeface="+mj-cs"/>
              </a:rPr>
              <a:t>IP</a:t>
            </a:r>
            <a:r>
              <a:rPr lang="zh-CN" altLang="en-US" sz="2045" b="1" dirty="0">
                <a:latin typeface="+mn-ea"/>
                <a:ea typeface="+mn-ea"/>
                <a:cs typeface="+mj-cs"/>
              </a:rPr>
              <a:t>地址、网关地址、子网掩码等属性。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D08A5A-7A21-44A4-8CB6-894F3740BAA3}"/>
              </a:ext>
            </a:extLst>
          </p:cNvPr>
          <p:cNvSpPr txBox="1"/>
          <p:nvPr/>
        </p:nvSpPr>
        <p:spPr>
          <a:xfrm>
            <a:off x="516302" y="16340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n"/>
            </a:pPr>
            <a:r>
              <a:rPr lang="en-US" altLang="zh-CN" dirty="0"/>
              <a:t>DCHP</a:t>
            </a:r>
            <a:r>
              <a:rPr lang="zh-CN" altLang="en-US" dirty="0"/>
              <a:t>客户机的配置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AAAB30D-C571-4844-BD60-2DE9A4A1B4B2}"/>
              </a:ext>
            </a:extLst>
          </p:cNvPr>
          <p:cNvSpPr>
            <a:spLocks noGrp="1" noChangeArrowheads="1"/>
          </p:cNvSpPr>
          <p:nvPr/>
        </p:nvSpPr>
        <p:spPr>
          <a:xfrm>
            <a:off x="395536" y="796856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2.3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DHCP</a:t>
            </a:r>
            <a:r>
              <a:rPr lang="zh-CN" altLang="en-US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客户机配置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42B29D29-6E88-4FA2-A06A-742E6FD35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541" y="1775633"/>
            <a:ext cx="4130622" cy="458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76987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025"/>
              <a:t>计算机通信与网络实验</a:t>
            </a:r>
            <a:endParaRPr lang="en-US" altLang="zh-CN" sz="1025"/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323528" y="1124744"/>
            <a:ext cx="6954629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实验内容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385" b="1" dirty="0"/>
              <a:t>                  </a:t>
            </a:r>
            <a:r>
              <a:rPr lang="zh-CN" altLang="en-US" sz="3755" b="1" dirty="0"/>
              <a:t>   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095" y="1685195"/>
            <a:ext cx="9122307" cy="3841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latinLnBrk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030" dirty="0">
              <a:sym typeface="+mn-ea"/>
            </a:endParaRPr>
          </a:p>
          <a:p>
            <a:pPr marL="342900" indent="0" algn="l" latinLnBrk="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30" dirty="0">
                <a:sym typeface="+mn-ea"/>
              </a:rPr>
              <a:t>1</a:t>
            </a:r>
            <a:r>
              <a:rPr lang="zh-CN" altLang="en-US" sz="2030" dirty="0">
                <a:sym typeface="+mn-ea"/>
              </a:rPr>
              <a:t>、理解</a:t>
            </a:r>
            <a:r>
              <a:rPr lang="en-US" altLang="zh-CN" sz="2030" dirty="0">
                <a:sym typeface="+mn-ea"/>
              </a:rPr>
              <a:t>DHCP</a:t>
            </a:r>
            <a:r>
              <a:rPr lang="zh-CN" altLang="en-US" sz="2030" dirty="0">
                <a:sym typeface="+mn-ea"/>
              </a:rPr>
              <a:t>服务器的基本概念和原理。</a:t>
            </a:r>
          </a:p>
          <a:p>
            <a:pPr marL="342900" indent="0" algn="l" latinLnBrk="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30" dirty="0">
                <a:sym typeface="+mn-ea"/>
              </a:rPr>
              <a:t>2</a:t>
            </a:r>
            <a:r>
              <a:rPr lang="zh-CN" altLang="en-US" sz="2030" dirty="0">
                <a:sym typeface="+mn-ea"/>
              </a:rPr>
              <a:t>、熟悉</a:t>
            </a:r>
            <a:r>
              <a:rPr lang="en-US" altLang="zh-CN" sz="2030" dirty="0">
                <a:sym typeface="+mn-ea"/>
              </a:rPr>
              <a:t>DHCP</a:t>
            </a:r>
            <a:r>
              <a:rPr lang="zh-CN" altLang="en-US" sz="2030" dirty="0">
                <a:sym typeface="+mn-ea"/>
              </a:rPr>
              <a:t>服务器的安装和配置方法。</a:t>
            </a:r>
          </a:p>
          <a:p>
            <a:pPr marL="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30" dirty="0">
                <a:sym typeface="+mn-ea"/>
              </a:rPr>
              <a:t>3</a:t>
            </a:r>
            <a:r>
              <a:rPr lang="zh-CN" altLang="en-US" sz="2030" dirty="0">
                <a:sym typeface="+mn-ea"/>
              </a:rPr>
              <a:t>、熟悉</a:t>
            </a:r>
            <a:r>
              <a:rPr lang="en-US" altLang="zh-CN" sz="2030" dirty="0">
                <a:sym typeface="+mn-ea"/>
              </a:rPr>
              <a:t>DHCP</a:t>
            </a:r>
            <a:r>
              <a:rPr lang="zh-CN" altLang="en-US" sz="2030" dirty="0">
                <a:sym typeface="+mn-ea"/>
              </a:rPr>
              <a:t>服务器</a:t>
            </a:r>
            <a:r>
              <a:rPr lang="en-US" altLang="zh-CN" sz="2030" dirty="0">
                <a:sym typeface="+mn-ea"/>
              </a:rPr>
              <a:t>IP</a:t>
            </a:r>
            <a:r>
              <a:rPr lang="zh-CN" altLang="en-US" sz="2030" dirty="0">
                <a:sym typeface="+mn-ea"/>
              </a:rPr>
              <a:t>地址的静态配置、</a:t>
            </a:r>
            <a:r>
              <a:rPr lang="en-US" altLang="zh-CN" sz="2030" dirty="0">
                <a:sym typeface="+mn-ea"/>
              </a:rPr>
              <a:t>DHCP</a:t>
            </a:r>
            <a:r>
              <a:rPr lang="zh-CN" altLang="en-US" sz="2030" dirty="0">
                <a:sym typeface="+mn-ea"/>
              </a:rPr>
              <a:t>客户端</a:t>
            </a:r>
            <a:r>
              <a:rPr lang="en-US" altLang="zh-CN" sz="2030" dirty="0">
                <a:sym typeface="+mn-ea"/>
              </a:rPr>
              <a:t>IP</a:t>
            </a:r>
            <a:r>
              <a:rPr lang="zh-CN" altLang="en-US" sz="2030" dirty="0">
                <a:sym typeface="+mn-ea"/>
              </a:rPr>
              <a:t>地址的动态获取。</a:t>
            </a:r>
          </a:p>
          <a:p>
            <a:pPr marL="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30" dirty="0">
                <a:sym typeface="+mn-ea"/>
              </a:rPr>
              <a:t>4</a:t>
            </a:r>
            <a:r>
              <a:rPr lang="zh-CN" altLang="en-US" sz="2030" dirty="0">
                <a:sym typeface="+mn-ea"/>
              </a:rPr>
              <a:t>、</a:t>
            </a:r>
            <a:r>
              <a:rPr lang="en-US" altLang="zh-CN" sz="2030" dirty="0">
                <a:sym typeface="+mn-ea"/>
              </a:rPr>
              <a:t>DHCP</a:t>
            </a:r>
            <a:r>
              <a:rPr lang="zh-CN" altLang="en-US" sz="2030" dirty="0">
                <a:sym typeface="+mn-ea"/>
              </a:rPr>
              <a:t>客户端“运行</a:t>
            </a:r>
            <a:r>
              <a:rPr lang="en-US" altLang="zh-CN" sz="2030" dirty="0">
                <a:sym typeface="+mn-ea"/>
              </a:rPr>
              <a:t>----</a:t>
            </a:r>
            <a:r>
              <a:rPr lang="en-US" altLang="zh-CN" sz="2030" dirty="0" err="1">
                <a:sym typeface="+mn-ea"/>
              </a:rPr>
              <a:t>cmd</a:t>
            </a:r>
            <a:r>
              <a:rPr lang="en-US" altLang="zh-CN" sz="2030" dirty="0">
                <a:sym typeface="+mn-ea"/>
              </a:rPr>
              <a:t>----</a:t>
            </a:r>
            <a:r>
              <a:rPr lang="en-US" altLang="zh-CN" sz="2030" dirty="0" err="1">
                <a:sym typeface="+mn-ea"/>
              </a:rPr>
              <a:t>ipconfig</a:t>
            </a:r>
            <a:r>
              <a:rPr lang="en-US" altLang="zh-CN" sz="2030" dirty="0">
                <a:sym typeface="+mn-ea"/>
              </a:rPr>
              <a:t>/all</a:t>
            </a:r>
            <a:r>
              <a:rPr lang="zh-CN" altLang="en-US" sz="2030" dirty="0">
                <a:sym typeface="+mn-ea"/>
              </a:rPr>
              <a:t>”命令查看获取到的</a:t>
            </a:r>
            <a:r>
              <a:rPr lang="en-US" altLang="zh-CN" sz="2030" dirty="0">
                <a:sym typeface="+mn-ea"/>
              </a:rPr>
              <a:t>IP</a:t>
            </a:r>
            <a:r>
              <a:rPr lang="zh-CN" altLang="en-US" sz="2030" dirty="0">
                <a:sym typeface="+mn-ea"/>
              </a:rPr>
              <a:t>地址信息，确认是否在 </a:t>
            </a:r>
            <a:r>
              <a:rPr lang="en-US" altLang="zh-CN" sz="2030" dirty="0">
                <a:sym typeface="+mn-ea"/>
              </a:rPr>
              <a:t>DHCP</a:t>
            </a:r>
            <a:r>
              <a:rPr lang="zh-CN" altLang="en-US" sz="2030" dirty="0">
                <a:sym typeface="+mn-ea"/>
              </a:rPr>
              <a:t>服务器所建立的</a:t>
            </a:r>
            <a:r>
              <a:rPr lang="en-US" altLang="zh-CN" sz="2030" dirty="0">
                <a:sym typeface="+mn-ea"/>
              </a:rPr>
              <a:t>IP</a:t>
            </a:r>
            <a:r>
              <a:rPr lang="zh-CN" altLang="en-US" sz="2030" dirty="0">
                <a:sym typeface="+mn-ea"/>
              </a:rPr>
              <a:t>作用域内。</a:t>
            </a:r>
            <a:endParaRPr lang="en-US" altLang="zh-CN" sz="2030" dirty="0">
              <a:sym typeface="+mn-ea"/>
            </a:endParaRPr>
          </a:p>
          <a:p>
            <a:pPr marL="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30" dirty="0">
                <a:sym typeface="+mn-ea"/>
              </a:rPr>
              <a:t>5</a:t>
            </a:r>
            <a:r>
              <a:rPr lang="zh-CN" altLang="en-US" sz="2030" dirty="0">
                <a:sym typeface="+mn-ea"/>
              </a:rPr>
              <a:t>、</a:t>
            </a:r>
            <a:r>
              <a:rPr lang="en-US" altLang="zh-CN" sz="2030" dirty="0">
                <a:sym typeface="+mn-ea"/>
              </a:rPr>
              <a:t>DHCP</a:t>
            </a:r>
            <a:r>
              <a:rPr lang="zh-CN" altLang="en-US" sz="2030" dirty="0">
                <a:sym typeface="+mn-ea"/>
              </a:rPr>
              <a:t>客户端“运行</a:t>
            </a:r>
            <a:r>
              <a:rPr lang="en-US" altLang="zh-CN" sz="2030" dirty="0">
                <a:sym typeface="+mn-ea"/>
              </a:rPr>
              <a:t>----</a:t>
            </a:r>
            <a:r>
              <a:rPr lang="en-US" altLang="zh-CN" sz="2030" dirty="0" err="1">
                <a:sym typeface="+mn-ea"/>
              </a:rPr>
              <a:t>cmd</a:t>
            </a:r>
            <a:r>
              <a:rPr lang="en-US" altLang="zh-CN" sz="2030" dirty="0">
                <a:sym typeface="+mn-ea"/>
              </a:rPr>
              <a:t>----</a:t>
            </a:r>
            <a:r>
              <a:rPr lang="en-US" altLang="zh-CN" sz="2030" dirty="0" err="1">
                <a:sym typeface="+mn-ea"/>
              </a:rPr>
              <a:t>ipconfig</a:t>
            </a:r>
            <a:r>
              <a:rPr lang="en-US" altLang="zh-CN" sz="2030" dirty="0">
                <a:sym typeface="+mn-ea"/>
              </a:rPr>
              <a:t> /release</a:t>
            </a:r>
            <a:r>
              <a:rPr lang="zh-CN" altLang="en-US" sz="2030" dirty="0">
                <a:sym typeface="+mn-ea"/>
              </a:rPr>
              <a:t>”命令释放获取到的</a:t>
            </a:r>
            <a:r>
              <a:rPr lang="en-US" altLang="zh-CN" sz="2030" dirty="0">
                <a:sym typeface="+mn-ea"/>
              </a:rPr>
              <a:t>IP</a:t>
            </a:r>
            <a:r>
              <a:rPr lang="zh-CN" altLang="en-US" sz="2030" dirty="0">
                <a:sym typeface="+mn-ea"/>
              </a:rPr>
              <a:t>地址， “运行</a:t>
            </a:r>
            <a:r>
              <a:rPr lang="en-US" altLang="zh-CN" sz="2030" dirty="0">
                <a:sym typeface="+mn-ea"/>
              </a:rPr>
              <a:t>----</a:t>
            </a:r>
            <a:r>
              <a:rPr lang="en-US" altLang="zh-CN" sz="2030" dirty="0" err="1">
                <a:sym typeface="+mn-ea"/>
              </a:rPr>
              <a:t>cmd</a:t>
            </a:r>
            <a:r>
              <a:rPr lang="en-US" altLang="zh-CN" sz="2030" dirty="0">
                <a:sym typeface="+mn-ea"/>
              </a:rPr>
              <a:t>----</a:t>
            </a:r>
            <a:r>
              <a:rPr lang="en-US" altLang="zh-CN" sz="2030" dirty="0" err="1">
                <a:sym typeface="+mn-ea"/>
              </a:rPr>
              <a:t>ipconfig</a:t>
            </a:r>
            <a:r>
              <a:rPr lang="en-US" altLang="zh-CN" sz="2030" dirty="0">
                <a:sym typeface="+mn-ea"/>
              </a:rPr>
              <a:t> /renew</a:t>
            </a:r>
            <a:r>
              <a:rPr lang="zh-CN" altLang="en-US" sz="2030" dirty="0">
                <a:sym typeface="+mn-ea"/>
              </a:rPr>
              <a:t>”命令重新动态获取</a:t>
            </a:r>
            <a:r>
              <a:rPr lang="en-US" altLang="zh-CN" sz="2030" dirty="0">
                <a:sym typeface="+mn-ea"/>
              </a:rPr>
              <a:t>IP</a:t>
            </a:r>
            <a:r>
              <a:rPr lang="zh-CN" altLang="en-US" sz="2030" dirty="0">
                <a:sym typeface="+mn-ea"/>
              </a:rPr>
              <a:t>地址 。</a:t>
            </a:r>
            <a:endParaRPr lang="en-US" altLang="zh-CN" sz="203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39985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025"/>
              <a:t>计算机通信与网络实验</a:t>
            </a:r>
            <a:endParaRPr lang="en-US" altLang="zh-CN" sz="1025"/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323528" y="1124744"/>
            <a:ext cx="6954629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实验内容</a:t>
            </a:r>
            <a:r>
              <a:rPr lang="zh-CN" altLang="zh-CN" sz="307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385" b="1" dirty="0"/>
              <a:t>                  </a:t>
            </a:r>
            <a:r>
              <a:rPr lang="zh-CN" altLang="en-US" sz="3755" b="1" dirty="0"/>
              <a:t>   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5274310" cy="3383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69690" y="3454965"/>
            <a:ext cx="5274310" cy="3403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539985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网络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" y="689610"/>
            <a:ext cx="9192895" cy="6153785"/>
          </a:xfrm>
          <a:prstGeom prst="rect">
            <a:avLst/>
          </a:prstGeom>
        </p:spPr>
      </p:pic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87624" y="2606040"/>
            <a:ext cx="7272655" cy="1645920"/>
          </a:xfrm>
        </p:spPr>
        <p:txBody>
          <a:bodyPr/>
          <a:lstStyle/>
          <a:p>
            <a:pPr eaLnBrk="1" hangingPunct="1"/>
            <a:r>
              <a:rPr lang="zh-CN" altLang="en-US" dirty="0">
                <a:sym typeface="+mn-ea"/>
              </a:rPr>
              <a:t>谢谢大家！</a:t>
            </a:r>
            <a:endParaRPr lang="zh-CN" altLang="en-US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2347</Words>
  <Application>Microsoft Office PowerPoint</Application>
  <PresentationFormat>全屏显示(4:3)</PresentationFormat>
  <Paragraphs>178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楷体</vt:lpstr>
      <vt:lpstr>楷体_GB2312</vt:lpstr>
      <vt:lpstr>宋体</vt:lpstr>
      <vt:lpstr>Arial</vt:lpstr>
      <vt:lpstr>Calibri</vt:lpstr>
      <vt:lpstr>Tahoma</vt:lpstr>
      <vt:lpstr>Times New Roman</vt:lpstr>
      <vt:lpstr>Wingdings</vt:lpstr>
      <vt:lpstr>Office 主题</vt:lpstr>
      <vt:lpstr>Paintbrush Picture</vt:lpstr>
      <vt:lpstr>《计算机通信与网络》  网 络 实 验</vt:lpstr>
      <vt:lpstr>《计算机通信与网络》实验内容</vt:lpstr>
      <vt:lpstr> 实验5.2      Windows下的DHCP服务器配置          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耳灵 木</cp:lastModifiedBy>
  <cp:revision>505</cp:revision>
  <dcterms:created xsi:type="dcterms:W3CDTF">2113-01-01T00:00:00Z</dcterms:created>
  <dcterms:modified xsi:type="dcterms:W3CDTF">2025-06-02T10:19:00Z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