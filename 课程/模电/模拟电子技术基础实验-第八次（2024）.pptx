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4" r:id="rId4"/>
    <p:sldMasterId id="2147483686" r:id="rId5"/>
  </p:sldMasterIdLst>
  <p:notesMasterIdLst>
    <p:notesMasterId r:id="rId26"/>
  </p:notesMasterIdLst>
  <p:handoutMasterIdLst>
    <p:handoutMasterId r:id="rId27"/>
  </p:handoutMasterIdLst>
  <p:sldIdLst>
    <p:sldId id="1114" r:id="rId6"/>
    <p:sldId id="1231" r:id="rId7"/>
    <p:sldId id="1230" r:id="rId8"/>
    <p:sldId id="1150" r:id="rId9"/>
    <p:sldId id="1159" r:id="rId10"/>
    <p:sldId id="1160" r:id="rId11"/>
    <p:sldId id="1152" r:id="rId12"/>
    <p:sldId id="1161" r:id="rId13"/>
    <p:sldId id="1162" r:id="rId14"/>
    <p:sldId id="920" r:id="rId15"/>
    <p:sldId id="923" r:id="rId16"/>
    <p:sldId id="924" r:id="rId17"/>
    <p:sldId id="943" r:id="rId18"/>
    <p:sldId id="931" r:id="rId19"/>
    <p:sldId id="1224" r:id="rId20"/>
    <p:sldId id="955" r:id="rId21"/>
    <p:sldId id="956" r:id="rId22"/>
    <p:sldId id="957" r:id="rId23"/>
    <p:sldId id="958" r:id="rId24"/>
    <p:sldId id="963" r:id="rId25"/>
  </p:sldIdLst>
  <p:sldSz cx="9144000" cy="6858000" type="screen4x3"/>
  <p:notesSz cx="9939020" cy="6807200"/>
  <p:custDataLst>
    <p:tags r:id="rId3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505F2C04-C923-438B-8C0F-E0CD2BADF298}">
      <wppc:fontMiss xmlns:wppc="http://www.wps.cn/officeDocument/PresentationCustomData" type="true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CC00CC"/>
    <a:srgbClr val="FFCC00"/>
    <a:srgbClr val="000099"/>
    <a:srgbClr val="008000"/>
    <a:srgbClr val="33CC33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102" autoAdjust="0"/>
    <p:restoredTop sz="97959" autoAdjust="0"/>
  </p:normalViewPr>
  <p:slideViewPr>
    <p:cSldViewPr showGuides="1">
      <p:cViewPr>
        <p:scale>
          <a:sx n="75" d="100"/>
          <a:sy n="75" d="100"/>
        </p:scale>
        <p:origin x="-978" y="6"/>
      </p:cViewPr>
      <p:guideLst>
        <p:guide orient="horz" pos="2138"/>
        <p:guide pos="2926"/>
      </p:guideLst>
    </p:cSldViewPr>
  </p:slideViewPr>
  <p:outlineViewPr>
    <p:cViewPr>
      <p:scale>
        <a:sx n="33" d="100"/>
        <a:sy n="33" d="100"/>
      </p:scale>
      <p:origin x="0" y="225666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228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22"/>
        <p:guide pos="3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1" Type="http://schemas.openxmlformats.org/officeDocument/2006/relationships/tags" Target="tags/tag3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1.xml"/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kumimoji="1"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7041948-4D8F-4F27-ACF6-6A49CECE5446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spcBef>
                <a:spcPct val="0"/>
              </a:spcBef>
              <a:defRPr kumimoji="1" sz="1200" b="0"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defRPr kumimoji="1" sz="1200" b="0"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kumimoji="1" sz="1200" b="0">
                <a:ea typeface="黑体" panose="0201060906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kumimoji="1" sz="1200" b="0">
                <a:ea typeface="黑体" panose="02010609060101010101" pitchFamily="2" charset="-122"/>
              </a:defRPr>
            </a:lvl1pPr>
          </a:lstStyle>
          <a:p>
            <a:pPr>
              <a:defRPr/>
            </a:pPr>
            <a:fld id="{C5C615D1-D7AD-41FF-8AE5-13D94186DFAC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6"/>
          <p:cNvGrpSpPr/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grpSp>
          <p:nvGrpSpPr>
            <p:cNvPr id="7" name="Group 25"/>
            <p:cNvGrpSpPr/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8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" name="Text Box 22"/>
          <p:cNvSpPr txBox="1">
            <a:spLocks noChangeArrowheads="1"/>
          </p:cNvSpPr>
          <p:nvPr userDrawn="1"/>
        </p:nvSpPr>
        <p:spPr bwMode="auto">
          <a:xfrm>
            <a:off x="1763713" y="561975"/>
            <a:ext cx="6840537" cy="106680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西安电子科技大学 计算机学院</a:t>
            </a:r>
            <a:endParaRPr lang="zh-CN" altLang="en-US" sz="3200" b="0">
              <a:solidFill>
                <a:srgbClr val="0000FF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>
              <a:defRPr/>
            </a:pPr>
            <a:r>
              <a:rPr lang="zh-CN" altLang="en-US" sz="3200" b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计算机专业实践中心</a:t>
            </a:r>
            <a:endParaRPr lang="zh-CN" altLang="en-US" sz="3200" b="0">
              <a:solidFill>
                <a:srgbClr val="0000FF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8" name="Rectangle 23"/>
          <p:cNvSpPr>
            <a:spLocks noChangeArrowheads="1"/>
          </p:cNvSpPr>
          <p:nvPr/>
        </p:nvSpPr>
        <p:spPr bwMode="auto">
          <a:xfrm>
            <a:off x="228600" y="5734050"/>
            <a:ext cx="2667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fld id="{71CF7A30-B5EE-4CB9-AB70-1944832C3B21}" type="datetime2">
              <a:rPr lang="zh-CN" altLang="en-US" sz="24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240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defRPr/>
            </a:pPr>
            <a:fld id="{B3F32C36-EA54-4197-A147-2CF1B9FF5033}" type="datetime11">
              <a:rPr lang="zh-CN" altLang="en-US" sz="24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en-US" altLang="zh-CN" sz="240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20" name="Object 27"/>
          <p:cNvGraphicFramePr>
            <a:graphicFrameLocks noChangeAspect="1"/>
          </p:cNvGraphicFramePr>
          <p:nvPr/>
        </p:nvGraphicFramePr>
        <p:xfrm>
          <a:off x="107950" y="96838"/>
          <a:ext cx="16954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2" imgW="2965450" imgH="2926080" progId="">
                  <p:embed/>
                </p:oleObj>
              </mc:Choice>
              <mc:Fallback>
                <p:oleObj name="" r:id="rId2" imgW="2965450" imgH="2926080" progId="">
                  <p:embed/>
                  <p:pic>
                    <p:nvPicPr>
                      <p:cNvPr id="0" name="Object 27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950" y="96838"/>
                        <a:ext cx="1695450" cy="167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400">
                <a:ea typeface="楷体_GB2312" pitchFamily="49" charset="-122"/>
              </a:defRPr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21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F39D5E-1AD9-4F12-ABF4-CA73F15C00A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06775-886D-4A90-BCE1-7603B11EBE91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9D60E-5070-4154-866A-2022AA21B98B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0E244-8E17-4612-BC97-E20BC89FD143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9717F6-70B9-4151-AB42-25F46E7AEC2F}" type="slidenum">
              <a:rPr lang="zh-CN" altLang="en-US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284DE-50BD-45C2-82A9-89654BF08C3A}" type="slidenum">
              <a:rPr lang="zh-CN" altLang="en-US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EAA39-3C97-483A-8BD4-1A836870852D}" type="slidenum">
              <a:rPr lang="zh-CN" altLang="en-US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3D9AFC-192F-4E56-80DD-DD277EEB7FCD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16059-D255-40D1-A42D-493331C89902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AC6A6-413A-4574-834C-A6CF23C7F822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06904-7AB3-475A-8A45-8C5205DD711E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163B8-28A5-454A-8517-0EC8751BA6B9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D074B8-6AC8-4797-A3E2-E89C69A4C924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259C8-0F38-46B6-8219-D70A7FA3B726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70AB2-32FD-47E3-9F1C-8331100A75AF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99323-204D-49C9-836F-85227CC4FBDD}" type="slidenum">
              <a:rPr lang="zh-CN" altLang="en-US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FB106B-73EA-4E0C-BDFC-19FB3C4C1A66}" type="slidenum">
              <a:rPr lang="zh-CN" altLang="en-US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C6EE94-9484-45CC-907B-29E626BF96F7}" type="slidenum">
              <a:rPr lang="zh-CN" altLang="en-US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085038-1418-4773-BEFC-7EDF9730462B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93BD57-3B13-4200-874D-CD559328A44B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F25C7-53C4-441E-A79C-FDEDD7F96308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809043-BBCA-4D76-B849-86FDD82E665C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550" y="44450"/>
            <a:ext cx="8229600" cy="523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5DD1E-95B7-4AFC-A793-44BC358169DF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550" y="44450"/>
            <a:ext cx="8229600" cy="5238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765175"/>
            <a:ext cx="8362950" cy="547211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C6397-64AB-4CCC-BF53-E689BA21C087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58976-B143-40E3-91A5-AD7D22B3562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A5C88-A6B4-4483-AE80-D4449F5587C9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04328D-C8F6-46C9-A853-C1E123D3FC9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47D69-6C97-4BF5-9A1D-38F9398A45C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D5328B-A5EE-4532-A9BC-A303D95C2D3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5C99AD-331D-4C7C-9713-45612F18B01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0870D-FD80-4BF5-843C-03DAE22675C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FA6B61-776C-412D-AFA5-C471544FE25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339EC-028D-46AD-A9FD-9495B595439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5AB73-168B-48B0-B7C3-D89470CC221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AD3C9-A231-43F7-9B5D-A4F17EB4C53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DB3EF7-4725-4F3E-B8F2-025BF81A8530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B3370-188A-4201-9E9E-ACA13817ECEF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A93F4-8248-4333-A932-9DA362865AB4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992D93-548A-4A54-869C-3A02D90AC4DD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91889D-960D-47C5-AE56-E23807117411}" type="slidenum">
              <a:rPr lang="zh-CN" altLang="en-US"/>
            </a:fld>
            <a:endParaRPr lang="en-US" altLang="zh-CN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4AD2B3-7D9A-43DB-BCF0-CC06469A9266}" type="slidenum">
              <a:rPr lang="zh-CN" altLang="en-US"/>
            </a:fld>
            <a:endParaRPr lang="en-US" altLang="zh-CN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ACF87-0C24-4302-8742-D49AAD35F421}" type="slidenum">
              <a:rPr lang="zh-CN" altLang="en-US"/>
            </a:fld>
            <a:endParaRPr lang="en-US" altLang="zh-CN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AB741-C669-40C4-A7B5-6F4D0BFA36A7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91CB6-69F9-4566-90EF-439D988C62E3}" type="slidenum">
              <a:rPr lang="zh-CN" altLang="en-US"/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4B997-55F2-4846-9D51-67C273A21820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1C45BD-3BA3-4766-B5AA-36A19C62EE36}" type="slidenum">
              <a:rPr lang="zh-CN" altLang="en-US"/>
            </a:fld>
            <a:endParaRPr lang="en-US" altLang="zh-CN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5" Type="http://schemas.openxmlformats.org/officeDocument/2006/relationships/theme" Target="../theme/theme3.xml"/><Relationship Id="rId14" Type="http://schemas.openxmlformats.org/officeDocument/2006/relationships/vmlDrawing" Target="../drawings/vmlDrawing2.vml"/><Relationship Id="rId13" Type="http://schemas.openxmlformats.org/officeDocument/2006/relationships/image" Target="../media/image1.wmf"/><Relationship Id="rId12" Type="http://schemas.openxmlformats.org/officeDocument/2006/relationships/oleObject" Target="../embeddings/oleObject2.bin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9"/>
          <p:cNvGrpSpPr/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defRPr sz="1200" b="0">
                <a:latin typeface="+mj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latin typeface="Arial Black" panose="020B0A040201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4F58A71-28C5-4D4A-864A-BB5045E51558}" type="slidenum">
              <a:rPr lang="zh-CN" altLang="en-US"/>
            </a:fld>
            <a:endParaRPr lang="en-US" altLang="zh-CN"/>
          </a:p>
        </p:txBody>
      </p:sp>
      <p:sp>
        <p:nvSpPr>
          <p:cNvPr id="614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615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latin typeface="+mj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802005" indent="-279400" algn="l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339850" indent="-358775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anose="05000000000000000000" pitchFamily="2" charset="2"/>
        <a:buChar char="p"/>
        <a:defRPr sz="2800" b="1">
          <a:solidFill>
            <a:schemeClr val="tx1"/>
          </a:solidFill>
          <a:latin typeface="+mn-lt"/>
          <a:ea typeface="+mn-ea"/>
        </a:defRPr>
      </a:lvl3pPr>
      <a:lvl4pPr marL="1879600" indent="-360680" algn="l" rtl="0" eaLnBrk="0" fontAlgn="base" hangingPunct="0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+mn-lt"/>
          <a:ea typeface="楷体_GB2312" pitchFamily="49" charset="-122"/>
        </a:defRPr>
      </a:lvl4pPr>
      <a:lvl5pPr marL="23304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5pPr>
      <a:lvl6pPr marL="27876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19"/>
          <p:cNvGrpSpPr/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defRPr sz="1200" b="0"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latin typeface="Arial Black" panose="020B0A04020102020204" pitchFamily="34" charset="0"/>
                <a:ea typeface="+mn-ea"/>
              </a:defRPr>
            </a:lvl1pPr>
          </a:lstStyle>
          <a:p>
            <a:pPr>
              <a:defRPr/>
            </a:pPr>
            <a:fld id="{7C5FA472-53F5-4A6E-ACB7-A03953FB270D}" type="slidenum">
              <a:rPr lang="zh-CN" altLang="en-US"/>
            </a:fld>
            <a:endParaRPr lang="en-US" altLang="zh-CN"/>
          </a:p>
        </p:txBody>
      </p:sp>
      <p:sp>
        <p:nvSpPr>
          <p:cNvPr id="717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717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latin typeface="+mj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ransition spd="med"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802005" indent="-279400" algn="l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339850" indent="-358775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anose="05000000000000000000" pitchFamily="2" charset="2"/>
        <a:buChar char="p"/>
        <a:defRPr sz="2800" b="1">
          <a:solidFill>
            <a:schemeClr val="tx1"/>
          </a:solidFill>
          <a:latin typeface="+mn-lt"/>
          <a:ea typeface="+mn-ea"/>
        </a:defRPr>
      </a:lvl3pPr>
      <a:lvl4pPr marL="1879600" indent="-360680" algn="l" rtl="0" eaLnBrk="0" fontAlgn="base" hangingPunct="0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+mn-lt"/>
          <a:ea typeface="+mn-ea"/>
        </a:defRPr>
      </a:lvl4pPr>
      <a:lvl5pPr marL="23304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5pPr>
      <a:lvl6pPr marL="27876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6pPr>
      <a:lvl7pPr marL="32448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7pPr>
      <a:lvl8pPr marL="37020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8pPr>
      <a:lvl9pPr marL="41592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6" name="Group 26"/>
          <p:cNvGrpSpPr/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9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/>
            </a:p>
          </p:txBody>
        </p:sp>
        <p:sp>
          <p:nvSpPr>
            <p:cNvPr id="20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/>
            </a:p>
          </p:txBody>
        </p:sp>
        <p:grpSp>
          <p:nvGrpSpPr>
            <p:cNvPr id="3087" name="Group 25"/>
            <p:cNvGrpSpPr/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22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3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 b="0"/>
              </a:p>
            </p:txBody>
          </p:sp>
        </p:grpSp>
      </p:grpSp>
      <p:sp>
        <p:nvSpPr>
          <p:cNvPr id="31" name="Text Box 22"/>
          <p:cNvSpPr txBox="1">
            <a:spLocks noChangeArrowheads="1"/>
          </p:cNvSpPr>
          <p:nvPr userDrawn="1"/>
        </p:nvSpPr>
        <p:spPr bwMode="auto">
          <a:xfrm>
            <a:off x="1763713" y="561975"/>
            <a:ext cx="7129462" cy="1066800"/>
          </a:xfrm>
          <a:prstGeom prst="rect">
            <a:avLst/>
          </a:prstGeom>
          <a:noFill/>
          <a:ln w="28575" algn="ctr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b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西安电子科技大学</a:t>
            </a:r>
            <a:endParaRPr lang="zh-CN" altLang="en-US" sz="3200" b="0">
              <a:solidFill>
                <a:srgbClr val="0000FF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>
              <a:defRPr/>
            </a:pPr>
            <a:r>
              <a:rPr lang="zh-CN" altLang="en-US" sz="3200" b="0">
                <a:solidFill>
                  <a:srgbClr val="0000FF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计算机学院  计算机专业实践中心</a:t>
            </a:r>
            <a:endParaRPr lang="zh-CN" altLang="en-US" sz="3200" b="0">
              <a:solidFill>
                <a:srgbClr val="0000FF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32" name="Rectangle 23"/>
          <p:cNvSpPr>
            <a:spLocks noChangeArrowheads="1"/>
          </p:cNvSpPr>
          <p:nvPr/>
        </p:nvSpPr>
        <p:spPr bwMode="auto">
          <a:xfrm>
            <a:off x="228600" y="5734050"/>
            <a:ext cx="2667000" cy="838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/>
          <a:p>
            <a:pPr>
              <a:defRPr/>
            </a:pPr>
            <a:fld id="{D5F7558E-D2F2-4675-A51D-66561E80D799}" type="datetime2">
              <a:rPr lang="zh-CN" altLang="en-US" sz="24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zh-CN" altLang="en-US" sz="240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  <a:p>
            <a:pPr>
              <a:defRPr/>
            </a:pPr>
            <a:fld id="{9DE68B84-7072-4E6A-B9E5-2D4EB1C3B3FE}" type="datetime11">
              <a:rPr lang="zh-CN" altLang="en-US" sz="2400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</a:fld>
            <a:endParaRPr lang="en-US" altLang="zh-CN" sz="2400">
              <a:solidFill>
                <a:srgbClr val="3333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33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endParaRPr lang="zh-CN" altLang="en-US"/>
          </a:p>
        </p:txBody>
      </p:sp>
      <p:graphicFrame>
        <p:nvGraphicFramePr>
          <p:cNvPr id="3074" name="Object 27"/>
          <p:cNvGraphicFramePr>
            <a:graphicFrameLocks noChangeAspect="1"/>
          </p:cNvGraphicFramePr>
          <p:nvPr/>
        </p:nvGraphicFramePr>
        <p:xfrm>
          <a:off x="107950" y="96838"/>
          <a:ext cx="169545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r:id="rId12" imgW="2965450" imgH="2926080" progId="">
                  <p:embed/>
                </p:oleObj>
              </mc:Choice>
              <mc:Fallback>
                <p:oleObj name="" r:id="rId12" imgW="2965450" imgH="2926080" progId="">
                  <p:embed/>
                  <p:pic>
                    <p:nvPicPr>
                      <p:cNvPr id="0" name="Object 27"/>
                      <p:cNvPicPr>
                        <a:picLocks noChangeAspect="1"/>
                      </p:cNvPicPr>
                      <p:nvPr userDrawn="1"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7950" y="96838"/>
                        <a:ext cx="1695450" cy="167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08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35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9982699D-1E24-4A0B-A610-CB386783FDE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med"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802005" indent="-279400" algn="l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339850" indent="-358775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anose="05000000000000000000" pitchFamily="2" charset="2"/>
        <a:buChar char="p"/>
        <a:defRPr sz="2800" b="1">
          <a:solidFill>
            <a:schemeClr val="tx1"/>
          </a:solidFill>
          <a:latin typeface="+mn-lt"/>
          <a:ea typeface="+mn-ea"/>
        </a:defRPr>
      </a:lvl3pPr>
      <a:lvl4pPr marL="1879600" indent="-360680" algn="l" rtl="0" eaLnBrk="0" fontAlgn="base" hangingPunct="0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+mn-lt"/>
          <a:ea typeface="+mn-ea"/>
        </a:defRPr>
      </a:lvl4pPr>
      <a:lvl5pPr marL="23304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5pPr>
      <a:lvl6pPr marL="27876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6pPr>
      <a:lvl7pPr marL="32448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7pPr>
      <a:lvl8pPr marL="37020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8pPr>
      <a:lvl9pPr marL="4159250" indent="-27178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9"/>
          <p:cNvGrpSpPr/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1800" b="0">
                <a:solidFill>
                  <a:schemeClr val="accent2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defRPr sz="1200" b="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C6F20762-FD2A-43A3-A026-696F43A43723}" type="slidenum">
              <a:rPr lang="zh-CN" altLang="en-US"/>
            </a:fld>
            <a:endParaRPr lang="en-US" altLang="zh-CN"/>
          </a:p>
        </p:txBody>
      </p:sp>
      <p:sp>
        <p:nvSpPr>
          <p:cNvPr id="819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819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med"/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802005" indent="-279400" algn="l" rtl="0" eaLnBrk="0" fontAlgn="base" hangingPunct="0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anose="05000000000000000000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339850" indent="-358775" algn="l" rtl="0" eaLnBrk="0" fontAlgn="base" hangingPunct="0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anose="05000000000000000000" pitchFamily="2" charset="2"/>
        <a:buChar char="p"/>
        <a:defRPr sz="2800" b="1">
          <a:solidFill>
            <a:schemeClr val="tx1"/>
          </a:solidFill>
          <a:latin typeface="+mn-lt"/>
          <a:ea typeface="+mn-ea"/>
        </a:defRPr>
      </a:lvl3pPr>
      <a:lvl4pPr marL="1879600" indent="-360680" algn="l" rtl="0" eaLnBrk="0" fontAlgn="base" hangingPunct="0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anose="05000000000000000000" pitchFamily="2" charset="2"/>
        <a:buChar char="u"/>
        <a:defRPr sz="2400" b="1">
          <a:solidFill>
            <a:schemeClr val="tx1"/>
          </a:solidFill>
          <a:latin typeface="+mn-lt"/>
          <a:ea typeface="楷体_GB2312" pitchFamily="49" charset="-122"/>
        </a:defRPr>
      </a:lvl4pPr>
      <a:lvl5pPr marL="23304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5pPr>
      <a:lvl6pPr marL="27876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78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anose="05000000000000000000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2.wmf"/><Relationship Id="rId2" Type="http://schemas.openxmlformats.org/officeDocument/2006/relationships/oleObject" Target="../embeddings/oleObject3.bin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24.xml"/><Relationship Id="rId7" Type="http://schemas.openxmlformats.org/officeDocument/2006/relationships/image" Target="../media/image4.wmf"/><Relationship Id="rId6" Type="http://schemas.openxmlformats.org/officeDocument/2006/relationships/oleObject" Target="../embeddings/oleObject5.bin"/><Relationship Id="rId5" Type="http://schemas.openxmlformats.org/officeDocument/2006/relationships/tags" Target="../tags/tag2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4.bin"/><Relationship Id="rId2" Type="http://schemas.openxmlformats.org/officeDocument/2006/relationships/tags" Target="../tags/tag1.xml"/><Relationship Id="rId1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6.bin"/><Relationship Id="rId1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4.xml"/><Relationship Id="rId3" Type="http://schemas.openxmlformats.org/officeDocument/2006/relationships/slide" Target="slide1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42.xml"/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" Target="slide1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42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9.bin"/><Relationship Id="rId2" Type="http://schemas.openxmlformats.org/officeDocument/2006/relationships/slide" Target="slide1.xml"/><Relationship Id="rId1" Type="http://schemas.openxmlformats.org/officeDocument/2006/relationships/slide" Target="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70086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0" y="2060848"/>
            <a:ext cx="8740775" cy="1752600"/>
          </a:xfrm>
        </p:spPr>
        <p:txBody>
          <a:bodyPr anchor="ctr"/>
          <a:lstStyle/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4000" b="0" dirty="0" smtClean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模拟电子技术基础</a:t>
            </a:r>
            <a:r>
              <a:rPr lang="zh-CN" altLang="en-US" sz="4000" b="0" dirty="0" smtClean="0">
                <a:solidFill>
                  <a:srgbClr val="FFCC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实验</a:t>
            </a:r>
            <a:endParaRPr lang="zh-CN" altLang="en-US" sz="4000" b="0" dirty="0" smtClean="0">
              <a:solidFill>
                <a:srgbClr val="FFCC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4000" b="0" dirty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第</a:t>
            </a:r>
            <a:r>
              <a:rPr lang="en-US" altLang="zh-CN" sz="7300" b="0" dirty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3</a:t>
            </a:r>
            <a:r>
              <a:rPr lang="zh-CN" altLang="en-US" sz="4000" b="0" dirty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章  </a:t>
            </a:r>
            <a:r>
              <a:rPr lang="zh-CN" altLang="en-US" sz="4000" b="0" dirty="0" smtClean="0">
                <a:solidFill>
                  <a:srgbClr val="FF66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模拟电子线路</a:t>
            </a:r>
            <a:r>
              <a:rPr lang="zh-CN" altLang="en-US" sz="4000" b="0" dirty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实验内容</a:t>
            </a:r>
            <a:endParaRPr lang="zh-CN" altLang="en-US" sz="4000" b="0" dirty="0" smtClean="0">
              <a:solidFill>
                <a:srgbClr val="CCFF66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2138680" y="4459605"/>
            <a:ext cx="6537325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zh-CN" sz="5400" b="0">
                <a:solidFill>
                  <a:srgbClr val="0000FF"/>
                </a:solidFill>
                <a:ea typeface="隶书" panose="02010509060101010101" pitchFamily="49" charset="-122"/>
              </a:rPr>
              <a:t>运算放大器应用设计</a:t>
            </a:r>
            <a:endParaRPr lang="zh-CN" altLang="zh-CN" sz="5400" b="0">
              <a:solidFill>
                <a:srgbClr val="0000FF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36EC6397-64AB-4CCC-BF53-E689BA21C087}" type="slidenum">
              <a:rPr lang="zh-CN" altLang="en-US"/>
            </a:fld>
            <a:endParaRPr lang="en-US" altLang="zh-CN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zh-CN" dirty="0"/>
              <a:t>一 </a:t>
            </a:r>
            <a:r>
              <a:rPr lang="zh-CN" altLang="en-US" dirty="0" smtClean="0"/>
              <a:t>、</a:t>
            </a:r>
            <a:r>
              <a:rPr lang="zh-CN" altLang="zh-CN" dirty="0" smtClean="0"/>
              <a:t>实</a:t>
            </a:r>
            <a:r>
              <a:rPr lang="zh-CN" altLang="zh-CN" dirty="0"/>
              <a:t>验目</a:t>
            </a:r>
            <a:r>
              <a:rPr lang="zh-CN" altLang="zh-CN" dirty="0" smtClean="0"/>
              <a:t>的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817880" y="765175"/>
            <a:ext cx="7711440" cy="3862705"/>
          </a:xfrm>
        </p:spPr>
        <p:txBody>
          <a:bodyPr/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 smtClean="0"/>
              <a:t>理</a:t>
            </a:r>
            <a:r>
              <a:rPr lang="zh-CN" altLang="zh-CN" dirty="0"/>
              <a:t>解脉冲宽度调制</a:t>
            </a:r>
            <a:r>
              <a:rPr lang="zh-CN" altLang="zh-CN" dirty="0"/>
              <a:t>器的工作原</a:t>
            </a:r>
            <a:r>
              <a:rPr lang="zh-CN" altLang="zh-CN" dirty="0"/>
              <a:t>理；</a:t>
            </a:r>
            <a:endParaRPr lang="zh-CN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理解正交</a:t>
            </a:r>
            <a:r>
              <a:rPr lang="zh-CN" altLang="zh-CN" dirty="0"/>
              <a:t>振荡器的工作原理；</a:t>
            </a:r>
            <a:endParaRPr lang="zh-CN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dirty="0"/>
              <a:t>理解文氏振荡器的工作原理及</a:t>
            </a:r>
            <a:r>
              <a:rPr lang="zh-CN" altLang="zh-CN" dirty="0"/>
              <a:t>起振条件</a:t>
            </a:r>
            <a:r>
              <a:rPr lang="zh-CN" altLang="zh-CN" dirty="0" smtClean="0"/>
              <a:t>；</a:t>
            </a:r>
            <a:endParaRPr lang="en-US" altLang="zh-CN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/>
              <a:t>能够</a:t>
            </a:r>
            <a:r>
              <a:rPr lang="zh-CN" altLang="en-US" dirty="0" smtClean="0"/>
              <a:t>掌握对电路运算放大器</a:t>
            </a:r>
            <a:r>
              <a:rPr lang="zh-CN" altLang="en-US" dirty="0" smtClean="0"/>
              <a:t>振荡电路的</a:t>
            </a:r>
            <a:r>
              <a:rPr lang="zh-CN" altLang="en-US" dirty="0" smtClean="0"/>
              <a:t>调试。</a:t>
            </a:r>
            <a:endParaRPr lang="zh-CN" altLang="zh-CN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>
              <a:defRPr/>
            </a:pPr>
            <a:fld id="{36EC6397-64AB-4CCC-BF53-E689BA21C087}" type="slidenum">
              <a:rPr lang="zh-CN" altLang="en-US"/>
            </a:fld>
            <a:endParaRPr lang="en-US" altLang="zh-CN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3260" y="44133"/>
            <a:ext cx="8229600" cy="523875"/>
          </a:xfrm>
        </p:spPr>
        <p:txBody>
          <a:bodyPr/>
          <a:p>
            <a:pPr eaLnBrk="1" hangingPunct="1"/>
            <a:r>
              <a:rPr lang="zh-CN" altLang="en-US" smtClean="0">
                <a:solidFill>
                  <a:srgbClr val="006600"/>
                </a:solidFill>
              </a:rPr>
              <a:t>实验</a:t>
            </a:r>
            <a:r>
              <a:rPr lang="zh-CN" altLang="en-US" smtClean="0">
                <a:solidFill>
                  <a:srgbClr val="006600"/>
                </a:solidFill>
              </a:rPr>
              <a:t>八  </a:t>
            </a:r>
            <a:r>
              <a:rPr lang="zh-CN" altLang="en-US" smtClean="0">
                <a:solidFill>
                  <a:srgbClr val="FF0000"/>
                </a:solidFill>
              </a:rPr>
              <a:t>运算放大器</a:t>
            </a:r>
            <a:r>
              <a:rPr lang="zh-CN" altLang="en-US" smtClean="0"/>
              <a:t>应用</a:t>
            </a:r>
            <a:endParaRPr lang="zh-CN" altLang="en-US" smtClean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01980" y="1700530"/>
            <a:ext cx="4319905" cy="2726055"/>
          </a:xfrm>
        </p:spPr>
        <p:txBody>
          <a:bodyPr/>
          <a:p>
            <a:pPr marL="358775" indent="-358775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二、实验内容</a:t>
            </a:r>
            <a:r>
              <a:rPr lang="zh-CN" altLang="en-US" smtClean="0">
                <a:sym typeface="Wingdings" panose="05000000000000000000" pitchFamily="2" charset="2"/>
              </a:rPr>
              <a:t>：</a:t>
            </a:r>
            <a:endParaRPr lang="zh-CN" altLang="en-US" smtClean="0">
              <a:sym typeface="Wingdings" panose="05000000000000000000" pitchFamily="2" charset="2"/>
            </a:endParaRPr>
          </a:p>
          <a:p>
            <a:pPr marL="358775" indent="-358775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1. </a:t>
            </a:r>
            <a:r>
              <a:rPr lang="zh-CN" altLang="en-US" smtClean="0"/>
              <a:t>脉冲宽度</a:t>
            </a:r>
            <a:r>
              <a:rPr lang="zh-CN" altLang="en-US" smtClean="0"/>
              <a:t>调制器</a:t>
            </a:r>
            <a:endParaRPr lang="zh-CN" altLang="en-US" smtClean="0"/>
          </a:p>
          <a:p>
            <a:pPr marL="358775" indent="-358775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2. </a:t>
            </a:r>
            <a:r>
              <a:rPr lang="zh-CN" altLang="en-US" smtClean="0"/>
              <a:t>正交振荡器（验收</a:t>
            </a:r>
            <a:r>
              <a:rPr lang="en-US" altLang="zh-CN" smtClean="0"/>
              <a:t>“</a:t>
            </a:r>
            <a:r>
              <a:rPr lang="en-US" altLang="zh-CN" smtClean="0"/>
              <a:t>O”</a:t>
            </a:r>
            <a:r>
              <a:rPr lang="zh-CN" altLang="en-US" smtClean="0"/>
              <a:t>）</a:t>
            </a:r>
            <a:endParaRPr lang="zh-CN" altLang="en-US" smtClean="0"/>
          </a:p>
          <a:p>
            <a:pPr marL="358775" indent="-358775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mtClean="0"/>
              <a:t>3. </a:t>
            </a:r>
            <a:r>
              <a:rPr lang="zh-CN" altLang="en-US" smtClean="0"/>
              <a:t>文氏振荡电路（选作）</a:t>
            </a:r>
            <a:endParaRPr lang="zh-CN" altLang="en-US" smtClean="0"/>
          </a:p>
          <a:p>
            <a:pPr marL="358775" indent="-358775" eaLnBrk="1" hangingPunct="1">
              <a:lnSpc>
                <a:spcPct val="120000"/>
              </a:lnSpc>
            </a:pPr>
            <a:endParaRPr lang="en-US" altLang="zh-CN" smtClean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96838"/>
            <a:ext cx="8229600" cy="52387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实验八  运算放大器应用</a:t>
            </a:r>
            <a:r>
              <a:rPr lang="en-US" altLang="zh-CN" dirty="0" smtClean="0"/>
              <a:t>(</a:t>
            </a:r>
            <a:r>
              <a:rPr lang="zh-CN" altLang="en-US" dirty="0" smtClean="0"/>
              <a:t>一</a:t>
            </a:r>
            <a:r>
              <a:rPr lang="en-US" altLang="zh-CN" dirty="0" smtClean="0"/>
              <a:t>)</a:t>
            </a:r>
            <a:r>
              <a:rPr lang="en-US" altLang="zh-CN" dirty="0" smtClean="0"/>
              <a:t>    </a:t>
            </a:r>
            <a:r>
              <a:rPr lang="zh-CN" altLang="en-US" dirty="0" smtClean="0">
                <a:solidFill>
                  <a:srgbClr val="FF0066"/>
                </a:solidFill>
              </a:rPr>
              <a:t>方波发生器</a:t>
            </a:r>
            <a:endParaRPr lang="zh-CN" altLang="en-US" dirty="0" smtClean="0">
              <a:solidFill>
                <a:srgbClr val="FF0066"/>
              </a:solidFill>
            </a:endParaRPr>
          </a:p>
        </p:txBody>
      </p:sp>
      <p:sp>
        <p:nvSpPr>
          <p:cNvPr id="71734" name="AutoShape 5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2071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bg2"/>
                </a:solidFill>
              </a:rPr>
              <a:t>试验箱</a:t>
            </a:r>
            <a:endParaRPr lang="zh-CN" altLang="en-US" sz="2400">
              <a:solidFill>
                <a:schemeClr val="bg2"/>
              </a:solidFill>
            </a:endParaRPr>
          </a:p>
        </p:txBody>
      </p:sp>
      <p:sp>
        <p:nvSpPr>
          <p:cNvPr id="71735" name="AutoShape 65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1125538"/>
            <a:ext cx="1077913" cy="43180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双电源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71736" name="AutoShape 5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5280" y="162909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示波器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850" y="4797425"/>
            <a:ext cx="847344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起始时刻，电容</a:t>
            </a:r>
            <a:r>
              <a:rPr lang="en-US" altLang="zh-CN" sz="2400"/>
              <a:t>C1</a:t>
            </a:r>
            <a:r>
              <a:rPr lang="zh-CN" altLang="en-US" sz="2400"/>
              <a:t>电压为</a:t>
            </a:r>
            <a:r>
              <a:rPr lang="en-US" altLang="zh-CN" sz="2400"/>
              <a:t>0</a:t>
            </a:r>
            <a:r>
              <a:rPr lang="zh-CN" altLang="en-US" sz="2400"/>
              <a:t>，系统正反馈，使得</a:t>
            </a:r>
            <a:r>
              <a:rPr lang="en-US" altLang="zh-CN" sz="2400"/>
              <a:t>V1</a:t>
            </a:r>
            <a:r>
              <a:rPr lang="zh-CN" altLang="en-US" sz="2400"/>
              <a:t>输出为高，通过反馈回路给</a:t>
            </a:r>
            <a:r>
              <a:rPr lang="en-US" altLang="zh-CN" sz="2400"/>
              <a:t>C1</a:t>
            </a:r>
            <a:r>
              <a:rPr lang="zh-CN" altLang="en-US" sz="2400"/>
              <a:t>充电，使得反向输入端</a:t>
            </a:r>
            <a:r>
              <a:rPr lang="en-US" altLang="zh-CN" sz="2400"/>
              <a:t>2</a:t>
            </a:r>
            <a:r>
              <a:rPr lang="zh-CN" altLang="en-US" sz="2400"/>
              <a:t>电压上升，而同相输入端电压由</a:t>
            </a:r>
            <a:r>
              <a:rPr lang="en-US" altLang="zh-CN" sz="2400"/>
              <a:t>R1</a:t>
            </a:r>
            <a:r>
              <a:rPr lang="zh-CN" altLang="en-US" sz="2400"/>
              <a:t>、</a:t>
            </a:r>
            <a:r>
              <a:rPr lang="en-US" altLang="zh-CN" sz="2400"/>
              <a:t>R5</a:t>
            </a:r>
            <a:r>
              <a:rPr lang="zh-CN" altLang="en-US" sz="2400"/>
              <a:t>对输出高电平分压获得，当</a:t>
            </a:r>
            <a:r>
              <a:rPr lang="en-US" altLang="zh-CN" sz="2400"/>
              <a:t>C1</a:t>
            </a:r>
            <a:r>
              <a:rPr lang="zh-CN" altLang="en-US" sz="2400"/>
              <a:t>充电大于同相端电压时，电路输出翻转为低电平，电容</a:t>
            </a:r>
            <a:r>
              <a:rPr lang="en-US" altLang="zh-CN" sz="2400"/>
              <a:t>C1</a:t>
            </a:r>
            <a:r>
              <a:rPr lang="zh-CN" altLang="en-US" sz="2400"/>
              <a:t>开始放电，当</a:t>
            </a:r>
            <a:r>
              <a:rPr lang="en-US" altLang="zh-CN" sz="2400">
                <a:sym typeface="+mn-ea"/>
              </a:rPr>
              <a:t>C1</a:t>
            </a:r>
            <a:r>
              <a:rPr lang="zh-CN" altLang="en-US" sz="2400">
                <a:sym typeface="+mn-ea"/>
              </a:rPr>
              <a:t>放电低于同相端电压时，输出再次翻转，如此循环。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097145" y="621030"/>
            <a:ext cx="2766695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周期</a:t>
            </a:r>
            <a:r>
              <a:rPr lang="en-US" altLang="zh-CN">
                <a:solidFill>
                  <a:srgbClr val="FF0000"/>
                </a:solidFill>
              </a:rPr>
              <a:t>t=3RC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调节电位器</a:t>
            </a:r>
            <a:r>
              <a:rPr lang="en-US" altLang="zh-CN" dirty="0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R6</a:t>
            </a:r>
            <a:r>
              <a:rPr lang="zh-CN" altLang="en-US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使方波发生器产生频率为 </a:t>
            </a:r>
            <a:r>
              <a:rPr lang="en-US" altLang="zh-CN" dirty="0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10</a:t>
            </a:r>
            <a:r>
              <a:rPr lang="en-US" altLang="zh-CN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kHz</a:t>
            </a:r>
            <a:r>
              <a:rPr lang="zh-CN" altLang="en-US" dirty="0">
                <a:solidFill>
                  <a:srgbClr val="00B050"/>
                </a:solidFill>
                <a:latin typeface="宋体" panose="02010600030101010101" pitchFamily="2" charset="-122"/>
                <a:sym typeface="+mn-ea"/>
              </a:rPr>
              <a:t>的方波信号</a:t>
            </a:r>
            <a:endParaRPr lang="zh-CN" altLang="en-US" dirty="0">
              <a:solidFill>
                <a:srgbClr val="00B050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6" name="对象 5"/>
          <p:cNvGraphicFramePr/>
          <p:nvPr/>
        </p:nvGraphicFramePr>
        <p:xfrm>
          <a:off x="1115060" y="908685"/>
          <a:ext cx="3583940" cy="349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3581400" imgH="3495675" progId="Paint.Picture">
                  <p:embed/>
                </p:oleObj>
              </mc:Choice>
              <mc:Fallback>
                <p:oleObj name="" r:id="rId2" imgW="3581400" imgH="3495675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15060" y="908685"/>
                        <a:ext cx="3583940" cy="3498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96838"/>
            <a:ext cx="8229600" cy="52387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实验八  运算放大器应用</a:t>
            </a:r>
            <a:r>
              <a:rPr lang="en-US" altLang="zh-CN" dirty="0" smtClean="0">
                <a:sym typeface="+mn-ea"/>
              </a:rPr>
              <a:t>(</a:t>
            </a:r>
            <a:r>
              <a:rPr lang="zh-CN" altLang="en-US" dirty="0" smtClean="0">
                <a:sym typeface="+mn-ea"/>
              </a:rPr>
              <a:t>一</a:t>
            </a:r>
            <a:r>
              <a:rPr lang="en-US" altLang="zh-CN" dirty="0" smtClean="0">
                <a:sym typeface="+mn-ea"/>
              </a:rPr>
              <a:t>)</a:t>
            </a:r>
            <a:r>
              <a:rPr lang="en-US" altLang="zh-CN" dirty="0" smtClean="0"/>
              <a:t>     </a:t>
            </a:r>
            <a:r>
              <a:rPr lang="zh-CN" altLang="en-US" dirty="0" smtClean="0">
                <a:solidFill>
                  <a:srgbClr val="FF0066"/>
                </a:solidFill>
              </a:rPr>
              <a:t>积分电路</a:t>
            </a:r>
            <a:endParaRPr lang="zh-CN" altLang="en-US" dirty="0" smtClean="0">
              <a:solidFill>
                <a:srgbClr val="FF0066"/>
              </a:solidFill>
            </a:endParaRPr>
          </a:p>
        </p:txBody>
      </p:sp>
      <p:sp>
        <p:nvSpPr>
          <p:cNvPr id="71734" name="AutoShape 5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2071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bg2"/>
                </a:solidFill>
              </a:rPr>
              <a:t>试验箱</a:t>
            </a:r>
            <a:endParaRPr lang="zh-CN" altLang="en-US" sz="2400">
              <a:solidFill>
                <a:schemeClr val="bg2"/>
              </a:solidFill>
            </a:endParaRPr>
          </a:p>
        </p:txBody>
      </p:sp>
      <p:sp>
        <p:nvSpPr>
          <p:cNvPr id="71735" name="AutoShape 65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1125538"/>
            <a:ext cx="1077913" cy="43180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双电源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71736" name="AutoShape 5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5280" y="162909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示波器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4653280"/>
            <a:ext cx="82791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积分电路对输入的</a:t>
            </a:r>
            <a:r>
              <a:rPr lang="en-US" altLang="zh-CN" sz="2400"/>
              <a:t>V1</a:t>
            </a:r>
            <a:r>
              <a:rPr lang="zh-CN" altLang="en-US" sz="2400"/>
              <a:t>方波进行积分从而将其变换为三角</a:t>
            </a:r>
            <a:r>
              <a:rPr lang="zh-CN" altLang="en-US" sz="2400"/>
              <a:t>波输出。此电路为典型的反相积分电路。</a:t>
            </a:r>
            <a:endParaRPr lang="zh-CN" altLang="en-US" sz="2400"/>
          </a:p>
        </p:txBody>
      </p:sp>
      <p:graphicFrame>
        <p:nvGraphicFramePr>
          <p:cNvPr id="6" name="对象 5"/>
          <p:cNvGraphicFramePr/>
          <p:nvPr>
            <p:custDataLst>
              <p:tags r:id="rId2"/>
            </p:custDataLst>
          </p:nvPr>
        </p:nvGraphicFramePr>
        <p:xfrm>
          <a:off x="1115695" y="1195070"/>
          <a:ext cx="4279900" cy="3012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276725" imgH="3009900" progId="Paint.Picture">
                  <p:embed/>
                </p:oleObj>
              </mc:Choice>
              <mc:Fallback>
                <p:oleObj name="" r:id="rId3" imgW="4276725" imgH="30099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95" y="1195070"/>
                        <a:ext cx="4279900" cy="3012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>
            <p:custDataLst>
              <p:tags r:id="rId5"/>
            </p:custDataLst>
          </p:nvPr>
        </p:nvGraphicFramePr>
        <p:xfrm>
          <a:off x="5220335" y="2564765"/>
          <a:ext cx="2640330" cy="97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6" imgW="2638425" imgH="971550" progId="Paint.Picture">
                  <p:embed/>
                </p:oleObj>
              </mc:Choice>
              <mc:Fallback>
                <p:oleObj name="" r:id="rId6" imgW="2638425" imgH="971550" progId="Paint.Picture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220335" y="2564765"/>
                        <a:ext cx="2640330" cy="972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96838"/>
            <a:ext cx="8229600" cy="52387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实验八  运算放大器应用</a:t>
            </a:r>
            <a:r>
              <a:rPr lang="en-US" altLang="zh-CN" dirty="0" smtClean="0">
                <a:sym typeface="+mn-ea"/>
              </a:rPr>
              <a:t>(</a:t>
            </a:r>
            <a:r>
              <a:rPr lang="zh-CN" altLang="en-US" dirty="0" smtClean="0">
                <a:sym typeface="+mn-ea"/>
              </a:rPr>
              <a:t>一</a:t>
            </a:r>
            <a:r>
              <a:rPr lang="en-US" altLang="zh-CN" dirty="0" smtClean="0">
                <a:sym typeface="+mn-ea"/>
              </a:rPr>
              <a:t>)</a:t>
            </a:r>
            <a:r>
              <a:rPr lang="en-US" altLang="zh-CN" dirty="0" smtClean="0"/>
              <a:t>   </a:t>
            </a:r>
            <a:r>
              <a:rPr lang="zh-CN" altLang="en-US" dirty="0" smtClean="0">
                <a:solidFill>
                  <a:srgbClr val="FF0066"/>
                </a:solidFill>
              </a:rPr>
              <a:t> 电压比较器</a:t>
            </a:r>
            <a:endParaRPr lang="zh-CN" altLang="en-US" dirty="0" smtClean="0">
              <a:solidFill>
                <a:srgbClr val="FF0066"/>
              </a:solidFill>
            </a:endParaRPr>
          </a:p>
        </p:txBody>
      </p:sp>
      <p:sp>
        <p:nvSpPr>
          <p:cNvPr id="71734" name="AutoShape 5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2071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bg2"/>
                </a:solidFill>
              </a:rPr>
              <a:t>试验箱</a:t>
            </a:r>
            <a:endParaRPr lang="zh-CN" altLang="en-US" sz="2400">
              <a:solidFill>
                <a:schemeClr val="bg2"/>
              </a:solidFill>
            </a:endParaRPr>
          </a:p>
        </p:txBody>
      </p:sp>
      <p:sp>
        <p:nvSpPr>
          <p:cNvPr id="71735" name="AutoShape 65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1125538"/>
            <a:ext cx="1077913" cy="43180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双电源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71736" name="AutoShape 5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5280" y="162909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示波器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4653280"/>
            <a:ext cx="8279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V2</a:t>
            </a:r>
            <a:r>
              <a:rPr lang="zh-CN" altLang="en-US" sz="2400"/>
              <a:t>为锯齿波输入，同相输入端为固定电平，当同相端电平高于反相端时，输出为高；</a:t>
            </a:r>
            <a:r>
              <a:rPr lang="zh-CN" altLang="en-US" sz="2400">
                <a:sym typeface="+mn-ea"/>
              </a:rPr>
              <a:t>同相端电平低于反相端时，输出为低。调节</a:t>
            </a:r>
            <a:r>
              <a:rPr lang="en-US" altLang="zh-CN" sz="2400">
                <a:sym typeface="+mn-ea"/>
              </a:rPr>
              <a:t>Vm</a:t>
            </a:r>
            <a:r>
              <a:rPr lang="zh-CN" altLang="en-US" sz="2400">
                <a:sym typeface="+mn-ea"/>
              </a:rPr>
              <a:t>电压，可调整方波脉冲的占空比。</a:t>
            </a:r>
            <a:endParaRPr lang="zh-CN" altLang="en-US" sz="2400">
              <a:sym typeface="+mn-ea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835150" y="1917065"/>
          <a:ext cx="3484245" cy="1776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2419350" imgH="1009650" progId="Paint.Picture">
                  <p:embed/>
                </p:oleObj>
              </mc:Choice>
              <mc:Fallback>
                <p:oleObj name="" r:id="rId2" imgW="2419350" imgH="10096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35150" y="1917065"/>
                        <a:ext cx="3484245" cy="17767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96838"/>
            <a:ext cx="8229600" cy="52387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实验八  运算放大器应用</a:t>
            </a:r>
            <a:r>
              <a:rPr lang="en-US" altLang="zh-CN" dirty="0" smtClean="0">
                <a:sym typeface="+mn-ea"/>
              </a:rPr>
              <a:t>(</a:t>
            </a:r>
            <a:r>
              <a:rPr lang="zh-CN" altLang="en-US" dirty="0" smtClean="0">
                <a:sym typeface="+mn-ea"/>
              </a:rPr>
              <a:t>一</a:t>
            </a:r>
            <a:r>
              <a:rPr lang="en-US" altLang="zh-CN" dirty="0" smtClean="0">
                <a:sym typeface="+mn-ea"/>
              </a:rPr>
              <a:t>)</a:t>
            </a:r>
            <a:r>
              <a:rPr lang="en-US" altLang="zh-CN" dirty="0" smtClean="0"/>
              <a:t>     </a:t>
            </a:r>
            <a:r>
              <a:rPr lang="zh-CN" altLang="en-US" dirty="0" smtClean="0">
                <a:solidFill>
                  <a:srgbClr val="FF0066"/>
                </a:solidFill>
              </a:rPr>
              <a:t>脉冲宽度调制器</a:t>
            </a:r>
            <a:endParaRPr lang="zh-CN" altLang="en-US" dirty="0" smtClean="0">
              <a:solidFill>
                <a:srgbClr val="FF0066"/>
              </a:solidFill>
            </a:endParaRPr>
          </a:p>
        </p:txBody>
      </p:sp>
      <p:graphicFrame>
        <p:nvGraphicFramePr>
          <p:cNvPr id="84030" name="Group 62"/>
          <p:cNvGraphicFramePr>
            <a:graphicFrameLocks noGrp="1"/>
          </p:cNvGraphicFramePr>
          <p:nvPr>
            <p:ph idx="1"/>
          </p:nvPr>
        </p:nvGraphicFramePr>
        <p:xfrm>
          <a:off x="468313" y="5516563"/>
          <a:ext cx="8362950" cy="914400"/>
        </p:xfrm>
        <a:graphic>
          <a:graphicData uri="http://schemas.openxmlformats.org/drawingml/2006/table">
            <a:tbl>
              <a:tblPr/>
              <a:tblGrid>
                <a:gridCol w="1046162"/>
                <a:gridCol w="1044575"/>
                <a:gridCol w="1046163"/>
                <a:gridCol w="1044575"/>
                <a:gridCol w="1046162"/>
                <a:gridCol w="1044575"/>
                <a:gridCol w="1046163"/>
                <a:gridCol w="1044575"/>
              </a:tblGrid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Vm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-5V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-3V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-1V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0V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1V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3V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5V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τ</a:t>
                      </a: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1725" name="Text Box 66"/>
          <p:cNvSpPr txBox="1">
            <a:spLocks noChangeArrowheads="1"/>
          </p:cNvSpPr>
          <p:nvPr/>
        </p:nvSpPr>
        <p:spPr bwMode="auto">
          <a:xfrm>
            <a:off x="971550" y="4498975"/>
            <a:ext cx="7777163" cy="9461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533400" indent="-533400">
              <a:buFontTx/>
              <a:buAutoNum type="arabicPeriod"/>
            </a:pPr>
            <a:r>
              <a:rPr lang="zh-CN" altLang="en-US"/>
              <a:t>记录 </a:t>
            </a:r>
            <a:r>
              <a:rPr lang="en-US" altLang="zh-CN"/>
              <a:t>V1</a:t>
            </a:r>
            <a:r>
              <a:rPr lang="zh-CN" altLang="en-US"/>
              <a:t>、</a:t>
            </a:r>
            <a:r>
              <a:rPr lang="en-US" altLang="zh-CN"/>
              <a:t>V2</a:t>
            </a:r>
            <a:r>
              <a:rPr lang="zh-CN" altLang="en-US"/>
              <a:t>、</a:t>
            </a:r>
            <a:r>
              <a:rPr lang="en-US" altLang="zh-CN">
                <a:solidFill>
                  <a:srgbClr val="FF0066"/>
                </a:solidFill>
              </a:rPr>
              <a:t>V3</a:t>
            </a:r>
            <a:r>
              <a:rPr lang="en-US" altLang="zh-CN"/>
              <a:t> </a:t>
            </a:r>
            <a:r>
              <a:rPr lang="zh-CN" altLang="en-US"/>
              <a:t>波形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zh-CN" altLang="en-US"/>
              <a:t>形状、幅度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  <a:r>
              <a:rPr lang="zh-CN" altLang="en-US"/>
              <a:t>；</a:t>
            </a:r>
            <a:endParaRPr lang="zh-CN" altLang="en-US"/>
          </a:p>
          <a:p>
            <a:pPr marL="533400" indent="-533400">
              <a:buFontTx/>
              <a:buAutoNum type="arabicPeriod"/>
            </a:pPr>
            <a:r>
              <a:rPr lang="zh-CN" altLang="en-US">
                <a:solidFill>
                  <a:srgbClr val="FF0066"/>
                </a:solidFill>
              </a:rPr>
              <a:t>改变</a:t>
            </a:r>
            <a:r>
              <a:rPr lang="en-US" altLang="zh-CN">
                <a:solidFill>
                  <a:srgbClr val="FF0066"/>
                </a:solidFill>
              </a:rPr>
              <a:t>V</a:t>
            </a:r>
            <a:r>
              <a:rPr lang="en-US" altLang="zh-CN" baseline="-25000">
                <a:solidFill>
                  <a:srgbClr val="FF0066"/>
                </a:solidFill>
              </a:rPr>
              <a:t>m</a:t>
            </a:r>
            <a:r>
              <a:rPr lang="zh-CN" altLang="en-US">
                <a:solidFill>
                  <a:srgbClr val="FF0066"/>
                </a:solidFill>
              </a:rPr>
              <a:t>，测量</a:t>
            </a:r>
            <a:r>
              <a:rPr lang="en-US" altLang="zh-CN">
                <a:solidFill>
                  <a:srgbClr val="FF0066"/>
                </a:solidFill>
              </a:rPr>
              <a:t>V3</a:t>
            </a:r>
            <a:r>
              <a:rPr lang="zh-CN" altLang="en-US">
                <a:solidFill>
                  <a:srgbClr val="FF0066"/>
                </a:solidFill>
              </a:rPr>
              <a:t>正脉冲宽度</a:t>
            </a:r>
            <a:r>
              <a:rPr lang="en-US" altLang="zh-CN">
                <a:solidFill>
                  <a:srgbClr val="FF0066"/>
                </a:solidFill>
              </a:rPr>
              <a:t>τ</a:t>
            </a:r>
            <a:r>
              <a:rPr lang="zh-CN" altLang="en-US">
                <a:solidFill>
                  <a:srgbClr val="FF0066"/>
                </a:solidFill>
              </a:rPr>
              <a:t>。</a:t>
            </a:r>
            <a:endParaRPr lang="zh-CN" altLang="en-US">
              <a:solidFill>
                <a:srgbClr val="FF0066"/>
              </a:solidFill>
            </a:endParaRPr>
          </a:p>
        </p:txBody>
      </p:sp>
      <p:sp>
        <p:nvSpPr>
          <p:cNvPr id="71728" name="AutoShape 69"/>
          <p:cNvSpPr>
            <a:spLocks noChangeArrowheads="1"/>
          </p:cNvSpPr>
          <p:nvPr/>
        </p:nvSpPr>
        <p:spPr bwMode="auto">
          <a:xfrm>
            <a:off x="900113" y="5013325"/>
            <a:ext cx="5903912" cy="43338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FF6600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9" name="AutoShape 70"/>
          <p:cNvSpPr>
            <a:spLocks noChangeArrowheads="1"/>
          </p:cNvSpPr>
          <p:nvPr/>
        </p:nvSpPr>
        <p:spPr bwMode="auto">
          <a:xfrm>
            <a:off x="323850" y="5446713"/>
            <a:ext cx="8640763" cy="1150937"/>
          </a:xfrm>
          <a:prstGeom prst="roundRect">
            <a:avLst>
              <a:gd name="adj" fmla="val 17120"/>
            </a:avLst>
          </a:prstGeom>
          <a:noFill/>
          <a:ln w="19050">
            <a:solidFill>
              <a:srgbClr val="FF6600"/>
            </a:solidFill>
            <a:prstDash val="dash"/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" name="对象 1"/>
          <p:cNvGraphicFramePr/>
          <p:nvPr/>
        </p:nvGraphicFramePr>
        <p:xfrm>
          <a:off x="1020445" y="652780"/>
          <a:ext cx="7654290" cy="349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7648575" imgH="3495675" progId="Paint.Picture">
                  <p:embed/>
                </p:oleObj>
              </mc:Choice>
              <mc:Fallback>
                <p:oleObj name="" r:id="rId1" imgW="7648575" imgH="34956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20445" y="652780"/>
                        <a:ext cx="7654290" cy="3498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3" name="Text Box 74"/>
          <p:cNvSpPr txBox="1">
            <a:spLocks noChangeArrowheads="1"/>
          </p:cNvSpPr>
          <p:nvPr/>
        </p:nvSpPr>
        <p:spPr bwMode="auto">
          <a:xfrm>
            <a:off x="5617845" y="1196658"/>
            <a:ext cx="827088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</a:rPr>
              <a:t>103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71732" name="Text Box 73"/>
          <p:cNvSpPr txBox="1">
            <a:spLocks noChangeArrowheads="1"/>
          </p:cNvSpPr>
          <p:nvPr/>
        </p:nvSpPr>
        <p:spPr bwMode="auto">
          <a:xfrm>
            <a:off x="681673" y="2730183"/>
            <a:ext cx="827087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latin typeface="Arial" panose="020B0604020202020204" pitchFamily="34" charset="0"/>
              </a:rPr>
              <a:t>104</a:t>
            </a:r>
            <a:endParaRPr lang="en-US" altLang="zh-CN" sz="1600">
              <a:latin typeface="Arial" panose="020B0604020202020204" pitchFamily="34" charset="0"/>
            </a:endParaRPr>
          </a:p>
        </p:txBody>
      </p:sp>
      <p:sp>
        <p:nvSpPr>
          <p:cNvPr id="71684" name="Text Box 5"/>
          <p:cNvSpPr txBox="1">
            <a:spLocks noChangeArrowheads="1"/>
          </p:cNvSpPr>
          <p:nvPr/>
        </p:nvSpPr>
        <p:spPr bwMode="auto">
          <a:xfrm>
            <a:off x="2482215" y="1982470"/>
            <a:ext cx="360363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1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85" name="Text Box 6"/>
          <p:cNvSpPr txBox="1">
            <a:spLocks noChangeArrowheads="1"/>
          </p:cNvSpPr>
          <p:nvPr/>
        </p:nvSpPr>
        <p:spPr bwMode="auto">
          <a:xfrm>
            <a:off x="1832928" y="1838325"/>
            <a:ext cx="360362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2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86" name="Text Box 7"/>
          <p:cNvSpPr txBox="1">
            <a:spLocks noChangeArrowheads="1"/>
          </p:cNvSpPr>
          <p:nvPr/>
        </p:nvSpPr>
        <p:spPr bwMode="auto">
          <a:xfrm>
            <a:off x="1832928" y="2341880"/>
            <a:ext cx="360362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3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87" name="Text Box 8"/>
          <p:cNvSpPr txBox="1">
            <a:spLocks noChangeArrowheads="1"/>
          </p:cNvSpPr>
          <p:nvPr/>
        </p:nvSpPr>
        <p:spPr bwMode="auto">
          <a:xfrm>
            <a:off x="2049145" y="2630488"/>
            <a:ext cx="360363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4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88" name="Text Box 9"/>
          <p:cNvSpPr txBox="1">
            <a:spLocks noChangeArrowheads="1"/>
          </p:cNvSpPr>
          <p:nvPr/>
        </p:nvSpPr>
        <p:spPr bwMode="auto">
          <a:xfrm>
            <a:off x="1977390" y="1550988"/>
            <a:ext cx="576263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11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89" name="Text Box 10"/>
          <p:cNvSpPr txBox="1">
            <a:spLocks noChangeArrowheads="1"/>
          </p:cNvSpPr>
          <p:nvPr/>
        </p:nvSpPr>
        <p:spPr bwMode="auto">
          <a:xfrm>
            <a:off x="5220018" y="1910715"/>
            <a:ext cx="360362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6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90" name="Text Box 11"/>
          <p:cNvSpPr txBox="1">
            <a:spLocks noChangeArrowheads="1"/>
          </p:cNvSpPr>
          <p:nvPr/>
        </p:nvSpPr>
        <p:spPr bwMode="auto">
          <a:xfrm>
            <a:off x="5220018" y="2629535"/>
            <a:ext cx="360362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5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91" name="Text Box 12"/>
          <p:cNvSpPr txBox="1">
            <a:spLocks noChangeArrowheads="1"/>
          </p:cNvSpPr>
          <p:nvPr/>
        </p:nvSpPr>
        <p:spPr bwMode="auto">
          <a:xfrm>
            <a:off x="5797868" y="2413635"/>
            <a:ext cx="360362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7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92" name="Text Box 13"/>
          <p:cNvSpPr txBox="1">
            <a:spLocks noChangeArrowheads="1"/>
          </p:cNvSpPr>
          <p:nvPr/>
        </p:nvSpPr>
        <p:spPr bwMode="auto">
          <a:xfrm>
            <a:off x="7308215" y="2174875"/>
            <a:ext cx="360363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9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93" name="Text Box 14"/>
          <p:cNvSpPr txBox="1">
            <a:spLocks noChangeArrowheads="1"/>
          </p:cNvSpPr>
          <p:nvPr/>
        </p:nvSpPr>
        <p:spPr bwMode="auto">
          <a:xfrm>
            <a:off x="7191375" y="2852420"/>
            <a:ext cx="477520" cy="3371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10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694" name="Text Box 15"/>
          <p:cNvSpPr txBox="1">
            <a:spLocks noChangeArrowheads="1"/>
          </p:cNvSpPr>
          <p:nvPr/>
        </p:nvSpPr>
        <p:spPr bwMode="auto">
          <a:xfrm>
            <a:off x="8029258" y="2414270"/>
            <a:ext cx="360362" cy="336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600">
                <a:solidFill>
                  <a:srgbClr val="008000"/>
                </a:solidFill>
                <a:latin typeface="Arial" panose="020B0604020202020204" pitchFamily="34" charset="0"/>
              </a:rPr>
              <a:t>8</a:t>
            </a:r>
            <a:endParaRPr lang="en-US" altLang="zh-CN" sz="1600">
              <a:solidFill>
                <a:srgbClr val="008000"/>
              </a:solidFill>
              <a:latin typeface="Arial" panose="020B0604020202020204" pitchFamily="34" charset="0"/>
            </a:endParaRPr>
          </a:p>
        </p:txBody>
      </p:sp>
      <p:sp>
        <p:nvSpPr>
          <p:cNvPr id="71734" name="AutoShape 5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62071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bg2"/>
                </a:solidFill>
              </a:rPr>
              <a:t>试验箱</a:t>
            </a:r>
            <a:endParaRPr lang="zh-CN" altLang="en-US" sz="2400">
              <a:solidFill>
                <a:schemeClr val="bg2"/>
              </a:solidFill>
            </a:endParaRPr>
          </a:p>
        </p:txBody>
      </p:sp>
      <p:sp>
        <p:nvSpPr>
          <p:cNvPr id="71735" name="AutoShape 6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6550" y="1125538"/>
            <a:ext cx="1077913" cy="43180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双电源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71736" name="AutoShape 5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7955280" y="1580198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示波器</a:t>
            </a:r>
            <a:endParaRPr lang="zh-CN" altLang="en-US" sz="2400">
              <a:solidFill>
                <a:srgbClr val="000099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96838"/>
            <a:ext cx="8229600" cy="523875"/>
          </a:xfrm>
        </p:spPr>
        <p:txBody>
          <a:bodyPr/>
          <a:lstStyle/>
          <a:p>
            <a:pPr eaLnBrk="1" hangingPunct="1"/>
            <a:r>
              <a:rPr lang="zh-CN" altLang="en-US" smtClean="0"/>
              <a:t>实验八  运算放大器应用</a:t>
            </a:r>
            <a:r>
              <a:rPr lang="en-US" altLang="zh-CN" dirty="0" smtClean="0">
                <a:sym typeface="+mn-ea"/>
              </a:rPr>
              <a:t>(</a:t>
            </a:r>
            <a:r>
              <a:rPr lang="zh-CN" altLang="en-US" dirty="0" smtClean="0">
                <a:sym typeface="+mn-ea"/>
              </a:rPr>
              <a:t>一</a:t>
            </a:r>
            <a:r>
              <a:rPr lang="en-US" altLang="zh-CN" dirty="0" smtClean="0">
                <a:sym typeface="+mn-ea"/>
              </a:rPr>
              <a:t>)</a:t>
            </a:r>
            <a:r>
              <a:rPr lang="en-US" altLang="zh-CN" smtClean="0"/>
              <a:t>    </a:t>
            </a:r>
            <a:r>
              <a:rPr lang="zh-CN" altLang="en-US" smtClean="0">
                <a:solidFill>
                  <a:srgbClr val="FF0066"/>
                </a:solidFill>
              </a:rPr>
              <a:t> 脉冲宽度调制器</a:t>
            </a:r>
            <a:endParaRPr lang="zh-CN" altLang="en-US" smtClean="0">
              <a:solidFill>
                <a:srgbClr val="FF0066"/>
              </a:solidFill>
            </a:endParaRPr>
          </a:p>
        </p:txBody>
      </p:sp>
      <p:sp>
        <p:nvSpPr>
          <p:cNvPr id="72707" name="Line 46"/>
          <p:cNvSpPr>
            <a:spLocks noChangeShapeType="1"/>
          </p:cNvSpPr>
          <p:nvPr/>
        </p:nvSpPr>
        <p:spPr bwMode="auto">
          <a:xfrm>
            <a:off x="17637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08" name="Line 47"/>
          <p:cNvSpPr>
            <a:spLocks noChangeShapeType="1"/>
          </p:cNvSpPr>
          <p:nvPr/>
        </p:nvSpPr>
        <p:spPr bwMode="auto">
          <a:xfrm flipH="1">
            <a:off x="24114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09" name="Line 50"/>
          <p:cNvSpPr>
            <a:spLocks noChangeShapeType="1"/>
          </p:cNvSpPr>
          <p:nvPr/>
        </p:nvSpPr>
        <p:spPr bwMode="auto">
          <a:xfrm>
            <a:off x="30591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0" name="Line 51"/>
          <p:cNvSpPr>
            <a:spLocks noChangeShapeType="1"/>
          </p:cNvSpPr>
          <p:nvPr/>
        </p:nvSpPr>
        <p:spPr bwMode="auto">
          <a:xfrm flipH="1">
            <a:off x="37068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1" name="Line 53"/>
          <p:cNvSpPr>
            <a:spLocks noChangeShapeType="1"/>
          </p:cNvSpPr>
          <p:nvPr/>
        </p:nvSpPr>
        <p:spPr bwMode="auto">
          <a:xfrm>
            <a:off x="43561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2" name="Line 54"/>
          <p:cNvSpPr>
            <a:spLocks noChangeShapeType="1"/>
          </p:cNvSpPr>
          <p:nvPr/>
        </p:nvSpPr>
        <p:spPr bwMode="auto">
          <a:xfrm flipH="1">
            <a:off x="50038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3" name="Line 56"/>
          <p:cNvSpPr>
            <a:spLocks noChangeShapeType="1"/>
          </p:cNvSpPr>
          <p:nvPr/>
        </p:nvSpPr>
        <p:spPr bwMode="auto">
          <a:xfrm>
            <a:off x="56515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4" name="Line 57"/>
          <p:cNvSpPr>
            <a:spLocks noChangeShapeType="1"/>
          </p:cNvSpPr>
          <p:nvPr/>
        </p:nvSpPr>
        <p:spPr bwMode="auto">
          <a:xfrm flipH="1">
            <a:off x="62992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5" name="Line 58"/>
          <p:cNvSpPr>
            <a:spLocks noChangeShapeType="1"/>
          </p:cNvSpPr>
          <p:nvPr/>
        </p:nvSpPr>
        <p:spPr bwMode="auto">
          <a:xfrm>
            <a:off x="6948488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6" name="Line 59"/>
          <p:cNvSpPr>
            <a:spLocks noChangeShapeType="1"/>
          </p:cNvSpPr>
          <p:nvPr/>
        </p:nvSpPr>
        <p:spPr bwMode="auto">
          <a:xfrm>
            <a:off x="1763713" y="2852738"/>
            <a:ext cx="58324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2717" name="Group 69"/>
          <p:cNvGrpSpPr/>
          <p:nvPr/>
        </p:nvGrpSpPr>
        <p:grpSpPr bwMode="auto">
          <a:xfrm>
            <a:off x="2195513" y="2276475"/>
            <a:ext cx="4321175" cy="2592388"/>
            <a:chOff x="1111" y="935"/>
            <a:chExt cx="2722" cy="1633"/>
          </a:xfrm>
        </p:grpSpPr>
        <p:sp>
          <p:nvSpPr>
            <p:cNvPr id="72762" name="Line 60"/>
            <p:cNvSpPr>
              <a:spLocks noChangeShapeType="1"/>
            </p:cNvSpPr>
            <p:nvPr/>
          </p:nvSpPr>
          <p:spPr bwMode="auto">
            <a:xfrm>
              <a:off x="1111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3" name="Line 61"/>
            <p:cNvSpPr>
              <a:spLocks noChangeShapeType="1"/>
            </p:cNvSpPr>
            <p:nvPr/>
          </p:nvSpPr>
          <p:spPr bwMode="auto">
            <a:xfrm>
              <a:off x="1383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4" name="Line 62"/>
            <p:cNvSpPr>
              <a:spLocks noChangeShapeType="1"/>
            </p:cNvSpPr>
            <p:nvPr/>
          </p:nvSpPr>
          <p:spPr bwMode="auto">
            <a:xfrm>
              <a:off x="1927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5" name="Line 63"/>
            <p:cNvSpPr>
              <a:spLocks noChangeShapeType="1"/>
            </p:cNvSpPr>
            <p:nvPr/>
          </p:nvSpPr>
          <p:spPr bwMode="auto">
            <a:xfrm>
              <a:off x="2200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6" name="Line 64"/>
            <p:cNvSpPr>
              <a:spLocks noChangeShapeType="1"/>
            </p:cNvSpPr>
            <p:nvPr/>
          </p:nvSpPr>
          <p:spPr bwMode="auto">
            <a:xfrm>
              <a:off x="2744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7" name="Line 65"/>
            <p:cNvSpPr>
              <a:spLocks noChangeShapeType="1"/>
            </p:cNvSpPr>
            <p:nvPr/>
          </p:nvSpPr>
          <p:spPr bwMode="auto">
            <a:xfrm>
              <a:off x="3016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8" name="Line 66"/>
            <p:cNvSpPr>
              <a:spLocks noChangeShapeType="1"/>
            </p:cNvSpPr>
            <p:nvPr/>
          </p:nvSpPr>
          <p:spPr bwMode="auto">
            <a:xfrm>
              <a:off x="3560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9" name="Line 67"/>
            <p:cNvSpPr>
              <a:spLocks noChangeShapeType="1"/>
            </p:cNvSpPr>
            <p:nvPr/>
          </p:nvSpPr>
          <p:spPr bwMode="auto">
            <a:xfrm>
              <a:off x="3833" y="935"/>
              <a:ext cx="0" cy="1633"/>
            </a:xfrm>
            <a:prstGeom prst="line">
              <a:avLst/>
            </a:prstGeom>
            <a:noFill/>
            <a:ln w="9525">
              <a:solidFill>
                <a:srgbClr val="FF6600"/>
              </a:solidFill>
              <a:prstDash val="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2718" name="Line 70"/>
          <p:cNvSpPr>
            <a:spLocks noChangeShapeType="1"/>
          </p:cNvSpPr>
          <p:nvPr/>
        </p:nvSpPr>
        <p:spPr bwMode="auto">
          <a:xfrm>
            <a:off x="2195513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19" name="Line 71"/>
          <p:cNvSpPr>
            <a:spLocks noChangeShapeType="1"/>
          </p:cNvSpPr>
          <p:nvPr/>
        </p:nvSpPr>
        <p:spPr bwMode="auto">
          <a:xfrm>
            <a:off x="2195513" y="4292600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0" name="Line 72"/>
          <p:cNvSpPr>
            <a:spLocks noChangeShapeType="1"/>
          </p:cNvSpPr>
          <p:nvPr/>
        </p:nvSpPr>
        <p:spPr bwMode="auto">
          <a:xfrm>
            <a:off x="2627313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1" name="Line 73"/>
          <p:cNvSpPr>
            <a:spLocks noChangeShapeType="1"/>
          </p:cNvSpPr>
          <p:nvPr/>
        </p:nvSpPr>
        <p:spPr bwMode="auto">
          <a:xfrm>
            <a:off x="34925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2" name="Line 74"/>
          <p:cNvSpPr>
            <a:spLocks noChangeShapeType="1"/>
          </p:cNvSpPr>
          <p:nvPr/>
        </p:nvSpPr>
        <p:spPr bwMode="auto">
          <a:xfrm>
            <a:off x="3492500" y="4292600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3" name="Line 75"/>
          <p:cNvSpPr>
            <a:spLocks noChangeShapeType="1"/>
          </p:cNvSpPr>
          <p:nvPr/>
        </p:nvSpPr>
        <p:spPr bwMode="auto">
          <a:xfrm>
            <a:off x="39243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4" name="Line 76"/>
          <p:cNvSpPr>
            <a:spLocks noChangeShapeType="1"/>
          </p:cNvSpPr>
          <p:nvPr/>
        </p:nvSpPr>
        <p:spPr bwMode="auto">
          <a:xfrm>
            <a:off x="47879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5" name="Line 77"/>
          <p:cNvSpPr>
            <a:spLocks noChangeShapeType="1"/>
          </p:cNvSpPr>
          <p:nvPr/>
        </p:nvSpPr>
        <p:spPr bwMode="auto">
          <a:xfrm>
            <a:off x="4787900" y="4292600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6" name="Line 78"/>
          <p:cNvSpPr>
            <a:spLocks noChangeShapeType="1"/>
          </p:cNvSpPr>
          <p:nvPr/>
        </p:nvSpPr>
        <p:spPr bwMode="auto">
          <a:xfrm>
            <a:off x="52197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7" name="Line 79"/>
          <p:cNvSpPr>
            <a:spLocks noChangeShapeType="1"/>
          </p:cNvSpPr>
          <p:nvPr/>
        </p:nvSpPr>
        <p:spPr bwMode="auto">
          <a:xfrm>
            <a:off x="6084888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8" name="Line 80"/>
          <p:cNvSpPr>
            <a:spLocks noChangeShapeType="1"/>
          </p:cNvSpPr>
          <p:nvPr/>
        </p:nvSpPr>
        <p:spPr bwMode="auto">
          <a:xfrm>
            <a:off x="6084888" y="4292600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29" name="Line 81"/>
          <p:cNvSpPr>
            <a:spLocks noChangeShapeType="1"/>
          </p:cNvSpPr>
          <p:nvPr/>
        </p:nvSpPr>
        <p:spPr bwMode="auto">
          <a:xfrm>
            <a:off x="6516688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0" name="Line 82"/>
          <p:cNvSpPr>
            <a:spLocks noChangeShapeType="1"/>
          </p:cNvSpPr>
          <p:nvPr/>
        </p:nvSpPr>
        <p:spPr bwMode="auto">
          <a:xfrm>
            <a:off x="1763713" y="4725988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1" name="Line 83"/>
          <p:cNvSpPr>
            <a:spLocks noChangeShapeType="1"/>
          </p:cNvSpPr>
          <p:nvPr/>
        </p:nvSpPr>
        <p:spPr bwMode="auto">
          <a:xfrm>
            <a:off x="1763713" y="2205038"/>
            <a:ext cx="0" cy="287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2" name="Line 84"/>
          <p:cNvSpPr>
            <a:spLocks noChangeShapeType="1"/>
          </p:cNvSpPr>
          <p:nvPr/>
        </p:nvSpPr>
        <p:spPr bwMode="auto">
          <a:xfrm>
            <a:off x="7596188" y="2205038"/>
            <a:ext cx="0" cy="280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3" name="Line 85"/>
          <p:cNvSpPr>
            <a:spLocks noChangeShapeType="1"/>
          </p:cNvSpPr>
          <p:nvPr/>
        </p:nvSpPr>
        <p:spPr bwMode="auto">
          <a:xfrm>
            <a:off x="2627313" y="4725988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4" name="Line 86"/>
          <p:cNvSpPr>
            <a:spLocks noChangeShapeType="1"/>
          </p:cNvSpPr>
          <p:nvPr/>
        </p:nvSpPr>
        <p:spPr bwMode="auto">
          <a:xfrm>
            <a:off x="3924300" y="4725988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5" name="Line 87"/>
          <p:cNvSpPr>
            <a:spLocks noChangeShapeType="1"/>
          </p:cNvSpPr>
          <p:nvPr/>
        </p:nvSpPr>
        <p:spPr bwMode="auto">
          <a:xfrm>
            <a:off x="5219700" y="4725988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6" name="Line 88"/>
          <p:cNvSpPr>
            <a:spLocks noChangeShapeType="1"/>
          </p:cNvSpPr>
          <p:nvPr/>
        </p:nvSpPr>
        <p:spPr bwMode="auto">
          <a:xfrm>
            <a:off x="6516688" y="4725988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7" name="Line 89"/>
          <p:cNvSpPr>
            <a:spLocks noChangeShapeType="1"/>
          </p:cNvSpPr>
          <p:nvPr/>
        </p:nvSpPr>
        <p:spPr bwMode="auto">
          <a:xfrm>
            <a:off x="7380288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8" name="Line 90"/>
          <p:cNvSpPr>
            <a:spLocks noChangeShapeType="1"/>
          </p:cNvSpPr>
          <p:nvPr/>
        </p:nvSpPr>
        <p:spPr bwMode="auto">
          <a:xfrm>
            <a:off x="7380288" y="4292600"/>
            <a:ext cx="2159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39" name="Text Box 92"/>
          <p:cNvSpPr txBox="1">
            <a:spLocks noChangeArrowheads="1"/>
          </p:cNvSpPr>
          <p:nvPr/>
        </p:nvSpPr>
        <p:spPr bwMode="auto">
          <a:xfrm>
            <a:off x="1187450" y="2622550"/>
            <a:ext cx="100806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V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endParaRPr lang="en-US" altLang="zh-CN" i="1" baseline="-25000">
              <a:solidFill>
                <a:srgbClr val="FF0000"/>
              </a:solidFill>
            </a:endParaRPr>
          </a:p>
        </p:txBody>
      </p:sp>
      <p:sp>
        <p:nvSpPr>
          <p:cNvPr id="72740" name="Text Box 93"/>
          <p:cNvSpPr txBox="1">
            <a:spLocks noChangeArrowheads="1"/>
          </p:cNvSpPr>
          <p:nvPr/>
        </p:nvSpPr>
        <p:spPr bwMode="auto">
          <a:xfrm>
            <a:off x="1187450" y="4278313"/>
            <a:ext cx="1008063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8000"/>
                </a:solidFill>
              </a:rPr>
              <a:t>V3</a:t>
            </a:r>
            <a:endParaRPr lang="en-US" altLang="zh-CN" baseline="-25000">
              <a:solidFill>
                <a:srgbClr val="008000"/>
              </a:solidFill>
            </a:endParaRPr>
          </a:p>
        </p:txBody>
      </p:sp>
      <p:sp>
        <p:nvSpPr>
          <p:cNvPr id="72741" name="Line 94"/>
          <p:cNvSpPr>
            <a:spLocks noChangeShapeType="1"/>
          </p:cNvSpPr>
          <p:nvPr/>
        </p:nvSpPr>
        <p:spPr bwMode="auto">
          <a:xfrm flipV="1">
            <a:off x="3059113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2" name="Line 95"/>
          <p:cNvSpPr>
            <a:spLocks noChangeShapeType="1"/>
          </p:cNvSpPr>
          <p:nvPr/>
        </p:nvSpPr>
        <p:spPr bwMode="auto">
          <a:xfrm flipV="1">
            <a:off x="37084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3" name="Line 96"/>
          <p:cNvSpPr>
            <a:spLocks noChangeShapeType="1"/>
          </p:cNvSpPr>
          <p:nvPr/>
        </p:nvSpPr>
        <p:spPr bwMode="auto">
          <a:xfrm>
            <a:off x="3059113" y="1341438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4" name="Line 97"/>
          <p:cNvSpPr>
            <a:spLocks noChangeShapeType="1"/>
          </p:cNvSpPr>
          <p:nvPr/>
        </p:nvSpPr>
        <p:spPr bwMode="auto">
          <a:xfrm>
            <a:off x="2411413" y="1846263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5" name="Line 98"/>
          <p:cNvSpPr>
            <a:spLocks noChangeShapeType="1"/>
          </p:cNvSpPr>
          <p:nvPr/>
        </p:nvSpPr>
        <p:spPr bwMode="auto">
          <a:xfrm flipV="1">
            <a:off x="1763713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6" name="Line 99"/>
          <p:cNvSpPr>
            <a:spLocks noChangeShapeType="1"/>
          </p:cNvSpPr>
          <p:nvPr/>
        </p:nvSpPr>
        <p:spPr bwMode="auto">
          <a:xfrm flipV="1">
            <a:off x="24130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7" name="Line 100"/>
          <p:cNvSpPr>
            <a:spLocks noChangeShapeType="1"/>
          </p:cNvSpPr>
          <p:nvPr/>
        </p:nvSpPr>
        <p:spPr bwMode="auto">
          <a:xfrm>
            <a:off x="1763713" y="1341438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8" name="Line 102"/>
          <p:cNvSpPr>
            <a:spLocks noChangeShapeType="1"/>
          </p:cNvSpPr>
          <p:nvPr/>
        </p:nvSpPr>
        <p:spPr bwMode="auto">
          <a:xfrm flipV="1">
            <a:off x="43561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49" name="Line 103"/>
          <p:cNvSpPr>
            <a:spLocks noChangeShapeType="1"/>
          </p:cNvSpPr>
          <p:nvPr/>
        </p:nvSpPr>
        <p:spPr bwMode="auto">
          <a:xfrm>
            <a:off x="4356100" y="1341438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0" name="Line 104"/>
          <p:cNvSpPr>
            <a:spLocks noChangeShapeType="1"/>
          </p:cNvSpPr>
          <p:nvPr/>
        </p:nvSpPr>
        <p:spPr bwMode="auto">
          <a:xfrm>
            <a:off x="3708400" y="184626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1" name="Line 105"/>
          <p:cNvSpPr>
            <a:spLocks noChangeShapeType="1"/>
          </p:cNvSpPr>
          <p:nvPr/>
        </p:nvSpPr>
        <p:spPr bwMode="auto">
          <a:xfrm flipV="1">
            <a:off x="5649913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2" name="Line 106"/>
          <p:cNvSpPr>
            <a:spLocks noChangeShapeType="1"/>
          </p:cNvSpPr>
          <p:nvPr/>
        </p:nvSpPr>
        <p:spPr bwMode="auto">
          <a:xfrm flipV="1">
            <a:off x="62992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3" name="Line 107"/>
          <p:cNvSpPr>
            <a:spLocks noChangeShapeType="1"/>
          </p:cNvSpPr>
          <p:nvPr/>
        </p:nvSpPr>
        <p:spPr bwMode="auto">
          <a:xfrm>
            <a:off x="5649913" y="1341438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4" name="Line 108"/>
          <p:cNvSpPr>
            <a:spLocks noChangeShapeType="1"/>
          </p:cNvSpPr>
          <p:nvPr/>
        </p:nvSpPr>
        <p:spPr bwMode="auto">
          <a:xfrm>
            <a:off x="5002213" y="1846263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5" name="Line 109"/>
          <p:cNvSpPr>
            <a:spLocks noChangeShapeType="1"/>
          </p:cNvSpPr>
          <p:nvPr/>
        </p:nvSpPr>
        <p:spPr bwMode="auto">
          <a:xfrm flipV="1">
            <a:off x="50038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6" name="Line 110"/>
          <p:cNvSpPr>
            <a:spLocks noChangeShapeType="1"/>
          </p:cNvSpPr>
          <p:nvPr/>
        </p:nvSpPr>
        <p:spPr bwMode="auto">
          <a:xfrm flipV="1">
            <a:off x="69469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7" name="Line 111"/>
          <p:cNvSpPr>
            <a:spLocks noChangeShapeType="1"/>
          </p:cNvSpPr>
          <p:nvPr/>
        </p:nvSpPr>
        <p:spPr bwMode="auto">
          <a:xfrm>
            <a:off x="6946900" y="1341438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8" name="Line 112"/>
          <p:cNvSpPr>
            <a:spLocks noChangeShapeType="1"/>
          </p:cNvSpPr>
          <p:nvPr/>
        </p:nvSpPr>
        <p:spPr bwMode="auto">
          <a:xfrm>
            <a:off x="6299200" y="184626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59" name="Line 113"/>
          <p:cNvSpPr>
            <a:spLocks noChangeShapeType="1"/>
          </p:cNvSpPr>
          <p:nvPr/>
        </p:nvSpPr>
        <p:spPr bwMode="auto">
          <a:xfrm flipV="1">
            <a:off x="7596188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760" name="Text Box 114"/>
          <p:cNvSpPr txBox="1">
            <a:spLocks noChangeArrowheads="1"/>
          </p:cNvSpPr>
          <p:nvPr/>
        </p:nvSpPr>
        <p:spPr bwMode="auto">
          <a:xfrm>
            <a:off x="1187450" y="1196975"/>
            <a:ext cx="1008063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V1</a:t>
            </a:r>
            <a:endParaRPr lang="en-US" altLang="zh-CN" baseline="-25000"/>
          </a:p>
        </p:txBody>
      </p:sp>
      <p:sp>
        <p:nvSpPr>
          <p:cNvPr id="72761" name="Text Box 43"/>
          <p:cNvSpPr txBox="1">
            <a:spLocks noChangeArrowheads="1"/>
          </p:cNvSpPr>
          <p:nvPr/>
        </p:nvSpPr>
        <p:spPr bwMode="auto">
          <a:xfrm>
            <a:off x="1258888" y="1989138"/>
            <a:ext cx="100806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V2</a:t>
            </a:r>
            <a:endParaRPr lang="en-US" altLang="zh-CN" i="1" baseline="-25000"/>
          </a:p>
        </p:txBody>
      </p:sp>
      <p:sp>
        <p:nvSpPr>
          <p:cNvPr id="2" name="文本框 1"/>
          <p:cNvSpPr txBox="1"/>
          <p:nvPr/>
        </p:nvSpPr>
        <p:spPr>
          <a:xfrm>
            <a:off x="1308100" y="5511800"/>
            <a:ext cx="65043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注意：调节</a:t>
            </a:r>
            <a:r>
              <a:rPr lang="en-US" altLang="zh-CN"/>
              <a:t>R8</a:t>
            </a:r>
            <a:r>
              <a:rPr lang="zh-CN" altLang="en-US"/>
              <a:t>使方波的幅度为±6V左右</a:t>
            </a:r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96838"/>
            <a:ext cx="8229600" cy="523875"/>
          </a:xfrm>
        </p:spPr>
        <p:txBody>
          <a:bodyPr/>
          <a:lstStyle/>
          <a:p>
            <a:pPr eaLnBrk="1" hangingPunct="1"/>
            <a:r>
              <a:rPr lang="zh-CN" altLang="en-US" smtClean="0"/>
              <a:t>实验八  运算放大器应用</a:t>
            </a:r>
            <a:r>
              <a:rPr lang="en-US" altLang="zh-CN" dirty="0" smtClean="0">
                <a:sym typeface="+mn-ea"/>
              </a:rPr>
              <a:t>(</a:t>
            </a:r>
            <a:r>
              <a:rPr lang="zh-CN" altLang="en-US" dirty="0" smtClean="0">
                <a:sym typeface="+mn-ea"/>
              </a:rPr>
              <a:t>一</a:t>
            </a:r>
            <a:r>
              <a:rPr lang="en-US" altLang="zh-CN" dirty="0" smtClean="0">
                <a:sym typeface="+mn-ea"/>
              </a:rPr>
              <a:t>)</a:t>
            </a:r>
            <a:r>
              <a:rPr lang="en-US" altLang="zh-CN" smtClean="0"/>
              <a:t>     </a:t>
            </a:r>
            <a:r>
              <a:rPr lang="zh-CN" altLang="en-US" smtClean="0">
                <a:solidFill>
                  <a:srgbClr val="FF0066"/>
                </a:solidFill>
              </a:rPr>
              <a:t>脉冲宽度调制器</a:t>
            </a:r>
            <a:endParaRPr lang="zh-CN" altLang="en-US" smtClean="0">
              <a:solidFill>
                <a:srgbClr val="FF0066"/>
              </a:solidFill>
            </a:endParaRPr>
          </a:p>
        </p:txBody>
      </p:sp>
      <p:sp>
        <p:nvSpPr>
          <p:cNvPr id="73731" name="Line 3"/>
          <p:cNvSpPr>
            <a:spLocks noChangeShapeType="1"/>
          </p:cNvSpPr>
          <p:nvPr/>
        </p:nvSpPr>
        <p:spPr bwMode="auto">
          <a:xfrm>
            <a:off x="17637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2" name="Line 4"/>
          <p:cNvSpPr>
            <a:spLocks noChangeShapeType="1"/>
          </p:cNvSpPr>
          <p:nvPr/>
        </p:nvSpPr>
        <p:spPr bwMode="auto">
          <a:xfrm flipH="1">
            <a:off x="24114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3" name="Line 5"/>
          <p:cNvSpPr>
            <a:spLocks noChangeShapeType="1"/>
          </p:cNvSpPr>
          <p:nvPr/>
        </p:nvSpPr>
        <p:spPr bwMode="auto">
          <a:xfrm>
            <a:off x="30591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4" name="Line 6"/>
          <p:cNvSpPr>
            <a:spLocks noChangeShapeType="1"/>
          </p:cNvSpPr>
          <p:nvPr/>
        </p:nvSpPr>
        <p:spPr bwMode="auto">
          <a:xfrm flipH="1">
            <a:off x="3706813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5" name="Line 7"/>
          <p:cNvSpPr>
            <a:spLocks noChangeShapeType="1"/>
          </p:cNvSpPr>
          <p:nvPr/>
        </p:nvSpPr>
        <p:spPr bwMode="auto">
          <a:xfrm>
            <a:off x="43561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6" name="Line 8"/>
          <p:cNvSpPr>
            <a:spLocks noChangeShapeType="1"/>
          </p:cNvSpPr>
          <p:nvPr/>
        </p:nvSpPr>
        <p:spPr bwMode="auto">
          <a:xfrm flipH="1">
            <a:off x="50038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7" name="Line 9"/>
          <p:cNvSpPr>
            <a:spLocks noChangeShapeType="1"/>
          </p:cNvSpPr>
          <p:nvPr/>
        </p:nvSpPr>
        <p:spPr bwMode="auto">
          <a:xfrm>
            <a:off x="56515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8" name="Line 10"/>
          <p:cNvSpPr>
            <a:spLocks noChangeShapeType="1"/>
          </p:cNvSpPr>
          <p:nvPr/>
        </p:nvSpPr>
        <p:spPr bwMode="auto">
          <a:xfrm flipH="1">
            <a:off x="6299200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39" name="Line 11"/>
          <p:cNvSpPr>
            <a:spLocks noChangeShapeType="1"/>
          </p:cNvSpPr>
          <p:nvPr/>
        </p:nvSpPr>
        <p:spPr bwMode="auto">
          <a:xfrm>
            <a:off x="6948488" y="2420938"/>
            <a:ext cx="647700" cy="6477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0" name="Line 12"/>
          <p:cNvSpPr>
            <a:spLocks noChangeShapeType="1"/>
          </p:cNvSpPr>
          <p:nvPr/>
        </p:nvSpPr>
        <p:spPr bwMode="auto">
          <a:xfrm>
            <a:off x="1763713" y="2636838"/>
            <a:ext cx="58324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1" name="Line 14"/>
          <p:cNvSpPr>
            <a:spLocks noChangeShapeType="1"/>
          </p:cNvSpPr>
          <p:nvPr/>
        </p:nvSpPr>
        <p:spPr bwMode="auto">
          <a:xfrm>
            <a:off x="1979613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2" name="Line 15"/>
          <p:cNvSpPr>
            <a:spLocks noChangeShapeType="1"/>
          </p:cNvSpPr>
          <p:nvPr/>
        </p:nvSpPr>
        <p:spPr bwMode="auto">
          <a:xfrm>
            <a:off x="2843213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3" name="Line 16"/>
          <p:cNvSpPr>
            <a:spLocks noChangeShapeType="1"/>
          </p:cNvSpPr>
          <p:nvPr/>
        </p:nvSpPr>
        <p:spPr bwMode="auto">
          <a:xfrm>
            <a:off x="3275013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4" name="Line 17"/>
          <p:cNvSpPr>
            <a:spLocks noChangeShapeType="1"/>
          </p:cNvSpPr>
          <p:nvPr/>
        </p:nvSpPr>
        <p:spPr bwMode="auto">
          <a:xfrm>
            <a:off x="4140200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5" name="Line 18"/>
          <p:cNvSpPr>
            <a:spLocks noChangeShapeType="1"/>
          </p:cNvSpPr>
          <p:nvPr/>
        </p:nvSpPr>
        <p:spPr bwMode="auto">
          <a:xfrm>
            <a:off x="4572000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6" name="Line 19"/>
          <p:cNvSpPr>
            <a:spLocks noChangeShapeType="1"/>
          </p:cNvSpPr>
          <p:nvPr/>
        </p:nvSpPr>
        <p:spPr bwMode="auto">
          <a:xfrm>
            <a:off x="5435600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7" name="Line 20"/>
          <p:cNvSpPr>
            <a:spLocks noChangeShapeType="1"/>
          </p:cNvSpPr>
          <p:nvPr/>
        </p:nvSpPr>
        <p:spPr bwMode="auto">
          <a:xfrm>
            <a:off x="5867400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8" name="Line 21"/>
          <p:cNvSpPr>
            <a:spLocks noChangeShapeType="1"/>
          </p:cNvSpPr>
          <p:nvPr/>
        </p:nvSpPr>
        <p:spPr bwMode="auto">
          <a:xfrm>
            <a:off x="6732588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49" name="Line 22"/>
          <p:cNvSpPr>
            <a:spLocks noChangeShapeType="1"/>
          </p:cNvSpPr>
          <p:nvPr/>
        </p:nvSpPr>
        <p:spPr bwMode="auto">
          <a:xfrm>
            <a:off x="1979613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0" name="Line 23"/>
          <p:cNvSpPr>
            <a:spLocks noChangeShapeType="1"/>
          </p:cNvSpPr>
          <p:nvPr/>
        </p:nvSpPr>
        <p:spPr bwMode="auto">
          <a:xfrm>
            <a:off x="1979613" y="4292600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1" name="Line 24"/>
          <p:cNvSpPr>
            <a:spLocks noChangeShapeType="1"/>
          </p:cNvSpPr>
          <p:nvPr/>
        </p:nvSpPr>
        <p:spPr bwMode="auto">
          <a:xfrm>
            <a:off x="2843213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2" name="Line 25"/>
          <p:cNvSpPr>
            <a:spLocks noChangeShapeType="1"/>
          </p:cNvSpPr>
          <p:nvPr/>
        </p:nvSpPr>
        <p:spPr bwMode="auto">
          <a:xfrm>
            <a:off x="32766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3" name="Line 27"/>
          <p:cNvSpPr>
            <a:spLocks noChangeShapeType="1"/>
          </p:cNvSpPr>
          <p:nvPr/>
        </p:nvSpPr>
        <p:spPr bwMode="auto">
          <a:xfrm>
            <a:off x="41402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4" name="Line 28"/>
          <p:cNvSpPr>
            <a:spLocks noChangeShapeType="1"/>
          </p:cNvSpPr>
          <p:nvPr/>
        </p:nvSpPr>
        <p:spPr bwMode="auto">
          <a:xfrm>
            <a:off x="45720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5" name="Line 30"/>
          <p:cNvSpPr>
            <a:spLocks noChangeShapeType="1"/>
          </p:cNvSpPr>
          <p:nvPr/>
        </p:nvSpPr>
        <p:spPr bwMode="auto">
          <a:xfrm>
            <a:off x="5435600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6" name="Line 31"/>
          <p:cNvSpPr>
            <a:spLocks noChangeShapeType="1"/>
          </p:cNvSpPr>
          <p:nvPr/>
        </p:nvSpPr>
        <p:spPr bwMode="auto">
          <a:xfrm>
            <a:off x="5868988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7" name="Line 33"/>
          <p:cNvSpPr>
            <a:spLocks noChangeShapeType="1"/>
          </p:cNvSpPr>
          <p:nvPr/>
        </p:nvSpPr>
        <p:spPr bwMode="auto">
          <a:xfrm>
            <a:off x="6732588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8" name="Line 34"/>
          <p:cNvSpPr>
            <a:spLocks noChangeShapeType="1"/>
          </p:cNvSpPr>
          <p:nvPr/>
        </p:nvSpPr>
        <p:spPr bwMode="auto">
          <a:xfrm>
            <a:off x="1763713" y="4725988"/>
            <a:ext cx="2159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59" name="Line 35"/>
          <p:cNvSpPr>
            <a:spLocks noChangeShapeType="1"/>
          </p:cNvSpPr>
          <p:nvPr/>
        </p:nvSpPr>
        <p:spPr bwMode="auto">
          <a:xfrm>
            <a:off x="1763713" y="2205038"/>
            <a:ext cx="0" cy="287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0" name="Line 36"/>
          <p:cNvSpPr>
            <a:spLocks noChangeShapeType="1"/>
          </p:cNvSpPr>
          <p:nvPr/>
        </p:nvSpPr>
        <p:spPr bwMode="auto">
          <a:xfrm>
            <a:off x="7596188" y="2205038"/>
            <a:ext cx="0" cy="280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1" name="Line 41"/>
          <p:cNvSpPr>
            <a:spLocks noChangeShapeType="1"/>
          </p:cNvSpPr>
          <p:nvPr/>
        </p:nvSpPr>
        <p:spPr bwMode="auto">
          <a:xfrm>
            <a:off x="7164388" y="4292600"/>
            <a:ext cx="0" cy="433388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2" name="Text Box 43"/>
          <p:cNvSpPr txBox="1">
            <a:spLocks noChangeArrowheads="1"/>
          </p:cNvSpPr>
          <p:nvPr/>
        </p:nvSpPr>
        <p:spPr bwMode="auto">
          <a:xfrm>
            <a:off x="1258888" y="1989138"/>
            <a:ext cx="1008062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V2</a:t>
            </a:r>
            <a:endParaRPr lang="en-US" altLang="zh-CN" i="1" baseline="-25000"/>
          </a:p>
        </p:txBody>
      </p:sp>
      <p:sp>
        <p:nvSpPr>
          <p:cNvPr id="73763" name="Text Box 44"/>
          <p:cNvSpPr txBox="1">
            <a:spLocks noChangeArrowheads="1"/>
          </p:cNvSpPr>
          <p:nvPr/>
        </p:nvSpPr>
        <p:spPr bwMode="auto">
          <a:xfrm>
            <a:off x="1187450" y="2349500"/>
            <a:ext cx="1008063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</a:rPr>
              <a:t>V</a:t>
            </a:r>
            <a:r>
              <a:rPr lang="en-US" altLang="zh-CN" i="1" baseline="-25000">
                <a:solidFill>
                  <a:srgbClr val="FF0000"/>
                </a:solidFill>
              </a:rPr>
              <a:t>m</a:t>
            </a:r>
            <a:endParaRPr lang="en-US" altLang="zh-CN" i="1" baseline="-25000">
              <a:solidFill>
                <a:srgbClr val="FF0000"/>
              </a:solidFill>
            </a:endParaRPr>
          </a:p>
        </p:txBody>
      </p:sp>
      <p:sp>
        <p:nvSpPr>
          <p:cNvPr id="73764" name="Text Box 45"/>
          <p:cNvSpPr txBox="1">
            <a:spLocks noChangeArrowheads="1"/>
          </p:cNvSpPr>
          <p:nvPr/>
        </p:nvSpPr>
        <p:spPr bwMode="auto">
          <a:xfrm>
            <a:off x="1187450" y="4278313"/>
            <a:ext cx="1008063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8000"/>
                </a:solidFill>
              </a:rPr>
              <a:t>V3</a:t>
            </a:r>
            <a:endParaRPr lang="en-US" altLang="zh-CN" baseline="-25000">
              <a:solidFill>
                <a:srgbClr val="008000"/>
              </a:solidFill>
            </a:endParaRPr>
          </a:p>
        </p:txBody>
      </p:sp>
      <p:sp>
        <p:nvSpPr>
          <p:cNvPr id="73765" name="Line 46"/>
          <p:cNvSpPr>
            <a:spLocks noChangeShapeType="1"/>
          </p:cNvSpPr>
          <p:nvPr/>
        </p:nvSpPr>
        <p:spPr bwMode="auto">
          <a:xfrm>
            <a:off x="7164388" y="2276475"/>
            <a:ext cx="0" cy="2592388"/>
          </a:xfrm>
          <a:prstGeom prst="line">
            <a:avLst/>
          </a:prstGeom>
          <a:noFill/>
          <a:ln w="9525">
            <a:solidFill>
              <a:srgbClr val="FF6600"/>
            </a:solidFill>
            <a:prstDash val="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6" name="Line 47"/>
          <p:cNvSpPr>
            <a:spLocks noChangeShapeType="1"/>
          </p:cNvSpPr>
          <p:nvPr/>
        </p:nvSpPr>
        <p:spPr bwMode="auto">
          <a:xfrm>
            <a:off x="2843213" y="4725988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7" name="Line 48"/>
          <p:cNvSpPr>
            <a:spLocks noChangeShapeType="1"/>
          </p:cNvSpPr>
          <p:nvPr/>
        </p:nvSpPr>
        <p:spPr bwMode="auto">
          <a:xfrm>
            <a:off x="3276600" y="4292600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8" name="Line 49"/>
          <p:cNvSpPr>
            <a:spLocks noChangeShapeType="1"/>
          </p:cNvSpPr>
          <p:nvPr/>
        </p:nvSpPr>
        <p:spPr bwMode="auto">
          <a:xfrm>
            <a:off x="4140200" y="4725988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69" name="Line 50"/>
          <p:cNvSpPr>
            <a:spLocks noChangeShapeType="1"/>
          </p:cNvSpPr>
          <p:nvPr/>
        </p:nvSpPr>
        <p:spPr bwMode="auto">
          <a:xfrm>
            <a:off x="4572000" y="4292600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0" name="Line 51"/>
          <p:cNvSpPr>
            <a:spLocks noChangeShapeType="1"/>
          </p:cNvSpPr>
          <p:nvPr/>
        </p:nvSpPr>
        <p:spPr bwMode="auto">
          <a:xfrm>
            <a:off x="5435600" y="4725988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1" name="Line 52"/>
          <p:cNvSpPr>
            <a:spLocks noChangeShapeType="1"/>
          </p:cNvSpPr>
          <p:nvPr/>
        </p:nvSpPr>
        <p:spPr bwMode="auto">
          <a:xfrm>
            <a:off x="5867400" y="4292600"/>
            <a:ext cx="8636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2" name="Line 53"/>
          <p:cNvSpPr>
            <a:spLocks noChangeShapeType="1"/>
          </p:cNvSpPr>
          <p:nvPr/>
        </p:nvSpPr>
        <p:spPr bwMode="auto">
          <a:xfrm>
            <a:off x="6731000" y="4725988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3" name="Line 54"/>
          <p:cNvSpPr>
            <a:spLocks noChangeShapeType="1"/>
          </p:cNvSpPr>
          <p:nvPr/>
        </p:nvSpPr>
        <p:spPr bwMode="auto">
          <a:xfrm>
            <a:off x="7164388" y="4292600"/>
            <a:ext cx="431800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4" name="Line 55"/>
          <p:cNvSpPr>
            <a:spLocks noChangeShapeType="1"/>
          </p:cNvSpPr>
          <p:nvPr/>
        </p:nvSpPr>
        <p:spPr bwMode="auto">
          <a:xfrm flipV="1">
            <a:off x="3059113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5" name="Line 56"/>
          <p:cNvSpPr>
            <a:spLocks noChangeShapeType="1"/>
          </p:cNvSpPr>
          <p:nvPr/>
        </p:nvSpPr>
        <p:spPr bwMode="auto">
          <a:xfrm flipV="1">
            <a:off x="37084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6" name="Line 57"/>
          <p:cNvSpPr>
            <a:spLocks noChangeShapeType="1"/>
          </p:cNvSpPr>
          <p:nvPr/>
        </p:nvSpPr>
        <p:spPr bwMode="auto">
          <a:xfrm>
            <a:off x="3059113" y="1341438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7" name="Line 58"/>
          <p:cNvSpPr>
            <a:spLocks noChangeShapeType="1"/>
          </p:cNvSpPr>
          <p:nvPr/>
        </p:nvSpPr>
        <p:spPr bwMode="auto">
          <a:xfrm>
            <a:off x="2411413" y="1846263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8" name="Line 59"/>
          <p:cNvSpPr>
            <a:spLocks noChangeShapeType="1"/>
          </p:cNvSpPr>
          <p:nvPr/>
        </p:nvSpPr>
        <p:spPr bwMode="auto">
          <a:xfrm flipV="1">
            <a:off x="1763713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79" name="Line 60"/>
          <p:cNvSpPr>
            <a:spLocks noChangeShapeType="1"/>
          </p:cNvSpPr>
          <p:nvPr/>
        </p:nvSpPr>
        <p:spPr bwMode="auto">
          <a:xfrm flipV="1">
            <a:off x="24130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0" name="Line 61"/>
          <p:cNvSpPr>
            <a:spLocks noChangeShapeType="1"/>
          </p:cNvSpPr>
          <p:nvPr/>
        </p:nvSpPr>
        <p:spPr bwMode="auto">
          <a:xfrm>
            <a:off x="1763713" y="1341438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1" name="Line 62"/>
          <p:cNvSpPr>
            <a:spLocks noChangeShapeType="1"/>
          </p:cNvSpPr>
          <p:nvPr/>
        </p:nvSpPr>
        <p:spPr bwMode="auto">
          <a:xfrm flipV="1">
            <a:off x="43561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2" name="Line 63"/>
          <p:cNvSpPr>
            <a:spLocks noChangeShapeType="1"/>
          </p:cNvSpPr>
          <p:nvPr/>
        </p:nvSpPr>
        <p:spPr bwMode="auto">
          <a:xfrm>
            <a:off x="4356100" y="1341438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3" name="Line 64"/>
          <p:cNvSpPr>
            <a:spLocks noChangeShapeType="1"/>
          </p:cNvSpPr>
          <p:nvPr/>
        </p:nvSpPr>
        <p:spPr bwMode="auto">
          <a:xfrm>
            <a:off x="3708400" y="184626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4" name="Line 65"/>
          <p:cNvSpPr>
            <a:spLocks noChangeShapeType="1"/>
          </p:cNvSpPr>
          <p:nvPr/>
        </p:nvSpPr>
        <p:spPr bwMode="auto">
          <a:xfrm flipV="1">
            <a:off x="5649913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5" name="Line 66"/>
          <p:cNvSpPr>
            <a:spLocks noChangeShapeType="1"/>
          </p:cNvSpPr>
          <p:nvPr/>
        </p:nvSpPr>
        <p:spPr bwMode="auto">
          <a:xfrm flipV="1">
            <a:off x="62992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6" name="Line 67"/>
          <p:cNvSpPr>
            <a:spLocks noChangeShapeType="1"/>
          </p:cNvSpPr>
          <p:nvPr/>
        </p:nvSpPr>
        <p:spPr bwMode="auto">
          <a:xfrm>
            <a:off x="5649913" y="1341438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7" name="Line 68"/>
          <p:cNvSpPr>
            <a:spLocks noChangeShapeType="1"/>
          </p:cNvSpPr>
          <p:nvPr/>
        </p:nvSpPr>
        <p:spPr bwMode="auto">
          <a:xfrm>
            <a:off x="5002213" y="1846263"/>
            <a:ext cx="6492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8" name="Line 69"/>
          <p:cNvSpPr>
            <a:spLocks noChangeShapeType="1"/>
          </p:cNvSpPr>
          <p:nvPr/>
        </p:nvSpPr>
        <p:spPr bwMode="auto">
          <a:xfrm flipV="1">
            <a:off x="50038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89" name="Line 70"/>
          <p:cNvSpPr>
            <a:spLocks noChangeShapeType="1"/>
          </p:cNvSpPr>
          <p:nvPr/>
        </p:nvSpPr>
        <p:spPr bwMode="auto">
          <a:xfrm flipV="1">
            <a:off x="6946900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90" name="Line 71"/>
          <p:cNvSpPr>
            <a:spLocks noChangeShapeType="1"/>
          </p:cNvSpPr>
          <p:nvPr/>
        </p:nvSpPr>
        <p:spPr bwMode="auto">
          <a:xfrm>
            <a:off x="6946900" y="1341438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91" name="Line 72"/>
          <p:cNvSpPr>
            <a:spLocks noChangeShapeType="1"/>
          </p:cNvSpPr>
          <p:nvPr/>
        </p:nvSpPr>
        <p:spPr bwMode="auto">
          <a:xfrm>
            <a:off x="6299200" y="1846263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92" name="Line 73"/>
          <p:cNvSpPr>
            <a:spLocks noChangeShapeType="1"/>
          </p:cNvSpPr>
          <p:nvPr/>
        </p:nvSpPr>
        <p:spPr bwMode="auto">
          <a:xfrm flipV="1">
            <a:off x="7596188" y="1341438"/>
            <a:ext cx="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793" name="Text Box 74"/>
          <p:cNvSpPr txBox="1">
            <a:spLocks noChangeArrowheads="1"/>
          </p:cNvSpPr>
          <p:nvPr/>
        </p:nvSpPr>
        <p:spPr bwMode="auto">
          <a:xfrm>
            <a:off x="1187450" y="1196975"/>
            <a:ext cx="1008063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V1</a:t>
            </a:r>
            <a:endParaRPr lang="en-US" altLang="zh-CN" baseline="-25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46"/>
          <p:cNvPicPr>
            <a:picLocks noChangeAspect="1" noChangeArrowheads="1"/>
          </p:cNvPicPr>
          <p:nvPr/>
        </p:nvPicPr>
        <p:blipFill>
          <a:blip r:embed="rId1" cstate="print"/>
          <a:srcRect l="13095" t="11183" r="10919" b="3574"/>
          <a:stretch>
            <a:fillRect/>
          </a:stretch>
        </p:blipFill>
        <p:spPr bwMode="auto">
          <a:xfrm>
            <a:off x="1403350" y="1412875"/>
            <a:ext cx="6264275" cy="439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4756" name="Text Box 47"/>
          <p:cNvSpPr txBox="1">
            <a:spLocks noChangeArrowheads="1"/>
          </p:cNvSpPr>
          <p:nvPr/>
        </p:nvSpPr>
        <p:spPr bwMode="auto">
          <a:xfrm>
            <a:off x="900113" y="692150"/>
            <a:ext cx="3455987" cy="519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/>
              <a:t>LM324</a:t>
            </a:r>
            <a:endParaRPr lang="en-US" altLang="zh-CN"/>
          </a:p>
        </p:txBody>
      </p:sp>
      <p:sp>
        <p:nvSpPr>
          <p:cNvPr id="74757" name="AutoShape 48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8350" y="3141663"/>
            <a:ext cx="503238" cy="503237"/>
          </a:xfrm>
          <a:prstGeom prst="actionButtonReturn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8" name="Text Box 50"/>
          <p:cNvSpPr txBox="1">
            <a:spLocks noChangeArrowheads="1"/>
          </p:cNvSpPr>
          <p:nvPr/>
        </p:nvSpPr>
        <p:spPr bwMode="auto">
          <a:xfrm>
            <a:off x="1476375" y="3476625"/>
            <a:ext cx="792163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V+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74759" name="Text Box 51"/>
          <p:cNvSpPr txBox="1">
            <a:spLocks noChangeArrowheads="1"/>
          </p:cNvSpPr>
          <p:nvPr/>
        </p:nvSpPr>
        <p:spPr bwMode="auto">
          <a:xfrm>
            <a:off x="6732588" y="3500438"/>
            <a:ext cx="792162" cy="457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V-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86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395288" y="1700213"/>
            <a:ext cx="8604250" cy="2592387"/>
          </a:xfrm>
        </p:spPr>
        <p:txBody>
          <a:bodyPr anchor="ctr"/>
          <a:lstStyle/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4000" b="0" smtClean="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模拟电子技术基础</a:t>
            </a:r>
            <a:r>
              <a:rPr lang="zh-CN" altLang="en-US" sz="4000" b="0" smtClean="0">
                <a:solidFill>
                  <a:srgbClr val="FFCCCC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实验</a:t>
            </a:r>
            <a:endParaRPr lang="zh-CN" altLang="en-US" sz="4000" b="0" smtClean="0">
              <a:solidFill>
                <a:srgbClr val="FFCCCC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 marL="0" indent="0"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4000" b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第</a:t>
            </a:r>
            <a:r>
              <a:rPr lang="en-US" altLang="zh-CN" sz="7300" b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3</a:t>
            </a:r>
            <a:r>
              <a:rPr lang="zh-CN" altLang="en-US" sz="4000" b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章  </a:t>
            </a:r>
            <a:r>
              <a:rPr lang="zh-CN" altLang="en-US" sz="4000" b="0" smtClean="0">
                <a:solidFill>
                  <a:srgbClr val="FF66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模拟电子线路</a:t>
            </a:r>
            <a:r>
              <a:rPr lang="zh-CN" altLang="en-US" sz="4000" b="0" smtClean="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实验内容</a:t>
            </a:r>
            <a:endParaRPr lang="zh-CN" altLang="en-US" sz="4000" b="0" smtClean="0">
              <a:solidFill>
                <a:srgbClr val="CCFF66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94211" name="Text Box 3"/>
          <p:cNvSpPr txBox="1">
            <a:spLocks noChangeArrowheads="1"/>
          </p:cNvSpPr>
          <p:nvPr/>
        </p:nvSpPr>
        <p:spPr bwMode="auto">
          <a:xfrm>
            <a:off x="3679825" y="4459605"/>
            <a:ext cx="4996180" cy="922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5400" b="0">
                <a:solidFill>
                  <a:srgbClr val="0000FF"/>
                </a:solidFill>
                <a:ea typeface="隶书" panose="02010509060101010101" pitchFamily="49" charset="-122"/>
              </a:rPr>
              <a:t>正弦波</a:t>
            </a:r>
            <a:r>
              <a:rPr lang="zh-CN" altLang="en-US" sz="5400" b="0">
                <a:solidFill>
                  <a:srgbClr val="0000FF"/>
                </a:solidFill>
                <a:ea typeface="隶书" panose="02010509060101010101" pitchFamily="49" charset="-122"/>
              </a:rPr>
              <a:t>振荡器</a:t>
            </a:r>
            <a:endParaRPr lang="zh-CN" altLang="en-US" sz="5400" b="0">
              <a:solidFill>
                <a:srgbClr val="0000FF"/>
              </a:solidFill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00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00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9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4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实验八 运算放大器应用（二</a:t>
            </a:r>
            <a:r>
              <a:rPr lang="zh-CN" altLang="en-US" smtClean="0"/>
              <a:t>）</a:t>
            </a:r>
            <a:r>
              <a:rPr lang="en-US" altLang="zh-CN" smtClean="0"/>
              <a:t>     </a:t>
            </a:r>
            <a:r>
              <a:rPr lang="en-US" altLang="zh-CN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66"/>
                </a:solidFill>
              </a:rPr>
              <a:t>. </a:t>
            </a:r>
            <a:r>
              <a:rPr lang="zh-CN" altLang="en-US" smtClean="0">
                <a:solidFill>
                  <a:srgbClr val="FF0066"/>
                </a:solidFill>
              </a:rPr>
              <a:t>正交振荡器</a:t>
            </a:r>
            <a:endParaRPr lang="zh-CN" altLang="en-US" smtClean="0">
              <a:solidFill>
                <a:srgbClr val="FF0066"/>
              </a:solidFill>
            </a:endParaRPr>
          </a:p>
        </p:txBody>
      </p:sp>
      <p:sp>
        <p:nvSpPr>
          <p:cNvPr id="76804" name="灯片编号占位符 3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D875FA8D-0BFE-4C56-965A-DDE911D5C22B}" type="slidenum">
              <a:rPr lang="zh-CN" altLang="en-US" sz="1200" b="0">
                <a:latin typeface="Arial Black" panose="020B0A04020102020204" pitchFamily="34" charset="0"/>
              </a:rPr>
            </a:fld>
            <a:endParaRPr lang="en-US" altLang="zh-CN" sz="1200" b="0">
              <a:latin typeface="Arial Black" panose="020B0A04020102020204" pitchFamily="34" charset="0"/>
            </a:endParaRPr>
          </a:p>
        </p:txBody>
      </p:sp>
      <p:sp>
        <p:nvSpPr>
          <p:cNvPr id="76827" name="AutoShape 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1225" y="3141663"/>
            <a:ext cx="504825" cy="504825"/>
          </a:xfrm>
          <a:prstGeom prst="actionButtonInformation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93445" y="1110615"/>
            <a:ext cx="711517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由一个同相积分器和一个反相积分器串接而成的。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对象 3"/>
          <p:cNvGraphicFramePr/>
          <p:nvPr/>
        </p:nvGraphicFramePr>
        <p:xfrm>
          <a:off x="2814955" y="2063750"/>
          <a:ext cx="3129280" cy="198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2" imgW="2743200" imgH="1247775" progId="Paint.Picture">
                  <p:embed/>
                </p:oleObj>
              </mc:Choice>
              <mc:Fallback>
                <p:oleObj name="" r:id="rId2" imgW="2743200" imgH="1247775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814955" y="2063750"/>
                        <a:ext cx="3129280" cy="19894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93445" y="4313555"/>
            <a:ext cx="7215505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当R1C1=R2C2、R1=R2=R、C1=C2=C时，可得 这是一个标准的正弦波振荡微分方程，其解为</a:t>
            </a:r>
            <a:endParaRPr lang="zh-CN" altLang="en-US"/>
          </a:p>
          <a:p>
            <a:r>
              <a:rPr lang="zh-CN" altLang="en-US"/>
              <a:t>    </a:t>
            </a:r>
            <a:r>
              <a:rPr lang="en-US" altLang="zh-CN" u="sng">
                <a:latin typeface="+mn-lt"/>
                <a:cs typeface="+mn-lt"/>
              </a:rPr>
              <a:t>Uo(t)=sinω0(t)</a:t>
            </a:r>
            <a:endParaRPr lang="en-US" altLang="zh-CN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u="sng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altLang="zh-CN" u="sng">
                <a:latin typeface="+mn-lt"/>
                <a:cs typeface="+mn-lt"/>
              </a:rPr>
              <a:t>Uo1(t)=-cos</a:t>
            </a:r>
            <a:r>
              <a:rPr lang="en-US" altLang="zh-CN" u="sng">
                <a:latin typeface="+mn-lt"/>
                <a:cs typeface="+mn-lt"/>
                <a:sym typeface="+mn-ea"/>
              </a:rPr>
              <a:t>ω0(t)</a:t>
            </a:r>
            <a:endParaRPr lang="en-US" altLang="zh-CN" u="sng">
              <a:latin typeface="+mn-lt"/>
              <a:cs typeface="+mn-l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实验八 运算放大器应用</a:t>
            </a:r>
            <a:r>
              <a:rPr lang="zh-CN" altLang="en-US" smtClean="0">
                <a:sym typeface="+mn-ea"/>
              </a:rPr>
              <a:t>（二）</a:t>
            </a:r>
            <a:r>
              <a:rPr lang="en-US" altLang="zh-CN" smtClean="0"/>
              <a:t>     </a:t>
            </a:r>
            <a:r>
              <a:rPr lang="en-US" altLang="zh-CN" smtClean="0">
                <a:solidFill>
                  <a:srgbClr val="FF0000"/>
                </a:solidFill>
              </a:rPr>
              <a:t>2</a:t>
            </a:r>
            <a:r>
              <a:rPr lang="en-US" altLang="zh-CN" smtClean="0">
                <a:solidFill>
                  <a:srgbClr val="FF0066"/>
                </a:solidFill>
              </a:rPr>
              <a:t>. </a:t>
            </a:r>
            <a:r>
              <a:rPr lang="zh-CN" altLang="en-US" smtClean="0">
                <a:solidFill>
                  <a:srgbClr val="FF0066"/>
                </a:solidFill>
              </a:rPr>
              <a:t>正交振荡器</a:t>
            </a:r>
            <a:endParaRPr lang="zh-CN" altLang="en-US" smtClean="0">
              <a:solidFill>
                <a:srgbClr val="FF0066"/>
              </a:solidFill>
            </a:endParaRPr>
          </a:p>
        </p:txBody>
      </p:sp>
      <p:sp>
        <p:nvSpPr>
          <p:cNvPr id="77827" name="灯片编号占位符 3"/>
          <p:cNvSpPr txBox="1">
            <a:spLocks noGrp="1"/>
          </p:cNvSpPr>
          <p:nvPr/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C44DC64-7EC6-4997-89D3-AEDCD9CB977A}" type="slidenum">
              <a:rPr lang="zh-CN" altLang="en-US" sz="1200" b="0">
                <a:latin typeface="Arial Black" panose="020B0A04020102020204" pitchFamily="34" charset="0"/>
              </a:rPr>
            </a:fld>
            <a:endParaRPr lang="en-US" altLang="zh-CN" sz="1200" b="0">
              <a:latin typeface="Arial Black" panose="020B0A04020102020204" pitchFamily="34" charset="0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323850" y="4437063"/>
            <a:ext cx="3465513" cy="201612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用</a:t>
            </a:r>
            <a:r>
              <a:rPr lang="zh-CN" altLang="en-US" sz="2400" dirty="0">
                <a:solidFill>
                  <a:schemeClr val="accent5">
                    <a:lumMod val="50000"/>
                  </a:schemeClr>
                </a:solidFill>
              </a:rPr>
              <a:t>示波器</a:t>
            </a:r>
            <a:r>
              <a:rPr lang="zh-CN" altLang="en-US" sz="2400" dirty="0"/>
              <a:t>观察并记录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V1</a:t>
            </a:r>
            <a:r>
              <a:rPr lang="zh-CN" altLang="en-US" sz="2400" dirty="0"/>
              <a:t>、</a:t>
            </a:r>
            <a:r>
              <a:rPr lang="en-US" altLang="zh-CN" sz="2400" dirty="0">
                <a:solidFill>
                  <a:schemeClr val="accent5">
                    <a:lumMod val="50000"/>
                  </a:schemeClr>
                </a:solidFill>
                <a:latin typeface="+mj-lt"/>
              </a:rPr>
              <a:t>V2</a:t>
            </a:r>
            <a:r>
              <a:rPr lang="zh-CN" altLang="en-US" sz="2400" dirty="0"/>
              <a:t>点的波形</a:t>
            </a:r>
            <a:r>
              <a:rPr lang="en-US" altLang="zh-CN" sz="2400" dirty="0"/>
              <a:t>(D1</a:t>
            </a:r>
            <a:r>
              <a:rPr lang="zh-CN" altLang="en-US" sz="2400" dirty="0"/>
              <a:t>与</a:t>
            </a:r>
            <a:r>
              <a:rPr lang="en-US" altLang="zh-CN" sz="2400" dirty="0"/>
              <a:t>D2</a:t>
            </a:r>
            <a:r>
              <a:rPr lang="zh-CN" altLang="en-US" sz="2400" dirty="0"/>
              <a:t>可以去掉影响幅度），测量其</a:t>
            </a:r>
            <a:r>
              <a:rPr lang="zh-CN" altLang="en-US" sz="2400" dirty="0">
                <a:solidFill>
                  <a:srgbClr val="FF0000"/>
                </a:solidFill>
              </a:rPr>
              <a:t>相位差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信号幅度</a:t>
            </a:r>
            <a:r>
              <a:rPr lang="zh-CN" altLang="en-US" sz="2400" dirty="0"/>
              <a:t>及</a:t>
            </a:r>
            <a:r>
              <a:rPr lang="zh-CN" altLang="en-US" sz="2400" dirty="0">
                <a:solidFill>
                  <a:srgbClr val="FF0000"/>
                </a:solidFill>
              </a:rPr>
              <a:t>震荡频率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3851275" y="4508500"/>
          <a:ext cx="468065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70"/>
                <a:gridCol w="1368190"/>
                <a:gridCol w="136819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V1</a:t>
                      </a:r>
                      <a:endParaRPr lang="zh-CN" altLang="en-US" sz="2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smtClean="0">
                          <a:solidFill>
                            <a:schemeClr val="tx1"/>
                          </a:solidFill>
                          <a:latin typeface="+mn-lt"/>
                        </a:rPr>
                        <a:t>V2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smtClean="0">
                          <a:solidFill>
                            <a:schemeClr val="tx1"/>
                          </a:solidFill>
                          <a:latin typeface="+mn-lt"/>
                        </a:rPr>
                        <a:t>幅度</a:t>
                      </a:r>
                      <a:r>
                        <a:rPr lang="en-US" altLang="zh-CN" sz="2800" b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2800" b="1" smtClean="0">
                          <a:solidFill>
                            <a:schemeClr val="tx1"/>
                          </a:solidFill>
                          <a:latin typeface="+mn-lt"/>
                        </a:rPr>
                        <a:t>V</a:t>
                      </a:r>
                      <a:r>
                        <a:rPr lang="en-US" altLang="zh-CN" sz="28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zh-CN" altLang="en-US" sz="2800" b="1" kern="120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smtClean="0">
                          <a:solidFill>
                            <a:schemeClr val="tx1"/>
                          </a:solidFill>
                          <a:latin typeface="+mn-lt"/>
                        </a:rPr>
                        <a:t>频率</a:t>
                      </a:r>
                      <a:r>
                        <a:rPr lang="en-US" altLang="zh-CN" sz="28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2800" b="1" smtClean="0">
                          <a:solidFill>
                            <a:schemeClr val="tx1"/>
                          </a:solidFill>
                          <a:latin typeface="+mn-lt"/>
                        </a:rPr>
                        <a:t>Hz</a:t>
                      </a:r>
                      <a:r>
                        <a:rPr lang="en-US" altLang="zh-CN" sz="28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zh-CN" altLang="en-US" sz="2800" b="1" kern="120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smtClean="0">
                          <a:solidFill>
                            <a:schemeClr val="tx1"/>
                          </a:solidFill>
                          <a:latin typeface="+mn-lt"/>
                        </a:rPr>
                        <a:t>相位差</a:t>
                      </a:r>
                      <a:endParaRPr lang="zh-CN" altLang="en-US" sz="2800" b="1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endParaRPr lang="zh-CN" altLang="en-US" sz="28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850" name="AutoShape 29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531225" y="3141663"/>
            <a:ext cx="504825" cy="504825"/>
          </a:xfrm>
          <a:prstGeom prst="actionButtonInformation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51" name="AutoShape 5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9388" y="692150"/>
            <a:ext cx="1079500" cy="433388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chemeClr val="bg2"/>
                </a:solidFill>
              </a:rPr>
              <a:t>试验箱</a:t>
            </a:r>
            <a:endParaRPr lang="zh-CN" altLang="en-US" sz="2400">
              <a:solidFill>
                <a:schemeClr val="bg2"/>
              </a:solidFill>
            </a:endParaRPr>
          </a:p>
        </p:txBody>
      </p:sp>
      <p:sp>
        <p:nvSpPr>
          <p:cNvPr id="77853" name="AutoShape 59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9388" y="1196975"/>
            <a:ext cx="1079500" cy="43180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示波器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77854" name="AutoShape 6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79388" y="1700213"/>
            <a:ext cx="1079500" cy="433387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探头</a:t>
            </a:r>
            <a:endParaRPr lang="zh-CN" altLang="en-US" sz="2400">
              <a:solidFill>
                <a:srgbClr val="000099"/>
              </a:solidFill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1763395" y="980440"/>
          <a:ext cx="6101080" cy="32810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5248275" imgH="2886075" progId="Paint.Picture">
                  <p:embed/>
                </p:oleObj>
              </mc:Choice>
              <mc:Fallback>
                <p:oleObj name="" r:id="rId3" imgW="5248275" imgH="288607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395" y="980440"/>
                        <a:ext cx="6101080" cy="32810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52" name="AutoShape 65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331913" y="692150"/>
            <a:ext cx="1077912" cy="431800"/>
          </a:xfrm>
          <a:prstGeom prst="actionButtonBlank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wrap="none" anchor="ctr"/>
          <a:lstStyle/>
          <a:p>
            <a:pPr algn="ctr"/>
            <a:r>
              <a:rPr lang="zh-CN" altLang="en-US" sz="2400">
                <a:solidFill>
                  <a:srgbClr val="000099"/>
                </a:solidFill>
              </a:rPr>
              <a:t>双电源</a:t>
            </a:r>
            <a:endParaRPr lang="zh-CN" altLang="en-US" sz="2400">
              <a:solidFill>
                <a:srgbClr val="000099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2485" y="2277110"/>
            <a:ext cx="635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V1</a:t>
            </a:r>
            <a:endParaRPr lang="en-US" altLang="zh-CN" sz="1800"/>
          </a:p>
        </p:txBody>
      </p:sp>
      <p:sp>
        <p:nvSpPr>
          <p:cNvPr id="5" name="文本框 4"/>
          <p:cNvSpPr txBox="1"/>
          <p:nvPr/>
        </p:nvSpPr>
        <p:spPr>
          <a:xfrm>
            <a:off x="7378700" y="2716530"/>
            <a:ext cx="605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/>
              <a:t>V2</a:t>
            </a:r>
            <a:endParaRPr lang="en-US" altLang="zh-CN" sz="1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81075"/>
            <a:ext cx="7848600" cy="5256213"/>
          </a:xfrm>
        </p:spPr>
        <p:txBody>
          <a:bodyPr/>
          <a:lstStyle/>
          <a:p>
            <a:r>
              <a:rPr lang="zh-CN" altLang="en-US" smtClean="0"/>
              <a:t>时间：</a:t>
            </a:r>
            <a:endParaRPr lang="en-US" altLang="zh-CN" smtClean="0"/>
          </a:p>
          <a:p>
            <a:r>
              <a:rPr lang="zh-CN" altLang="en-US" smtClean="0"/>
              <a:t>注意事项：</a:t>
            </a:r>
            <a:endParaRPr lang="zh-CN" altLang="en-US" smtClean="0"/>
          </a:p>
          <a:p>
            <a:pPr lvl="1"/>
            <a:r>
              <a:rPr lang="zh-CN" altLang="en-US" smtClean="0"/>
              <a:t>电源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电压</a:t>
            </a:r>
            <a:r>
              <a:rPr lang="zh-CN" altLang="en-US" smtClean="0"/>
              <a:t>不要接反；</a:t>
            </a:r>
            <a:endParaRPr lang="zh-CN" altLang="en-US" smtClean="0"/>
          </a:p>
          <a:p>
            <a:pPr lvl="1"/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连接线</a:t>
            </a:r>
            <a:r>
              <a:rPr lang="zh-CN" altLang="en-US" smtClean="0"/>
              <a:t>有断的，测好之后再用；</a:t>
            </a:r>
            <a:endParaRPr lang="zh-CN" altLang="en-US" smtClean="0"/>
          </a:p>
          <a:p>
            <a:pPr lvl="1"/>
            <a:r>
              <a:rPr lang="zh-CN" altLang="en-US" smtClean="0"/>
              <a:t>按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模块</a:t>
            </a:r>
            <a:r>
              <a:rPr lang="zh-CN" altLang="en-US" smtClean="0"/>
              <a:t>搭建并调试电路；</a:t>
            </a:r>
            <a:endParaRPr lang="zh-CN" altLang="en-US" smtClean="0"/>
          </a:p>
          <a:p>
            <a:pPr lvl="1"/>
            <a:r>
              <a:rPr lang="zh-CN" altLang="en-US" smtClean="0"/>
              <a:t>如果电路工作不正常，</a:t>
            </a:r>
            <a:endParaRPr lang="zh-CN" altLang="en-US" smtClean="0"/>
          </a:p>
          <a:p>
            <a:pPr lvl="2"/>
            <a:r>
              <a:rPr lang="zh-CN" altLang="en-US" smtClean="0"/>
              <a:t>用万用表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电压档</a:t>
            </a:r>
            <a:r>
              <a:rPr lang="zh-CN" altLang="en-US" smtClean="0"/>
              <a:t>测</a:t>
            </a:r>
            <a:r>
              <a:rPr lang="en-US" altLang="zh-CN" smtClean="0"/>
              <a:t>LM324</a:t>
            </a:r>
            <a:r>
              <a:rPr lang="zh-CN" altLang="en-US" smtClean="0"/>
              <a:t>的</a:t>
            </a:r>
            <a:r>
              <a:rPr lang="en-US" altLang="zh-CN" smtClean="0"/>
              <a:t>4</a:t>
            </a:r>
            <a:r>
              <a:rPr lang="zh-CN" altLang="en-US" smtClean="0"/>
              <a:t>、</a:t>
            </a:r>
            <a:r>
              <a:rPr lang="en-US" altLang="zh-CN" smtClean="0"/>
              <a:t>11</a:t>
            </a:r>
            <a:r>
              <a:rPr lang="zh-CN" altLang="en-US" smtClean="0"/>
              <a:t>引脚，看正负电压是否正常；</a:t>
            </a:r>
            <a:endParaRPr lang="zh-CN" altLang="en-US" smtClean="0"/>
          </a:p>
          <a:p>
            <a:pPr lvl="2"/>
            <a:r>
              <a:rPr lang="zh-CN" altLang="en-US" smtClean="0"/>
              <a:t>关闭电源，用万用表</a:t>
            </a:r>
            <a:r>
              <a:rPr lang="zh-CN" altLang="en-US" smtClean="0">
                <a:solidFill>
                  <a:srgbClr val="0000FF"/>
                </a:solidFill>
                <a:ea typeface="黑体" panose="02010609060101010101" pitchFamily="2" charset="-122"/>
              </a:rPr>
              <a:t>电阻挡</a:t>
            </a:r>
            <a:r>
              <a:rPr lang="zh-CN" altLang="en-US" smtClean="0"/>
              <a:t>测量连线是否正确。</a:t>
            </a:r>
            <a:endParaRPr lang="zh-CN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765175"/>
            <a:ext cx="8362950" cy="10080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 smtClean="0">
              <a:solidFill>
                <a:schemeClr val="bg2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    </a:t>
            </a:r>
            <a:r>
              <a:rPr lang="zh-CN" altLang="en-US" dirty="0" smtClean="0">
                <a:solidFill>
                  <a:srgbClr val="7030A0"/>
                </a:solidFill>
                <a:latin typeface="+mj-ea"/>
                <a:ea typeface="+mj-ea"/>
              </a:rPr>
              <a:t>正交振荡器的基本原理是利用积分器来模拟二阶微分方程，从而可以得到正弦与余弦信号。</a:t>
            </a:r>
            <a:endParaRPr lang="en-US" altLang="zh-CN" dirty="0" smtClean="0">
              <a:solidFill>
                <a:srgbClr val="7030A0"/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>
              <a:solidFill>
                <a:srgbClr val="7030A0"/>
              </a:solidFill>
              <a:latin typeface="+mj-ea"/>
              <a:ea typeface="+mj-ea"/>
            </a:endParaRPr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A224070-4447-4CC7-98D3-C921B14E8B15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870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实验八  </a:t>
            </a:r>
            <a:r>
              <a:rPr lang="zh-CN" altLang="en-US" smtClean="0">
                <a:sym typeface="+mn-ea"/>
              </a:rPr>
              <a:t>运算放大器应用（二</a:t>
            </a:r>
            <a:r>
              <a:rPr lang="zh-CN" altLang="en-US" smtClean="0">
                <a:sym typeface="+mn-ea"/>
              </a:rPr>
              <a:t>）</a:t>
            </a:r>
            <a:r>
              <a:rPr lang="en-US" altLang="zh-CN" smtClean="0">
                <a:sym typeface="+mn-ea"/>
              </a:rPr>
              <a:t>     </a:t>
            </a:r>
            <a:r>
              <a:rPr lang="en-US" altLang="zh-CN" smtClean="0">
                <a:solidFill>
                  <a:srgbClr val="FF0000"/>
                </a:solidFill>
                <a:sym typeface="+mn-ea"/>
              </a:rPr>
              <a:t>2</a:t>
            </a:r>
            <a:r>
              <a:rPr lang="en-US" altLang="zh-CN" smtClean="0">
                <a:solidFill>
                  <a:srgbClr val="FF0066"/>
                </a:solidFill>
                <a:sym typeface="+mn-ea"/>
              </a:rPr>
              <a:t>. </a:t>
            </a:r>
            <a:r>
              <a:rPr lang="zh-CN" altLang="en-US" smtClean="0">
                <a:solidFill>
                  <a:srgbClr val="FF0066"/>
                </a:solidFill>
                <a:sym typeface="+mn-ea"/>
              </a:rPr>
              <a:t>正交振荡器</a:t>
            </a:r>
            <a:endParaRPr lang="zh-CN" altLang="en-US" smtClean="0"/>
          </a:p>
        </p:txBody>
      </p:sp>
      <p:pic>
        <p:nvPicPr>
          <p:cNvPr id="87045" name="Picture 4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763713" y="2492375"/>
            <a:ext cx="5276850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7046" name="TextBox 9"/>
          <p:cNvSpPr txBox="1">
            <a:spLocks noChangeArrowheads="1"/>
          </p:cNvSpPr>
          <p:nvPr/>
        </p:nvSpPr>
        <p:spPr bwMode="auto">
          <a:xfrm>
            <a:off x="2771775" y="5445125"/>
            <a:ext cx="3816350" cy="523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00B0F0"/>
                </a:solidFill>
              </a:rPr>
              <a:t>两路信号相位差</a:t>
            </a:r>
            <a:r>
              <a:rPr lang="en-US" altLang="zh-CN">
                <a:solidFill>
                  <a:srgbClr val="00B0F0"/>
                </a:solidFill>
              </a:rPr>
              <a:t>90</a:t>
            </a:r>
            <a:r>
              <a:rPr lang="zh-CN" altLang="en-US">
                <a:solidFill>
                  <a:srgbClr val="00B0F0"/>
                </a:solidFill>
              </a:rPr>
              <a:t>度</a:t>
            </a:r>
            <a:endParaRPr lang="zh-CN" altLang="en-US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4"/>
          <p:cNvSpPr>
            <a:spLocks noGrp="1"/>
          </p:cNvSpPr>
          <p:nvPr>
            <p:ph type="title"/>
          </p:nvPr>
        </p:nvSpPr>
        <p:spPr>
          <a:xfrm>
            <a:off x="611188" y="0"/>
            <a:ext cx="8229600" cy="523875"/>
          </a:xfrm>
        </p:spPr>
        <p:txBody>
          <a:bodyPr/>
          <a:lstStyle/>
          <a:p>
            <a:r>
              <a:rPr lang="zh-CN" altLang="en-US" smtClean="0"/>
              <a:t>实验八  </a:t>
            </a:r>
            <a:r>
              <a:rPr lang="zh-CN" altLang="en-US" smtClean="0">
                <a:sym typeface="+mn-ea"/>
              </a:rPr>
              <a:t>运算放大器应用（三</a:t>
            </a:r>
            <a:r>
              <a:rPr lang="zh-CN" altLang="en-US" smtClean="0">
                <a:sym typeface="+mn-ea"/>
              </a:rPr>
              <a:t>）</a:t>
            </a:r>
            <a:r>
              <a:rPr lang="en-US" altLang="zh-CN" smtClean="0">
                <a:solidFill>
                  <a:srgbClr val="FF0000"/>
                </a:solidFill>
              </a:rPr>
              <a:t>3.</a:t>
            </a:r>
            <a:r>
              <a:rPr lang="zh-CN" altLang="en-US" smtClean="0">
                <a:solidFill>
                  <a:srgbClr val="FF0000"/>
                </a:solidFill>
              </a:rPr>
              <a:t>文氏振荡器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765175"/>
            <a:ext cx="8362950" cy="12239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文氏桥振荡器</a:t>
            </a:r>
            <a:endParaRPr lang="en-US" altLang="zh-CN" dirty="0" smtClean="0">
              <a:solidFill>
                <a:schemeClr val="accent5">
                  <a:lumMod val="50000"/>
                </a:schemeClr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38F8F1BF-571A-4F91-9E02-9D204495E5DF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8192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539750" y="1916113"/>
            <a:ext cx="4464050" cy="345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932363" y="1341438"/>
            <a:ext cx="4032250" cy="5692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工作原理：</a:t>
            </a:r>
            <a:r>
              <a:rPr lang="zh-CN" alt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刚上电时，电路会出现频率丰富的微小噪声，放大器将噪声放大；</a:t>
            </a:r>
            <a:r>
              <a:rPr lang="zh-CN" altLang="en-US" dirty="0">
                <a:solidFill>
                  <a:srgbClr val="7030A0"/>
                </a:solidFill>
              </a:rPr>
              <a:t>要使振荡稳定，信号不能无休止的放大，必须引入负反馈，使放大倍数稳定；</a:t>
            </a:r>
            <a:r>
              <a:rPr lang="zh-CN" altLang="en-US" dirty="0">
                <a:solidFill>
                  <a:srgbClr val="CC00CC"/>
                </a:solidFill>
              </a:rPr>
              <a:t>运用</a:t>
            </a:r>
            <a:r>
              <a:rPr lang="en-US" altLang="zh-CN" dirty="0">
                <a:solidFill>
                  <a:srgbClr val="CC00CC"/>
                </a:solidFill>
              </a:rPr>
              <a:t>RC</a:t>
            </a:r>
            <a:r>
              <a:rPr lang="zh-CN" altLang="en-US" dirty="0">
                <a:solidFill>
                  <a:srgbClr val="CC00CC"/>
                </a:solidFill>
              </a:rPr>
              <a:t>带通滤波器（</a:t>
            </a:r>
            <a:r>
              <a:rPr lang="en-US" altLang="zh-CN" dirty="0">
                <a:solidFill>
                  <a:srgbClr val="CC00CC"/>
                </a:solidFill>
              </a:rPr>
              <a:t>RC</a:t>
            </a:r>
            <a:r>
              <a:rPr lang="zh-CN" altLang="en-US" dirty="0">
                <a:solidFill>
                  <a:srgbClr val="CC00CC"/>
                </a:solidFill>
              </a:rPr>
              <a:t>低通和高通的组合），提取所需的频率。</a:t>
            </a:r>
            <a:endParaRPr lang="zh-CN" altLang="en-US" b="0" dirty="0">
              <a:solidFill>
                <a:srgbClr val="FFCC00"/>
              </a:solidFill>
            </a:endParaRP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实验八 </a:t>
            </a:r>
            <a:r>
              <a:rPr lang="zh-CN" altLang="en-US" smtClean="0">
                <a:sym typeface="+mn-ea"/>
              </a:rPr>
              <a:t>运算放大器应用（三</a:t>
            </a:r>
            <a:r>
              <a:rPr lang="zh-CN" altLang="en-US" smtClean="0">
                <a:sym typeface="+mn-ea"/>
              </a:rPr>
              <a:t>）</a:t>
            </a:r>
            <a:r>
              <a:rPr lang="zh-CN" altLang="en-US" smtClean="0"/>
              <a:t> </a:t>
            </a:r>
            <a:r>
              <a:rPr lang="en-US" altLang="zh-CN" smtClean="0">
                <a:solidFill>
                  <a:srgbClr val="FF0000"/>
                </a:solidFill>
              </a:rPr>
              <a:t>3.</a:t>
            </a:r>
            <a:r>
              <a:rPr lang="zh-CN" altLang="en-US" smtClean="0">
                <a:solidFill>
                  <a:srgbClr val="FF0000"/>
                </a:solidFill>
                <a:sym typeface="+mn-ea"/>
              </a:rPr>
              <a:t>文氏</a:t>
            </a:r>
            <a:r>
              <a:rPr lang="zh-CN" altLang="en-US" smtClean="0">
                <a:solidFill>
                  <a:srgbClr val="FF0000"/>
                </a:solidFill>
              </a:rPr>
              <a:t>振荡器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362950" cy="367188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600" dirty="0" smtClean="0">
                <a:solidFill>
                  <a:srgbClr val="FF0000"/>
                </a:solidFill>
                <a:latin typeface="+mj-ea"/>
                <a:ea typeface="+mj-ea"/>
              </a:rPr>
              <a:t>稳定振荡需要满足以下两个条件：</a:t>
            </a:r>
            <a:endParaRPr lang="en-US" altLang="zh-CN" sz="3600" dirty="0" smtClean="0">
              <a:solidFill>
                <a:srgbClr val="FF0000"/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600" dirty="0" smtClean="0">
                <a:solidFill>
                  <a:srgbClr val="7030A0"/>
                </a:solidFill>
                <a:latin typeface="+mj-ea"/>
                <a:ea typeface="+mj-ea"/>
              </a:rPr>
              <a:t>（</a:t>
            </a:r>
            <a:r>
              <a:rPr lang="en-US" altLang="zh-CN" sz="3600" dirty="0" smtClean="0">
                <a:solidFill>
                  <a:srgbClr val="7030A0"/>
                </a:solidFill>
                <a:latin typeface="+mj-ea"/>
                <a:ea typeface="+mj-ea"/>
              </a:rPr>
              <a:t>1</a:t>
            </a:r>
            <a:r>
              <a:rPr lang="zh-CN" altLang="en-US" sz="3600" dirty="0" smtClean="0">
                <a:solidFill>
                  <a:srgbClr val="7030A0"/>
                </a:solidFill>
                <a:latin typeface="+mj-ea"/>
                <a:ea typeface="+mj-ea"/>
              </a:rPr>
              <a:t>）相位平衡条件：</a:t>
            </a:r>
            <a:r>
              <a:rPr lang="zh-CN" altLang="en-US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反馈电路的相位与输入电压的相位同相。</a:t>
            </a:r>
            <a:endParaRPr lang="en-US" altLang="zh-CN" sz="3600" dirty="0" smtClean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3600" dirty="0" smtClean="0">
                <a:solidFill>
                  <a:srgbClr val="7030A0"/>
                </a:solidFill>
                <a:latin typeface="+mj-ea"/>
                <a:ea typeface="+mj-ea"/>
              </a:rPr>
              <a:t>（</a:t>
            </a:r>
            <a:r>
              <a:rPr lang="en-US" altLang="zh-CN" sz="3600" dirty="0" smtClean="0">
                <a:solidFill>
                  <a:srgbClr val="7030A0"/>
                </a:solidFill>
                <a:latin typeface="+mj-ea"/>
                <a:ea typeface="+mj-ea"/>
              </a:rPr>
              <a:t>2</a:t>
            </a:r>
            <a:r>
              <a:rPr lang="zh-CN" altLang="en-US" sz="3600" dirty="0" smtClean="0">
                <a:solidFill>
                  <a:srgbClr val="7030A0"/>
                </a:solidFill>
                <a:latin typeface="+mj-ea"/>
                <a:ea typeface="+mj-ea"/>
              </a:rPr>
              <a:t>）振幅平衡条件：</a:t>
            </a:r>
            <a:r>
              <a:rPr lang="zh-CN" altLang="en-US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反馈电压的幅度与输入电压的幅度相等。</a:t>
            </a:r>
            <a:r>
              <a:rPr lang="zh-CN" altLang="en-US" sz="3600" dirty="0" smtClean="0">
                <a:latin typeface="+mj-ea"/>
                <a:ea typeface="+mj-ea"/>
              </a:rPr>
              <a:t>这是电路维持稳定振荡的振幅条件。</a:t>
            </a:r>
            <a:r>
              <a:rPr lang="zh-CN" altLang="en-US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刚开始的时候放大倍数与反馈系数乘积大于</a:t>
            </a:r>
            <a:r>
              <a:rPr lang="en-US" altLang="zh-CN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1</a:t>
            </a:r>
            <a:r>
              <a:rPr lang="zh-CN" altLang="en-US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，信号持续放大，大到一定程度时，放大倍数减小，使得电路放大倍数为与反馈系数的乘积为</a:t>
            </a:r>
            <a:r>
              <a:rPr lang="en-US" altLang="zh-CN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1</a:t>
            </a:r>
            <a:r>
              <a:rPr lang="zh-CN" altLang="en-US" sz="3600" dirty="0" smtClean="0">
                <a:solidFill>
                  <a:schemeClr val="accent5">
                    <a:lumMod val="50000"/>
                  </a:schemeClr>
                </a:solidFill>
                <a:latin typeface="+mj-ea"/>
                <a:ea typeface="+mj-ea"/>
              </a:rPr>
              <a:t>，信号稳定输出。</a:t>
            </a:r>
            <a:endParaRPr lang="zh-CN" altLang="en-US" sz="3600" dirty="0" smtClean="0">
              <a:solidFill>
                <a:schemeClr val="accent5">
                  <a:lumMod val="50000"/>
                </a:schemeClr>
              </a:solidFill>
              <a:latin typeface="+mj-ea"/>
              <a:ea typeface="+mj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 smtClean="0">
              <a:latin typeface="+mj-ea"/>
              <a:ea typeface="+mj-ea"/>
            </a:endParaRPr>
          </a:p>
        </p:txBody>
      </p:sp>
      <p:sp>
        <p:nvSpPr>
          <p:cNvPr id="829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DAA812DA-73FF-4B7E-B799-9B1EA1C83815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实验八  </a:t>
            </a:r>
            <a:r>
              <a:rPr lang="zh-CN" altLang="en-US" smtClean="0">
                <a:sym typeface="+mn-ea"/>
              </a:rPr>
              <a:t>运算放大器应用（三</a:t>
            </a:r>
            <a:r>
              <a:rPr lang="zh-CN" altLang="en-US" smtClean="0">
                <a:sym typeface="+mn-ea"/>
              </a:rPr>
              <a:t>）</a:t>
            </a:r>
            <a:r>
              <a:rPr lang="zh-CN" altLang="en-US" smtClean="0"/>
              <a:t>  </a:t>
            </a:r>
            <a:r>
              <a:rPr lang="en-US" altLang="zh-CN" smtClean="0">
                <a:solidFill>
                  <a:srgbClr val="FF0000"/>
                </a:solidFill>
              </a:rPr>
              <a:t>3.</a:t>
            </a:r>
            <a:r>
              <a:rPr lang="zh-CN" altLang="en-US" smtClean="0">
                <a:solidFill>
                  <a:srgbClr val="FF0000"/>
                </a:solidFill>
                <a:sym typeface="+mn-ea"/>
              </a:rPr>
              <a:t>文氏</a:t>
            </a:r>
            <a:r>
              <a:rPr lang="zh-CN" altLang="en-US" smtClean="0">
                <a:solidFill>
                  <a:srgbClr val="FF0000"/>
                </a:solidFill>
              </a:rPr>
              <a:t>振荡器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765175"/>
            <a:ext cx="8362950" cy="6477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参考电路（</a:t>
            </a:r>
            <a:r>
              <a:rPr lang="en-US" altLang="zh-CN" dirty="0" smtClean="0">
                <a:solidFill>
                  <a:schemeClr val="accent5">
                    <a:lumMod val="50000"/>
                  </a:schemeClr>
                </a:solidFill>
              </a:rPr>
              <a:t>1</a:t>
            </a: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）</a:t>
            </a:r>
            <a:endParaRPr lang="zh-CN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E2C0545-66D7-42CB-8125-E6760A046D38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0113" y="4581525"/>
            <a:ext cx="7127875" cy="1816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1">
                    <a:lumMod val="90000"/>
                  </a:schemeClr>
                </a:solidFill>
              </a:rPr>
              <a:t>该电路为基本文氏桥正弦波振荡器电路。调试时需先将电位器</a:t>
            </a:r>
            <a:r>
              <a:rPr lang="en-US" altLang="zh-CN" dirty="0">
                <a:solidFill>
                  <a:schemeClr val="accent1">
                    <a:lumMod val="90000"/>
                  </a:schemeClr>
                </a:solidFill>
              </a:rPr>
              <a:t>R4</a:t>
            </a:r>
            <a:r>
              <a:rPr lang="zh-CN" altLang="en-US" dirty="0">
                <a:solidFill>
                  <a:schemeClr val="accent1">
                    <a:lumMod val="90000"/>
                  </a:schemeClr>
                </a:solidFill>
              </a:rPr>
              <a:t>调至大于</a:t>
            </a:r>
            <a:r>
              <a:rPr lang="en-US" altLang="zh-CN" dirty="0">
                <a:solidFill>
                  <a:schemeClr val="accent1">
                    <a:lumMod val="90000"/>
                  </a:schemeClr>
                </a:solidFill>
              </a:rPr>
              <a:t>20%</a:t>
            </a:r>
            <a:r>
              <a:rPr lang="zh-CN" altLang="en-US" dirty="0">
                <a:solidFill>
                  <a:schemeClr val="accent1">
                    <a:lumMod val="90000"/>
                  </a:schemeClr>
                </a:solidFill>
              </a:rPr>
              <a:t>使电路起振，这时输出会出现失真，再将电位器调回</a:t>
            </a:r>
            <a:r>
              <a:rPr lang="en-US" altLang="zh-CN" dirty="0">
                <a:solidFill>
                  <a:schemeClr val="accent1">
                    <a:lumMod val="90000"/>
                  </a:schemeClr>
                </a:solidFill>
              </a:rPr>
              <a:t>20%</a:t>
            </a:r>
            <a:r>
              <a:rPr lang="zh-CN" altLang="en-US" dirty="0">
                <a:solidFill>
                  <a:schemeClr val="accent1">
                    <a:lumMod val="90000"/>
                  </a:schemeClr>
                </a:solidFill>
              </a:rPr>
              <a:t>，电路稳定工作且不失真。</a:t>
            </a:r>
            <a:endParaRPr lang="zh-CN" altLang="en-US" dirty="0">
              <a:solidFill>
                <a:schemeClr val="accent1">
                  <a:lumMod val="90000"/>
                </a:schemeClr>
              </a:solidFill>
            </a:endParaRPr>
          </a:p>
        </p:txBody>
      </p:sp>
      <p:sp>
        <p:nvSpPr>
          <p:cNvPr id="83974" name="TextBox 6"/>
          <p:cNvSpPr txBox="1">
            <a:spLocks noChangeArrowheads="1"/>
          </p:cNvSpPr>
          <p:nvPr/>
        </p:nvSpPr>
        <p:spPr bwMode="auto">
          <a:xfrm>
            <a:off x="5949950" y="764858"/>
            <a:ext cx="2808288" cy="3538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 b="0"/>
              <a:t>该电路由高通和低通滤波器组合而成，其中</a:t>
            </a:r>
            <a:r>
              <a:rPr lang="en-US" altLang="zh-CN" b="0">
                <a:solidFill>
                  <a:srgbClr val="C00000"/>
                </a:solidFill>
              </a:rPr>
              <a:t>R1=R2,C1=C2,</a:t>
            </a:r>
            <a:r>
              <a:rPr lang="en-US" altLang="zh-CN" b="0"/>
              <a:t> </a:t>
            </a:r>
            <a:r>
              <a:rPr lang="zh-CN" altLang="en-US" b="0"/>
              <a:t>频率</a:t>
            </a:r>
            <a:r>
              <a:rPr lang="en-US" altLang="zh-CN" b="0"/>
              <a:t>:</a:t>
            </a:r>
            <a:endParaRPr lang="en-US" altLang="zh-CN" b="0"/>
          </a:p>
          <a:p>
            <a:r>
              <a:rPr lang="en-US" altLang="zh-CN" b="0">
                <a:solidFill>
                  <a:srgbClr val="C00000"/>
                </a:solidFill>
              </a:rPr>
              <a:t>f=1/(2πRC)</a:t>
            </a:r>
            <a:r>
              <a:rPr lang="zh-CN" altLang="en-US" b="0">
                <a:solidFill>
                  <a:srgbClr val="C00000"/>
                </a:solidFill>
              </a:rPr>
              <a:t>。</a:t>
            </a:r>
            <a:endParaRPr lang="zh-CN" altLang="en-US" b="0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起振条件：</a:t>
            </a:r>
            <a:r>
              <a:rPr lang="en-US" altLang="zh-CN">
                <a:solidFill>
                  <a:srgbClr val="C00000"/>
                </a:solidFill>
              </a:rPr>
              <a:t>Rf/R1&gt;=2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83975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11188" y="1268413"/>
            <a:ext cx="5257800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实验八 </a:t>
            </a:r>
            <a:r>
              <a:rPr lang="zh-CN" altLang="en-US" smtClean="0">
                <a:sym typeface="+mn-ea"/>
              </a:rPr>
              <a:t>运算放大器应用（三</a:t>
            </a:r>
            <a:r>
              <a:rPr lang="zh-CN" altLang="en-US" smtClean="0">
                <a:sym typeface="+mn-ea"/>
              </a:rPr>
              <a:t>）</a:t>
            </a:r>
            <a:r>
              <a:rPr lang="zh-CN" altLang="en-US" smtClean="0"/>
              <a:t> </a:t>
            </a:r>
            <a:r>
              <a:rPr lang="en-US" altLang="zh-CN" smtClean="0">
                <a:solidFill>
                  <a:srgbClr val="FF0000"/>
                </a:solidFill>
              </a:rPr>
              <a:t>3.</a:t>
            </a:r>
            <a:r>
              <a:rPr lang="zh-CN" altLang="en-US" smtClean="0">
                <a:solidFill>
                  <a:srgbClr val="FF0000"/>
                </a:solidFill>
                <a:sym typeface="+mn-ea"/>
              </a:rPr>
              <a:t>文氏</a:t>
            </a:r>
            <a:r>
              <a:rPr lang="zh-CN" altLang="en-US" smtClean="0">
                <a:solidFill>
                  <a:srgbClr val="FF0000"/>
                </a:solidFill>
              </a:rPr>
              <a:t>振荡器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362950" cy="79216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参考电路（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2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）</a:t>
            </a:r>
            <a:endParaRPr lang="zh-CN" alt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49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D5293C7-0228-4987-8FD3-8B85065C32C0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  <p:pic>
        <p:nvPicPr>
          <p:cNvPr id="84997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42988" y="1773238"/>
            <a:ext cx="5086350" cy="354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4998" name="TextBox 6"/>
          <p:cNvSpPr txBox="1">
            <a:spLocks noChangeArrowheads="1"/>
          </p:cNvSpPr>
          <p:nvPr/>
        </p:nvSpPr>
        <p:spPr bwMode="auto">
          <a:xfrm>
            <a:off x="1187450" y="5445125"/>
            <a:ext cx="7200900" cy="9540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7030A0"/>
                </a:solidFill>
              </a:rPr>
              <a:t>该电路对基本电路做了部分修正，可以使电路更易起振，同时改善输出失真。</a:t>
            </a:r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实验八</a:t>
            </a:r>
            <a:r>
              <a:rPr lang="zh-CN" altLang="en-US" smtClean="0">
                <a:sym typeface="+mn-ea"/>
              </a:rPr>
              <a:t>运算放大器应用（三</a:t>
            </a:r>
            <a:r>
              <a:rPr lang="zh-CN" altLang="en-US" smtClean="0">
                <a:sym typeface="+mn-ea"/>
              </a:rPr>
              <a:t>）</a:t>
            </a:r>
            <a:r>
              <a:rPr lang="zh-CN" altLang="en-US" smtClean="0"/>
              <a:t> </a:t>
            </a:r>
            <a:r>
              <a:rPr lang="en-US" altLang="zh-CN" smtClean="0">
                <a:solidFill>
                  <a:srgbClr val="FF0000"/>
                </a:solidFill>
              </a:rPr>
              <a:t>3.</a:t>
            </a:r>
            <a:r>
              <a:rPr lang="zh-CN" altLang="en-US" smtClean="0">
                <a:solidFill>
                  <a:srgbClr val="FF0000"/>
                </a:solidFill>
                <a:sym typeface="+mn-ea"/>
              </a:rPr>
              <a:t>文氏</a:t>
            </a:r>
            <a:r>
              <a:rPr lang="zh-CN" altLang="en-US" smtClean="0">
                <a:solidFill>
                  <a:srgbClr val="FF0000"/>
                </a:solidFill>
              </a:rPr>
              <a:t>振荡器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65175"/>
            <a:ext cx="8362950" cy="36004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实验要求：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  </a:t>
            </a:r>
            <a:r>
              <a:rPr lang="en-US" altLang="zh-CN" dirty="0" smtClean="0">
                <a:solidFill>
                  <a:schemeClr val="accent5">
                    <a:lumMod val="50000"/>
                  </a:schemeClr>
                </a:solidFill>
              </a:rPr>
              <a:t>1.</a:t>
            </a:r>
            <a:r>
              <a:rPr lang="zh-CN" altLang="en-US" dirty="0" smtClean="0">
                <a:solidFill>
                  <a:schemeClr val="accent5">
                    <a:lumMod val="50000"/>
                  </a:schemeClr>
                </a:solidFill>
              </a:rPr>
              <a:t>完成文氏桥正弦波振荡器的电路设计，用示波器</a:t>
            </a:r>
            <a:r>
              <a:rPr lang="zh-CN" altLang="en-US" dirty="0" smtClean="0">
                <a:solidFill>
                  <a:schemeClr val="accent1">
                    <a:lumMod val="75000"/>
                  </a:schemeClr>
                </a:solidFill>
              </a:rPr>
              <a:t>观察并记录</a:t>
            </a:r>
            <a:r>
              <a:rPr lang="zh-CN" altLang="en-US" dirty="0" smtClean="0">
                <a:solidFill>
                  <a:srgbClr val="FF0000"/>
                </a:solidFill>
              </a:rPr>
              <a:t>输出波形、信号幅度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及</a:t>
            </a:r>
            <a:r>
              <a:rPr lang="zh-CN" altLang="en-US" dirty="0" smtClean="0">
                <a:solidFill>
                  <a:srgbClr val="FF0000"/>
                </a:solidFill>
              </a:rPr>
              <a:t>信号频率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 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2.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改变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RC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的值（至少三种</a:t>
            </a:r>
            <a:r>
              <a:rPr lang="en-US" altLang="zh-CN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RC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组合</a:t>
            </a:r>
            <a:r>
              <a:rPr lang="zh-CN" alt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），观察输出信号有什么变化，并做记录。</a:t>
            </a:r>
            <a:endParaRPr lang="en-US" altLang="zh-CN" dirty="0" smtClean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 </a:t>
            </a:r>
            <a:r>
              <a:rPr lang="en-US" altLang="zh-CN" dirty="0" smtClean="0"/>
              <a:t>3.</a:t>
            </a:r>
            <a:r>
              <a:rPr lang="zh-CN" altLang="en-US" dirty="0" smtClean="0"/>
              <a:t>改变</a:t>
            </a:r>
            <a:r>
              <a:rPr lang="en-US" altLang="zh-CN" dirty="0" smtClean="0"/>
              <a:t>R4</a:t>
            </a:r>
            <a:r>
              <a:rPr lang="zh-CN" altLang="en-US" dirty="0" smtClean="0"/>
              <a:t>的大小，输出信号有什么变化，并分析引起这些变化的原因。</a:t>
            </a:r>
            <a:endParaRPr lang="zh-CN" altLang="en-US" dirty="0" smtClean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  </a:t>
            </a:r>
            <a:r>
              <a:rPr lang="en-US" altLang="zh-CN" dirty="0" smtClean="0"/>
              <a:t>4.</a:t>
            </a:r>
            <a:r>
              <a:rPr lang="zh-CN" altLang="en-US" dirty="0" smtClean="0"/>
              <a:t>查找资料，分析参考电路（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）中加入两个二极管后为什么电路更易起振？</a:t>
            </a:r>
            <a:endParaRPr lang="zh-CN" altLang="en-US" dirty="0" smtClean="0"/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860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7721389-C3CD-4F15-B756-866EBB9ED1F2}" type="slidenum">
              <a:rPr lang="zh-CN" altLang="en-US" smtClean="0">
                <a:ea typeface="宋体" panose="02010600030101010101" pitchFamily="2" charset="-122"/>
              </a:rPr>
            </a:fld>
            <a:endParaRPr lang="en-US" altLang="zh-CN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mE0ZDEzMzY5NTM1YjlmZDJkNWMzZWZjNDA3YmRkODA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Pixel">
  <a:themeElements>
    <a:clrScheme name="3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3_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Pixel">
  <a:themeElements>
    <a:clrScheme name="4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4_Pixel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4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Pixel">
  <a:themeElements>
    <a:clrScheme name="5_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5_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5_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演示</Application>
  <PresentationFormat>全屏显示(4:3)</PresentationFormat>
  <Paragraphs>254</Paragraphs>
  <Slides>20</Slides>
  <Notes>27</Notes>
  <HiddenSlides>5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20</vt:i4>
      </vt:variant>
    </vt:vector>
  </HeadingPairs>
  <TitlesOfParts>
    <vt:vector size="47" baseType="lpstr">
      <vt:lpstr>Arial</vt:lpstr>
      <vt:lpstr>宋体</vt:lpstr>
      <vt:lpstr>Wingdings</vt:lpstr>
      <vt:lpstr>Times New Roman</vt:lpstr>
      <vt:lpstr>Arial Black</vt:lpstr>
      <vt:lpstr>黑体</vt:lpstr>
      <vt:lpstr>楷体_GB2312</vt:lpstr>
      <vt:lpstr>华文行楷</vt:lpstr>
      <vt:lpstr>微软雅黑</vt:lpstr>
      <vt:lpstr>隶书</vt:lpstr>
      <vt:lpstr>Arial Unicode MS</vt:lpstr>
      <vt:lpstr>新宋体</vt:lpstr>
      <vt:lpstr>Wingdings</vt:lpstr>
      <vt:lpstr>华文行楷</vt:lpstr>
      <vt:lpstr>楷体_GB2312</vt:lpstr>
      <vt:lpstr>隶书</vt:lpstr>
      <vt:lpstr>Pixel</vt:lpstr>
      <vt:lpstr>3_Pixel</vt:lpstr>
      <vt:lpstr>4_Pixel</vt:lpstr>
      <vt:lpstr>5_Pixel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PowerPoint 演示文稿</vt:lpstr>
      <vt:lpstr>一 、实验目的</vt:lpstr>
      <vt:lpstr>实验八  运算放大器应用</vt:lpstr>
      <vt:lpstr>实验八  运算放大器应用(二)     1. 方波发生器</vt:lpstr>
      <vt:lpstr>实验八  运算放大器应用(二)     2. 积分电路</vt:lpstr>
      <vt:lpstr>实验八  运算放大器应用(二)     3. 电压比较器</vt:lpstr>
      <vt:lpstr>实验八  运算放大器应用(二)     4. 脉冲宽度调制器</vt:lpstr>
      <vt:lpstr>实验八  运算放大器应用(二)     4. 脉冲宽度调制器</vt:lpstr>
      <vt:lpstr>实验八  运算放大器应用(二)     4. 脉冲宽度调制器</vt:lpstr>
      <vt:lpstr>PowerPoint 演示文稿</vt:lpstr>
      <vt:lpstr>PowerPoint 演示文稿</vt:lpstr>
      <vt:lpstr>实验八 运算放大器应用     2. 正交振荡器</vt:lpstr>
      <vt:lpstr>实验八 运算放大器应用     2. 正交振荡器</vt:lpstr>
      <vt:lpstr>PowerPoint 演示文稿</vt:lpstr>
      <vt:lpstr>实验八  运算放大器应用(三)     2. 正交振荡器</vt:lpstr>
      <vt:lpstr>实验八  3.文氏振荡器</vt:lpstr>
      <vt:lpstr>实验八  3.文氏振荡器</vt:lpstr>
      <vt:lpstr>实验八  3.文氏振荡器</vt:lpstr>
      <vt:lpstr>实验八  3.文氏振荡器</vt:lpstr>
      <vt:lpstr>实验八 3.文氏振荡器</vt:lpstr>
    </vt:vector>
  </TitlesOfParts>
  <Company>西安电子科技大学 计算机学院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模电实验</dc:title>
  <dc:creator>车向泉</dc:creator>
  <dc:subject>基础知识；实验仪器。</dc:subject>
  <cp:lastModifiedBy>Administrator</cp:lastModifiedBy>
  <cp:revision>1103</cp:revision>
  <dcterms:created xsi:type="dcterms:W3CDTF">2113-01-01T00:00:00Z</dcterms:created>
  <dcterms:modified xsi:type="dcterms:W3CDTF">2024-11-06T07:52:26Z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56A7247215744E10A192EC5900F5864B_13</vt:lpwstr>
  </property>
  <property fmtid="{D5CDD505-2E9C-101B-9397-08002B2CF9AE}" pid="3" name="KSOProductBuildVer">
    <vt:lpwstr>2052-11.3.0.9228</vt:lpwstr>
  </property>
</Properties>
</file>