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2" r:id="rId3"/>
  </p:sldMasterIdLst>
  <p:notesMasterIdLst>
    <p:notesMasterId r:id="rId120"/>
  </p:notesMasterIdLst>
  <p:handoutMasterIdLst>
    <p:handoutMasterId r:id="rId132"/>
  </p:handoutMasterIdLst>
  <p:sldIdLst>
    <p:sldId id="964" r:id="rId4"/>
    <p:sldId id="965" r:id="rId5"/>
    <p:sldId id="967" r:id="rId6"/>
    <p:sldId id="968" r:id="rId7"/>
    <p:sldId id="969" r:id="rId8"/>
    <p:sldId id="971" r:id="rId9"/>
    <p:sldId id="972" r:id="rId10"/>
    <p:sldId id="973" r:id="rId11"/>
    <p:sldId id="974" r:id="rId12"/>
    <p:sldId id="975" r:id="rId13"/>
    <p:sldId id="977" r:id="rId14"/>
    <p:sldId id="978" r:id="rId15"/>
    <p:sldId id="979" r:id="rId16"/>
    <p:sldId id="980" r:id="rId17"/>
    <p:sldId id="981" r:id="rId18"/>
    <p:sldId id="982" r:id="rId19"/>
    <p:sldId id="983" r:id="rId20"/>
    <p:sldId id="984" r:id="rId21"/>
    <p:sldId id="985" r:id="rId22"/>
    <p:sldId id="986" r:id="rId23"/>
    <p:sldId id="987" r:id="rId24"/>
    <p:sldId id="989" r:id="rId25"/>
    <p:sldId id="990" r:id="rId26"/>
    <p:sldId id="991" r:id="rId27"/>
    <p:sldId id="992" r:id="rId28"/>
    <p:sldId id="993" r:id="rId29"/>
    <p:sldId id="994" r:id="rId30"/>
    <p:sldId id="995" r:id="rId31"/>
    <p:sldId id="996" r:id="rId32"/>
    <p:sldId id="997" r:id="rId33"/>
    <p:sldId id="998" r:id="rId34"/>
    <p:sldId id="999" r:id="rId35"/>
    <p:sldId id="1000" r:id="rId36"/>
    <p:sldId id="1001" r:id="rId37"/>
    <p:sldId id="1002" r:id="rId38"/>
    <p:sldId id="1003" r:id="rId39"/>
    <p:sldId id="1004" r:id="rId40"/>
    <p:sldId id="1005" r:id="rId41"/>
    <p:sldId id="1006" r:id="rId42"/>
    <p:sldId id="1007" r:id="rId43"/>
    <p:sldId id="1008" r:id="rId44"/>
    <p:sldId id="1009" r:id="rId45"/>
    <p:sldId id="1010" r:id="rId46"/>
    <p:sldId id="1011" r:id="rId47"/>
    <p:sldId id="1012" r:id="rId48"/>
    <p:sldId id="1013" r:id="rId49"/>
    <p:sldId id="1014" r:id="rId50"/>
    <p:sldId id="1015" r:id="rId51"/>
    <p:sldId id="1016" r:id="rId52"/>
    <p:sldId id="1017" r:id="rId53"/>
    <p:sldId id="1018" r:id="rId54"/>
    <p:sldId id="1019" r:id="rId55"/>
    <p:sldId id="1020" r:id="rId56"/>
    <p:sldId id="1021" r:id="rId57"/>
    <p:sldId id="1022" r:id="rId58"/>
    <p:sldId id="1023" r:id="rId59"/>
    <p:sldId id="1024" r:id="rId60"/>
    <p:sldId id="1025" r:id="rId61"/>
    <p:sldId id="1026" r:id="rId62"/>
    <p:sldId id="1027" r:id="rId63"/>
    <p:sldId id="1033" r:id="rId64"/>
    <p:sldId id="1034" r:id="rId65"/>
    <p:sldId id="1028" r:id="rId66"/>
    <p:sldId id="1029" r:id="rId67"/>
    <p:sldId id="1030" r:id="rId68"/>
    <p:sldId id="1031" r:id="rId69"/>
    <p:sldId id="1032" r:id="rId70"/>
    <p:sldId id="1035" r:id="rId71"/>
    <p:sldId id="1036" r:id="rId72"/>
    <p:sldId id="1037" r:id="rId73"/>
    <p:sldId id="1038" r:id="rId74"/>
    <p:sldId id="1039" r:id="rId75"/>
    <p:sldId id="1040" r:id="rId76"/>
    <p:sldId id="1041" r:id="rId77"/>
    <p:sldId id="1042" r:id="rId78"/>
    <p:sldId id="1043" r:id="rId79"/>
    <p:sldId id="1044" r:id="rId80"/>
    <p:sldId id="1045" r:id="rId81"/>
    <p:sldId id="1046" r:id="rId82"/>
    <p:sldId id="1047" r:id="rId83"/>
    <p:sldId id="1048" r:id="rId84"/>
    <p:sldId id="1049" r:id="rId85"/>
    <p:sldId id="1050" r:id="rId86"/>
    <p:sldId id="1051" r:id="rId87"/>
    <p:sldId id="1052" r:id="rId88"/>
    <p:sldId id="1053" r:id="rId89"/>
    <p:sldId id="1054" r:id="rId90"/>
    <p:sldId id="1055" r:id="rId91"/>
    <p:sldId id="1056" r:id="rId92"/>
    <p:sldId id="1057" r:id="rId93"/>
    <p:sldId id="1058" r:id="rId94"/>
    <p:sldId id="1059" r:id="rId95"/>
    <p:sldId id="1060" r:id="rId96"/>
    <p:sldId id="1061" r:id="rId97"/>
    <p:sldId id="1062" r:id="rId98"/>
    <p:sldId id="1063" r:id="rId99"/>
    <p:sldId id="1064" r:id="rId100"/>
    <p:sldId id="1065" r:id="rId101"/>
    <p:sldId id="1066" r:id="rId102"/>
    <p:sldId id="1067" r:id="rId103"/>
    <p:sldId id="1068" r:id="rId104"/>
    <p:sldId id="1069" r:id="rId105"/>
    <p:sldId id="1070" r:id="rId106"/>
    <p:sldId id="1071" r:id="rId107"/>
    <p:sldId id="1072" r:id="rId108"/>
    <p:sldId id="1073" r:id="rId109"/>
    <p:sldId id="1074" r:id="rId110"/>
    <p:sldId id="1075" r:id="rId111"/>
    <p:sldId id="1076" r:id="rId112"/>
    <p:sldId id="1077" r:id="rId113"/>
    <p:sldId id="1078" r:id="rId114"/>
    <p:sldId id="1079" r:id="rId115"/>
    <p:sldId id="1080" r:id="rId116"/>
    <p:sldId id="1097" r:id="rId117"/>
    <p:sldId id="1098" r:id="rId118"/>
    <p:sldId id="1099" r:id="rId119"/>
    <p:sldId id="1100" r:id="rId121"/>
    <p:sldId id="1195" r:id="rId122"/>
    <p:sldId id="1197" r:id="rId123"/>
    <p:sldId id="1101" r:id="rId124"/>
    <p:sldId id="1180" r:id="rId125"/>
    <p:sldId id="1102" r:id="rId126"/>
    <p:sldId id="1181" r:id="rId127"/>
    <p:sldId id="1103" r:id="rId128"/>
    <p:sldId id="1183" r:id="rId129"/>
    <p:sldId id="1104" r:id="rId130"/>
    <p:sldId id="1184" r:id="rId131"/>
  </p:sldIdLst>
  <p:sldSz cx="9144000" cy="6858000" type="screen4x3"/>
  <p:notesSz cx="9939020" cy="6807200"/>
  <p:custDataLst>
    <p:tags r:id="rId136"/>
  </p:custDataLst>
  <p:defaultTextStyle>
    <a:defPPr>
      <a:defRPr lang="en-US"/>
    </a:defPPr>
    <a:lvl1pPr algn="l" rtl="0" fontAlgn="base">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00CC"/>
    <a:srgbClr val="FFCC00"/>
    <a:srgbClr val="000099"/>
    <a:srgbClr val="000000"/>
    <a:srgbClr val="008000"/>
    <a:srgbClr val="33CC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2102" autoAdjust="0"/>
    <p:restoredTop sz="97959" autoAdjust="0"/>
  </p:normalViewPr>
  <p:slideViewPr>
    <p:cSldViewPr showGuides="1">
      <p:cViewPr>
        <p:scale>
          <a:sx n="75" d="100"/>
          <a:sy n="75" d="100"/>
        </p:scale>
        <p:origin x="-978" y="6"/>
      </p:cViewPr>
      <p:guideLst>
        <p:guide orient="horz" pos="2138"/>
        <p:guide pos="2922"/>
      </p:guideLst>
    </p:cSldViewPr>
  </p:slideViewPr>
  <p:outlineViewPr>
    <p:cViewPr>
      <p:scale>
        <a:sx n="33" d="100"/>
        <a:sy n="33" d="100"/>
      </p:scale>
      <p:origin x="0" y="225666"/>
    </p:cViewPr>
  </p:outlineViewPr>
  <p:notesTextViewPr>
    <p:cViewPr>
      <p:scale>
        <a:sx n="100" d="100"/>
        <a:sy n="100" d="100"/>
      </p:scale>
      <p:origin x="0" y="0"/>
    </p:cViewPr>
  </p:notesTextViewPr>
  <p:sorterViewPr>
    <p:cViewPr>
      <p:scale>
        <a:sx n="66" d="100"/>
        <a:sy n="66" d="100"/>
      </p:scale>
      <p:origin x="0" y="15228"/>
    </p:cViewPr>
  </p:sorterViewPr>
  <p:notesViewPr>
    <p:cSldViewPr>
      <p:cViewPr varScale="1">
        <p:scale>
          <a:sx n="104" d="100"/>
          <a:sy n="104" d="100"/>
        </p:scale>
        <p:origin x="-984" y="-90"/>
      </p:cViewPr>
      <p:guideLst>
        <p:guide orient="horz" pos="2122"/>
        <p:guide pos="317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6" Type="http://schemas.openxmlformats.org/officeDocument/2006/relationships/tags" Target="tags/tag1.xml"/><Relationship Id="rId135" Type="http://schemas.openxmlformats.org/officeDocument/2006/relationships/tableStyles" Target="tableStyles.xml"/><Relationship Id="rId134" Type="http://schemas.openxmlformats.org/officeDocument/2006/relationships/viewProps" Target="viewProps.xml"/><Relationship Id="rId133" Type="http://schemas.openxmlformats.org/officeDocument/2006/relationships/presProps" Target="presProps.xml"/><Relationship Id="rId132" Type="http://schemas.openxmlformats.org/officeDocument/2006/relationships/handoutMaster" Target="handoutMasters/handoutMaster1.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notesMaster" Target="notesMasters/notesMaster1.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bwMode="auto">
          <a:xfrm>
            <a:off x="0" y="0"/>
            <a:ext cx="4306888" cy="339725"/>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kumimoji="1" sz="1200" b="0">
                <a:ea typeface="宋体" panose="02010600030101010101" pitchFamily="2" charset="-122"/>
              </a:defRPr>
            </a:lvl1pPr>
          </a:lstStyle>
          <a:p>
            <a:pPr>
              <a:defRPr/>
            </a:pPr>
            <a:endParaRPr lang="zh-CN" altLang="en-US"/>
          </a:p>
        </p:txBody>
      </p:sp>
      <p:sp>
        <p:nvSpPr>
          <p:cNvPr id="260099" name="Rectangle 3"/>
          <p:cNvSpPr>
            <a:spLocks noGrp="1" noChangeArrowheads="1"/>
          </p:cNvSpPr>
          <p:nvPr>
            <p:ph type="dt" sz="quarter" idx="1"/>
          </p:nvPr>
        </p:nvSpPr>
        <p:spPr bwMode="auto">
          <a:xfrm>
            <a:off x="5630863" y="0"/>
            <a:ext cx="4306887" cy="33972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1" sz="1200" b="0">
                <a:ea typeface="宋体" panose="02010600030101010101" pitchFamily="2" charset="-122"/>
              </a:defRPr>
            </a:lvl1pPr>
          </a:lstStyle>
          <a:p>
            <a:pPr>
              <a:defRPr/>
            </a:pPr>
            <a:endParaRPr lang="en-US" altLang="zh-CN"/>
          </a:p>
        </p:txBody>
      </p:sp>
      <p:sp>
        <p:nvSpPr>
          <p:cNvPr id="260100" name="Rectangle 4"/>
          <p:cNvSpPr>
            <a:spLocks noGrp="1" noChangeArrowheads="1"/>
          </p:cNvSpPr>
          <p:nvPr>
            <p:ph type="ftr" sz="quarter" idx="2"/>
          </p:nvPr>
        </p:nvSpPr>
        <p:spPr bwMode="auto">
          <a:xfrm>
            <a:off x="0" y="6465888"/>
            <a:ext cx="4306888" cy="339725"/>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kumimoji="1" sz="1200" b="0">
                <a:ea typeface="宋体" panose="02010600030101010101" pitchFamily="2" charset="-122"/>
              </a:defRPr>
            </a:lvl1pPr>
          </a:lstStyle>
          <a:p>
            <a:pPr>
              <a:defRPr/>
            </a:pPr>
            <a:endParaRPr lang="en-US" altLang="zh-CN"/>
          </a:p>
        </p:txBody>
      </p:sp>
      <p:sp>
        <p:nvSpPr>
          <p:cNvPr id="260101" name="Rectangle 5"/>
          <p:cNvSpPr>
            <a:spLocks noGrp="1" noChangeArrowheads="1"/>
          </p:cNvSpPr>
          <p:nvPr>
            <p:ph type="sldNum" sz="quarter" idx="3"/>
          </p:nvPr>
        </p:nvSpPr>
        <p:spPr bwMode="auto">
          <a:xfrm>
            <a:off x="5630863" y="6465888"/>
            <a:ext cx="4306887" cy="339725"/>
          </a:xfrm>
          <a:prstGeom prst="rect">
            <a:avLst/>
          </a:prstGeom>
          <a:noFill/>
          <a:ln w="9525">
            <a:noFill/>
            <a:miter lim="800000"/>
          </a:ln>
          <a:effectLst/>
        </p:spPr>
        <p:txBody>
          <a:bodyPr vert="horz" wrap="square" lIns="91440" tIns="45720" rIns="91440" bIns="45720" numCol="1" anchor="b" anchorCtr="0" compatLnSpc="1"/>
          <a:lstStyle>
            <a:lvl1pPr algn="r">
              <a:spcBef>
                <a:spcPct val="0"/>
              </a:spcBef>
              <a:defRPr kumimoji="1" sz="1200" b="0">
                <a:ea typeface="宋体" panose="02010600030101010101" pitchFamily="2" charset="-122"/>
              </a:defRPr>
            </a:lvl1pPr>
          </a:lstStyle>
          <a:p>
            <a:pPr>
              <a:defRPr/>
            </a:pPr>
            <a:fld id="{07041948-4D8F-4F27-ACF6-6A49CECE5446}"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306888" cy="339725"/>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kumimoji="1" sz="1200" b="0">
                <a:ea typeface="黑体" panose="02010609060101010101" pitchFamily="2" charset="-122"/>
              </a:defRPr>
            </a:lvl1pPr>
          </a:lstStyle>
          <a:p>
            <a:pPr>
              <a:defRPr/>
            </a:pPr>
            <a:endParaRPr lang="zh-CN" altLang="en-US"/>
          </a:p>
        </p:txBody>
      </p:sp>
      <p:sp>
        <p:nvSpPr>
          <p:cNvPr id="161795" name="Rectangle 3"/>
          <p:cNvSpPr>
            <a:spLocks noGrp="1" noChangeArrowheads="1"/>
          </p:cNvSpPr>
          <p:nvPr>
            <p:ph type="dt" idx="1"/>
          </p:nvPr>
        </p:nvSpPr>
        <p:spPr bwMode="auto">
          <a:xfrm>
            <a:off x="5632450" y="0"/>
            <a:ext cx="4306888" cy="339725"/>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1" sz="1200" b="0">
                <a:ea typeface="黑体" panose="02010609060101010101" pitchFamily="2" charset="-122"/>
              </a:defRPr>
            </a:lvl1pPr>
          </a:lstStyle>
          <a:p>
            <a:pPr>
              <a:defRPr/>
            </a:pPr>
            <a:endParaRPr lang="en-US" altLang="zh-CN"/>
          </a:p>
        </p:txBody>
      </p:sp>
      <p:sp>
        <p:nvSpPr>
          <p:cNvPr id="91140" name="Rectangle 4"/>
          <p:cNvSpPr>
            <a:spLocks noGrp="1" noRot="1" noChangeAspect="1" noChangeArrowheads="1" noTextEdit="1"/>
          </p:cNvSpPr>
          <p:nvPr>
            <p:ph type="sldImg" idx="2"/>
          </p:nvPr>
        </p:nvSpPr>
        <p:spPr bwMode="auto">
          <a:xfrm>
            <a:off x="3267075" y="511175"/>
            <a:ext cx="3403600" cy="2552700"/>
          </a:xfrm>
          <a:prstGeom prst="rect">
            <a:avLst/>
          </a:prstGeom>
          <a:noFill/>
          <a:ln w="9525">
            <a:solidFill>
              <a:srgbClr val="000000"/>
            </a:solidFill>
            <a:miter lim="800000"/>
          </a:ln>
        </p:spPr>
      </p:sp>
      <p:sp>
        <p:nvSpPr>
          <p:cNvPr id="161797" name="Rectangle 5"/>
          <p:cNvSpPr>
            <a:spLocks noGrp="1" noChangeArrowheads="1"/>
          </p:cNvSpPr>
          <p:nvPr>
            <p:ph type="body" sz="quarter" idx="3"/>
          </p:nvPr>
        </p:nvSpPr>
        <p:spPr bwMode="auto">
          <a:xfrm>
            <a:off x="1325563" y="3233738"/>
            <a:ext cx="7288212" cy="3062287"/>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61798" name="Rectangle 6"/>
          <p:cNvSpPr>
            <a:spLocks noGrp="1" noChangeArrowheads="1"/>
          </p:cNvSpPr>
          <p:nvPr>
            <p:ph type="ftr" sz="quarter" idx="4"/>
          </p:nvPr>
        </p:nvSpPr>
        <p:spPr bwMode="auto">
          <a:xfrm>
            <a:off x="0" y="6467475"/>
            <a:ext cx="4306888" cy="339725"/>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kumimoji="1" sz="1200" b="0">
                <a:ea typeface="黑体" panose="02010609060101010101" pitchFamily="2" charset="-122"/>
              </a:defRPr>
            </a:lvl1pPr>
          </a:lstStyle>
          <a:p>
            <a:pPr>
              <a:defRPr/>
            </a:pPr>
            <a:endParaRPr lang="en-US" altLang="zh-CN"/>
          </a:p>
        </p:txBody>
      </p:sp>
      <p:sp>
        <p:nvSpPr>
          <p:cNvPr id="161799" name="Rectangle 7"/>
          <p:cNvSpPr>
            <a:spLocks noGrp="1" noChangeArrowheads="1"/>
          </p:cNvSpPr>
          <p:nvPr>
            <p:ph type="sldNum" sz="quarter" idx="5"/>
          </p:nvPr>
        </p:nvSpPr>
        <p:spPr bwMode="auto">
          <a:xfrm>
            <a:off x="5632450" y="6467475"/>
            <a:ext cx="4306888" cy="339725"/>
          </a:xfrm>
          <a:prstGeom prst="rect">
            <a:avLst/>
          </a:prstGeom>
          <a:noFill/>
          <a:ln w="9525">
            <a:noFill/>
            <a:miter lim="800000"/>
          </a:ln>
          <a:effectLst/>
        </p:spPr>
        <p:txBody>
          <a:bodyPr vert="horz" wrap="square" lIns="91440" tIns="45720" rIns="91440" bIns="45720" numCol="1" anchor="b" anchorCtr="0" compatLnSpc="1"/>
          <a:lstStyle>
            <a:lvl1pPr algn="r">
              <a:spcBef>
                <a:spcPct val="0"/>
              </a:spcBef>
              <a:defRPr kumimoji="1" sz="1200" b="0">
                <a:ea typeface="黑体" panose="02010609060101010101" pitchFamily="2" charset="-122"/>
              </a:defRPr>
            </a:lvl1pPr>
          </a:lstStyle>
          <a:p>
            <a:pPr>
              <a:defRPr/>
            </a:pPr>
            <a:fld id="{C5C615D1-D7AD-41FF-8AE5-13D94186DFA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miter lim="800000"/>
          </a:ln>
        </p:spPr>
        <p:txBody>
          <a:bodyPr/>
          <a:lstStyle/>
          <a:p>
            <a:fld id="{644DD3EC-D6AE-41A9-B048-CC02D8C5D367}" type="slidenum">
              <a:rPr lang="en-US" altLang="zh-CN"/>
            </a:fld>
            <a:endParaRPr lang="en-US" altLang="zh-CN"/>
          </a:p>
        </p:txBody>
      </p:sp>
      <p:sp>
        <p:nvSpPr>
          <p:cNvPr id="9219" name="Rectangle 2"/>
          <p:cNvSpPr>
            <a:spLocks noRot="1" noChangeArrowheads="1" noTextEdit="1"/>
          </p:cNvSpPr>
          <p:nvPr>
            <p:ph type="sldImg"/>
          </p:nvPr>
        </p:nvSpPr>
        <p:spPr/>
      </p:sp>
      <p:sp>
        <p:nvSpPr>
          <p:cNvPr id="9220"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miter lim="800000"/>
          </a:ln>
        </p:spPr>
        <p:txBody>
          <a:bodyPr/>
          <a:lstStyle/>
          <a:p>
            <a:fld id="{3BA09A23-67D6-4BEC-9E80-DC454A8B50B2}" type="slidenum">
              <a:rPr lang="en-US" altLang="zh-CN"/>
            </a:fld>
            <a:endParaRPr lang="en-US" altLang="zh-CN"/>
          </a:p>
        </p:txBody>
      </p:sp>
      <p:sp>
        <p:nvSpPr>
          <p:cNvPr id="11267" name="Rectangle 2"/>
          <p:cNvSpPr>
            <a:spLocks noRot="1" noChangeArrowheads="1" noTextEdit="1"/>
          </p:cNvSpPr>
          <p:nvPr>
            <p:ph type="sldImg"/>
          </p:nvPr>
        </p:nvSpPr>
        <p:spPr/>
      </p:sp>
      <p:sp>
        <p:nvSpPr>
          <p:cNvPr id="11268"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miter lim="800000"/>
          </a:ln>
        </p:spPr>
        <p:txBody>
          <a:bodyPr/>
          <a:lstStyle/>
          <a:p>
            <a:fld id="{69FC28D4-1B02-44E6-95B7-61016201C99E}" type="slidenum">
              <a:rPr lang="en-US" altLang="zh-CN"/>
            </a:fld>
            <a:endParaRPr lang="en-US" altLang="zh-CN"/>
          </a:p>
        </p:txBody>
      </p:sp>
      <p:sp>
        <p:nvSpPr>
          <p:cNvPr id="13315" name="Rectangle 2"/>
          <p:cNvSpPr>
            <a:spLocks noRot="1" noChangeArrowheads="1" noTextEdit="1"/>
          </p:cNvSpPr>
          <p:nvPr>
            <p:ph type="sldImg"/>
          </p:nvPr>
        </p:nvSpPr>
        <p:spPr/>
      </p:sp>
      <p:sp>
        <p:nvSpPr>
          <p:cNvPr id="13316"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miter lim="800000"/>
          </a:ln>
        </p:spPr>
        <p:txBody>
          <a:bodyPr/>
          <a:lstStyle/>
          <a:p>
            <a:fld id="{AD45903D-CE7F-4581-8E98-CEE7FD5FB270}" type="slidenum">
              <a:rPr lang="en-US" altLang="zh-CN"/>
            </a:fld>
            <a:endParaRPr lang="en-US" altLang="zh-CN"/>
          </a:p>
        </p:txBody>
      </p:sp>
      <p:sp>
        <p:nvSpPr>
          <p:cNvPr id="15363" name="Rectangle 2"/>
          <p:cNvSpPr>
            <a:spLocks noRot="1" noChangeArrowheads="1" noTextEdit="1"/>
          </p:cNvSpPr>
          <p:nvPr>
            <p:ph type="sldImg"/>
          </p:nvPr>
        </p:nvSpPr>
        <p:spPr/>
      </p:sp>
      <p:sp>
        <p:nvSpPr>
          <p:cNvPr id="15364"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miter lim="800000"/>
          </a:ln>
        </p:spPr>
        <p:txBody>
          <a:bodyPr/>
          <a:lstStyle/>
          <a:p>
            <a:fld id="{67C83B5A-49BA-494C-BFC2-18335619B407}" type="slidenum">
              <a:rPr lang="en-US" altLang="zh-CN"/>
            </a:fld>
            <a:endParaRPr lang="en-US" altLang="zh-CN"/>
          </a:p>
        </p:txBody>
      </p:sp>
      <p:sp>
        <p:nvSpPr>
          <p:cNvPr id="17411" name="Rectangle 2"/>
          <p:cNvSpPr>
            <a:spLocks noRot="1" noChangeArrowheads="1" noTextEdit="1"/>
          </p:cNvSpPr>
          <p:nvPr>
            <p:ph type="sldImg"/>
          </p:nvPr>
        </p:nvSpPr>
        <p:spPr/>
      </p:sp>
      <p:sp>
        <p:nvSpPr>
          <p:cNvPr id="17412"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miter lim="800000"/>
          </a:ln>
        </p:spPr>
        <p:txBody>
          <a:bodyPr/>
          <a:lstStyle/>
          <a:p>
            <a:fld id="{617AC4D5-34AD-45BB-B417-E9E386163A38}" type="slidenum">
              <a:rPr lang="en-US" altLang="zh-CN"/>
            </a:fld>
            <a:endParaRPr lang="en-US" altLang="zh-CN"/>
          </a:p>
        </p:txBody>
      </p:sp>
      <p:sp>
        <p:nvSpPr>
          <p:cNvPr id="19459" name="Rectangle 2"/>
          <p:cNvSpPr>
            <a:spLocks noRot="1" noChangeArrowheads="1" noTextEdit="1"/>
          </p:cNvSpPr>
          <p:nvPr>
            <p:ph type="sldImg"/>
          </p:nvPr>
        </p:nvSpPr>
        <p:spPr/>
      </p:sp>
      <p:sp>
        <p:nvSpPr>
          <p:cNvPr id="19460"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49163B8-28A5-454A-8517-0EC8751BA6B9}" type="slidenum">
              <a:rPr lang="zh-CN" altLang="en-US"/>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3AD074B8-6AC8-4797-A3E2-E89C69A4C924}" type="slidenum">
              <a:rPr lang="zh-CN" altLang="en-US"/>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259C8-0F38-46B6-8219-D70A7FA3B726}" type="slidenum">
              <a:rPr lang="zh-CN" altLang="en-US"/>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765175"/>
            <a:ext cx="410527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14875" y="765175"/>
            <a:ext cx="410527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6BA70AB2-32FD-47E3-9F1C-8331100A75AF}" type="slidenum">
              <a:rPr lang="zh-CN" altLang="en-US"/>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C7F99323-204D-49C9-836F-85227CC4FBDD}" type="slidenum">
              <a:rPr lang="zh-CN" altLang="en-US"/>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75FB106B-73EA-4E0C-BDFC-19FB3C4C1A66}" type="slidenum">
              <a:rPr lang="zh-CN" altLang="en-US"/>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85C6EE94-9484-45CC-907B-29E626BF96F7}" type="slidenum">
              <a:rPr lang="zh-CN" altLang="en-US"/>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52085038-1418-4773-BEFC-7EDF9730462B}" type="slidenum">
              <a:rPr lang="zh-CN" altLang="en-US"/>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593BD57-3B13-4200-874D-CD559328A44B}" type="slidenum">
              <a:rPr lang="zh-CN" altLang="en-US"/>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BAF25C7-53C4-441E-A79C-FDEDD7F96308}" type="slidenum">
              <a:rPr lang="zh-CN" altLang="en-US"/>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9413" y="44450"/>
            <a:ext cx="2090737" cy="6192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4450"/>
            <a:ext cx="6119813" cy="6192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D809043-BBCA-4D76-B849-86FDD82E665C}" type="slidenum">
              <a:rPr lang="zh-CN" altLang="en-US"/>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90550" y="44450"/>
            <a:ext cx="8229600" cy="5238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765175"/>
            <a:ext cx="4105275" cy="54721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14875" y="765175"/>
            <a:ext cx="4105275" cy="54721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B3B5DD1E-95B7-4AFC-A793-44BC358169DF}" type="slidenum">
              <a:rPr lang="zh-CN" altLang="en-US"/>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90550" y="44450"/>
            <a:ext cx="8229600" cy="52387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765175"/>
            <a:ext cx="8362950" cy="5472113"/>
          </a:xfrm>
        </p:spPr>
        <p:txBody>
          <a:bodyPr/>
          <a:lstStyle/>
          <a:p>
            <a:pPr lvl="0"/>
            <a:endParaRPr lang="zh-CN" altLang="en-US" noProof="0"/>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36EC6397-64AB-4CCC-BF53-E689BA21C087}" type="slidenum">
              <a:rPr lang="zh-CN" altLang="en-US"/>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16"/>
          <p:cNvSpPr>
            <a:spLocks noGrp="1" noChangeArrowheads="1"/>
          </p:cNvSpPr>
          <p:nvPr>
            <p:ph type="dt" sz="half" idx="10"/>
          </p:nvPr>
        </p:nvSpPr>
        <p:spPr/>
        <p:txBody>
          <a:bodyPr/>
          <a:lstStyle>
            <a:lvl1pPr>
              <a:defRPr/>
            </a:lvl1pPr>
          </a:lstStyle>
          <a:p>
            <a:pPr>
              <a:defRPr/>
            </a:pPr>
            <a:endParaRPr lang="en-US" altLang="zh-CN"/>
          </a:p>
        </p:txBody>
      </p:sp>
      <p:sp>
        <p:nvSpPr>
          <p:cNvPr id="5" name="Rectangle 17"/>
          <p:cNvSpPr>
            <a:spLocks noGrp="1" noChangeArrowheads="1"/>
          </p:cNvSpPr>
          <p:nvPr>
            <p:ph type="ftr" sz="quarter" idx="11"/>
          </p:nvPr>
        </p:nvSpPr>
        <p:spPr/>
        <p:txBody>
          <a:bodyPr/>
          <a:lstStyle>
            <a:lvl1pPr>
              <a:defRPr/>
            </a:lvl1pPr>
          </a:lstStyle>
          <a:p>
            <a:pPr>
              <a:defRPr/>
            </a:pPr>
            <a:endParaRPr lang="en-US" altLang="zh-CN"/>
          </a:p>
        </p:txBody>
      </p:sp>
      <p:sp>
        <p:nvSpPr>
          <p:cNvPr id="6" name="Rectangle 18"/>
          <p:cNvSpPr>
            <a:spLocks noGrp="1" noChangeArrowheads="1"/>
          </p:cNvSpPr>
          <p:nvPr>
            <p:ph type="sldNum" sz="quarter" idx="12"/>
          </p:nvPr>
        </p:nvSpPr>
        <p:spPr/>
        <p:txBody>
          <a:bodyPr/>
          <a:lstStyle>
            <a:lvl1pPr>
              <a:defRPr/>
            </a:lvl1pPr>
          </a:lstStyle>
          <a:p>
            <a:pPr>
              <a:defRPr/>
            </a:pPr>
            <a:fld id="{83958976-B143-40E3-91A5-AD7D22B3562D}" type="slidenum">
              <a:rPr lang="zh-CN" altLang="en-US"/>
            </a:fld>
            <a:endParaRPr lang="en-US" altLang="zh-CN"/>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6"/>
          <p:cNvSpPr>
            <a:spLocks noGrp="1" noChangeArrowheads="1"/>
          </p:cNvSpPr>
          <p:nvPr>
            <p:ph type="dt" sz="half" idx="10"/>
          </p:nvPr>
        </p:nvSpPr>
        <p:spPr/>
        <p:txBody>
          <a:bodyPr/>
          <a:lstStyle>
            <a:lvl1pPr>
              <a:defRPr/>
            </a:lvl1pPr>
          </a:lstStyle>
          <a:p>
            <a:pPr>
              <a:defRPr/>
            </a:pPr>
            <a:endParaRPr lang="en-US" altLang="zh-CN"/>
          </a:p>
        </p:txBody>
      </p:sp>
      <p:sp>
        <p:nvSpPr>
          <p:cNvPr id="5" name="Rectangle 17"/>
          <p:cNvSpPr>
            <a:spLocks noGrp="1" noChangeArrowheads="1"/>
          </p:cNvSpPr>
          <p:nvPr>
            <p:ph type="ftr" sz="quarter" idx="11"/>
          </p:nvPr>
        </p:nvSpPr>
        <p:spPr/>
        <p:txBody>
          <a:bodyPr/>
          <a:lstStyle>
            <a:lvl1pPr>
              <a:defRPr/>
            </a:lvl1pPr>
          </a:lstStyle>
          <a:p>
            <a:pPr>
              <a:defRPr/>
            </a:pPr>
            <a:endParaRPr lang="en-US" altLang="zh-CN"/>
          </a:p>
        </p:txBody>
      </p:sp>
      <p:sp>
        <p:nvSpPr>
          <p:cNvPr id="6" name="Rectangle 18"/>
          <p:cNvSpPr>
            <a:spLocks noGrp="1" noChangeArrowheads="1"/>
          </p:cNvSpPr>
          <p:nvPr>
            <p:ph type="sldNum" sz="quarter" idx="12"/>
          </p:nvPr>
        </p:nvSpPr>
        <p:spPr/>
        <p:txBody>
          <a:bodyPr/>
          <a:lstStyle>
            <a:lvl1pPr>
              <a:defRPr/>
            </a:lvl1pPr>
          </a:lstStyle>
          <a:p>
            <a:pPr>
              <a:defRPr/>
            </a:pPr>
            <a:fld id="{F49A5C88-A6B4-4483-AE80-D4449F5587C9}" type="slidenum">
              <a:rPr lang="zh-CN" altLang="en-US"/>
            </a:fld>
            <a:endParaRPr lang="en-US" altLang="zh-CN"/>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16"/>
          <p:cNvSpPr>
            <a:spLocks noGrp="1" noChangeArrowheads="1"/>
          </p:cNvSpPr>
          <p:nvPr>
            <p:ph type="dt" sz="half" idx="10"/>
          </p:nvPr>
        </p:nvSpPr>
        <p:spPr/>
        <p:txBody>
          <a:bodyPr/>
          <a:lstStyle>
            <a:lvl1pPr>
              <a:defRPr/>
            </a:lvl1pPr>
          </a:lstStyle>
          <a:p>
            <a:pPr>
              <a:defRPr/>
            </a:pPr>
            <a:endParaRPr lang="en-US" altLang="zh-CN"/>
          </a:p>
        </p:txBody>
      </p:sp>
      <p:sp>
        <p:nvSpPr>
          <p:cNvPr id="5" name="Rectangle 17"/>
          <p:cNvSpPr>
            <a:spLocks noGrp="1" noChangeArrowheads="1"/>
          </p:cNvSpPr>
          <p:nvPr>
            <p:ph type="ftr" sz="quarter" idx="11"/>
          </p:nvPr>
        </p:nvSpPr>
        <p:spPr/>
        <p:txBody>
          <a:bodyPr/>
          <a:lstStyle>
            <a:lvl1pPr>
              <a:defRPr/>
            </a:lvl1pPr>
          </a:lstStyle>
          <a:p>
            <a:pPr>
              <a:defRPr/>
            </a:pPr>
            <a:endParaRPr lang="en-US" altLang="zh-CN"/>
          </a:p>
        </p:txBody>
      </p:sp>
      <p:sp>
        <p:nvSpPr>
          <p:cNvPr id="6" name="Rectangle 18"/>
          <p:cNvSpPr>
            <a:spLocks noGrp="1" noChangeArrowheads="1"/>
          </p:cNvSpPr>
          <p:nvPr>
            <p:ph type="sldNum" sz="quarter" idx="12"/>
          </p:nvPr>
        </p:nvSpPr>
        <p:spPr/>
        <p:txBody>
          <a:bodyPr/>
          <a:lstStyle>
            <a:lvl1pPr>
              <a:defRPr/>
            </a:lvl1pPr>
          </a:lstStyle>
          <a:p>
            <a:pPr>
              <a:defRPr/>
            </a:pPr>
            <a:fld id="{3604328D-C8F6-46C9-A853-C1E123D3FC9B}" type="slidenum">
              <a:rPr lang="zh-CN" altLang="en-US"/>
            </a:fld>
            <a:endParaRPr lang="en-US" altLang="zh-CN"/>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765175"/>
            <a:ext cx="410527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14875" y="765175"/>
            <a:ext cx="410527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16"/>
          <p:cNvSpPr>
            <a:spLocks noGrp="1" noChangeArrowheads="1"/>
          </p:cNvSpPr>
          <p:nvPr>
            <p:ph type="dt" sz="half" idx="10"/>
          </p:nvPr>
        </p:nvSpPr>
        <p:spPr/>
        <p:txBody>
          <a:bodyPr/>
          <a:lstStyle>
            <a:lvl1pPr>
              <a:defRPr/>
            </a:lvl1pPr>
          </a:lstStyle>
          <a:p>
            <a:pPr>
              <a:defRPr/>
            </a:pPr>
            <a:endParaRPr lang="en-US" altLang="zh-CN"/>
          </a:p>
        </p:txBody>
      </p:sp>
      <p:sp>
        <p:nvSpPr>
          <p:cNvPr id="6" name="Rectangle 17"/>
          <p:cNvSpPr>
            <a:spLocks noGrp="1" noChangeArrowheads="1"/>
          </p:cNvSpPr>
          <p:nvPr>
            <p:ph type="ftr" sz="quarter" idx="11"/>
          </p:nvPr>
        </p:nvSpPr>
        <p:spPr/>
        <p:txBody>
          <a:bodyPr/>
          <a:lstStyle>
            <a:lvl1pPr>
              <a:defRPr/>
            </a:lvl1pPr>
          </a:lstStyle>
          <a:p>
            <a:pPr>
              <a:defRPr/>
            </a:pPr>
            <a:endParaRPr lang="en-US" altLang="zh-CN"/>
          </a:p>
        </p:txBody>
      </p:sp>
      <p:sp>
        <p:nvSpPr>
          <p:cNvPr id="7" name="Rectangle 18"/>
          <p:cNvSpPr>
            <a:spLocks noGrp="1" noChangeArrowheads="1"/>
          </p:cNvSpPr>
          <p:nvPr>
            <p:ph type="sldNum" sz="quarter" idx="12"/>
          </p:nvPr>
        </p:nvSpPr>
        <p:spPr/>
        <p:txBody>
          <a:bodyPr/>
          <a:lstStyle>
            <a:lvl1pPr>
              <a:defRPr/>
            </a:lvl1pPr>
          </a:lstStyle>
          <a:p>
            <a:pPr>
              <a:defRPr/>
            </a:pPr>
            <a:fld id="{42747D69-6C97-4BF5-9A1D-38F9398A45C4}" type="slidenum">
              <a:rPr lang="zh-CN" altLang="en-US"/>
            </a:fld>
            <a:endParaRPr lang="en-US" altLang="zh-CN"/>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16"/>
          <p:cNvSpPr>
            <a:spLocks noGrp="1" noChangeArrowheads="1"/>
          </p:cNvSpPr>
          <p:nvPr>
            <p:ph type="dt" sz="half" idx="10"/>
          </p:nvPr>
        </p:nvSpPr>
        <p:spPr/>
        <p:txBody>
          <a:bodyPr/>
          <a:lstStyle>
            <a:lvl1pPr>
              <a:defRPr/>
            </a:lvl1pPr>
          </a:lstStyle>
          <a:p>
            <a:pPr>
              <a:defRPr/>
            </a:pPr>
            <a:endParaRPr lang="en-US" altLang="zh-CN"/>
          </a:p>
        </p:txBody>
      </p:sp>
      <p:sp>
        <p:nvSpPr>
          <p:cNvPr id="8" name="Rectangle 17"/>
          <p:cNvSpPr>
            <a:spLocks noGrp="1" noChangeArrowheads="1"/>
          </p:cNvSpPr>
          <p:nvPr>
            <p:ph type="ftr" sz="quarter" idx="11"/>
          </p:nvPr>
        </p:nvSpPr>
        <p:spPr/>
        <p:txBody>
          <a:bodyPr/>
          <a:lstStyle>
            <a:lvl1pPr>
              <a:defRPr/>
            </a:lvl1pPr>
          </a:lstStyle>
          <a:p>
            <a:pPr>
              <a:defRPr/>
            </a:pPr>
            <a:endParaRPr lang="en-US" altLang="zh-CN"/>
          </a:p>
        </p:txBody>
      </p:sp>
      <p:sp>
        <p:nvSpPr>
          <p:cNvPr id="9" name="Rectangle 18"/>
          <p:cNvSpPr>
            <a:spLocks noGrp="1" noChangeArrowheads="1"/>
          </p:cNvSpPr>
          <p:nvPr>
            <p:ph type="sldNum" sz="quarter" idx="12"/>
          </p:nvPr>
        </p:nvSpPr>
        <p:spPr/>
        <p:txBody>
          <a:bodyPr/>
          <a:lstStyle>
            <a:lvl1pPr>
              <a:defRPr/>
            </a:lvl1pPr>
          </a:lstStyle>
          <a:p>
            <a:pPr>
              <a:defRPr/>
            </a:pPr>
            <a:fld id="{FBD5328B-A5EE-4532-A9BC-A303D95C2D32}" type="slidenum">
              <a:rPr lang="zh-CN" altLang="en-US"/>
            </a:fld>
            <a:endParaRPr lang="en-US" altLang="zh-CN"/>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6"/>
          <p:cNvSpPr>
            <a:spLocks noGrp="1" noChangeArrowheads="1"/>
          </p:cNvSpPr>
          <p:nvPr>
            <p:ph type="dt" sz="half" idx="10"/>
          </p:nvPr>
        </p:nvSpPr>
        <p:spPr/>
        <p:txBody>
          <a:bodyPr/>
          <a:lstStyle>
            <a:lvl1pPr>
              <a:defRPr/>
            </a:lvl1pPr>
          </a:lstStyle>
          <a:p>
            <a:pPr>
              <a:defRPr/>
            </a:pPr>
            <a:endParaRPr lang="en-US" altLang="zh-CN"/>
          </a:p>
        </p:txBody>
      </p:sp>
      <p:sp>
        <p:nvSpPr>
          <p:cNvPr id="4" name="Rectangle 17"/>
          <p:cNvSpPr>
            <a:spLocks noGrp="1" noChangeArrowheads="1"/>
          </p:cNvSpPr>
          <p:nvPr>
            <p:ph type="ftr" sz="quarter" idx="11"/>
          </p:nvPr>
        </p:nvSpPr>
        <p:spPr/>
        <p:txBody>
          <a:bodyPr/>
          <a:lstStyle>
            <a:lvl1pPr>
              <a:defRPr/>
            </a:lvl1pPr>
          </a:lstStyle>
          <a:p>
            <a:pPr>
              <a:defRPr/>
            </a:pPr>
            <a:endParaRPr lang="en-US" altLang="zh-CN"/>
          </a:p>
        </p:txBody>
      </p:sp>
      <p:sp>
        <p:nvSpPr>
          <p:cNvPr id="5" name="Rectangle 18"/>
          <p:cNvSpPr>
            <a:spLocks noGrp="1" noChangeArrowheads="1"/>
          </p:cNvSpPr>
          <p:nvPr>
            <p:ph type="sldNum" sz="quarter" idx="12"/>
          </p:nvPr>
        </p:nvSpPr>
        <p:spPr/>
        <p:txBody>
          <a:bodyPr/>
          <a:lstStyle>
            <a:lvl1pPr>
              <a:defRPr/>
            </a:lvl1pPr>
          </a:lstStyle>
          <a:p>
            <a:pPr>
              <a:defRPr/>
            </a:pPr>
            <a:fld id="{955C99AD-331D-4C7C-9713-45612F18B016}" type="slidenum">
              <a:rPr lang="zh-CN" altLang="en-US"/>
            </a:fld>
            <a:endParaRPr lang="en-US" altLang="zh-CN"/>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dt" sz="half" idx="10"/>
          </p:nvPr>
        </p:nvSpPr>
        <p:spPr/>
        <p:txBody>
          <a:bodyPr/>
          <a:lstStyle>
            <a:lvl1pPr>
              <a:defRPr/>
            </a:lvl1pPr>
          </a:lstStyle>
          <a:p>
            <a:pPr>
              <a:defRPr/>
            </a:pPr>
            <a:endParaRPr lang="en-US" altLang="zh-CN"/>
          </a:p>
        </p:txBody>
      </p:sp>
      <p:sp>
        <p:nvSpPr>
          <p:cNvPr id="3" name="Rectangle 17"/>
          <p:cNvSpPr>
            <a:spLocks noGrp="1" noChangeArrowheads="1"/>
          </p:cNvSpPr>
          <p:nvPr>
            <p:ph type="ftr" sz="quarter" idx="11"/>
          </p:nvPr>
        </p:nvSpPr>
        <p:spPr/>
        <p:txBody>
          <a:bodyPr/>
          <a:lstStyle>
            <a:lvl1pPr>
              <a:defRPr/>
            </a:lvl1pPr>
          </a:lstStyle>
          <a:p>
            <a:pPr>
              <a:defRPr/>
            </a:pPr>
            <a:endParaRPr lang="en-US" altLang="zh-CN"/>
          </a:p>
        </p:txBody>
      </p:sp>
      <p:sp>
        <p:nvSpPr>
          <p:cNvPr id="4" name="Rectangle 18"/>
          <p:cNvSpPr>
            <a:spLocks noGrp="1" noChangeArrowheads="1"/>
          </p:cNvSpPr>
          <p:nvPr>
            <p:ph type="sldNum" sz="quarter" idx="12"/>
          </p:nvPr>
        </p:nvSpPr>
        <p:spPr/>
        <p:txBody>
          <a:bodyPr/>
          <a:lstStyle>
            <a:lvl1pPr>
              <a:defRPr/>
            </a:lvl1pPr>
          </a:lstStyle>
          <a:p>
            <a:pPr>
              <a:defRPr/>
            </a:pPr>
            <a:fld id="{FC20870D-FD80-4BF5-843C-03DAE22675C7}" type="slidenum">
              <a:rPr lang="zh-CN" altLang="en-US"/>
            </a:fld>
            <a:endParaRPr lang="en-US" altLang="zh-CN"/>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6"/>
          <p:cNvSpPr>
            <a:spLocks noGrp="1" noChangeArrowheads="1"/>
          </p:cNvSpPr>
          <p:nvPr>
            <p:ph type="dt" sz="half" idx="10"/>
          </p:nvPr>
        </p:nvSpPr>
        <p:spPr/>
        <p:txBody>
          <a:bodyPr/>
          <a:lstStyle>
            <a:lvl1pPr>
              <a:defRPr/>
            </a:lvl1pPr>
          </a:lstStyle>
          <a:p>
            <a:pPr>
              <a:defRPr/>
            </a:pPr>
            <a:endParaRPr lang="en-US" altLang="zh-CN"/>
          </a:p>
        </p:txBody>
      </p:sp>
      <p:sp>
        <p:nvSpPr>
          <p:cNvPr id="6" name="Rectangle 17"/>
          <p:cNvSpPr>
            <a:spLocks noGrp="1" noChangeArrowheads="1"/>
          </p:cNvSpPr>
          <p:nvPr>
            <p:ph type="ftr" sz="quarter" idx="11"/>
          </p:nvPr>
        </p:nvSpPr>
        <p:spPr/>
        <p:txBody>
          <a:bodyPr/>
          <a:lstStyle>
            <a:lvl1pPr>
              <a:defRPr/>
            </a:lvl1pPr>
          </a:lstStyle>
          <a:p>
            <a:pPr>
              <a:defRPr/>
            </a:pPr>
            <a:endParaRPr lang="en-US" altLang="zh-CN"/>
          </a:p>
        </p:txBody>
      </p:sp>
      <p:sp>
        <p:nvSpPr>
          <p:cNvPr id="7" name="Rectangle 18"/>
          <p:cNvSpPr>
            <a:spLocks noGrp="1" noChangeArrowheads="1"/>
          </p:cNvSpPr>
          <p:nvPr>
            <p:ph type="sldNum" sz="quarter" idx="12"/>
          </p:nvPr>
        </p:nvSpPr>
        <p:spPr/>
        <p:txBody>
          <a:bodyPr/>
          <a:lstStyle>
            <a:lvl1pPr>
              <a:defRPr/>
            </a:lvl1pPr>
          </a:lstStyle>
          <a:p>
            <a:pPr>
              <a:defRPr/>
            </a:pPr>
            <a:fld id="{1BFA6B61-776C-412D-AFA5-C471544FE258}" type="slidenum">
              <a:rPr lang="zh-CN" altLang="en-US"/>
            </a:fld>
            <a:endParaRPr lang="en-US" altLang="zh-CN"/>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16"/>
          <p:cNvSpPr>
            <a:spLocks noGrp="1" noChangeArrowheads="1"/>
          </p:cNvSpPr>
          <p:nvPr>
            <p:ph type="dt" sz="half" idx="10"/>
          </p:nvPr>
        </p:nvSpPr>
        <p:spPr/>
        <p:txBody>
          <a:bodyPr/>
          <a:lstStyle>
            <a:lvl1pPr>
              <a:defRPr/>
            </a:lvl1pPr>
          </a:lstStyle>
          <a:p>
            <a:pPr>
              <a:defRPr/>
            </a:pPr>
            <a:endParaRPr lang="en-US" altLang="zh-CN"/>
          </a:p>
        </p:txBody>
      </p:sp>
      <p:sp>
        <p:nvSpPr>
          <p:cNvPr id="6" name="Rectangle 17"/>
          <p:cNvSpPr>
            <a:spLocks noGrp="1" noChangeArrowheads="1"/>
          </p:cNvSpPr>
          <p:nvPr>
            <p:ph type="ftr" sz="quarter" idx="11"/>
          </p:nvPr>
        </p:nvSpPr>
        <p:spPr/>
        <p:txBody>
          <a:bodyPr/>
          <a:lstStyle>
            <a:lvl1pPr>
              <a:defRPr/>
            </a:lvl1pPr>
          </a:lstStyle>
          <a:p>
            <a:pPr>
              <a:defRPr/>
            </a:pPr>
            <a:endParaRPr lang="en-US" altLang="zh-CN"/>
          </a:p>
        </p:txBody>
      </p:sp>
      <p:sp>
        <p:nvSpPr>
          <p:cNvPr id="7" name="Rectangle 18"/>
          <p:cNvSpPr>
            <a:spLocks noGrp="1" noChangeArrowheads="1"/>
          </p:cNvSpPr>
          <p:nvPr>
            <p:ph type="sldNum" sz="quarter" idx="12"/>
          </p:nvPr>
        </p:nvSpPr>
        <p:spPr/>
        <p:txBody>
          <a:bodyPr/>
          <a:lstStyle>
            <a:lvl1pPr>
              <a:defRPr/>
            </a:lvl1pPr>
          </a:lstStyle>
          <a:p>
            <a:pPr>
              <a:defRPr/>
            </a:pPr>
            <a:fld id="{3DD339EC-028D-46AD-A9FD-9495B595439E}" type="slidenum">
              <a:rPr lang="zh-CN" altLang="en-US"/>
            </a:fld>
            <a:endParaRPr lang="en-US" altLang="zh-CN"/>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6"/>
          <p:cNvSpPr>
            <a:spLocks noGrp="1" noChangeArrowheads="1"/>
          </p:cNvSpPr>
          <p:nvPr>
            <p:ph type="dt" sz="half" idx="10"/>
          </p:nvPr>
        </p:nvSpPr>
        <p:spPr/>
        <p:txBody>
          <a:bodyPr/>
          <a:lstStyle>
            <a:lvl1pPr>
              <a:defRPr/>
            </a:lvl1pPr>
          </a:lstStyle>
          <a:p>
            <a:pPr>
              <a:defRPr/>
            </a:pPr>
            <a:endParaRPr lang="en-US" altLang="zh-CN"/>
          </a:p>
        </p:txBody>
      </p:sp>
      <p:sp>
        <p:nvSpPr>
          <p:cNvPr id="5" name="Rectangle 17"/>
          <p:cNvSpPr>
            <a:spLocks noGrp="1" noChangeArrowheads="1"/>
          </p:cNvSpPr>
          <p:nvPr>
            <p:ph type="ftr" sz="quarter" idx="11"/>
          </p:nvPr>
        </p:nvSpPr>
        <p:spPr/>
        <p:txBody>
          <a:bodyPr/>
          <a:lstStyle>
            <a:lvl1pPr>
              <a:defRPr/>
            </a:lvl1pPr>
          </a:lstStyle>
          <a:p>
            <a:pPr>
              <a:defRPr/>
            </a:pPr>
            <a:endParaRPr lang="en-US" altLang="zh-CN"/>
          </a:p>
        </p:txBody>
      </p:sp>
      <p:sp>
        <p:nvSpPr>
          <p:cNvPr id="6" name="Rectangle 18"/>
          <p:cNvSpPr>
            <a:spLocks noGrp="1" noChangeArrowheads="1"/>
          </p:cNvSpPr>
          <p:nvPr>
            <p:ph type="sldNum" sz="quarter" idx="12"/>
          </p:nvPr>
        </p:nvSpPr>
        <p:spPr/>
        <p:txBody>
          <a:bodyPr/>
          <a:lstStyle>
            <a:lvl1pPr>
              <a:defRPr/>
            </a:lvl1pPr>
          </a:lstStyle>
          <a:p>
            <a:pPr>
              <a:defRPr/>
            </a:pPr>
            <a:fld id="{CFF5AB73-168B-48B0-B7C3-D89470CC221C}" type="slidenum">
              <a:rPr lang="zh-CN" altLang="en-US"/>
            </a:fld>
            <a:endParaRPr lang="en-US" altLang="zh-CN"/>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9413" y="44450"/>
            <a:ext cx="2090737" cy="6192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4450"/>
            <a:ext cx="6119813" cy="6192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16"/>
          <p:cNvSpPr>
            <a:spLocks noGrp="1" noChangeArrowheads="1"/>
          </p:cNvSpPr>
          <p:nvPr>
            <p:ph type="dt" sz="half" idx="10"/>
          </p:nvPr>
        </p:nvSpPr>
        <p:spPr/>
        <p:txBody>
          <a:bodyPr/>
          <a:lstStyle>
            <a:lvl1pPr>
              <a:defRPr/>
            </a:lvl1pPr>
          </a:lstStyle>
          <a:p>
            <a:pPr>
              <a:defRPr/>
            </a:pPr>
            <a:endParaRPr lang="en-US" altLang="zh-CN"/>
          </a:p>
        </p:txBody>
      </p:sp>
      <p:sp>
        <p:nvSpPr>
          <p:cNvPr id="5" name="Rectangle 17"/>
          <p:cNvSpPr>
            <a:spLocks noGrp="1" noChangeArrowheads="1"/>
          </p:cNvSpPr>
          <p:nvPr>
            <p:ph type="ftr" sz="quarter" idx="11"/>
          </p:nvPr>
        </p:nvSpPr>
        <p:spPr/>
        <p:txBody>
          <a:bodyPr/>
          <a:lstStyle>
            <a:lvl1pPr>
              <a:defRPr/>
            </a:lvl1pPr>
          </a:lstStyle>
          <a:p>
            <a:pPr>
              <a:defRPr/>
            </a:pPr>
            <a:endParaRPr lang="en-US" altLang="zh-CN"/>
          </a:p>
        </p:txBody>
      </p:sp>
      <p:sp>
        <p:nvSpPr>
          <p:cNvPr id="6" name="Rectangle 18"/>
          <p:cNvSpPr>
            <a:spLocks noGrp="1" noChangeArrowheads="1"/>
          </p:cNvSpPr>
          <p:nvPr>
            <p:ph type="sldNum" sz="quarter" idx="12"/>
          </p:nvPr>
        </p:nvSpPr>
        <p:spPr/>
        <p:txBody>
          <a:bodyPr/>
          <a:lstStyle>
            <a:lvl1pPr>
              <a:defRPr/>
            </a:lvl1pPr>
          </a:lstStyle>
          <a:p>
            <a:pPr>
              <a:defRPr/>
            </a:pPr>
            <a:fld id="{DD7AD3C9-A231-43F7-9B5D-A4F17EB4C536}" type="slidenum">
              <a:rPr lang="zh-CN" altLang="en-US"/>
            </a:fld>
            <a:endParaRPr lang="en-US" altLang="zh-CN"/>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vmlDrawing" Target="../drawings/vmlDrawing1.vml"/><Relationship Id="rId13" Type="http://schemas.openxmlformats.org/officeDocument/2006/relationships/image" Target="../media/image1.wmf"/><Relationship Id="rId12" Type="http://schemas.openxmlformats.org/officeDocument/2006/relationships/oleObject" Target="../embeddings/oleObject1.bin"/><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70" name="Group 19"/>
          <p:cNvGrpSpPr/>
          <p:nvPr userDrawn="1"/>
        </p:nvGrpSpPr>
        <p:grpSpPr bwMode="auto">
          <a:xfrm>
            <a:off x="0" y="0"/>
            <a:ext cx="9144000" cy="566738"/>
            <a:chOff x="0" y="0"/>
            <a:chExt cx="5760" cy="357"/>
          </a:xfrm>
        </p:grpSpPr>
        <p:sp>
          <p:nvSpPr>
            <p:cNvPr id="178181" name="Rectangle 5"/>
            <p:cNvSpPr>
              <a:spLocks noChangeArrowheads="1"/>
            </p:cNvSpPr>
            <p:nvPr userDrawn="1"/>
          </p:nvSpPr>
          <p:spPr bwMode="auto">
            <a:xfrm>
              <a:off x="0" y="0"/>
              <a:ext cx="180" cy="344"/>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sz="2400" b="0">
                <a:ea typeface="宋体" panose="02010600030101010101" pitchFamily="2" charset="-122"/>
              </a:endParaRPr>
            </a:p>
          </p:txBody>
        </p:sp>
        <p:sp>
          <p:nvSpPr>
            <p:cNvPr id="178182" name="Rectangle 6"/>
            <p:cNvSpPr>
              <a:spLocks noChangeArrowheads="1"/>
            </p:cNvSpPr>
            <p:nvPr userDrawn="1"/>
          </p:nvSpPr>
          <p:spPr bwMode="auto">
            <a:xfrm>
              <a:off x="238" y="85"/>
              <a:ext cx="5500" cy="173"/>
            </a:xfrm>
            <a:prstGeom prst="rect">
              <a:avLst/>
            </a:prstGeom>
            <a:gradFill rotWithShape="0">
              <a:gsLst>
                <a:gs pos="0">
                  <a:srgbClr val="FFFFCC"/>
                </a:gs>
                <a:gs pos="100000">
                  <a:schemeClr val="bg1"/>
                </a:gs>
              </a:gsLst>
              <a:lin ang="0" scaled="1"/>
            </a:gradFill>
            <a:ln w="9525">
              <a:noFill/>
              <a:miter lim="800000"/>
            </a:ln>
          </p:spPr>
          <p:txBody>
            <a:bodyPr/>
            <a:lstStyle/>
            <a:p>
              <a:pPr>
                <a:defRPr/>
              </a:pPr>
              <a:endParaRPr lang="zh-CN" altLang="en-US" sz="2400" b="0">
                <a:ea typeface="宋体" panose="02010600030101010101" pitchFamily="2" charset="-122"/>
              </a:endParaRPr>
            </a:p>
          </p:txBody>
        </p:sp>
        <p:sp>
          <p:nvSpPr>
            <p:cNvPr id="178183" name="Rectangle 7"/>
            <p:cNvSpPr>
              <a:spLocks noChangeArrowheads="1"/>
            </p:cNvSpPr>
            <p:nvPr userDrawn="1"/>
          </p:nvSpPr>
          <p:spPr bwMode="auto">
            <a:xfrm>
              <a:off x="236" y="85"/>
              <a:ext cx="87" cy="89"/>
            </a:xfrm>
            <a:prstGeom prst="rect">
              <a:avLst/>
            </a:prstGeom>
            <a:solidFill>
              <a:srgbClr val="33CC33">
                <a:alpha val="14999"/>
              </a:srgbClr>
            </a:solidFill>
            <a:ln w="9525">
              <a:noFill/>
              <a:miter lim="800000"/>
            </a:ln>
          </p:spPr>
          <p:txBody>
            <a:bodyPr/>
            <a:lstStyle/>
            <a:p>
              <a:pPr>
                <a:defRPr/>
              </a:pPr>
              <a:endParaRPr lang="zh-CN" altLang="en-US" sz="1800" b="0">
                <a:solidFill>
                  <a:schemeClr val="hlink"/>
                </a:solidFill>
                <a:latin typeface="Arial" panose="020B0604020202020204" pitchFamily="34" charset="0"/>
                <a:ea typeface="宋体" panose="02010600030101010101" pitchFamily="2" charset="-122"/>
              </a:endParaRPr>
            </a:p>
          </p:txBody>
        </p:sp>
        <p:sp>
          <p:nvSpPr>
            <p:cNvPr id="178184" name="Rectangle 8"/>
            <p:cNvSpPr>
              <a:spLocks noChangeArrowheads="1"/>
            </p:cNvSpPr>
            <p:nvPr userDrawn="1"/>
          </p:nvSpPr>
          <p:spPr bwMode="auto">
            <a:xfrm>
              <a:off x="323" y="0"/>
              <a:ext cx="88" cy="87"/>
            </a:xfrm>
            <a:prstGeom prst="rect">
              <a:avLst/>
            </a:prstGeom>
            <a:solidFill>
              <a:srgbClr val="33CC33">
                <a:alpha val="14999"/>
              </a:srgbClr>
            </a:solidFill>
            <a:ln w="9525">
              <a:noFill/>
              <a:miter lim="800000"/>
            </a:ln>
          </p:spPr>
          <p:txBody>
            <a:bodyPr/>
            <a:lstStyle/>
            <a:p>
              <a:pPr>
                <a:defRPr/>
              </a:pPr>
              <a:endParaRPr lang="zh-CN" altLang="en-US" sz="1800" b="0">
                <a:solidFill>
                  <a:schemeClr val="hlink"/>
                </a:solidFill>
                <a:latin typeface="Arial" panose="020B0604020202020204" pitchFamily="34" charset="0"/>
                <a:ea typeface="宋体" panose="02010600030101010101" pitchFamily="2" charset="-122"/>
              </a:endParaRPr>
            </a:p>
          </p:txBody>
        </p:sp>
        <p:sp>
          <p:nvSpPr>
            <p:cNvPr id="178185" name="Rectangle 9"/>
            <p:cNvSpPr>
              <a:spLocks noChangeArrowheads="1"/>
            </p:cNvSpPr>
            <p:nvPr userDrawn="1"/>
          </p:nvSpPr>
          <p:spPr bwMode="auto">
            <a:xfrm>
              <a:off x="323" y="85"/>
              <a:ext cx="88" cy="89"/>
            </a:xfrm>
            <a:prstGeom prst="rect">
              <a:avLst/>
            </a:prstGeom>
            <a:solidFill>
              <a:srgbClr val="33CC33">
                <a:alpha val="30000"/>
              </a:srgbClr>
            </a:solidFill>
            <a:ln w="9525">
              <a:noFill/>
              <a:miter lim="800000"/>
            </a:ln>
          </p:spPr>
          <p:txBody>
            <a:bodyPr/>
            <a:lstStyle/>
            <a:p>
              <a:pPr>
                <a:defRPr/>
              </a:pPr>
              <a:endParaRPr lang="zh-CN" altLang="en-US" sz="1800" b="0">
                <a:solidFill>
                  <a:schemeClr val="accent2"/>
                </a:solidFill>
                <a:latin typeface="Arial" panose="020B0604020202020204" pitchFamily="34" charset="0"/>
                <a:ea typeface="宋体" panose="02010600030101010101" pitchFamily="2" charset="-122"/>
              </a:endParaRPr>
            </a:p>
          </p:txBody>
        </p:sp>
        <p:sp>
          <p:nvSpPr>
            <p:cNvPr id="178186" name="Rectangle 10"/>
            <p:cNvSpPr>
              <a:spLocks noChangeArrowheads="1"/>
            </p:cNvSpPr>
            <p:nvPr userDrawn="1"/>
          </p:nvSpPr>
          <p:spPr bwMode="auto">
            <a:xfrm>
              <a:off x="151" y="173"/>
              <a:ext cx="86" cy="87"/>
            </a:xfrm>
            <a:prstGeom prst="rect">
              <a:avLst/>
            </a:prstGeom>
            <a:solidFill>
              <a:srgbClr val="33CC33">
                <a:alpha val="14999"/>
              </a:srgbClr>
            </a:solidFill>
            <a:ln w="9525">
              <a:noFill/>
              <a:miter lim="800000"/>
            </a:ln>
          </p:spPr>
          <p:txBody>
            <a:bodyPr/>
            <a:lstStyle/>
            <a:p>
              <a:pPr>
                <a:defRPr/>
              </a:pPr>
              <a:endParaRPr lang="zh-CN" altLang="en-US" sz="1800" b="0">
                <a:solidFill>
                  <a:schemeClr val="hlink"/>
                </a:solidFill>
                <a:latin typeface="Arial" panose="020B0604020202020204" pitchFamily="34" charset="0"/>
                <a:ea typeface="宋体" panose="02010600030101010101" pitchFamily="2" charset="-122"/>
              </a:endParaRPr>
            </a:p>
          </p:txBody>
        </p:sp>
        <p:sp>
          <p:nvSpPr>
            <p:cNvPr id="178187" name="Rectangle 11"/>
            <p:cNvSpPr>
              <a:spLocks noChangeArrowheads="1"/>
            </p:cNvSpPr>
            <p:nvPr userDrawn="1"/>
          </p:nvSpPr>
          <p:spPr bwMode="auto">
            <a:xfrm>
              <a:off x="61" y="86"/>
              <a:ext cx="89" cy="87"/>
            </a:xfrm>
            <a:prstGeom prst="rect">
              <a:avLst/>
            </a:prstGeom>
            <a:solidFill>
              <a:srgbClr val="FF00FF">
                <a:alpha val="20000"/>
              </a:srgbClr>
            </a:solidFill>
            <a:ln w="9525">
              <a:noFill/>
              <a:miter lim="800000"/>
            </a:ln>
          </p:spPr>
          <p:txBody>
            <a:bodyPr/>
            <a:lstStyle/>
            <a:p>
              <a:pPr>
                <a:defRPr/>
              </a:pPr>
              <a:endParaRPr lang="zh-CN" altLang="en-US" sz="2400" b="0">
                <a:ea typeface="宋体" panose="02010600030101010101" pitchFamily="2" charset="-122"/>
              </a:endParaRPr>
            </a:p>
          </p:txBody>
        </p:sp>
        <p:sp>
          <p:nvSpPr>
            <p:cNvPr id="178188" name="Rectangle 12"/>
            <p:cNvSpPr>
              <a:spLocks noChangeArrowheads="1"/>
            </p:cNvSpPr>
            <p:nvPr userDrawn="1"/>
          </p:nvSpPr>
          <p:spPr bwMode="auto">
            <a:xfrm>
              <a:off x="236" y="171"/>
              <a:ext cx="87" cy="87"/>
            </a:xfrm>
            <a:prstGeom prst="rect">
              <a:avLst/>
            </a:prstGeom>
            <a:solidFill>
              <a:srgbClr val="33CC33">
                <a:alpha val="30000"/>
              </a:srgbClr>
            </a:solidFill>
            <a:ln w="9525">
              <a:noFill/>
              <a:miter lim="800000"/>
            </a:ln>
          </p:spPr>
          <p:txBody>
            <a:bodyPr/>
            <a:lstStyle/>
            <a:p>
              <a:pPr>
                <a:defRPr/>
              </a:pPr>
              <a:endParaRPr lang="zh-CN" altLang="en-US" sz="1800" b="0">
                <a:solidFill>
                  <a:schemeClr val="accent2"/>
                </a:solidFill>
                <a:latin typeface="Arial" panose="020B0604020202020204" pitchFamily="34" charset="0"/>
                <a:ea typeface="宋体" panose="02010600030101010101" pitchFamily="2" charset="-122"/>
              </a:endParaRPr>
            </a:p>
          </p:txBody>
        </p:sp>
        <p:sp>
          <p:nvSpPr>
            <p:cNvPr id="178189" name="Rectangle 13"/>
            <p:cNvSpPr>
              <a:spLocks noChangeArrowheads="1"/>
            </p:cNvSpPr>
            <p:nvPr userDrawn="1"/>
          </p:nvSpPr>
          <p:spPr bwMode="auto">
            <a:xfrm>
              <a:off x="151" y="258"/>
              <a:ext cx="86" cy="86"/>
            </a:xfrm>
            <a:prstGeom prst="rect">
              <a:avLst/>
            </a:prstGeom>
            <a:solidFill>
              <a:srgbClr val="33CC33">
                <a:alpha val="30000"/>
              </a:srgbClr>
            </a:solidFill>
            <a:ln w="9525">
              <a:noFill/>
              <a:miter lim="800000"/>
            </a:ln>
          </p:spPr>
          <p:txBody>
            <a:bodyPr/>
            <a:lstStyle/>
            <a:p>
              <a:pPr>
                <a:defRPr/>
              </a:pPr>
              <a:endParaRPr lang="zh-CN" altLang="en-US" sz="1800" b="0">
                <a:solidFill>
                  <a:schemeClr val="accent2"/>
                </a:solidFill>
                <a:latin typeface="Arial" panose="020B0604020202020204" pitchFamily="34" charset="0"/>
                <a:ea typeface="宋体" panose="02010600030101010101" pitchFamily="2" charset="-122"/>
              </a:endParaRPr>
            </a:p>
          </p:txBody>
        </p:sp>
        <p:sp>
          <p:nvSpPr>
            <p:cNvPr id="178193" name="Rectangle 17"/>
            <p:cNvSpPr>
              <a:spLocks noChangeArrowheads="1"/>
            </p:cNvSpPr>
            <p:nvPr userDrawn="1"/>
          </p:nvSpPr>
          <p:spPr bwMode="auto">
            <a:xfrm>
              <a:off x="0" y="328"/>
              <a:ext cx="5760" cy="29"/>
            </a:xfrm>
            <a:prstGeom prst="rect">
              <a:avLst/>
            </a:prstGeom>
            <a:gradFill rotWithShape="0">
              <a:gsLst>
                <a:gs pos="0">
                  <a:schemeClr val="bg2">
                    <a:alpha val="39999"/>
                  </a:schemeClr>
                </a:gs>
                <a:gs pos="100000">
                  <a:schemeClr val="bg1">
                    <a:alpha val="10001"/>
                  </a:schemeClr>
                </a:gs>
              </a:gsLst>
              <a:lin ang="0" scaled="1"/>
            </a:gradFill>
            <a:ln w="9525">
              <a:noFill/>
              <a:miter lim="800000"/>
            </a:ln>
          </p:spPr>
          <p:txBody>
            <a:bodyPr/>
            <a:lstStyle/>
            <a:p>
              <a:pPr>
                <a:defRPr/>
              </a:pPr>
              <a:endParaRPr lang="zh-CN" altLang="en-US" sz="2400" b="0">
                <a:ea typeface="宋体" panose="02010600030101010101" pitchFamily="2" charset="-122"/>
              </a:endParaRPr>
            </a:p>
          </p:txBody>
        </p:sp>
      </p:grpSp>
      <p:sp>
        <p:nvSpPr>
          <p:cNvPr id="178178"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spcBef>
                <a:spcPct val="0"/>
              </a:spcBef>
              <a:defRPr sz="1200" b="0">
                <a:latin typeface="+mj-lt"/>
                <a:ea typeface="+mn-ea"/>
              </a:defRPr>
            </a:lvl1pPr>
          </a:lstStyle>
          <a:p>
            <a:pPr>
              <a:defRPr/>
            </a:pPr>
            <a:endParaRPr lang="en-US" altLang="zh-CN"/>
          </a:p>
        </p:txBody>
      </p:sp>
      <p:sp>
        <p:nvSpPr>
          <p:cNvPr id="178179"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defRPr sz="1200" b="0">
                <a:latin typeface="Arial Black" panose="020B0A04020102020204" pitchFamily="34" charset="0"/>
                <a:ea typeface="+mn-ea"/>
              </a:defRPr>
            </a:lvl1pPr>
          </a:lstStyle>
          <a:p>
            <a:pPr>
              <a:defRPr/>
            </a:pPr>
            <a:fld id="{7C5FA472-53F5-4A6E-ACB7-A03953FB270D}" type="slidenum">
              <a:rPr lang="zh-CN" altLang="en-US"/>
            </a:fld>
            <a:endParaRPr lang="en-US" altLang="zh-CN"/>
          </a:p>
        </p:txBody>
      </p:sp>
      <p:sp>
        <p:nvSpPr>
          <p:cNvPr id="7173" name="Rectangle 14"/>
          <p:cNvSpPr>
            <a:spLocks noGrp="1" noChangeArrowheads="1"/>
          </p:cNvSpPr>
          <p:nvPr>
            <p:ph type="title"/>
          </p:nvPr>
        </p:nvSpPr>
        <p:spPr bwMode="auto">
          <a:xfrm>
            <a:off x="590550" y="44450"/>
            <a:ext cx="8229600" cy="523875"/>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7174" name="Rectangle 15"/>
          <p:cNvSpPr>
            <a:spLocks noGrp="1" noChangeArrowheads="1"/>
          </p:cNvSpPr>
          <p:nvPr>
            <p:ph type="body" idx="1"/>
          </p:nvPr>
        </p:nvSpPr>
        <p:spPr bwMode="auto">
          <a:xfrm>
            <a:off x="457200" y="765175"/>
            <a:ext cx="8362950" cy="547211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78192"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latin typeface="+mj-lt"/>
                <a:ea typeface="+mn-ea"/>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anose="020B0604020202020204" pitchFamily="34" charset="0"/>
          <a:ea typeface="黑体" panose="02010609060101010101" pitchFamily="2" charset="-122"/>
        </a:defRPr>
      </a:lvl2pPr>
      <a:lvl3pPr algn="l" rtl="0" eaLnBrk="0" fontAlgn="base" hangingPunct="0">
        <a:spcBef>
          <a:spcPct val="0"/>
        </a:spcBef>
        <a:spcAft>
          <a:spcPct val="0"/>
        </a:spcAft>
        <a:defRPr sz="2800" b="1">
          <a:solidFill>
            <a:schemeClr val="bg2"/>
          </a:solidFill>
          <a:latin typeface="Arial" panose="020B0604020202020204" pitchFamily="34" charset="0"/>
          <a:ea typeface="黑体" panose="02010609060101010101" pitchFamily="2" charset="-122"/>
        </a:defRPr>
      </a:lvl3pPr>
      <a:lvl4pPr algn="l" rtl="0" eaLnBrk="0" fontAlgn="base" hangingPunct="0">
        <a:spcBef>
          <a:spcPct val="0"/>
        </a:spcBef>
        <a:spcAft>
          <a:spcPct val="0"/>
        </a:spcAft>
        <a:defRPr sz="2800" b="1">
          <a:solidFill>
            <a:schemeClr val="bg2"/>
          </a:solidFill>
          <a:latin typeface="Arial" panose="020B0604020202020204" pitchFamily="34" charset="0"/>
          <a:ea typeface="黑体" panose="02010609060101010101" pitchFamily="2" charset="-122"/>
        </a:defRPr>
      </a:lvl4pPr>
      <a:lvl5pPr algn="l" rtl="0" eaLnBrk="0" fontAlgn="base" hangingPunct="0">
        <a:spcBef>
          <a:spcPct val="0"/>
        </a:spcBef>
        <a:spcAft>
          <a:spcPct val="0"/>
        </a:spcAft>
        <a:defRPr sz="2800" b="1">
          <a:solidFill>
            <a:schemeClr val="bg2"/>
          </a:solidFill>
          <a:latin typeface="Arial" panose="020B0604020202020204" pitchFamily="34" charset="0"/>
          <a:ea typeface="黑体" panose="02010609060101010101" pitchFamily="2" charset="-122"/>
        </a:defRPr>
      </a:lvl5pPr>
      <a:lvl6pPr marL="457200" algn="l" rtl="0" fontAlgn="base">
        <a:spcBef>
          <a:spcPct val="0"/>
        </a:spcBef>
        <a:spcAft>
          <a:spcPct val="0"/>
        </a:spcAft>
        <a:defRPr sz="2800" b="1">
          <a:solidFill>
            <a:schemeClr val="bg2"/>
          </a:solidFill>
          <a:latin typeface="Arial" panose="020B0604020202020204" pitchFamily="34" charset="0"/>
          <a:ea typeface="黑体" panose="02010609060101010101" pitchFamily="2" charset="-122"/>
        </a:defRPr>
      </a:lvl6pPr>
      <a:lvl7pPr marL="914400" algn="l" rtl="0" fontAlgn="base">
        <a:spcBef>
          <a:spcPct val="0"/>
        </a:spcBef>
        <a:spcAft>
          <a:spcPct val="0"/>
        </a:spcAft>
        <a:defRPr sz="2800" b="1">
          <a:solidFill>
            <a:schemeClr val="bg2"/>
          </a:solidFill>
          <a:latin typeface="Arial" panose="020B0604020202020204" pitchFamily="34" charset="0"/>
          <a:ea typeface="黑体" panose="02010609060101010101" pitchFamily="2" charset="-122"/>
        </a:defRPr>
      </a:lvl7pPr>
      <a:lvl8pPr marL="1371600" algn="l" rtl="0" fontAlgn="base">
        <a:spcBef>
          <a:spcPct val="0"/>
        </a:spcBef>
        <a:spcAft>
          <a:spcPct val="0"/>
        </a:spcAft>
        <a:defRPr sz="2800" b="1">
          <a:solidFill>
            <a:schemeClr val="bg2"/>
          </a:solidFill>
          <a:latin typeface="Arial" panose="020B0604020202020204" pitchFamily="34" charset="0"/>
          <a:ea typeface="黑体" panose="02010609060101010101" pitchFamily="2" charset="-122"/>
        </a:defRPr>
      </a:lvl8pPr>
      <a:lvl9pPr marL="1828800" algn="l" rtl="0" fontAlgn="base">
        <a:spcBef>
          <a:spcPct val="0"/>
        </a:spcBef>
        <a:spcAft>
          <a:spcPct val="0"/>
        </a:spcAft>
        <a:defRPr sz="2800" b="1">
          <a:solidFill>
            <a:schemeClr val="bg2"/>
          </a:solidFill>
          <a:latin typeface="Arial" panose="020B0604020202020204" pitchFamily="34" charset="0"/>
          <a:ea typeface="黑体" panose="0201060906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800" b="1">
          <a:solidFill>
            <a:schemeClr val="tx1"/>
          </a:solidFill>
          <a:latin typeface="+mn-lt"/>
          <a:ea typeface="+mn-ea"/>
          <a:cs typeface="+mn-cs"/>
        </a:defRPr>
      </a:lvl1pPr>
      <a:lvl2pPr marL="802005" indent="-279400" algn="l" rtl="0" eaLnBrk="0" fontAlgn="base" hangingPunct="0">
        <a:spcBef>
          <a:spcPct val="20000"/>
        </a:spcBef>
        <a:spcAft>
          <a:spcPct val="0"/>
        </a:spcAft>
        <a:buClr>
          <a:srgbClr val="006600"/>
        </a:buClr>
        <a:buSzPct val="75000"/>
        <a:buFont typeface="Wingdings" panose="05000000000000000000" pitchFamily="2" charset="2"/>
        <a:buChar char="l"/>
        <a:defRPr sz="2800" b="1">
          <a:solidFill>
            <a:schemeClr val="tx1"/>
          </a:solidFill>
          <a:latin typeface="+mn-lt"/>
          <a:ea typeface="+mn-ea"/>
        </a:defRPr>
      </a:lvl2pPr>
      <a:lvl3pPr marL="1339850" indent="-358775" algn="l" rtl="0" eaLnBrk="0" fontAlgn="base" hangingPunct="0">
        <a:spcBef>
          <a:spcPct val="20000"/>
        </a:spcBef>
        <a:spcAft>
          <a:spcPct val="0"/>
        </a:spcAft>
        <a:buClr>
          <a:srgbClr val="FF6600"/>
        </a:buClr>
        <a:buSzPct val="65000"/>
        <a:buFont typeface="Wingdings" panose="05000000000000000000" pitchFamily="2" charset="2"/>
        <a:buChar char="p"/>
        <a:defRPr sz="2800" b="1">
          <a:solidFill>
            <a:schemeClr val="tx1"/>
          </a:solidFill>
          <a:latin typeface="+mn-lt"/>
          <a:ea typeface="+mn-ea"/>
        </a:defRPr>
      </a:lvl3pPr>
      <a:lvl4pPr marL="1879600" indent="-360680" algn="l" rtl="0" eaLnBrk="0" fontAlgn="base" hangingPunct="0">
        <a:spcBef>
          <a:spcPct val="20000"/>
        </a:spcBef>
        <a:spcAft>
          <a:spcPct val="0"/>
        </a:spcAft>
        <a:buClr>
          <a:srgbClr val="FF0066"/>
        </a:buClr>
        <a:buSzPct val="75000"/>
        <a:buFont typeface="Wingdings" panose="05000000000000000000" pitchFamily="2" charset="2"/>
        <a:buChar char="u"/>
        <a:defRPr sz="2400" b="1">
          <a:solidFill>
            <a:schemeClr val="tx1"/>
          </a:solidFill>
          <a:latin typeface="+mn-lt"/>
          <a:ea typeface="+mn-ea"/>
        </a:defRPr>
      </a:lvl4pPr>
      <a:lvl5pPr marL="2330450" indent="-271780" algn="l" rtl="0" eaLnBrk="0" fontAlgn="base" hangingPunct="0">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5pPr>
      <a:lvl6pPr marL="27876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6pPr>
      <a:lvl7pPr marL="32448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7pPr>
      <a:lvl8pPr marL="37020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8pPr>
      <a:lvl9pPr marL="41592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6" name="Group 26"/>
          <p:cNvGrpSpPr/>
          <p:nvPr userDrawn="1"/>
        </p:nvGrpSpPr>
        <p:grpSpPr bwMode="auto">
          <a:xfrm>
            <a:off x="0" y="0"/>
            <a:ext cx="9144000" cy="6858000"/>
            <a:chOff x="0" y="-4320"/>
            <a:chExt cx="5760" cy="4320"/>
          </a:xfrm>
        </p:grpSpPr>
        <p:sp>
          <p:nvSpPr>
            <p:cNvPr id="19" name="Rectangle 3"/>
            <p:cNvSpPr>
              <a:spLocks noChangeArrowheads="1"/>
            </p:cNvSpPr>
            <p:nvPr/>
          </p:nvSpPr>
          <p:spPr bwMode="hidden">
            <a:xfrm>
              <a:off x="0" y="-432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sz="2400" b="0"/>
            </a:p>
          </p:txBody>
        </p:sp>
        <p:sp>
          <p:nvSpPr>
            <p:cNvPr id="20" name="Rectangle 4"/>
            <p:cNvSpPr>
              <a:spLocks noChangeArrowheads="1"/>
            </p:cNvSpPr>
            <p:nvPr/>
          </p:nvSpPr>
          <p:spPr bwMode="hidden">
            <a:xfrm>
              <a:off x="1081" y="-3255"/>
              <a:ext cx="4679" cy="1596"/>
            </a:xfrm>
            <a:prstGeom prst="rect">
              <a:avLst/>
            </a:prstGeom>
            <a:solidFill>
              <a:schemeClr val="bg2"/>
            </a:solidFill>
            <a:ln w="9525">
              <a:noFill/>
              <a:miter lim="800000"/>
            </a:ln>
          </p:spPr>
          <p:txBody>
            <a:bodyPr/>
            <a:lstStyle/>
            <a:p>
              <a:pPr>
                <a:defRPr/>
              </a:pPr>
              <a:endParaRPr lang="zh-CN" altLang="en-US" sz="2400" b="0"/>
            </a:p>
          </p:txBody>
        </p:sp>
        <p:grpSp>
          <p:nvGrpSpPr>
            <p:cNvPr id="3087" name="Group 25"/>
            <p:cNvGrpSpPr/>
            <p:nvPr userDrawn="1"/>
          </p:nvGrpSpPr>
          <p:grpSpPr bwMode="auto">
            <a:xfrm>
              <a:off x="0" y="-3255"/>
              <a:ext cx="1806" cy="1596"/>
              <a:chOff x="0" y="-3255"/>
              <a:chExt cx="1806" cy="1596"/>
            </a:xfrm>
          </p:grpSpPr>
          <p:sp>
            <p:nvSpPr>
              <p:cNvPr id="22" name="Rectangle 6"/>
              <p:cNvSpPr>
                <a:spLocks noChangeArrowheads="1"/>
              </p:cNvSpPr>
              <p:nvPr/>
            </p:nvSpPr>
            <p:spPr bwMode="auto">
              <a:xfrm>
                <a:off x="361" y="-2063"/>
                <a:ext cx="363" cy="404"/>
              </a:xfrm>
              <a:prstGeom prst="rect">
                <a:avLst/>
              </a:prstGeom>
              <a:solidFill>
                <a:schemeClr val="accent2"/>
              </a:solidFill>
              <a:ln w="9525">
                <a:noFill/>
                <a:miter lim="800000"/>
              </a:ln>
            </p:spPr>
            <p:txBody>
              <a:bodyPr/>
              <a:lstStyle/>
              <a:p>
                <a:pPr>
                  <a:defRPr/>
                </a:pPr>
                <a:endParaRPr lang="zh-CN" altLang="en-US" sz="2400" b="0"/>
              </a:p>
            </p:txBody>
          </p:sp>
          <p:sp>
            <p:nvSpPr>
              <p:cNvPr id="23" name="Rectangle 7"/>
              <p:cNvSpPr>
                <a:spLocks noChangeArrowheads="1"/>
              </p:cNvSpPr>
              <p:nvPr/>
            </p:nvSpPr>
            <p:spPr bwMode="auto">
              <a:xfrm>
                <a:off x="1081" y="-3255"/>
                <a:ext cx="362" cy="405"/>
              </a:xfrm>
              <a:prstGeom prst="rect">
                <a:avLst/>
              </a:prstGeom>
              <a:solidFill>
                <a:schemeClr val="folHlink"/>
              </a:solidFill>
              <a:ln w="9525">
                <a:noFill/>
                <a:miter lim="800000"/>
              </a:ln>
            </p:spPr>
            <p:txBody>
              <a:bodyPr/>
              <a:lstStyle/>
              <a:p>
                <a:pPr>
                  <a:defRPr/>
                </a:pPr>
                <a:endParaRPr lang="zh-CN" altLang="en-US" sz="2400" b="0"/>
              </a:p>
            </p:txBody>
          </p:sp>
          <p:sp>
            <p:nvSpPr>
              <p:cNvPr id="24" name="Rectangle 9"/>
              <p:cNvSpPr>
                <a:spLocks noChangeArrowheads="1"/>
              </p:cNvSpPr>
              <p:nvPr/>
            </p:nvSpPr>
            <p:spPr bwMode="auto">
              <a:xfrm>
                <a:off x="719" y="-2063"/>
                <a:ext cx="368" cy="404"/>
              </a:xfrm>
              <a:prstGeom prst="rect">
                <a:avLst/>
              </a:prstGeom>
              <a:solidFill>
                <a:schemeClr val="bg2"/>
              </a:solidFill>
              <a:ln w="9525">
                <a:noFill/>
                <a:miter lim="800000"/>
              </a:ln>
            </p:spPr>
            <p:txBody>
              <a:bodyPr/>
              <a:lstStyle/>
              <a:p>
                <a:pPr>
                  <a:defRPr/>
                </a:pPr>
                <a:endParaRPr lang="zh-CN" altLang="en-US" sz="2400" b="0"/>
              </a:p>
            </p:txBody>
          </p:sp>
          <p:sp>
            <p:nvSpPr>
              <p:cNvPr id="25" name="Rectangle 10"/>
              <p:cNvSpPr>
                <a:spLocks noChangeArrowheads="1"/>
              </p:cNvSpPr>
              <p:nvPr/>
            </p:nvSpPr>
            <p:spPr bwMode="auto">
              <a:xfrm>
                <a:off x="1437" y="-3255"/>
                <a:ext cx="369" cy="405"/>
              </a:xfrm>
              <a:prstGeom prst="rect">
                <a:avLst/>
              </a:prstGeom>
              <a:solidFill>
                <a:schemeClr val="accent2"/>
              </a:solidFill>
              <a:ln w="9525">
                <a:noFill/>
                <a:miter lim="800000"/>
              </a:ln>
            </p:spPr>
            <p:txBody>
              <a:bodyPr/>
              <a:lstStyle/>
              <a:p>
                <a:pPr>
                  <a:defRPr/>
                </a:pPr>
                <a:endParaRPr lang="zh-CN" altLang="en-US" sz="2400" b="0"/>
              </a:p>
            </p:txBody>
          </p:sp>
          <p:sp>
            <p:nvSpPr>
              <p:cNvPr id="26" name="Rectangle 11"/>
              <p:cNvSpPr>
                <a:spLocks noChangeArrowheads="1"/>
              </p:cNvSpPr>
              <p:nvPr/>
            </p:nvSpPr>
            <p:spPr bwMode="auto">
              <a:xfrm>
                <a:off x="719" y="-2856"/>
                <a:ext cx="368" cy="399"/>
              </a:xfrm>
              <a:prstGeom prst="rect">
                <a:avLst/>
              </a:prstGeom>
              <a:solidFill>
                <a:schemeClr val="folHlink"/>
              </a:solidFill>
              <a:ln w="9525">
                <a:noFill/>
                <a:miter lim="800000"/>
              </a:ln>
            </p:spPr>
            <p:txBody>
              <a:bodyPr/>
              <a:lstStyle/>
              <a:p>
                <a:pPr>
                  <a:defRPr/>
                </a:pPr>
                <a:endParaRPr lang="zh-CN" altLang="en-US" sz="2400" b="0"/>
              </a:p>
            </p:txBody>
          </p:sp>
          <p:sp>
            <p:nvSpPr>
              <p:cNvPr id="27" name="Rectangle 12"/>
              <p:cNvSpPr>
                <a:spLocks noChangeArrowheads="1"/>
              </p:cNvSpPr>
              <p:nvPr/>
            </p:nvSpPr>
            <p:spPr bwMode="auto">
              <a:xfrm>
                <a:off x="0" y="-2856"/>
                <a:ext cx="367" cy="399"/>
              </a:xfrm>
              <a:prstGeom prst="rect">
                <a:avLst/>
              </a:prstGeom>
              <a:solidFill>
                <a:schemeClr val="bg2"/>
              </a:solidFill>
              <a:ln w="9525">
                <a:noFill/>
                <a:miter lim="800000"/>
              </a:ln>
            </p:spPr>
            <p:txBody>
              <a:bodyPr/>
              <a:lstStyle/>
              <a:p>
                <a:pPr>
                  <a:defRPr/>
                </a:pPr>
                <a:endParaRPr lang="zh-CN" altLang="en-US" sz="2400" b="0"/>
              </a:p>
            </p:txBody>
          </p:sp>
          <p:sp>
            <p:nvSpPr>
              <p:cNvPr id="28" name="Rectangle 13"/>
              <p:cNvSpPr>
                <a:spLocks noChangeArrowheads="1"/>
              </p:cNvSpPr>
              <p:nvPr/>
            </p:nvSpPr>
            <p:spPr bwMode="auto">
              <a:xfrm>
                <a:off x="1081" y="-2856"/>
                <a:ext cx="362" cy="399"/>
              </a:xfrm>
              <a:prstGeom prst="rect">
                <a:avLst/>
              </a:prstGeom>
              <a:solidFill>
                <a:schemeClr val="accent2"/>
              </a:solidFill>
              <a:ln w="9525">
                <a:noFill/>
                <a:miter lim="800000"/>
              </a:ln>
            </p:spPr>
            <p:txBody>
              <a:bodyPr/>
              <a:lstStyle/>
              <a:p>
                <a:pPr>
                  <a:defRPr/>
                </a:pPr>
                <a:endParaRPr lang="zh-CN" altLang="en-US" sz="2400" b="0"/>
              </a:p>
            </p:txBody>
          </p:sp>
          <p:sp>
            <p:nvSpPr>
              <p:cNvPr id="29" name="Rectangle 14"/>
              <p:cNvSpPr>
                <a:spLocks noChangeArrowheads="1"/>
              </p:cNvSpPr>
              <p:nvPr/>
            </p:nvSpPr>
            <p:spPr bwMode="auto">
              <a:xfrm>
                <a:off x="361" y="-2463"/>
                <a:ext cx="363" cy="406"/>
              </a:xfrm>
              <a:prstGeom prst="rect">
                <a:avLst/>
              </a:prstGeom>
              <a:solidFill>
                <a:schemeClr val="folHlink"/>
              </a:solidFill>
              <a:ln w="9525">
                <a:noFill/>
                <a:miter lim="800000"/>
              </a:ln>
            </p:spPr>
            <p:txBody>
              <a:bodyPr/>
              <a:lstStyle/>
              <a:p>
                <a:pPr>
                  <a:defRPr/>
                </a:pPr>
                <a:endParaRPr lang="zh-CN" altLang="en-US" sz="2400" b="0"/>
              </a:p>
            </p:txBody>
          </p:sp>
          <p:sp>
            <p:nvSpPr>
              <p:cNvPr id="30" name="Rectangle 15"/>
              <p:cNvSpPr>
                <a:spLocks noChangeArrowheads="1"/>
              </p:cNvSpPr>
              <p:nvPr/>
            </p:nvSpPr>
            <p:spPr bwMode="auto">
              <a:xfrm>
                <a:off x="719" y="-2463"/>
                <a:ext cx="368" cy="406"/>
              </a:xfrm>
              <a:prstGeom prst="rect">
                <a:avLst/>
              </a:prstGeom>
              <a:solidFill>
                <a:schemeClr val="accent2"/>
              </a:solidFill>
              <a:ln w="9525">
                <a:noFill/>
                <a:miter lim="800000"/>
              </a:ln>
            </p:spPr>
            <p:txBody>
              <a:bodyPr/>
              <a:lstStyle/>
              <a:p>
                <a:pPr>
                  <a:defRPr/>
                </a:pPr>
                <a:endParaRPr lang="zh-CN" altLang="en-US" sz="2400" b="0"/>
              </a:p>
            </p:txBody>
          </p:sp>
        </p:grpSp>
      </p:grpSp>
      <p:sp>
        <p:nvSpPr>
          <p:cNvPr id="31" name="Text Box 22"/>
          <p:cNvSpPr txBox="1">
            <a:spLocks noChangeArrowheads="1"/>
          </p:cNvSpPr>
          <p:nvPr userDrawn="1"/>
        </p:nvSpPr>
        <p:spPr bwMode="auto">
          <a:xfrm>
            <a:off x="1763713" y="561975"/>
            <a:ext cx="7129462" cy="1066800"/>
          </a:xfrm>
          <a:prstGeom prst="rect">
            <a:avLst/>
          </a:prstGeom>
          <a:noFill/>
          <a:ln w="28575" algn="ctr">
            <a:noFill/>
            <a:miter lim="800000"/>
          </a:ln>
          <a:effectLst/>
        </p:spPr>
        <p:txBody>
          <a:bodyPr>
            <a:spAutoFit/>
          </a:bodyPr>
          <a:lstStyle/>
          <a:p>
            <a:pPr>
              <a:defRPr/>
            </a:pPr>
            <a:r>
              <a:rPr lang="zh-CN" altLang="en-US" sz="3200" b="0">
                <a:solidFill>
                  <a:srgbClr val="0000FF"/>
                </a:solidFill>
                <a:latin typeface="Arial" panose="020B0604020202020204" pitchFamily="34" charset="0"/>
                <a:ea typeface="华文行楷" panose="02010800040101010101" pitchFamily="2" charset="-122"/>
              </a:rPr>
              <a:t>西安电子科技大学</a:t>
            </a:r>
            <a:endParaRPr lang="zh-CN" altLang="en-US" sz="3200" b="0">
              <a:solidFill>
                <a:srgbClr val="0000FF"/>
              </a:solidFill>
              <a:latin typeface="Arial" panose="020B0604020202020204" pitchFamily="34" charset="0"/>
              <a:ea typeface="华文行楷" panose="02010800040101010101" pitchFamily="2" charset="-122"/>
            </a:endParaRPr>
          </a:p>
          <a:p>
            <a:pPr>
              <a:defRPr/>
            </a:pPr>
            <a:r>
              <a:rPr lang="zh-CN" altLang="en-US" sz="3200" b="0">
                <a:solidFill>
                  <a:srgbClr val="0000FF"/>
                </a:solidFill>
                <a:latin typeface="Arial" panose="020B0604020202020204" pitchFamily="34" charset="0"/>
                <a:ea typeface="华文行楷" panose="02010800040101010101" pitchFamily="2" charset="-122"/>
              </a:rPr>
              <a:t>计算机学院  计算机专业实践中心</a:t>
            </a:r>
            <a:endParaRPr lang="zh-CN" altLang="en-US" sz="3200" b="0">
              <a:solidFill>
                <a:srgbClr val="0000FF"/>
              </a:solidFill>
              <a:latin typeface="Arial" panose="020B0604020202020204" pitchFamily="34" charset="0"/>
              <a:ea typeface="华文行楷" panose="02010800040101010101" pitchFamily="2" charset="-122"/>
            </a:endParaRPr>
          </a:p>
        </p:txBody>
      </p:sp>
      <p:sp>
        <p:nvSpPr>
          <p:cNvPr id="32" name="Rectangle 23"/>
          <p:cNvSpPr>
            <a:spLocks noChangeArrowheads="1"/>
          </p:cNvSpPr>
          <p:nvPr/>
        </p:nvSpPr>
        <p:spPr bwMode="auto">
          <a:xfrm>
            <a:off x="228600" y="5734050"/>
            <a:ext cx="2667000" cy="838200"/>
          </a:xfrm>
          <a:prstGeom prst="rect">
            <a:avLst/>
          </a:prstGeom>
          <a:noFill/>
          <a:ln w="9525">
            <a:noFill/>
            <a:miter lim="800000"/>
          </a:ln>
          <a:effectLst/>
        </p:spPr>
        <p:txBody>
          <a:bodyPr anchor="b"/>
          <a:lstStyle/>
          <a:p>
            <a:pPr>
              <a:defRPr/>
            </a:pPr>
            <a:fld id="{D5F7558E-D2F2-4675-A51D-66561E80D799}" type="datetime2">
              <a:rPr lang="zh-CN" altLang="en-US" sz="2400">
                <a:solidFill>
                  <a:srgbClr val="3333FF"/>
                </a:solidFill>
                <a:effectLst>
                  <a:outerShdw blurRad="38100" dist="38100" dir="2700000" algn="tl">
                    <a:srgbClr val="C0C0C0"/>
                  </a:outerShdw>
                </a:effectLst>
                <a:latin typeface="Arial" panose="020B0604020202020204" pitchFamily="34" charset="0"/>
              </a:rPr>
            </a:fld>
            <a:endParaRPr lang="zh-CN" altLang="en-US" sz="2400">
              <a:solidFill>
                <a:srgbClr val="3333FF"/>
              </a:solidFill>
              <a:effectLst>
                <a:outerShdw blurRad="38100" dist="38100" dir="2700000" algn="tl">
                  <a:srgbClr val="C0C0C0"/>
                </a:outerShdw>
              </a:effectLst>
              <a:latin typeface="Arial" panose="020B0604020202020204" pitchFamily="34" charset="0"/>
            </a:endParaRPr>
          </a:p>
          <a:p>
            <a:pPr>
              <a:defRPr/>
            </a:pPr>
            <a:fld id="{9DE68B84-7072-4E6A-B9E5-2D4EB1C3B3FE}" type="datetime11">
              <a:rPr lang="zh-CN" altLang="en-US" sz="2400">
                <a:solidFill>
                  <a:srgbClr val="3333FF"/>
                </a:solidFill>
                <a:effectLst>
                  <a:outerShdw blurRad="38100" dist="38100" dir="2700000" algn="tl">
                    <a:srgbClr val="C0C0C0"/>
                  </a:outerShdw>
                </a:effectLst>
                <a:latin typeface="Arial" panose="020B0604020202020204" pitchFamily="34" charset="0"/>
              </a:rPr>
            </a:fld>
            <a:endParaRPr lang="en-US" altLang="zh-CN" sz="2400">
              <a:solidFill>
                <a:srgbClr val="3333FF"/>
              </a:solidFill>
              <a:effectLst>
                <a:outerShdw blurRad="38100" dist="38100" dir="2700000" algn="tl">
                  <a:srgbClr val="C0C0C0"/>
                </a:outerShdw>
              </a:effectLst>
              <a:latin typeface="Arial" panose="020B0604020202020204" pitchFamily="34" charset="0"/>
            </a:endParaRPr>
          </a:p>
        </p:txBody>
      </p:sp>
      <p:sp>
        <p:nvSpPr>
          <p:cNvPr id="33" name="Rectangle 28"/>
          <p:cNvSpPr>
            <a:spLocks noChangeArrowheads="1"/>
          </p:cNvSpPr>
          <p:nvPr userDrawn="1"/>
        </p:nvSpPr>
        <p:spPr bwMode="auto">
          <a:xfrm>
            <a:off x="0" y="2590800"/>
            <a:ext cx="9144000" cy="0"/>
          </a:xfrm>
          <a:prstGeom prst="rect">
            <a:avLst/>
          </a:prstGeom>
          <a:noFill/>
          <a:ln w="28575" algn="ctr">
            <a:noFill/>
            <a:miter lim="800000"/>
            <a:tailEnd type="none" w="med" len="lg"/>
          </a:ln>
          <a:effectLst/>
        </p:spPr>
        <p:txBody>
          <a:bodyPr wrap="none" anchor="ctr">
            <a:spAutoFit/>
          </a:bodyPr>
          <a:lstStyle/>
          <a:p>
            <a:pPr algn="ctr">
              <a:spcBef>
                <a:spcPct val="50000"/>
              </a:spcBef>
              <a:defRPr/>
            </a:pPr>
            <a:endParaRPr lang="zh-CN" altLang="en-US"/>
          </a:p>
        </p:txBody>
      </p:sp>
      <p:graphicFrame>
        <p:nvGraphicFramePr>
          <p:cNvPr id="3074" name="Object 27"/>
          <p:cNvGraphicFramePr>
            <a:graphicFrameLocks noChangeAspect="1"/>
          </p:cNvGraphicFramePr>
          <p:nvPr/>
        </p:nvGraphicFramePr>
        <p:xfrm>
          <a:off x="107950" y="96838"/>
          <a:ext cx="1695450" cy="1676400"/>
        </p:xfrm>
        <a:graphic>
          <a:graphicData uri="http://schemas.openxmlformats.org/presentationml/2006/ole">
            <mc:AlternateContent xmlns:mc="http://schemas.openxmlformats.org/markup-compatibility/2006">
              <mc:Choice xmlns:v="urn:schemas-microsoft-com:vml" Requires="v">
                <p:oleObj spid="_x0000_s3073" name="" r:id="rId12" imgW="2965450" imgH="2926080" progId="">
                  <p:embed/>
                </p:oleObj>
              </mc:Choice>
              <mc:Fallback>
                <p:oleObj name="" r:id="rId12" imgW="2965450" imgH="2926080" progId="">
                  <p:embed/>
                  <p:pic>
                    <p:nvPicPr>
                      <p:cNvPr id="0" name="Object 27"/>
                      <p:cNvPicPr>
                        <a:picLocks noChangeAspect="1"/>
                      </p:cNvPicPr>
                      <p:nvPr userDrawn="1"/>
                    </p:nvPicPr>
                    <p:blipFill>
                      <a:blip r:embed="rId13"/>
                      <a:stretch>
                        <a:fillRect/>
                      </a:stretch>
                    </p:blipFill>
                    <p:spPr>
                      <a:xfrm>
                        <a:off x="107950" y="96838"/>
                        <a:ext cx="1695450" cy="1676400"/>
                      </a:xfrm>
                      <a:prstGeom prst="rect">
                        <a:avLst/>
                      </a:prstGeom>
                      <a:noFill/>
                      <a:ln w="9525">
                        <a:noFill/>
                      </a:ln>
                    </p:spPr>
                  </p:pic>
                </p:oleObj>
              </mc:Fallback>
            </mc:AlternateContent>
          </a:graphicData>
        </a:graphic>
      </p:graphicFrame>
      <p:sp>
        <p:nvSpPr>
          <p:cNvPr id="3080" name="Rectangle 14"/>
          <p:cNvSpPr>
            <a:spLocks noGrp="1" noChangeArrowheads="1"/>
          </p:cNvSpPr>
          <p:nvPr>
            <p:ph type="title"/>
          </p:nvPr>
        </p:nvSpPr>
        <p:spPr bwMode="auto">
          <a:xfrm>
            <a:off x="590550" y="44450"/>
            <a:ext cx="8229600" cy="523875"/>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3081" name="Rectangle 15"/>
          <p:cNvSpPr>
            <a:spLocks noGrp="1" noChangeArrowheads="1"/>
          </p:cNvSpPr>
          <p:nvPr>
            <p:ph type="body" idx="1"/>
          </p:nvPr>
        </p:nvSpPr>
        <p:spPr bwMode="auto">
          <a:xfrm>
            <a:off x="457200" y="765175"/>
            <a:ext cx="8362950" cy="547211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35" name="Rectangle 16"/>
          <p:cNvSpPr>
            <a:spLocks noGrp="1" noChangeArrowheads="1"/>
          </p:cNvSpPr>
          <p:nvPr>
            <p:ph type="dt" sz="half" idx="2"/>
          </p:nvPr>
        </p:nvSpPr>
        <p:spPr bwMode="auto">
          <a:xfrm>
            <a:off x="457200" y="6248400"/>
            <a:ext cx="2133600" cy="457200"/>
          </a:xfrm>
          <a:prstGeom prst="rect">
            <a:avLst/>
          </a:prstGeom>
          <a:noFill/>
          <a:ln>
            <a:miter lim="800000"/>
          </a:ln>
        </p:spPr>
        <p:txBody>
          <a:bodyPr vert="horz" wrap="square" lIns="91440" tIns="45720" rIns="91440" bIns="45720" numCol="1" anchor="b" anchorCtr="0" compatLnSpc="1"/>
          <a:lstStyle>
            <a:lvl1pPr>
              <a:defRPr sz="1200" b="0">
                <a:latin typeface="+mj-lt"/>
              </a:defRPr>
            </a:lvl1pPr>
          </a:lstStyle>
          <a:p>
            <a:pPr>
              <a:defRPr/>
            </a:pPr>
            <a:endParaRPr lang="en-US" altLang="zh-CN"/>
          </a:p>
        </p:txBody>
      </p:sp>
      <p:sp>
        <p:nvSpPr>
          <p:cNvPr id="36" name="Rectangle 17"/>
          <p:cNvSpPr>
            <a:spLocks noGrp="1" noChangeArrowheads="1"/>
          </p:cNvSpPr>
          <p:nvPr>
            <p:ph type="ftr" sz="quarter" idx="3"/>
          </p:nvPr>
        </p:nvSpPr>
        <p:spPr bwMode="auto">
          <a:xfrm>
            <a:off x="3124200" y="6248400"/>
            <a:ext cx="2895600" cy="457200"/>
          </a:xfrm>
          <a:prstGeom prst="rect">
            <a:avLst/>
          </a:prstGeom>
          <a:noFill/>
          <a:ln>
            <a:miter lim="800000"/>
          </a:ln>
        </p:spPr>
        <p:txBody>
          <a:bodyPr vert="horz" wrap="square" lIns="91440" tIns="45720" rIns="91440" bIns="45720" numCol="1" anchor="b" anchorCtr="0" compatLnSpc="1"/>
          <a:lstStyle>
            <a:lvl1pPr algn="ctr">
              <a:defRPr sz="1200" b="0">
                <a:latin typeface="+mj-lt"/>
              </a:defRPr>
            </a:lvl1pPr>
          </a:lstStyle>
          <a:p>
            <a:pPr>
              <a:defRPr/>
            </a:pPr>
            <a:endParaRPr lang="en-US" altLang="zh-CN"/>
          </a:p>
        </p:txBody>
      </p:sp>
      <p:sp>
        <p:nvSpPr>
          <p:cNvPr id="37" name="Rectangle 18"/>
          <p:cNvSpPr>
            <a:spLocks noGrp="1" noChangeArrowheads="1"/>
          </p:cNvSpPr>
          <p:nvPr>
            <p:ph type="sldNum" sz="quarter" idx="4"/>
          </p:nvPr>
        </p:nvSpPr>
        <p:spPr bwMode="auto">
          <a:xfrm>
            <a:off x="6553200" y="6248400"/>
            <a:ext cx="2133600" cy="457200"/>
          </a:xfrm>
          <a:prstGeom prst="rect">
            <a:avLst/>
          </a:prstGeom>
          <a:noFill/>
          <a:ln>
            <a:miter lim="800000"/>
          </a:ln>
        </p:spPr>
        <p:txBody>
          <a:bodyPr vert="horz" wrap="square" lIns="91440" tIns="45720" rIns="91440" bIns="45720" numCol="1" anchor="b" anchorCtr="0" compatLnSpc="1"/>
          <a:lstStyle>
            <a:lvl1pPr algn="r">
              <a:defRPr sz="1200" b="0">
                <a:latin typeface="Arial Black" panose="020B0A04020102020204" pitchFamily="34" charset="0"/>
              </a:defRPr>
            </a:lvl1pPr>
          </a:lstStyle>
          <a:p>
            <a:pPr>
              <a:defRPr/>
            </a:pPr>
            <a:fld id="{9982699D-1E24-4A0B-A610-CB386783FDE7}"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spd="med"/>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800" b="1">
          <a:solidFill>
            <a:schemeClr val="bg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800" b="1">
          <a:solidFill>
            <a:schemeClr val="bg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800" b="1">
          <a:solidFill>
            <a:schemeClr val="bg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800" b="1">
          <a:solidFill>
            <a:schemeClr val="bg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800" b="1">
          <a:solidFill>
            <a:schemeClr val="bg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800" b="1">
          <a:solidFill>
            <a:schemeClr val="bg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800" b="1">
          <a:solidFill>
            <a:schemeClr val="bg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800" b="1">
          <a:solidFill>
            <a:schemeClr val="tx1"/>
          </a:solidFill>
          <a:latin typeface="+mn-lt"/>
          <a:ea typeface="+mn-ea"/>
          <a:cs typeface="+mn-cs"/>
        </a:defRPr>
      </a:lvl1pPr>
      <a:lvl2pPr marL="802005" indent="-279400" algn="l" rtl="0" eaLnBrk="0" fontAlgn="base" hangingPunct="0">
        <a:spcBef>
          <a:spcPct val="20000"/>
        </a:spcBef>
        <a:spcAft>
          <a:spcPct val="0"/>
        </a:spcAft>
        <a:buClr>
          <a:srgbClr val="006600"/>
        </a:buClr>
        <a:buSzPct val="75000"/>
        <a:buFont typeface="Wingdings" panose="05000000000000000000" pitchFamily="2" charset="2"/>
        <a:buChar char="l"/>
        <a:defRPr sz="2800" b="1">
          <a:solidFill>
            <a:schemeClr val="tx1"/>
          </a:solidFill>
          <a:latin typeface="+mn-lt"/>
          <a:ea typeface="+mn-ea"/>
        </a:defRPr>
      </a:lvl2pPr>
      <a:lvl3pPr marL="1339850" indent="-358775" algn="l" rtl="0" eaLnBrk="0" fontAlgn="base" hangingPunct="0">
        <a:spcBef>
          <a:spcPct val="20000"/>
        </a:spcBef>
        <a:spcAft>
          <a:spcPct val="0"/>
        </a:spcAft>
        <a:buClr>
          <a:srgbClr val="FF6600"/>
        </a:buClr>
        <a:buSzPct val="65000"/>
        <a:buFont typeface="Wingdings" panose="05000000000000000000" pitchFamily="2" charset="2"/>
        <a:buChar char="p"/>
        <a:defRPr sz="2800" b="1">
          <a:solidFill>
            <a:schemeClr val="tx1"/>
          </a:solidFill>
          <a:latin typeface="+mn-lt"/>
          <a:ea typeface="+mn-ea"/>
        </a:defRPr>
      </a:lvl3pPr>
      <a:lvl4pPr marL="1879600" indent="-360680" algn="l" rtl="0" eaLnBrk="0" fontAlgn="base" hangingPunct="0">
        <a:spcBef>
          <a:spcPct val="20000"/>
        </a:spcBef>
        <a:spcAft>
          <a:spcPct val="0"/>
        </a:spcAft>
        <a:buClr>
          <a:srgbClr val="FF0066"/>
        </a:buClr>
        <a:buSzPct val="75000"/>
        <a:buFont typeface="Wingdings" panose="05000000000000000000" pitchFamily="2" charset="2"/>
        <a:buChar char="u"/>
        <a:defRPr sz="2400" b="1">
          <a:solidFill>
            <a:schemeClr val="tx1"/>
          </a:solidFill>
          <a:latin typeface="+mn-lt"/>
          <a:ea typeface="+mn-ea"/>
        </a:defRPr>
      </a:lvl4pPr>
      <a:lvl5pPr marL="2330450" indent="-271780" algn="l" rtl="0" eaLnBrk="0" fontAlgn="base" hangingPunct="0">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5pPr>
      <a:lvl6pPr marL="27876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6pPr>
      <a:lvl7pPr marL="32448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7pPr>
      <a:lvl8pPr marL="37020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8pPr>
      <a:lvl9pPr marL="4159250" indent="-271780" algn="l" rtl="0" fontAlgn="base">
        <a:spcBef>
          <a:spcPct val="20000"/>
        </a:spcBef>
        <a:spcAft>
          <a:spcPct val="0"/>
        </a:spcAft>
        <a:buClr>
          <a:srgbClr val="0066FF"/>
        </a:buClr>
        <a:buSzPct val="75000"/>
        <a:buFont typeface="Wingdings" panose="05000000000000000000" pitchFamily="2" charset="2"/>
        <a:buChar char="ü"/>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jpe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103.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83.wmf"/><Relationship Id="rId6" Type="http://schemas.openxmlformats.org/officeDocument/2006/relationships/oleObject" Target="../embeddings/oleObject3.bin"/><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wmf"/><Relationship Id="rId2" Type="http://schemas.openxmlformats.org/officeDocument/2006/relationships/oleObject" Target="../embeddings/oleObject2.bin"/><Relationship Id="rId1" Type="http://schemas.openxmlformats.org/officeDocument/2006/relationships/image" Target="../media/image79.png"/></Relationships>
</file>

<file path=ppt/slides/_rels/slide104.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oleObject" Target="../embeddings/oleObject5.bin"/><Relationship Id="rId4" Type="http://schemas.openxmlformats.org/officeDocument/2006/relationships/image" Target="../media/image86.png"/><Relationship Id="rId3" Type="http://schemas.openxmlformats.org/officeDocument/2006/relationships/image" Target="../media/image85.wmf"/><Relationship Id="rId2" Type="http://schemas.openxmlformats.org/officeDocument/2006/relationships/oleObject" Target="../embeddings/oleObject4.bin"/><Relationship Id="rId1" Type="http://schemas.openxmlformats.org/officeDocument/2006/relationships/image" Target="../media/image84.png"/></Relationships>
</file>

<file path=ppt/slides/_rels/slide105.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91.wmf"/><Relationship Id="rId5" Type="http://schemas.openxmlformats.org/officeDocument/2006/relationships/oleObject" Target="../embeddings/oleObject7.bin"/><Relationship Id="rId4" Type="http://schemas.openxmlformats.org/officeDocument/2006/relationships/image" Target="../media/image90.wmf"/><Relationship Id="rId3" Type="http://schemas.openxmlformats.org/officeDocument/2006/relationships/oleObject" Target="../embeddings/oleObject6.bin"/><Relationship Id="rId2" Type="http://schemas.openxmlformats.org/officeDocument/2006/relationships/image" Target="../media/image89.png"/><Relationship Id="rId1" Type="http://schemas.openxmlformats.org/officeDocument/2006/relationships/image" Target="../media/image88.png"/></Relationships>
</file>

<file path=ppt/slides/_rels/slide106.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95.wmf"/><Relationship Id="rId5" Type="http://schemas.openxmlformats.org/officeDocument/2006/relationships/oleObject" Target="../embeddings/oleObject9.bin"/><Relationship Id="rId4" Type="http://schemas.openxmlformats.org/officeDocument/2006/relationships/image" Target="../media/image94.png"/><Relationship Id="rId3" Type="http://schemas.openxmlformats.org/officeDocument/2006/relationships/image" Target="../media/image93.wmf"/><Relationship Id="rId2" Type="http://schemas.openxmlformats.org/officeDocument/2006/relationships/oleObject" Target="../embeddings/oleObject8.bin"/><Relationship Id="rId1" Type="http://schemas.openxmlformats.org/officeDocument/2006/relationships/image" Target="../media/image92.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7.png"/><Relationship Id="rId1" Type="http://schemas.openxmlformats.org/officeDocument/2006/relationships/image" Target="../media/image96.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9.png"/><Relationship Id="rId1" Type="http://schemas.openxmlformats.org/officeDocument/2006/relationships/image" Target="../media/image98.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1.png"/><Relationship Id="rId1" Type="http://schemas.openxmlformats.org/officeDocument/2006/relationships/image" Target="../media/image100.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3.png"/><Relationship Id="rId1" Type="http://schemas.openxmlformats.org/officeDocument/2006/relationships/image" Target="../media/image102.png"/></Relationships>
</file>

<file path=ppt/slides/_rels/slide1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8.png"/><Relationship Id="rId1" Type="http://schemas.openxmlformats.org/officeDocument/2006/relationships/image" Target="../media/image10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112.png"/><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image" Target="../media/image109.png"/></Relationships>
</file>

<file path=ppt/slides/_rels/slide117.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116.png"/><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png"/></Relationships>
</file>

<file path=ppt/slides/_rels/slide11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7.wmf"/><Relationship Id="rId1" Type="http://schemas.openxmlformats.org/officeDocument/2006/relationships/oleObject" Target="../embeddings/oleObject10.bin"/></Relationships>
</file>

<file path=ppt/slides/_rels/slide11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18.wmf"/><Relationship Id="rId1" Type="http://schemas.openxmlformats.org/officeDocument/2006/relationships/oleObject" Target="../embeddings/oleObject11.bin"/></Relationships>
</file>

<file path=ppt/slides/_rels/slide12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image" Target="../media/image119.png"/></Relationships>
</file>

<file path=ppt/slides/_rels/slide121.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22.wmf"/><Relationship Id="rId1" Type="http://schemas.openxmlformats.org/officeDocument/2006/relationships/oleObject" Target="../embeddings/oleObject12.bin"/></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12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24.wmf"/><Relationship Id="rId1" Type="http://schemas.openxmlformats.org/officeDocument/2006/relationships/oleObject" Target="../embeddings/oleObject13.bin"/></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26.wmf"/><Relationship Id="rId1" Type="http://schemas.openxmlformats.org/officeDocument/2006/relationships/oleObject" Target="../embeddings/oleObject14.bin"/></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12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28.wmf"/><Relationship Id="rId1" Type="http://schemas.openxmlformats.org/officeDocument/2006/relationships/oleObject" Target="../embeddings/oleObject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C20870D-FD80-4BF5-843C-03DAE22675C7}" type="slidenum">
              <a:rPr lang="zh-CN" altLang="en-US" smtClean="0"/>
            </a:fld>
            <a:endParaRPr lang="en-US" altLang="zh-CN"/>
          </a:p>
        </p:txBody>
      </p:sp>
      <p:sp>
        <p:nvSpPr>
          <p:cNvPr id="3" name="矩形 2"/>
          <p:cNvSpPr/>
          <p:nvPr/>
        </p:nvSpPr>
        <p:spPr>
          <a:xfrm>
            <a:off x="2321942" y="1916832"/>
            <a:ext cx="5778449" cy="646331"/>
          </a:xfrm>
          <a:prstGeom prst="rect">
            <a:avLst/>
          </a:prstGeom>
        </p:spPr>
        <p:txBody>
          <a:bodyPr wrap="square">
            <a:spAutoFit/>
          </a:bodyPr>
          <a:lstStyle/>
          <a:p>
            <a:pPr algn="r"/>
            <a:r>
              <a:rPr lang="zh-CN" altLang="en-US" sz="3600" b="0" dirty="0" smtClean="0">
                <a:solidFill>
                  <a:srgbClr val="FFFF00"/>
                </a:solidFill>
                <a:latin typeface="Arial" panose="020B0604020202020204" pitchFamily="34" charset="0"/>
                <a:ea typeface="黑体" panose="02010609060101010101" pitchFamily="2" charset="-122"/>
              </a:rPr>
              <a:t>模拟电子技术</a:t>
            </a:r>
            <a:r>
              <a:rPr lang="zh-CN" altLang="en-US" sz="3600" b="0" dirty="0" smtClean="0">
                <a:solidFill>
                  <a:srgbClr val="CC00CC"/>
                </a:solidFill>
                <a:latin typeface="Arial" panose="020B0604020202020204" pitchFamily="34" charset="0"/>
                <a:ea typeface="黑体" panose="02010609060101010101" pitchFamily="2" charset="-122"/>
              </a:rPr>
              <a:t>基础实验</a:t>
            </a:r>
            <a:endParaRPr lang="zh-CN" altLang="en-US" sz="3600" b="0" dirty="0" smtClean="0">
              <a:solidFill>
                <a:srgbClr val="CC00CC"/>
              </a:solidFill>
              <a:latin typeface="Arial" panose="020B0604020202020204" pitchFamily="34" charset="0"/>
              <a:ea typeface="黑体" panose="02010609060101010101" pitchFamily="2" charset="-122"/>
            </a:endParaRPr>
          </a:p>
        </p:txBody>
      </p:sp>
      <p:sp>
        <p:nvSpPr>
          <p:cNvPr id="4" name="矩形 3"/>
          <p:cNvSpPr/>
          <p:nvPr/>
        </p:nvSpPr>
        <p:spPr>
          <a:xfrm>
            <a:off x="2286000" y="2705725"/>
            <a:ext cx="6318448" cy="1015663"/>
          </a:xfrm>
          <a:prstGeom prst="rect">
            <a:avLst/>
          </a:prstGeom>
        </p:spPr>
        <p:txBody>
          <a:bodyPr wrap="square">
            <a:spAutoFit/>
          </a:bodyPr>
          <a:lstStyle/>
          <a:p>
            <a:r>
              <a:rPr lang="zh-CN" altLang="en-US" b="0" dirty="0" smtClean="0">
                <a:solidFill>
                  <a:srgbClr val="FFFFFF"/>
                </a:solidFill>
                <a:latin typeface="Arial" panose="020B0604020202020204" pitchFamily="34" charset="0"/>
                <a:ea typeface="黑体" panose="02010609060101010101" pitchFamily="2" charset="-122"/>
              </a:rPr>
              <a:t>       第</a:t>
            </a:r>
            <a:r>
              <a:rPr lang="en-US" altLang="zh-CN" sz="6000" b="0" dirty="0">
                <a:solidFill>
                  <a:srgbClr val="FFFFFF"/>
                </a:solidFill>
                <a:latin typeface="Arial" panose="020B0604020202020204" pitchFamily="34" charset="0"/>
                <a:ea typeface="黑体" panose="02010609060101010101" pitchFamily="2" charset="-122"/>
              </a:rPr>
              <a:t>4</a:t>
            </a:r>
            <a:r>
              <a:rPr lang="zh-CN" altLang="en-US" b="0" dirty="0" smtClean="0">
                <a:solidFill>
                  <a:srgbClr val="FFFFFF"/>
                </a:solidFill>
                <a:latin typeface="Arial" panose="020B0604020202020204" pitchFamily="34" charset="0"/>
                <a:ea typeface="黑体" panose="02010609060101010101" pitchFamily="2" charset="-122"/>
              </a:rPr>
              <a:t>章  </a:t>
            </a:r>
            <a:r>
              <a:rPr lang="en-US" altLang="zh-CN" sz="3600" b="0" dirty="0" smtClean="0">
                <a:solidFill>
                  <a:srgbClr val="FF0000"/>
                </a:solidFill>
                <a:latin typeface="Arial" panose="020B0604020202020204" pitchFamily="34" charset="0"/>
                <a:ea typeface="黑体" panose="02010609060101010101" pitchFamily="2" charset="-122"/>
              </a:rPr>
              <a:t>MULTISIM</a:t>
            </a:r>
            <a:r>
              <a:rPr lang="zh-CN" altLang="en-US" sz="3600" b="0" dirty="0" smtClean="0">
                <a:solidFill>
                  <a:srgbClr val="FF0000"/>
                </a:solidFill>
                <a:latin typeface="Arial" panose="020B0604020202020204" pitchFamily="34" charset="0"/>
                <a:ea typeface="黑体" panose="02010609060101010101" pitchFamily="2" charset="-122"/>
              </a:rPr>
              <a:t>仿真系统</a:t>
            </a:r>
            <a:endParaRPr lang="zh-CN" altLang="en-US" sz="3600" b="0" dirty="0" smtClean="0">
              <a:solidFill>
                <a:srgbClr val="FF0000"/>
              </a:solidFill>
              <a:latin typeface="Arial" panose="020B0604020202020204" pitchFamily="34" charset="0"/>
              <a:ea typeface="黑体" panose="02010609060101010101" pitchFamily="2" charset="-122"/>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第一节    </a:t>
            </a:r>
            <a:r>
              <a:rPr lang="en-US" altLang="zh-CN" dirty="0" smtClean="0"/>
              <a:t>Multisim12.0</a:t>
            </a:r>
            <a:r>
              <a:rPr lang="zh-CN" altLang="en-US" dirty="0" smtClean="0"/>
              <a:t>初步</a:t>
            </a:r>
            <a:endParaRPr lang="zh-CN" altLang="en-US" dirty="0"/>
          </a:p>
        </p:txBody>
      </p:sp>
      <p:sp>
        <p:nvSpPr>
          <p:cNvPr id="3" name="表格占位符 2"/>
          <p:cNvSpPr>
            <a:spLocks noGrp="1"/>
          </p:cNvSpPr>
          <p:nvPr>
            <p:ph type="tbl" idx="1"/>
          </p:nvPr>
        </p:nvSpPr>
        <p:spPr/>
      </p:sp>
      <p:sp>
        <p:nvSpPr>
          <p:cNvPr id="4" name="灯片编号占位符 3"/>
          <p:cNvSpPr>
            <a:spLocks noGrp="1"/>
          </p:cNvSpPr>
          <p:nvPr>
            <p:ph type="sldNum" sz="quarter" idx="11"/>
          </p:nvPr>
        </p:nvSpPr>
        <p:spPr/>
        <p:txBody>
          <a:bodyPr/>
          <a:lstStyle/>
          <a:p>
            <a:pPr>
              <a:defRPr/>
            </a:pPr>
            <a:fld id="{36EC6397-64AB-4CCC-BF53-E689BA21C087}" type="slidenum">
              <a:rPr lang="zh-CN" altLang="en-US" smtClean="0"/>
            </a:fld>
            <a:endParaRPr lang="en-US" altLang="zh-CN"/>
          </a:p>
        </p:txBody>
      </p:sp>
      <p:sp>
        <p:nvSpPr>
          <p:cNvPr id="29" name="标题 1"/>
          <p:cNvSpPr txBox="1"/>
          <p:nvPr/>
        </p:nvSpPr>
        <p:spPr bwMode="auto">
          <a:xfrm>
            <a:off x="827584" y="908720"/>
            <a:ext cx="7239000" cy="60863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0" cap="none" spc="0" normalizeH="0" baseline="0" noProof="0" smtClean="0">
                <a:ln>
                  <a:noFill/>
                </a:ln>
                <a:solidFill>
                  <a:schemeClr val="bg2"/>
                </a:solidFill>
                <a:effectLst/>
                <a:uLnTx/>
                <a:uFillTx/>
                <a:latin typeface="+mj-lt"/>
                <a:ea typeface="+mj-ea"/>
                <a:cs typeface="+mj-cs"/>
              </a:rPr>
              <a:t>目录</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grpSp>
        <p:nvGrpSpPr>
          <p:cNvPr id="30" name="组合 4"/>
          <p:cNvGrpSpPr/>
          <p:nvPr/>
        </p:nvGrpSpPr>
        <p:grpSpPr bwMode="auto">
          <a:xfrm>
            <a:off x="1475656" y="1556792"/>
            <a:ext cx="4103688" cy="1117600"/>
            <a:chOff x="2267744" y="195486"/>
            <a:chExt cx="4104456" cy="1117366"/>
          </a:xfrm>
        </p:grpSpPr>
        <p:sp>
          <p:nvSpPr>
            <p:cNvPr id="31" name="椭圆 30"/>
            <p:cNvSpPr/>
            <p:nvPr/>
          </p:nvSpPr>
          <p:spPr>
            <a:xfrm>
              <a:off x="2267744" y="195486"/>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2" name="圆角矩形 31"/>
            <p:cNvSpPr/>
            <p:nvPr/>
          </p:nvSpPr>
          <p:spPr>
            <a:xfrm>
              <a:off x="2945734" y="474828"/>
              <a:ext cx="3426466"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3" name="椭圆 32"/>
            <p:cNvSpPr/>
            <p:nvPr/>
          </p:nvSpPr>
          <p:spPr>
            <a:xfrm>
              <a:off x="2347134" y="274844"/>
              <a:ext cx="957442"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34" name="组合 8"/>
          <p:cNvGrpSpPr/>
          <p:nvPr/>
        </p:nvGrpSpPr>
        <p:grpSpPr bwMode="auto">
          <a:xfrm>
            <a:off x="1836019" y="2753767"/>
            <a:ext cx="4103687" cy="1117600"/>
            <a:chOff x="2627784" y="1392664"/>
            <a:chExt cx="4104456" cy="1117366"/>
          </a:xfrm>
        </p:grpSpPr>
        <p:sp>
          <p:nvSpPr>
            <p:cNvPr id="35" name="椭圆 34"/>
            <p:cNvSpPr/>
            <p:nvPr/>
          </p:nvSpPr>
          <p:spPr>
            <a:xfrm>
              <a:off x="2627784" y="1392664"/>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6" name="圆角矩形 35"/>
            <p:cNvSpPr/>
            <p:nvPr/>
          </p:nvSpPr>
          <p:spPr>
            <a:xfrm>
              <a:off x="3305773" y="1672006"/>
              <a:ext cx="3426467"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7" name="椭圆 36"/>
            <p:cNvSpPr/>
            <p:nvPr/>
          </p:nvSpPr>
          <p:spPr>
            <a:xfrm>
              <a:off x="2707174" y="1472022"/>
              <a:ext cx="957441"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38" name="组合 12"/>
          <p:cNvGrpSpPr/>
          <p:nvPr/>
        </p:nvGrpSpPr>
        <p:grpSpPr bwMode="auto">
          <a:xfrm>
            <a:off x="2196381" y="3992017"/>
            <a:ext cx="4103688" cy="1117600"/>
            <a:chOff x="2987824" y="2630625"/>
            <a:chExt cx="4104456" cy="1117366"/>
          </a:xfrm>
        </p:grpSpPr>
        <p:sp>
          <p:nvSpPr>
            <p:cNvPr id="39" name="椭圆 38"/>
            <p:cNvSpPr/>
            <p:nvPr/>
          </p:nvSpPr>
          <p:spPr>
            <a:xfrm>
              <a:off x="2987824" y="2630625"/>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0" name="圆角矩形 39"/>
            <p:cNvSpPr/>
            <p:nvPr/>
          </p:nvSpPr>
          <p:spPr>
            <a:xfrm>
              <a:off x="3665814" y="2909967"/>
              <a:ext cx="3426466"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1" name="椭圆 40"/>
            <p:cNvSpPr/>
            <p:nvPr/>
          </p:nvSpPr>
          <p:spPr>
            <a:xfrm>
              <a:off x="3067214" y="2709983"/>
              <a:ext cx="957442"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42" name="组合 16"/>
          <p:cNvGrpSpPr/>
          <p:nvPr/>
        </p:nvGrpSpPr>
        <p:grpSpPr bwMode="auto">
          <a:xfrm>
            <a:off x="2555156" y="5188992"/>
            <a:ext cx="4105275" cy="1117600"/>
            <a:chOff x="3347864" y="3827803"/>
            <a:chExt cx="4104456" cy="1117366"/>
          </a:xfrm>
        </p:grpSpPr>
        <p:sp>
          <p:nvSpPr>
            <p:cNvPr id="43" name="椭圆 42"/>
            <p:cNvSpPr/>
            <p:nvPr/>
          </p:nvSpPr>
          <p:spPr>
            <a:xfrm>
              <a:off x="3347864" y="3827803"/>
              <a:ext cx="1117377"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4" name="圆角矩形 43"/>
            <p:cNvSpPr/>
            <p:nvPr/>
          </p:nvSpPr>
          <p:spPr>
            <a:xfrm>
              <a:off x="4025592" y="4107145"/>
              <a:ext cx="3426728"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5" name="椭圆 44"/>
            <p:cNvSpPr/>
            <p:nvPr/>
          </p:nvSpPr>
          <p:spPr>
            <a:xfrm>
              <a:off x="3427223" y="3907161"/>
              <a:ext cx="958659"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46" name="TextBox 24"/>
          <p:cNvSpPr txBox="1">
            <a:spLocks noChangeArrowheads="1"/>
          </p:cNvSpPr>
          <p:nvPr/>
        </p:nvSpPr>
        <p:spPr bwMode="auto">
          <a:xfrm>
            <a:off x="1742356" y="1853654"/>
            <a:ext cx="584200" cy="523875"/>
          </a:xfrm>
          <a:prstGeom prst="rect">
            <a:avLst/>
          </a:prstGeom>
          <a:noFill/>
          <a:ln w="9525">
            <a:noFill/>
            <a:miter lim="800000"/>
          </a:ln>
        </p:spPr>
        <p:txBody>
          <a:bodyPr wrap="none">
            <a:spAutoFit/>
          </a:bodyPr>
          <a:lstStyle/>
          <a:p>
            <a:r>
              <a:rPr lang="en-US" altLang="zh-CN" sz="2800" b="1" dirty="0">
                <a:solidFill>
                  <a:srgbClr val="FFC000"/>
                </a:solidFill>
                <a:latin typeface="Arial Unicode MS" panose="020B0604020202020204" charset="-122"/>
                <a:ea typeface="Arial Unicode MS" panose="020B0604020202020204" charset="-122"/>
                <a:cs typeface="Arial Unicode MS" panose="020B0604020202020204" charset="-122"/>
              </a:rPr>
              <a:t>01</a:t>
            </a:r>
            <a:endParaRPr lang="zh-CN" altLang="en-US" sz="2800" b="1" dirty="0">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47" name="TextBox 25"/>
          <p:cNvSpPr txBox="1">
            <a:spLocks noChangeArrowheads="1"/>
          </p:cNvSpPr>
          <p:nvPr/>
        </p:nvSpPr>
        <p:spPr bwMode="auto">
          <a:xfrm>
            <a:off x="2101131" y="3050629"/>
            <a:ext cx="585788"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02</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48" name="TextBox 26"/>
          <p:cNvSpPr txBox="1">
            <a:spLocks noChangeArrowheads="1"/>
          </p:cNvSpPr>
          <p:nvPr/>
        </p:nvSpPr>
        <p:spPr bwMode="auto">
          <a:xfrm>
            <a:off x="2461494" y="4288879"/>
            <a:ext cx="585787"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03</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49" name="TextBox 27"/>
          <p:cNvSpPr txBox="1">
            <a:spLocks noChangeArrowheads="1"/>
          </p:cNvSpPr>
          <p:nvPr/>
        </p:nvSpPr>
        <p:spPr bwMode="auto">
          <a:xfrm>
            <a:off x="2821856" y="5485854"/>
            <a:ext cx="585788" cy="523875"/>
          </a:xfrm>
          <a:prstGeom prst="rect">
            <a:avLst/>
          </a:prstGeom>
          <a:noFill/>
          <a:ln w="9525">
            <a:noFill/>
            <a:miter lim="800000"/>
          </a:ln>
        </p:spPr>
        <p:txBody>
          <a:bodyPr wrap="none">
            <a:spAutoFit/>
          </a:bodyPr>
          <a:lstStyle/>
          <a:p>
            <a:r>
              <a:rPr lang="en-US" altLang="zh-CN" sz="2800" b="1" dirty="0">
                <a:solidFill>
                  <a:srgbClr val="FFC000"/>
                </a:solidFill>
                <a:latin typeface="Arial Unicode MS" panose="020B0604020202020204" charset="-122"/>
                <a:ea typeface="Arial Unicode MS" panose="020B0604020202020204" charset="-122"/>
                <a:cs typeface="Arial Unicode MS" panose="020B0604020202020204" charset="-122"/>
              </a:rPr>
              <a:t>04</a:t>
            </a:r>
            <a:endParaRPr lang="zh-CN" altLang="en-US" sz="2800" b="1" dirty="0">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50" name="矩形 2"/>
          <p:cNvSpPr>
            <a:spLocks noChangeArrowheads="1"/>
          </p:cNvSpPr>
          <p:nvPr/>
        </p:nvSpPr>
        <p:spPr bwMode="auto">
          <a:xfrm>
            <a:off x="2593256" y="1931442"/>
            <a:ext cx="3020379" cy="523220"/>
          </a:xfrm>
          <a:prstGeom prst="rect">
            <a:avLst/>
          </a:prstGeom>
          <a:noFill/>
          <a:ln w="9525">
            <a:noFill/>
            <a:miter lim="800000"/>
          </a:ln>
        </p:spPr>
        <p:txBody>
          <a:bodyPr wrap="none">
            <a:spAutoFit/>
          </a:bodyPr>
          <a:lstStyle/>
          <a:p>
            <a:r>
              <a:rPr lang="en-US" altLang="zh-CN" dirty="0" err="1"/>
              <a:t>Multisim</a:t>
            </a:r>
            <a:r>
              <a:rPr lang="en-US" altLang="zh-CN" dirty="0"/>
              <a:t> </a:t>
            </a:r>
            <a:r>
              <a:rPr lang="en-US" altLang="zh-CN" dirty="0" smtClean="0"/>
              <a:t>12.0</a:t>
            </a:r>
            <a:r>
              <a:rPr lang="zh-CN" altLang="en-US" dirty="0"/>
              <a:t>简介</a:t>
            </a:r>
            <a:endParaRPr lang="zh-CN" altLang="en-US" dirty="0"/>
          </a:p>
        </p:txBody>
      </p:sp>
      <p:sp>
        <p:nvSpPr>
          <p:cNvPr id="51" name="矩形 3"/>
          <p:cNvSpPr>
            <a:spLocks noChangeArrowheads="1"/>
          </p:cNvSpPr>
          <p:nvPr/>
        </p:nvSpPr>
        <p:spPr bwMode="auto">
          <a:xfrm>
            <a:off x="2953619" y="3128417"/>
            <a:ext cx="3020379" cy="523220"/>
          </a:xfrm>
          <a:prstGeom prst="rect">
            <a:avLst/>
          </a:prstGeom>
          <a:noFill/>
          <a:ln w="9525">
            <a:noFill/>
            <a:miter lim="800000"/>
          </a:ln>
        </p:spPr>
        <p:txBody>
          <a:bodyPr wrap="none">
            <a:spAutoFit/>
          </a:bodyPr>
          <a:lstStyle/>
          <a:p>
            <a:r>
              <a:rPr lang="en-US" altLang="zh-CN" dirty="0" err="1"/>
              <a:t>Multisim</a:t>
            </a:r>
            <a:r>
              <a:rPr lang="en-US" altLang="zh-CN" dirty="0"/>
              <a:t> </a:t>
            </a:r>
            <a:r>
              <a:rPr lang="en-US" altLang="zh-CN" dirty="0" smtClean="0"/>
              <a:t>12.0</a:t>
            </a:r>
            <a:r>
              <a:rPr lang="zh-CN" altLang="zh-CN" dirty="0" smtClean="0"/>
              <a:t>安装</a:t>
            </a:r>
            <a:endParaRPr lang="zh-CN" altLang="en-US" dirty="0"/>
          </a:p>
        </p:txBody>
      </p:sp>
      <p:sp>
        <p:nvSpPr>
          <p:cNvPr id="52" name="矩形 4"/>
          <p:cNvSpPr>
            <a:spLocks noChangeArrowheads="1"/>
          </p:cNvSpPr>
          <p:nvPr/>
        </p:nvSpPr>
        <p:spPr bwMode="auto">
          <a:xfrm>
            <a:off x="3240956" y="4414292"/>
            <a:ext cx="3741730" cy="523220"/>
          </a:xfrm>
          <a:prstGeom prst="rect">
            <a:avLst/>
          </a:prstGeom>
          <a:noFill/>
          <a:ln w="9525">
            <a:noFill/>
            <a:miter lim="800000"/>
          </a:ln>
        </p:spPr>
        <p:txBody>
          <a:bodyPr wrap="none">
            <a:spAutoFit/>
          </a:bodyPr>
          <a:lstStyle/>
          <a:p>
            <a:r>
              <a:rPr lang="en-US" altLang="zh-CN" dirty="0" err="1"/>
              <a:t>Multisim</a:t>
            </a:r>
            <a:r>
              <a:rPr lang="en-US" altLang="zh-CN" dirty="0"/>
              <a:t> </a:t>
            </a:r>
            <a:r>
              <a:rPr lang="en-US" altLang="zh-CN" dirty="0" smtClean="0"/>
              <a:t>12.0</a:t>
            </a:r>
            <a:r>
              <a:rPr lang="zh-CN" altLang="en-US" dirty="0" smtClean="0"/>
              <a:t>基本</a:t>
            </a:r>
            <a:r>
              <a:rPr lang="zh-CN" altLang="en-US" dirty="0"/>
              <a:t>操作</a:t>
            </a:r>
            <a:endParaRPr lang="zh-CN" altLang="en-US" dirty="0"/>
          </a:p>
        </p:txBody>
      </p:sp>
      <p:sp>
        <p:nvSpPr>
          <p:cNvPr id="53" name="矩形 8"/>
          <p:cNvSpPr>
            <a:spLocks noChangeArrowheads="1"/>
          </p:cNvSpPr>
          <p:nvPr/>
        </p:nvSpPr>
        <p:spPr bwMode="auto">
          <a:xfrm>
            <a:off x="3598144" y="5563642"/>
            <a:ext cx="3741730" cy="523220"/>
          </a:xfrm>
          <a:prstGeom prst="rect">
            <a:avLst/>
          </a:prstGeom>
          <a:noFill/>
          <a:ln w="9525">
            <a:noFill/>
            <a:miter lim="800000"/>
          </a:ln>
        </p:spPr>
        <p:txBody>
          <a:bodyPr wrap="none">
            <a:spAutoFit/>
          </a:bodyPr>
          <a:lstStyle/>
          <a:p>
            <a:r>
              <a:rPr lang="en-US" altLang="zh-CN" dirty="0" err="1"/>
              <a:t>Multisim</a:t>
            </a:r>
            <a:r>
              <a:rPr lang="en-US" altLang="zh-CN" dirty="0"/>
              <a:t> </a:t>
            </a:r>
            <a:r>
              <a:rPr lang="en-US" altLang="zh-CN" dirty="0" smtClean="0"/>
              <a:t>12.0</a:t>
            </a:r>
            <a:r>
              <a:rPr lang="zh-CN" altLang="en-US" dirty="0"/>
              <a:t>电路建立</a:t>
            </a:r>
            <a:endParaRPr lang="zh-CN" altLang="en-US" dirty="0"/>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表格占位符 2"/>
          <p:cNvSpPr>
            <a:spLocks noGrp="1"/>
          </p:cNvSpPr>
          <p:nvPr>
            <p:ph type="tbl" idx="1"/>
          </p:nvPr>
        </p:nvSpPr>
        <p:spPr/>
      </p:sp>
      <p:sp>
        <p:nvSpPr>
          <p:cNvPr id="4" name="灯片编号占位符 3"/>
          <p:cNvSpPr>
            <a:spLocks noGrp="1"/>
          </p:cNvSpPr>
          <p:nvPr>
            <p:ph type="sldNum" sz="quarter" idx="11"/>
          </p:nvPr>
        </p:nvSpPr>
        <p:spPr/>
        <p:txBody>
          <a:bodyPr/>
          <a:lstStyle/>
          <a:p>
            <a:pPr>
              <a:defRPr/>
            </a:pPr>
            <a:fld id="{36EC6397-64AB-4CCC-BF53-E689BA21C087}" type="slidenum">
              <a:rPr lang="zh-CN" altLang="en-US" smtClean="0"/>
            </a:fld>
            <a:endParaRPr lang="en-US" altLang="zh-CN"/>
          </a:p>
        </p:txBody>
      </p:sp>
      <p:sp>
        <p:nvSpPr>
          <p:cNvPr id="5" name="标题 1"/>
          <p:cNvSpPr txBox="1"/>
          <p:nvPr/>
        </p:nvSpPr>
        <p:spPr bwMode="auto">
          <a:xfrm>
            <a:off x="467544" y="0"/>
            <a:ext cx="8147248" cy="608013"/>
          </a:xfrm>
          <a:prstGeom prst="rect">
            <a:avLst/>
          </a:prstGeom>
          <a:noFill/>
          <a:ln w="9525">
            <a:noFill/>
            <a:miter lim="800000"/>
          </a:ln>
        </p:spPr>
        <p:txBody>
          <a:bodyPr vert="horz" wrap="square" lIns="91440" tIns="45720" rIns="91440" bIns="45720" numCol="1" anchor="ctr" anchorCtr="0" compatLnSpc="1">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br>
            <a:r>
              <a:rPr kumimoji="0" lang="en-US" altLang="zh-CN" sz="2800" b="1" i="0" u="none" strike="noStrike" kern="0" cap="none" spc="0" normalizeH="0" baseline="0" noProof="0" dirty="0" err="1" smtClean="0">
                <a:ln>
                  <a:noFill/>
                </a:ln>
                <a:solidFill>
                  <a:schemeClr val="bg2"/>
                </a:solidFill>
                <a:effectLst/>
                <a:uLnTx/>
                <a:uFillTx/>
                <a:latin typeface="+mj-lt"/>
                <a:ea typeface="+mj-ea"/>
                <a:cs typeface="+mj-cs"/>
              </a:rPr>
              <a:t>Multisim</a:t>
            </a:r>
            <a: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t> 12.0</a:t>
            </a: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概述</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sp>
        <p:nvSpPr>
          <p:cNvPr id="6" name="内容占位符 2"/>
          <p:cNvSpPr txBox="1"/>
          <p:nvPr/>
        </p:nvSpPr>
        <p:spPr bwMode="auto">
          <a:xfrm>
            <a:off x="457200" y="1000125"/>
            <a:ext cx="8147248" cy="5456238"/>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b="1" i="0" u="none" strike="noStrike" kern="0" cap="none" spc="0" normalizeH="0" baseline="0" noProof="0" dirty="0" smtClean="0">
                <a:ln>
                  <a:noFill/>
                </a:ln>
                <a:solidFill>
                  <a:schemeClr val="tx1"/>
                </a:solidFill>
                <a:effectLst/>
                <a:uLnTx/>
                <a:uFillTx/>
                <a:latin typeface="+mn-lt"/>
                <a:ea typeface="+mn-ea"/>
                <a:cs typeface="+mn-cs"/>
              </a:rPr>
              <a:t>Multisim12.0</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是美国国家仪器</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(National Instruments</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，简称</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NI)</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最新推出的用于电路设计和电子教学仿真的专用版本</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b="1" i="0" u="none" strike="noStrike" kern="0" cap="none" spc="0" normalizeH="0" baseline="0" noProof="0" dirty="0" smtClean="0">
                <a:ln>
                  <a:noFill/>
                </a:ln>
                <a:solidFill>
                  <a:schemeClr val="tx1"/>
                </a:solidFill>
                <a:effectLst/>
                <a:uLnTx/>
                <a:uFillTx/>
                <a:latin typeface="+mn-lt"/>
                <a:ea typeface="+mn-ea"/>
                <a:cs typeface="+mn-cs"/>
              </a:rPr>
              <a:t>特点：使用</a:t>
            </a:r>
            <a:r>
              <a:rPr kumimoji="0" lang="en-US" altLang="zh-CN" b="1" i="0" u="none" strike="noStrike" kern="0" cap="none" spc="0" normalizeH="0" baseline="0" noProof="0" dirty="0" err="1" smtClean="0">
                <a:ln>
                  <a:noFill/>
                </a:ln>
                <a:solidFill>
                  <a:schemeClr val="tx1"/>
                </a:solidFill>
                <a:effectLst/>
                <a:uLnTx/>
                <a:uFillTx/>
                <a:latin typeface="+mn-lt"/>
                <a:ea typeface="+mn-ea"/>
                <a:cs typeface="+mn-cs"/>
              </a:rPr>
              <a:t>LabVIEW</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和</a:t>
            </a:r>
            <a:r>
              <a:rPr kumimoji="0" lang="en-US" altLang="zh-CN" b="1" i="0" u="none" strike="noStrike" kern="0" cap="none" spc="0" normalizeH="0" baseline="0" noProof="0" dirty="0" err="1" smtClean="0">
                <a:ln>
                  <a:noFill/>
                </a:ln>
                <a:solidFill>
                  <a:schemeClr val="tx1"/>
                </a:solidFill>
                <a:effectLst/>
                <a:uLnTx/>
                <a:uFillTx/>
                <a:latin typeface="+mn-lt"/>
                <a:ea typeface="+mn-ea"/>
                <a:cs typeface="+mn-cs"/>
              </a:rPr>
              <a:t>Multisim</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实现数字电路和模拟电路的联合仿真；</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可以使用</a:t>
            </a:r>
            <a:r>
              <a:rPr kumimoji="0" lang="en-US" altLang="zh-CN" b="1" i="0" u="none" strike="noStrike" kern="0" cap="none" spc="0" normalizeH="0" baseline="0" noProof="0" dirty="0" err="1" smtClean="0">
                <a:ln>
                  <a:noFill/>
                </a:ln>
                <a:solidFill>
                  <a:schemeClr val="tx1"/>
                </a:solidFill>
                <a:effectLst/>
                <a:uLnTx/>
                <a:uFillTx/>
                <a:latin typeface="+mn-lt"/>
                <a:ea typeface="+mn-ea"/>
                <a:cs typeface="+mn-cs"/>
              </a:rPr>
              <a:t>Multisim</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片段（</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Snippets</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）分享电路文件</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新增</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Xilinx</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工具支持</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全新的数据库改进</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新增了超过</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2000</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个来自于亚诺德半导体、美国国家半导体、</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NXP</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和飞利浦等半导体厂商的全新数据库元件</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超过</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90</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个全新的引脚精确的连接器使得</a:t>
            </a:r>
            <a:r>
              <a:rPr kumimoji="0" lang="en-US" altLang="zh-CN" b="1" i="0" u="none" strike="noStrike" kern="0" cap="none" spc="0" normalizeH="0" baseline="0" noProof="0" dirty="0" smtClean="0">
                <a:ln>
                  <a:noFill/>
                </a:ln>
                <a:solidFill>
                  <a:schemeClr val="tx1"/>
                </a:solidFill>
                <a:effectLst/>
                <a:uLnTx/>
                <a:uFillTx/>
                <a:latin typeface="+mn-lt"/>
                <a:ea typeface="+mn-ea"/>
                <a:cs typeface="+mn-cs"/>
              </a:rPr>
              <a:t>NI</a:t>
            </a:r>
            <a:r>
              <a:rPr kumimoji="0" lang="zh-CN" altLang="zh-CN" b="1" i="0" u="none" strike="noStrike" kern="0" cap="none" spc="0" normalizeH="0" baseline="0" noProof="0" dirty="0" smtClean="0">
                <a:ln>
                  <a:noFill/>
                </a:ln>
                <a:solidFill>
                  <a:schemeClr val="tx1"/>
                </a:solidFill>
                <a:effectLst/>
                <a:uLnTx/>
                <a:uFillTx/>
                <a:latin typeface="+mn-lt"/>
                <a:ea typeface="+mn-ea"/>
                <a:cs typeface="+mn-cs"/>
              </a:rPr>
              <a:t>硬件的自定制附件设计更加容易，全新的数字信号分析仪等</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表格占位符 2"/>
          <p:cNvSpPr>
            <a:spLocks noGrp="1"/>
          </p:cNvSpPr>
          <p:nvPr>
            <p:ph type="tbl" idx="1"/>
          </p:nvPr>
        </p:nvSpPr>
        <p:spPr/>
      </p:sp>
      <p:sp>
        <p:nvSpPr>
          <p:cNvPr id="4" name="灯片编号占位符 3"/>
          <p:cNvSpPr>
            <a:spLocks noGrp="1"/>
          </p:cNvSpPr>
          <p:nvPr>
            <p:ph type="sldNum" sz="quarter" idx="11"/>
          </p:nvPr>
        </p:nvSpPr>
        <p:spPr/>
        <p:txBody>
          <a:bodyPr/>
          <a:lstStyle/>
          <a:p>
            <a:pPr>
              <a:defRPr/>
            </a:pPr>
            <a:fld id="{36EC6397-64AB-4CCC-BF53-E689BA21C087}" type="slidenum">
              <a:rPr lang="zh-CN" altLang="en-US" smtClean="0"/>
            </a:fld>
            <a:endParaRPr lang="en-US" altLang="zh-CN"/>
          </a:p>
        </p:txBody>
      </p:sp>
      <p:sp>
        <p:nvSpPr>
          <p:cNvPr id="5" name="标题 1"/>
          <p:cNvSpPr txBox="1"/>
          <p:nvPr/>
        </p:nvSpPr>
        <p:spPr bwMode="auto">
          <a:xfrm>
            <a:off x="539552" y="0"/>
            <a:ext cx="7239000" cy="608013"/>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800" b="1" i="0" u="none" strike="noStrike" kern="0" cap="none" spc="0" normalizeH="0" baseline="0" noProof="0" smtClean="0">
                <a:ln>
                  <a:noFill/>
                </a:ln>
                <a:solidFill>
                  <a:schemeClr val="bg2"/>
                </a:solidFill>
                <a:effectLst/>
                <a:uLnTx/>
                <a:uFillTx/>
                <a:latin typeface="+mj-lt"/>
                <a:ea typeface="+mj-ea"/>
                <a:cs typeface="+mj-cs"/>
              </a:rPr>
              <a:t>Multisim 12.0</a:t>
            </a:r>
            <a:r>
              <a:rPr kumimoji="0" lang="zh-CN" altLang="zh-CN" sz="2800" b="1" i="0" u="none" strike="noStrike" kern="0" cap="none" spc="0" normalizeH="0" baseline="0" noProof="0" smtClean="0">
                <a:ln>
                  <a:noFill/>
                </a:ln>
                <a:solidFill>
                  <a:schemeClr val="bg2"/>
                </a:solidFill>
                <a:effectLst/>
                <a:uLnTx/>
                <a:uFillTx/>
                <a:latin typeface="+mj-lt"/>
                <a:ea typeface="+mj-ea"/>
                <a:cs typeface="+mj-cs"/>
              </a:rPr>
              <a:t>的安装</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sp>
        <p:nvSpPr>
          <p:cNvPr id="6" name="内容占位符 2"/>
          <p:cNvSpPr txBox="1"/>
          <p:nvPr/>
        </p:nvSpPr>
        <p:spPr bwMode="auto">
          <a:xfrm>
            <a:off x="827584" y="908720"/>
            <a:ext cx="7704856" cy="5456238"/>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defRPr/>
            </a:pP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安装</a:t>
            </a:r>
            <a:r>
              <a:rPr kumimoji="0" lang="en-US" altLang="zh-CN" sz="2400" b="1" i="0" u="none" strike="noStrike" kern="0" cap="none" spc="0" normalizeH="0" baseline="0" noProof="0" dirty="0" err="1" smtClean="0">
                <a:ln>
                  <a:noFill/>
                </a:ln>
                <a:solidFill>
                  <a:schemeClr val="tx1"/>
                </a:solidFill>
                <a:effectLst/>
                <a:uLnTx/>
                <a:uFillTx/>
                <a:latin typeface="+mn-lt"/>
                <a:ea typeface="+mn-ea"/>
                <a:cs typeface="+mn-cs"/>
              </a:rPr>
              <a:t>Multisim</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 12.0</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所需的配置如下</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2" panose="05020102010507070707" pitchFamily="18"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   1</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）操作系统：支持的操作系统有</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XP</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32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位版本）、</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Vista</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32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位或</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64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位版本）、</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7</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32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位或</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64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位版本）、</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Server 2003 R2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32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位）或</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2008 R2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64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位）版本。不支持</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NT/Me/98/95/2000</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XP</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64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位版本）或</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Windows Server</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非</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R2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版本。</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2" panose="05020102010507070707" pitchFamily="18"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   2</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CPU</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Pentium 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系列微处理器或同等性能的微处理器（最低要求为</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Pentium III</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2" panose="05020102010507070707" pitchFamily="18"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   3</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）内存：</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512MB</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（最低要求为</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256MB</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2" panose="05020102010507070707" pitchFamily="18"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   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）显示器分辨率：</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1024</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768</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像素或更高（最低要求</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800</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600</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2" panose="05020102010507070707" pitchFamily="18"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   5</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）硬盘：</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1.5GB</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可用空间（最小可用空间不得小于</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1.0GB</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Ø"/>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表格占位符 2"/>
          <p:cNvSpPr>
            <a:spLocks noGrp="1"/>
          </p:cNvSpPr>
          <p:nvPr>
            <p:ph type="tbl" idx="1"/>
          </p:nvPr>
        </p:nvSpPr>
        <p:spPr/>
      </p:sp>
      <p:sp>
        <p:nvSpPr>
          <p:cNvPr id="4" name="灯片编号占位符 3"/>
          <p:cNvSpPr>
            <a:spLocks noGrp="1"/>
          </p:cNvSpPr>
          <p:nvPr>
            <p:ph type="sldNum" sz="quarter" idx="11"/>
          </p:nvPr>
        </p:nvSpPr>
        <p:spPr/>
        <p:txBody>
          <a:bodyPr/>
          <a:lstStyle/>
          <a:p>
            <a:pPr>
              <a:defRPr/>
            </a:pPr>
            <a:fld id="{36EC6397-64AB-4CCC-BF53-E689BA21C087}" type="slidenum">
              <a:rPr lang="zh-CN" altLang="en-US" smtClean="0"/>
            </a:fld>
            <a:endParaRPr lang="en-US" altLang="zh-CN"/>
          </a:p>
        </p:txBody>
      </p:sp>
      <p:sp>
        <p:nvSpPr>
          <p:cNvPr id="5" name="标题 1"/>
          <p:cNvSpPr txBox="1"/>
          <p:nvPr/>
        </p:nvSpPr>
        <p:spPr bwMode="auto">
          <a:xfrm>
            <a:off x="611560" y="0"/>
            <a:ext cx="7239000" cy="608013"/>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t> </a:t>
            </a:r>
            <a:r>
              <a:rPr kumimoji="0" lang="en-US" altLang="zh-CN" sz="2800" b="1" i="0" u="none" strike="noStrike" kern="0" cap="none" spc="0" normalizeH="0" baseline="0" noProof="0" dirty="0" err="1" smtClean="0">
                <a:ln>
                  <a:noFill/>
                </a:ln>
                <a:solidFill>
                  <a:schemeClr val="bg2"/>
                </a:solidFill>
                <a:effectLst/>
                <a:uLnTx/>
                <a:uFillTx/>
                <a:latin typeface="+mj-lt"/>
                <a:ea typeface="+mj-ea"/>
                <a:cs typeface="+mj-cs"/>
              </a:rPr>
              <a:t>Multisim</a:t>
            </a:r>
            <a: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t> 12.0</a:t>
            </a: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的基本操作</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sp>
        <p:nvSpPr>
          <p:cNvPr id="6" name="内容占位符 2"/>
          <p:cNvSpPr txBox="1"/>
          <p:nvPr/>
        </p:nvSpPr>
        <p:spPr bwMode="auto">
          <a:xfrm>
            <a:off x="457200" y="1000125"/>
            <a:ext cx="8147248" cy="5456238"/>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defRPr/>
            </a:pP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Multiuse 12.0</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的基本界面</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Ø"/>
              <a:defRPr/>
            </a:pP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在</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Windows</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窗口的“开始”→“所有程序”→“</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National Instruments</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Circuit Design Suite 12.0”下可以找到已经安装的电路仿真软件Multisim 12.0</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和</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PCB</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板制作软件</a:t>
            </a:r>
            <a:r>
              <a:rPr kumimoji="0" lang="en-US" altLang="zh-CN" sz="2000" b="1" i="0" u="none" strike="noStrike" kern="0" cap="none" spc="0" normalizeH="0" baseline="0" noProof="0" dirty="0" err="1" smtClean="0">
                <a:ln>
                  <a:noFill/>
                </a:ln>
                <a:solidFill>
                  <a:schemeClr val="tx1"/>
                </a:solidFill>
                <a:effectLst/>
                <a:uLnTx/>
                <a:uFillTx/>
                <a:latin typeface="+mn-lt"/>
                <a:ea typeface="+mn-ea"/>
                <a:cs typeface="+mn-cs"/>
              </a:rPr>
              <a:t>Ultiboard</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 12.0</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。选择</a:t>
            </a:r>
            <a:r>
              <a:rPr kumimoji="0" lang="en-US" altLang="zh-CN" sz="2000" b="1" i="0" u="none" strike="noStrike" kern="0" cap="none" spc="0" normalizeH="0" baseline="0" noProof="0" dirty="0" err="1" smtClean="0">
                <a:ln>
                  <a:noFill/>
                </a:ln>
                <a:solidFill>
                  <a:schemeClr val="tx1"/>
                </a:solidFill>
                <a:effectLst/>
                <a:uLnTx/>
                <a:uFillTx/>
                <a:latin typeface="+mn-lt"/>
                <a:ea typeface="+mn-ea"/>
                <a:cs typeface="+mn-cs"/>
              </a:rPr>
              <a:t>Multisim</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 12.0</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打开以后，其基本界面如图</a:t>
            </a:r>
            <a:r>
              <a:rPr kumimoji="0" lang="en-US" altLang="zh-CN" sz="2000" b="1" i="0" u="none" strike="noStrike" kern="0" cap="none" spc="0" normalizeH="0" baseline="0" noProof="0" dirty="0" smtClean="0">
                <a:ln>
                  <a:noFill/>
                </a:ln>
                <a:solidFill>
                  <a:schemeClr val="tx1"/>
                </a:solidFill>
                <a:effectLst/>
                <a:uLnTx/>
                <a:uFillTx/>
                <a:latin typeface="+mn-lt"/>
                <a:ea typeface="+mn-ea"/>
                <a:cs typeface="+mn-cs"/>
              </a:rPr>
              <a:t>1</a:t>
            </a:r>
            <a:r>
              <a:rPr kumimoji="0" lang="zh-CN" altLang="zh-CN" sz="2000" b="1" i="0" u="none" strike="noStrike" kern="0" cap="none" spc="0" normalizeH="0" baseline="0" noProof="0" dirty="0" smtClean="0">
                <a:ln>
                  <a:noFill/>
                </a:ln>
                <a:solidFill>
                  <a:schemeClr val="tx1"/>
                </a:solidFill>
                <a:effectLst/>
                <a:uLnTx/>
                <a:uFillTx/>
                <a:latin typeface="+mn-lt"/>
                <a:ea typeface="+mn-ea"/>
                <a:cs typeface="+mn-cs"/>
              </a:rPr>
              <a:t>所示</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r>
              <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rPr>
              <a:t>  </a:t>
            </a: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lang="en-US" altLang="zh-CN" sz="2000" kern="0" dirty="0">
              <a:latin typeface="新宋体" panose="02010609030101010101" charset="-122"/>
              <a:ea typeface="新宋体" panose="02010609030101010101" charset="-122"/>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r>
              <a:rPr kumimoji="0" lang="zh-CN" altLang="en-US" sz="1400" b="1" i="0" u="none" strike="noStrike" kern="0" cap="none" spc="0" normalizeH="0" baseline="0" noProof="0" dirty="0" smtClean="0">
                <a:ln>
                  <a:noFill/>
                </a:ln>
                <a:solidFill>
                  <a:schemeClr val="tx1"/>
                </a:solidFill>
                <a:effectLst/>
                <a:uLnTx/>
                <a:uFillTx/>
                <a:latin typeface="+mn-lt"/>
                <a:ea typeface="+mn-ea"/>
                <a:cs typeface="+mn-cs"/>
              </a:rPr>
              <a:t>图</a:t>
            </a:r>
            <a:r>
              <a:rPr kumimoji="0" lang="en-US" altLang="zh-CN" sz="1400" b="1" i="0" u="none" strike="noStrike" kern="0" cap="none" spc="0" normalizeH="0" baseline="0" noProof="0" dirty="0" smtClean="0">
                <a:ln>
                  <a:noFill/>
                </a:ln>
                <a:solidFill>
                  <a:schemeClr val="tx1"/>
                </a:solidFill>
                <a:effectLst/>
                <a:uLnTx/>
                <a:uFillTx/>
                <a:latin typeface="+mn-lt"/>
                <a:ea typeface="+mn-ea"/>
                <a:cs typeface="+mn-cs"/>
              </a:rPr>
              <a:t>1 </a:t>
            </a:r>
            <a:r>
              <a:rPr kumimoji="0" lang="en-US" altLang="zh-CN" sz="1400" b="1" i="0" u="none" strike="noStrike" kern="0" cap="none" spc="0" normalizeH="0" baseline="0" noProof="0" dirty="0" err="1" smtClean="0">
                <a:ln>
                  <a:noFill/>
                </a:ln>
                <a:solidFill>
                  <a:schemeClr val="tx1"/>
                </a:solidFill>
                <a:effectLst/>
                <a:uLnTx/>
                <a:uFillTx/>
                <a:latin typeface="+mn-lt"/>
                <a:ea typeface="+mn-ea"/>
                <a:cs typeface="+mn-cs"/>
              </a:rPr>
              <a:t>Multisim</a:t>
            </a:r>
            <a:r>
              <a:rPr kumimoji="0" lang="en-US" altLang="zh-CN" sz="1400" b="1" i="0" u="none" strike="noStrike" kern="0" cap="none" spc="0" normalizeH="0" baseline="0" noProof="0" dirty="0" smtClean="0">
                <a:ln>
                  <a:noFill/>
                </a:ln>
                <a:solidFill>
                  <a:schemeClr val="tx1"/>
                </a:solidFill>
                <a:effectLst/>
                <a:uLnTx/>
                <a:uFillTx/>
                <a:latin typeface="+mn-lt"/>
                <a:ea typeface="+mn-ea"/>
                <a:cs typeface="+mn-cs"/>
              </a:rPr>
              <a:t> 12.0</a:t>
            </a:r>
            <a:r>
              <a:rPr kumimoji="0" lang="zh-CN" altLang="en-US" sz="1400" b="1" i="0" u="none" strike="noStrike" kern="0" cap="none" spc="0" normalizeH="0" baseline="0" noProof="0" dirty="0" smtClean="0">
                <a:ln>
                  <a:noFill/>
                </a:ln>
                <a:solidFill>
                  <a:schemeClr val="tx1"/>
                </a:solidFill>
                <a:effectLst/>
                <a:uLnTx/>
                <a:uFillTx/>
                <a:latin typeface="+mn-lt"/>
                <a:ea typeface="+mn-ea"/>
                <a:cs typeface="+mn-cs"/>
              </a:rPr>
              <a:t>的基本界面</a:t>
            </a:r>
            <a:endParaRPr kumimoji="0" lang="en-US" altLang="zh-CN" sz="14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en-US" altLang="zh-CN"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2" panose="05020102010507070707" pitchFamily="18" charset="2"/>
              <a:buNone/>
              <a:defRPr/>
            </a:pPr>
            <a:endParaRPr kumimoji="0" lang="zh-CN" altLang="en-US" sz="2000" b="1" i="0" u="none" strike="noStrike" kern="0" cap="none" spc="0" normalizeH="0" baseline="0" noProof="0" dirty="0" smtClean="0">
              <a:ln>
                <a:noFill/>
              </a:ln>
              <a:solidFill>
                <a:schemeClr val="tx1"/>
              </a:solidFill>
              <a:effectLst/>
              <a:uLnTx/>
              <a:uFillTx/>
              <a:latin typeface="新宋体" panose="02010609030101010101" charset="-122"/>
              <a:ea typeface="新宋体" panose="02010609030101010101" charset="-122"/>
              <a:cs typeface="+mn-cs"/>
            </a:endParaRPr>
          </a:p>
        </p:txBody>
      </p:sp>
      <p:pic>
        <p:nvPicPr>
          <p:cNvPr id="7" name="Picture 4"/>
          <p:cNvPicPr>
            <a:picLocks noChangeAspect="1" noChangeArrowheads="1"/>
          </p:cNvPicPr>
          <p:nvPr/>
        </p:nvPicPr>
        <p:blipFill>
          <a:blip r:embed="rId1" cstate="print"/>
          <a:srcRect/>
          <a:stretch>
            <a:fillRect/>
          </a:stretch>
        </p:blipFill>
        <p:spPr bwMode="auto">
          <a:xfrm>
            <a:off x="2051720" y="2708921"/>
            <a:ext cx="5112568" cy="3312367"/>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0243" name="内容占位符 2"/>
          <p:cNvSpPr>
            <a:spLocks noGrp="1"/>
          </p:cNvSpPr>
          <p:nvPr>
            <p:ph idx="1"/>
          </p:nvPr>
        </p:nvSpPr>
        <p:spPr>
          <a:xfrm>
            <a:off x="395288" y="981075"/>
            <a:ext cx="8281168" cy="5456238"/>
          </a:xfrm>
        </p:spPr>
        <p:txBody>
          <a:bodyPr/>
          <a:lstStyle/>
          <a:p>
            <a:pPr eaLnBrk="1" hangingPunct="1">
              <a:defRPr/>
            </a:pPr>
            <a:r>
              <a:rPr lang="en-US" altLang="zh-CN" sz="2000" dirty="0" err="1" smtClean="0"/>
              <a:t>Multisim</a:t>
            </a:r>
            <a:r>
              <a:rPr lang="en-US" altLang="zh-CN" sz="2000" dirty="0" smtClean="0"/>
              <a:t> 12.0</a:t>
            </a:r>
            <a:r>
              <a:rPr lang="zh-CN" altLang="en-US" sz="2000" dirty="0" smtClean="0"/>
              <a:t>的菜单栏</a:t>
            </a:r>
            <a:endParaRPr lang="en-US" altLang="zh-CN" sz="2000" dirty="0" smtClean="0"/>
          </a:p>
          <a:p>
            <a:pPr marL="0" indent="0" eaLnBrk="1" hangingPunct="1">
              <a:buFont typeface="Wingdings 2" panose="05020102010507070707" pitchFamily="18" charset="2"/>
              <a:buNone/>
              <a:defRPr/>
            </a:pPr>
            <a:r>
              <a:rPr lang="en-US" altLang="zh-CN" sz="2000" dirty="0" smtClean="0">
                <a:latin typeface="新宋体" panose="02010609030101010101" charset="-122"/>
                <a:ea typeface="新宋体" panose="02010609030101010101" charset="-122"/>
              </a:rPr>
              <a:t>  </a:t>
            </a:r>
            <a:r>
              <a:rPr lang="en-US" altLang="zh-CN" sz="2000" dirty="0" err="1"/>
              <a:t>Multisim</a:t>
            </a:r>
            <a:r>
              <a:rPr lang="en-US" altLang="zh-CN" sz="2000" dirty="0"/>
              <a:t> 12.0</a:t>
            </a:r>
            <a:r>
              <a:rPr lang="zh-CN" altLang="zh-CN" sz="2000" dirty="0"/>
              <a:t>的菜单</a:t>
            </a:r>
            <a:r>
              <a:rPr lang="zh-CN" altLang="zh-CN" sz="2000" dirty="0" smtClean="0"/>
              <a:t>栏如图</a:t>
            </a:r>
            <a:r>
              <a:rPr lang="en-US" altLang="zh-CN" sz="2000" dirty="0" smtClean="0"/>
              <a:t>2</a:t>
            </a:r>
            <a:r>
              <a:rPr lang="zh-CN" altLang="zh-CN" sz="2000" dirty="0" smtClean="0"/>
              <a:t>所示</a:t>
            </a:r>
            <a:r>
              <a:rPr lang="en-US" altLang="zh-CN" sz="2000" dirty="0" smtClean="0"/>
              <a:t>,</a:t>
            </a:r>
            <a:r>
              <a:rPr lang="zh-CN" altLang="en-US" sz="2000" dirty="0" smtClean="0"/>
              <a:t>它的顺序从左到右分别为：文件、编辑、视图、放置、微控制器、仿真、转换、工具、报告、选项、窗口、帮助。</a:t>
            </a: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r>
              <a:rPr lang="zh-CN" altLang="en-US" sz="2000" dirty="0" smtClean="0"/>
              <a:t>                      </a:t>
            </a:r>
            <a:endParaRPr lang="en-US" altLang="zh-CN" sz="2000" dirty="0" smtClean="0"/>
          </a:p>
          <a:p>
            <a:pPr marL="0" indent="0" eaLnBrk="1" hangingPunct="1">
              <a:buFont typeface="Wingdings 2" panose="05020102010507070707" pitchFamily="18" charset="2"/>
              <a:buNone/>
              <a:defRPr/>
            </a:pPr>
            <a:r>
              <a:rPr lang="en-US" altLang="zh-CN" sz="1400" dirty="0"/>
              <a:t> </a:t>
            </a:r>
            <a:r>
              <a:rPr lang="en-US" altLang="zh-CN" sz="1400" dirty="0" smtClean="0"/>
              <a:t>                                     </a:t>
            </a:r>
            <a:endParaRPr lang="en-US" altLang="zh-CN" sz="1400" dirty="0" smtClean="0"/>
          </a:p>
          <a:p>
            <a:pPr marL="0" indent="0" eaLnBrk="1" hangingPunct="1">
              <a:buFont typeface="Wingdings 2" panose="05020102010507070707" pitchFamily="18" charset="2"/>
              <a:buNone/>
              <a:defRPr/>
            </a:pPr>
            <a:endParaRPr lang="en-US" altLang="zh-CN" sz="1400" dirty="0" smtClean="0"/>
          </a:p>
          <a:p>
            <a:pPr marL="0" indent="0" eaLnBrk="1" hangingPunct="1">
              <a:buFont typeface="Wingdings 2" panose="05020102010507070707" pitchFamily="18" charset="2"/>
              <a:buNone/>
              <a:defRPr/>
            </a:pPr>
            <a:endParaRPr lang="en-US" altLang="zh-CN" sz="1400" dirty="0" smtClean="0"/>
          </a:p>
          <a:p>
            <a:pPr marL="0" indent="0" eaLnBrk="1" hangingPunct="1">
              <a:buFont typeface="Wingdings 2" panose="05020102010507070707" pitchFamily="18" charset="2"/>
              <a:buNone/>
              <a:defRPr/>
            </a:pPr>
            <a:endParaRPr lang="en-US" altLang="zh-CN" sz="1400" dirty="0" smtClean="0"/>
          </a:p>
          <a:p>
            <a:pPr marL="0" indent="0" eaLnBrk="1" hangingPunct="1">
              <a:buFont typeface="Wingdings 2" panose="05020102010507070707" pitchFamily="18" charset="2"/>
              <a:buNone/>
              <a:defRPr/>
            </a:pPr>
            <a:endParaRPr lang="en-US" altLang="zh-CN" sz="1400" dirty="0" smtClean="0"/>
          </a:p>
          <a:p>
            <a:pPr marL="0" indent="0" eaLnBrk="1" hangingPunct="1">
              <a:buFont typeface="Wingdings 2" panose="05020102010507070707" pitchFamily="18" charset="2"/>
              <a:buNone/>
              <a:defRPr/>
            </a:pPr>
            <a:endParaRPr lang="en-US" altLang="zh-CN" sz="1400" dirty="0" smtClean="0"/>
          </a:p>
          <a:p>
            <a:pPr marL="0" indent="0" eaLnBrk="1" hangingPunct="1">
              <a:buFont typeface="Wingdings 2" panose="05020102010507070707" pitchFamily="18" charset="2"/>
              <a:buNone/>
              <a:defRPr/>
            </a:pPr>
            <a:endParaRPr lang="en-US" altLang="zh-CN" sz="1400" dirty="0" smtClean="0"/>
          </a:p>
          <a:p>
            <a:pPr marL="0" indent="0" eaLnBrk="1" hangingPunct="1">
              <a:buFont typeface="Wingdings 2" panose="05020102010507070707" pitchFamily="18" charset="2"/>
              <a:buNone/>
              <a:defRPr/>
            </a:pPr>
            <a:r>
              <a:rPr lang="en-US" altLang="zh-CN" sz="1400" dirty="0" smtClean="0"/>
              <a:t> </a:t>
            </a:r>
            <a:r>
              <a:rPr lang="en-US" altLang="zh-CN" sz="1400" dirty="0" smtClean="0"/>
              <a:t>                                                                      </a:t>
            </a:r>
            <a:r>
              <a:rPr lang="zh-CN" altLang="en-US" sz="1400" dirty="0" smtClean="0"/>
              <a:t>图</a:t>
            </a:r>
            <a:r>
              <a:rPr lang="en-US" altLang="zh-CN" sz="1400" dirty="0" smtClean="0"/>
              <a:t>2  </a:t>
            </a:r>
            <a:r>
              <a:rPr lang="en-US" altLang="zh-CN" sz="1400" dirty="0" err="1" smtClean="0"/>
              <a:t>Multisim</a:t>
            </a:r>
            <a:r>
              <a:rPr lang="en-US" altLang="zh-CN" sz="1400" dirty="0" smtClean="0"/>
              <a:t> 12.0</a:t>
            </a:r>
            <a:r>
              <a:rPr lang="zh-CN" altLang="en-US" sz="1400" dirty="0" smtClean="0"/>
              <a:t>的菜单栏</a:t>
            </a: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defRPr/>
            </a:pPr>
            <a:endParaRPr lang="en-US" altLang="zh-CN" sz="2000" dirty="0"/>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zh-CN" altLang="en-US" sz="2000" dirty="0" smtClean="0">
              <a:latin typeface="新宋体" panose="02010609030101010101" charset="-122"/>
              <a:ea typeface="新宋体" panose="02010609030101010101" charset="-122"/>
            </a:endParaRPr>
          </a:p>
        </p:txBody>
      </p:sp>
      <p:pic>
        <p:nvPicPr>
          <p:cNvPr id="11268" name="Picture 2"/>
          <p:cNvPicPr>
            <a:picLocks noChangeAspect="1" noChangeArrowheads="1"/>
          </p:cNvPicPr>
          <p:nvPr/>
        </p:nvPicPr>
        <p:blipFill>
          <a:blip r:embed="rId1" cstate="print"/>
          <a:srcRect/>
          <a:stretch>
            <a:fillRect/>
          </a:stretch>
        </p:blipFill>
        <p:spPr bwMode="auto">
          <a:xfrm>
            <a:off x="251519" y="2852738"/>
            <a:ext cx="8631407" cy="432246"/>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0243" name="内容占位符 2"/>
          <p:cNvSpPr>
            <a:spLocks noGrp="1"/>
          </p:cNvSpPr>
          <p:nvPr>
            <p:ph idx="1"/>
          </p:nvPr>
        </p:nvSpPr>
        <p:spPr>
          <a:xfrm>
            <a:off x="395288" y="981075"/>
            <a:ext cx="7239000" cy="5456238"/>
          </a:xfrm>
        </p:spPr>
        <p:txBody>
          <a:bodyPr/>
          <a:lstStyle/>
          <a:p>
            <a:pPr eaLnBrk="1" hangingPunct="1">
              <a:defRPr/>
            </a:pPr>
            <a:r>
              <a:rPr lang="en-US" altLang="zh-CN" sz="2000" dirty="0" err="1" smtClean="0"/>
              <a:t>Multisim</a:t>
            </a:r>
            <a:r>
              <a:rPr lang="en-US" altLang="zh-CN" sz="2000" dirty="0" smtClean="0"/>
              <a:t> 12.0</a:t>
            </a:r>
            <a:r>
              <a:rPr lang="zh-CN" altLang="en-US" sz="2000" dirty="0" smtClean="0"/>
              <a:t>的工具栏</a:t>
            </a:r>
            <a:endParaRPr lang="en-US" altLang="zh-CN" sz="2000" dirty="0" smtClean="0"/>
          </a:p>
          <a:p>
            <a:pPr marL="0" indent="0">
              <a:buFont typeface="Wingdings 2" panose="05020102010507070707" pitchFamily="18" charset="2"/>
              <a:buNone/>
              <a:defRPr/>
            </a:pPr>
            <a:r>
              <a:rPr lang="en-US" altLang="zh-CN" sz="2000" dirty="0" smtClean="0">
                <a:latin typeface="新宋体" panose="02010609030101010101" charset="-122"/>
                <a:ea typeface="新宋体" panose="02010609030101010101" charset="-122"/>
              </a:rPr>
              <a:t> 1</a:t>
            </a:r>
            <a:r>
              <a:rPr lang="zh-CN" altLang="en-US" sz="2000" dirty="0" smtClean="0">
                <a:latin typeface="新宋体" panose="02010609030101010101" charset="-122"/>
                <a:ea typeface="新宋体" panose="02010609030101010101" charset="-122"/>
              </a:rPr>
              <a:t>）</a:t>
            </a:r>
            <a:r>
              <a:rPr lang="zh-CN" altLang="zh-CN" sz="2000" b="1" dirty="0" smtClean="0"/>
              <a:t>标准</a:t>
            </a:r>
            <a:r>
              <a:rPr lang="zh-CN" altLang="zh-CN" sz="2000" b="1" dirty="0"/>
              <a:t>工具栏</a:t>
            </a:r>
            <a:endParaRPr lang="zh-CN" altLang="zh-CN" sz="2000" b="1" dirty="0"/>
          </a:p>
          <a:p>
            <a:pPr marL="0" indent="0">
              <a:buFont typeface="Wingdings 2" panose="05020102010507070707" pitchFamily="18" charset="2"/>
              <a:buNone/>
              <a:defRPr/>
            </a:pPr>
            <a:r>
              <a:rPr lang="en-US" altLang="zh-CN" sz="2000" dirty="0" smtClean="0"/>
              <a:t>    </a:t>
            </a:r>
            <a:r>
              <a:rPr lang="zh-CN" altLang="zh-CN" sz="2000" dirty="0" smtClean="0"/>
              <a:t>标准</a:t>
            </a:r>
            <a:r>
              <a:rPr lang="zh-CN" altLang="zh-CN" sz="2000" dirty="0"/>
              <a:t>工具栏如</a:t>
            </a:r>
            <a:r>
              <a:rPr lang="zh-CN" altLang="zh-CN" sz="2000" dirty="0" smtClean="0"/>
              <a:t>图</a:t>
            </a:r>
            <a:r>
              <a:rPr lang="en-US" altLang="zh-CN" sz="2000" dirty="0" smtClean="0"/>
              <a:t>3</a:t>
            </a:r>
            <a:r>
              <a:rPr lang="zh-CN" altLang="zh-CN" sz="2000" dirty="0" smtClean="0"/>
              <a:t>所</a:t>
            </a:r>
            <a:r>
              <a:rPr lang="zh-CN" altLang="zh-CN" sz="2000" dirty="0"/>
              <a:t>示，主要提供一些常用的文件操作功能，按钮从左到右的功能分别为：新建文件、打开文件、打开设计实例、文件保存、打印电路、打印预览、剪切、复制、粘贴、撤销和恢复</a:t>
            </a:r>
            <a:r>
              <a:rPr lang="zh-CN" altLang="zh-CN" sz="2000" dirty="0" smtClean="0"/>
              <a:t>。</a:t>
            </a:r>
            <a:endParaRPr lang="en-US" altLang="zh-CN" sz="2000" dirty="0" smtClean="0"/>
          </a:p>
          <a:p>
            <a:pPr marL="0" indent="0">
              <a:buFont typeface="Wingdings 2" panose="05020102010507070707" pitchFamily="18" charset="2"/>
              <a:buNone/>
              <a:defRPr/>
            </a:pPr>
            <a:endParaRPr lang="en-US" altLang="zh-CN" sz="2000" dirty="0"/>
          </a:p>
          <a:p>
            <a:pPr marL="0" indent="0">
              <a:buFont typeface="Wingdings 2" panose="05020102010507070707" pitchFamily="18" charset="2"/>
              <a:buNone/>
              <a:defRPr/>
            </a:pPr>
            <a:r>
              <a:rPr lang="en-US" altLang="zh-CN" sz="2000" dirty="0" smtClean="0"/>
              <a:t> </a:t>
            </a:r>
            <a:endParaRPr lang="en-US" altLang="zh-CN" sz="2000" dirty="0" smtClean="0"/>
          </a:p>
          <a:p>
            <a:pPr marL="0" indent="0">
              <a:buFont typeface="Wingdings 2" panose="05020102010507070707" pitchFamily="18" charset="2"/>
              <a:buNone/>
              <a:defRPr/>
            </a:pPr>
            <a:r>
              <a:rPr lang="en-US" altLang="zh-CN" sz="2000" dirty="0"/>
              <a:t> </a:t>
            </a:r>
            <a:r>
              <a:rPr lang="en-US" altLang="zh-CN" sz="2000" dirty="0" smtClean="0"/>
              <a:t>       </a:t>
            </a:r>
            <a:endParaRPr lang="zh-CN" altLang="zh-CN" sz="20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r>
              <a:rPr lang="zh-CN" altLang="zh-CN" sz="1400" dirty="0" smtClean="0"/>
              <a:t>图</a:t>
            </a:r>
            <a:r>
              <a:rPr lang="en-US" altLang="zh-CN" sz="1400" dirty="0" smtClean="0"/>
              <a:t>3 </a:t>
            </a:r>
            <a:r>
              <a:rPr lang="en-US" altLang="zh-CN" sz="1400" dirty="0" err="1"/>
              <a:t>Multisim</a:t>
            </a:r>
            <a:r>
              <a:rPr lang="en-US" altLang="zh-CN" sz="1400" dirty="0"/>
              <a:t> 12.0</a:t>
            </a:r>
            <a:r>
              <a:rPr lang="zh-CN" altLang="zh-CN" sz="1400" dirty="0"/>
              <a:t>的标准工具栏</a:t>
            </a:r>
            <a:endParaRPr lang="zh-CN" altLang="zh-CN" sz="1400" dirty="0"/>
          </a:p>
          <a:p>
            <a:pPr marL="0" indent="0" eaLnBrk="1" hangingPunct="1">
              <a:buFont typeface="Wingdings 2" panose="05020102010507070707" pitchFamily="18" charset="2"/>
              <a:buNone/>
              <a:defRPr/>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defRPr/>
            </a:pPr>
            <a:endParaRPr lang="en-US" altLang="zh-CN" sz="2000" dirty="0"/>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zh-CN" altLang="en-US" sz="2000" dirty="0" smtClean="0">
              <a:latin typeface="新宋体" panose="02010609030101010101" charset="-122"/>
              <a:ea typeface="新宋体" panose="02010609030101010101" charset="-122"/>
            </a:endParaRPr>
          </a:p>
        </p:txBody>
      </p:sp>
      <p:pic>
        <p:nvPicPr>
          <p:cNvPr id="12292" name="Picture 2"/>
          <p:cNvPicPr>
            <a:picLocks noChangeAspect="1" noChangeArrowheads="1"/>
          </p:cNvPicPr>
          <p:nvPr/>
        </p:nvPicPr>
        <p:blipFill>
          <a:blip r:embed="rId1" cstate="print"/>
          <a:srcRect/>
          <a:stretch>
            <a:fillRect/>
          </a:stretch>
        </p:blipFill>
        <p:spPr bwMode="auto">
          <a:xfrm>
            <a:off x="1473811" y="3789362"/>
            <a:ext cx="5546461" cy="56596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3315"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2</a:t>
            </a:r>
            <a:r>
              <a:rPr lang="zh-CN" altLang="en-US" sz="2000" dirty="0" smtClean="0">
                <a:latin typeface="新宋体" panose="02010609030101010101" charset="-122"/>
                <a:ea typeface="新宋体" panose="02010609030101010101" charset="-122"/>
              </a:rPr>
              <a:t>）</a:t>
            </a:r>
            <a:r>
              <a:rPr lang="zh-CN" altLang="zh-CN" sz="2000" dirty="0" smtClean="0"/>
              <a:t>视图工具栏</a:t>
            </a:r>
            <a:endParaRPr lang="en-US" altLang="zh-CN" sz="2000" dirty="0" smtClean="0"/>
          </a:p>
          <a:p>
            <a:pPr marL="0" indent="0">
              <a:buFont typeface="Wingdings 2" panose="05020102010507070707" pitchFamily="18" charset="2"/>
              <a:buNone/>
            </a:pPr>
            <a:r>
              <a:rPr lang="en-US" altLang="zh-CN" sz="2000" dirty="0" smtClean="0"/>
              <a:t>       </a:t>
            </a:r>
            <a:r>
              <a:rPr lang="zh-CN" altLang="zh-CN" sz="2000" dirty="0" smtClean="0"/>
              <a:t>视图工具栏如图</a:t>
            </a:r>
            <a:r>
              <a:rPr lang="en-US" altLang="zh-CN" sz="2000" dirty="0" smtClean="0"/>
              <a:t>4</a:t>
            </a:r>
            <a:r>
              <a:rPr lang="zh-CN" altLang="zh-CN" sz="2000" dirty="0" smtClean="0"/>
              <a:t>所示，其中按钮从左到右的功能分别为：全屏显示、放大、缩小、对指定区域进行放大和在工作空间一次显示整个电路。</a:t>
            </a:r>
            <a:endParaRPr lang="zh-CN"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r>
              <a:rPr lang="en-US" altLang="zh-CN" sz="1400" dirty="0" smtClean="0"/>
              <a:t> </a:t>
            </a:r>
            <a:r>
              <a:rPr lang="en-US" altLang="zh-CN" sz="1400" dirty="0" smtClean="0"/>
              <a:t>                                                 </a:t>
            </a:r>
            <a:r>
              <a:rPr lang="zh-CN" altLang="zh-CN" sz="1400" dirty="0" smtClean="0"/>
              <a:t>图</a:t>
            </a:r>
            <a:r>
              <a:rPr lang="en-US" altLang="zh-CN" sz="1400" dirty="0" smtClean="0"/>
              <a:t>4  </a:t>
            </a:r>
            <a:r>
              <a:rPr lang="en-US" altLang="zh-CN" sz="1400" dirty="0" err="1" smtClean="0"/>
              <a:t>Multisim</a:t>
            </a:r>
            <a:r>
              <a:rPr lang="en-US" altLang="zh-CN" sz="1400" dirty="0" smtClean="0"/>
              <a:t> 12.0</a:t>
            </a:r>
            <a:r>
              <a:rPr lang="zh-CN" altLang="zh-CN" sz="1400" dirty="0" smtClean="0"/>
              <a:t>的视图工具栏</a:t>
            </a:r>
            <a:endParaRPr lang="zh-CN"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13316" name="Picture 3"/>
          <p:cNvPicPr>
            <a:picLocks noChangeAspect="1" noChangeArrowheads="1"/>
          </p:cNvPicPr>
          <p:nvPr/>
        </p:nvPicPr>
        <p:blipFill>
          <a:blip r:embed="rId1" cstate="print"/>
          <a:srcRect/>
          <a:stretch>
            <a:fillRect/>
          </a:stretch>
        </p:blipFill>
        <p:spPr bwMode="auto">
          <a:xfrm>
            <a:off x="3276600" y="3660775"/>
            <a:ext cx="2231504" cy="532518"/>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4339"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smtClean="0">
                <a:latin typeface="新宋体" panose="02010609030101010101" charset="-122"/>
                <a:ea typeface="新宋体" panose="02010609030101010101" charset="-122"/>
              </a:rPr>
              <a:t>3</a:t>
            </a:r>
            <a:r>
              <a:rPr lang="zh-CN" altLang="en-US" sz="2000" smtClean="0">
                <a:latin typeface="新宋体" panose="02010609030101010101" charset="-122"/>
                <a:ea typeface="新宋体" panose="02010609030101010101" charset="-122"/>
              </a:rPr>
              <a:t>）</a:t>
            </a:r>
            <a:r>
              <a:rPr lang="zh-CN" altLang="zh-CN" sz="2000" smtClean="0"/>
              <a:t>主工具栏</a:t>
            </a:r>
            <a:endParaRPr lang="en-US" altLang="zh-CN" sz="2000" smtClean="0"/>
          </a:p>
          <a:p>
            <a:pPr marL="0" indent="0">
              <a:buFont typeface="Wingdings 2" panose="05020102010507070707" pitchFamily="18" charset="2"/>
              <a:buNone/>
            </a:pPr>
            <a:r>
              <a:rPr lang="en-US" altLang="zh-CN" sz="2000" smtClean="0"/>
              <a:t>       </a:t>
            </a:r>
            <a:r>
              <a:rPr lang="zh-CN" altLang="en-US" sz="2000" smtClean="0"/>
              <a:t>主工具栏如图</a:t>
            </a:r>
            <a:r>
              <a:rPr lang="en-US" altLang="zh-CN" sz="2000" smtClean="0"/>
              <a:t>5</a:t>
            </a:r>
            <a:r>
              <a:rPr lang="zh-CN" altLang="en-US" sz="2000" smtClean="0"/>
              <a:t>所示，</a:t>
            </a:r>
            <a:r>
              <a:rPr lang="zh-CN" altLang="zh-CN" sz="2000" smtClean="0"/>
              <a:t>该工具栏中的按钮从左到右分别为：显示或隐藏设计工具栏；显示或隐藏电子表格视窗；显示或隐藏</a:t>
            </a:r>
            <a:r>
              <a:rPr lang="en-US" altLang="zh-CN" sz="2000" smtClean="0"/>
              <a:t>SPICE</a:t>
            </a:r>
            <a:r>
              <a:rPr lang="zh-CN" altLang="zh-CN" sz="2000" smtClean="0"/>
              <a:t>网表视窗；图形和仿真列表；对仿真结果进行后处理；切换到总电路；打开创建新元件向导；打开数据库管理窗口；使用中元件列表；</a:t>
            </a:r>
            <a:r>
              <a:rPr lang="en-US" altLang="zh-CN" sz="2000" smtClean="0"/>
              <a:t>ERC</a:t>
            </a:r>
            <a:r>
              <a:rPr lang="zh-CN" altLang="zh-CN" sz="2000" smtClean="0"/>
              <a:t>电路规则检测；将</a:t>
            </a:r>
            <a:r>
              <a:rPr lang="en-US" altLang="zh-CN" sz="2000" smtClean="0"/>
              <a:t>Ultiboard 12.0</a:t>
            </a:r>
            <a:r>
              <a:rPr lang="zh-CN" altLang="zh-CN" sz="2000" smtClean="0"/>
              <a:t>电路的改变反标到</a:t>
            </a:r>
            <a:r>
              <a:rPr lang="en-US" altLang="zh-CN" sz="2000" smtClean="0"/>
              <a:t>Multisim 12.0</a:t>
            </a:r>
            <a:r>
              <a:rPr lang="zh-CN" altLang="zh-CN" sz="2000" smtClean="0"/>
              <a:t>电路文件中；将</a:t>
            </a:r>
            <a:r>
              <a:rPr lang="en-US" altLang="zh-CN" sz="2000" smtClean="0"/>
              <a:t>Multisim 12.0</a:t>
            </a:r>
            <a:r>
              <a:rPr lang="zh-CN" altLang="zh-CN" sz="2000" smtClean="0"/>
              <a:t>电路的改变反标到</a:t>
            </a:r>
            <a:r>
              <a:rPr lang="en-US" altLang="zh-CN" sz="2000" smtClean="0"/>
              <a:t>Ultiboard 12</a:t>
            </a:r>
            <a:r>
              <a:rPr lang="zh-CN" altLang="zh-CN" sz="2000" smtClean="0"/>
              <a:t>文件中；查找实例；帮助。</a:t>
            </a:r>
            <a:endParaRPr lang="zh-CN" altLang="zh-CN" sz="2000" smtClean="0"/>
          </a:p>
          <a:p>
            <a:pPr marL="0" indent="0">
              <a:buFont typeface="Wingdings 2" panose="05020102010507070707" pitchFamily="18" charset="2"/>
              <a:buNone/>
            </a:pPr>
            <a:endParaRPr lang="en-US" altLang="zh-CN" sz="2000" smtClean="0"/>
          </a:p>
          <a:p>
            <a:pPr marL="0" indent="0">
              <a:buFont typeface="Wingdings 2" panose="05020102010507070707" pitchFamily="18" charset="2"/>
              <a:buNone/>
            </a:pPr>
            <a:endParaRPr lang="en-US" altLang="zh-CN" sz="2000" smtClean="0"/>
          </a:p>
          <a:p>
            <a:pPr marL="0" indent="0">
              <a:buFont typeface="Wingdings 2" panose="05020102010507070707" pitchFamily="18" charset="2"/>
              <a:buNone/>
            </a:pPr>
            <a:endParaRPr lang="en-US" altLang="zh-CN" sz="2000" smtClean="0"/>
          </a:p>
          <a:p>
            <a:pPr marL="0" indent="0">
              <a:buFont typeface="Wingdings 2" panose="05020102010507070707" pitchFamily="18" charset="2"/>
              <a:buNone/>
            </a:pPr>
            <a:endParaRPr lang="en-US" altLang="zh-CN" sz="2000" smtClean="0"/>
          </a:p>
          <a:p>
            <a:pPr marL="0" indent="0">
              <a:buFont typeface="Wingdings 2" panose="05020102010507070707" pitchFamily="18" charset="2"/>
              <a:buNone/>
            </a:pPr>
            <a:r>
              <a:rPr lang="en-US" altLang="zh-CN" sz="1400" smtClean="0"/>
              <a:t>                                  </a:t>
            </a:r>
            <a:r>
              <a:rPr lang="zh-CN" altLang="zh-CN" sz="1400" smtClean="0"/>
              <a:t>图</a:t>
            </a:r>
            <a:r>
              <a:rPr lang="en-US" altLang="zh-CN" sz="1400" smtClean="0"/>
              <a:t>5  Multisim 12.0</a:t>
            </a:r>
            <a:r>
              <a:rPr lang="zh-CN" altLang="zh-CN" sz="1400" smtClean="0"/>
              <a:t>的</a:t>
            </a:r>
            <a:r>
              <a:rPr lang="zh-CN" altLang="en-US" sz="1400" smtClean="0"/>
              <a:t>主</a:t>
            </a:r>
            <a:r>
              <a:rPr lang="zh-CN" altLang="zh-CN" sz="1400" smtClean="0"/>
              <a:t>工具栏</a:t>
            </a:r>
            <a:endParaRPr lang="zh-CN" altLang="zh-CN" sz="1400" smtClean="0"/>
          </a:p>
          <a:p>
            <a:pPr marL="0" indent="0">
              <a:buFont typeface="Wingdings 2" panose="05020102010507070707" pitchFamily="18" charset="2"/>
              <a:buNone/>
            </a:pPr>
            <a:endParaRPr lang="en-US" altLang="zh-CN" sz="2000" smtClean="0"/>
          </a:p>
          <a:p>
            <a:pPr marL="0" indent="0">
              <a:buFont typeface="Wingdings 2" panose="05020102010507070707" pitchFamily="18" charset="2"/>
              <a:buNone/>
            </a:pPr>
            <a:r>
              <a:rPr lang="en-US" altLang="zh-CN" sz="2000" smtClean="0"/>
              <a:t> </a:t>
            </a:r>
            <a:endParaRPr lang="en-US" altLang="zh-CN" sz="2000" smtClean="0"/>
          </a:p>
          <a:p>
            <a:pPr marL="0" indent="0">
              <a:buFont typeface="Wingdings 2" panose="05020102010507070707" pitchFamily="18" charset="2"/>
              <a:buNone/>
            </a:pPr>
            <a:r>
              <a:rPr lang="en-US" altLang="zh-CN" sz="2000" smtClean="0"/>
              <a:t>        </a:t>
            </a:r>
            <a:endParaRPr lang="zh-CN" altLang="zh-CN" sz="2000" smtClean="0"/>
          </a:p>
          <a:p>
            <a:pPr marL="0" indent="0" eaLnBrk="1" hangingPunct="1">
              <a:buFont typeface="Wingdings 2" panose="05020102010507070707" pitchFamily="18" charset="2"/>
              <a:buNone/>
            </a:pPr>
            <a:endParaRPr lang="en-US" altLang="zh-CN" sz="14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smtClean="0">
                <a:latin typeface="新宋体" panose="02010609030101010101" charset="-122"/>
                <a:ea typeface="新宋体" panose="02010609030101010101" charset="-122"/>
              </a:rPr>
              <a:t>              </a:t>
            </a:r>
            <a:endParaRPr lang="en-US" altLang="zh-CN" sz="2000" smtClean="0"/>
          </a:p>
          <a:p>
            <a:pPr marL="0" indent="0" eaLnBrk="1" hangingPunct="1">
              <a:buFont typeface="Wingdings 2" panose="05020102010507070707" pitchFamily="18" charset="2"/>
              <a:buNone/>
            </a:pPr>
            <a:endParaRPr lang="en-US" altLang="zh-CN" sz="2000" smtClean="0"/>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smtClean="0">
              <a:latin typeface="新宋体" panose="02010609030101010101" charset="-122"/>
              <a:ea typeface="新宋体" panose="02010609030101010101" charset="-122"/>
            </a:endParaRPr>
          </a:p>
        </p:txBody>
      </p:sp>
      <p:pic>
        <p:nvPicPr>
          <p:cNvPr id="14340" name="Picture 2"/>
          <p:cNvPicPr>
            <a:picLocks noChangeAspect="1" noChangeArrowheads="1"/>
          </p:cNvPicPr>
          <p:nvPr/>
        </p:nvPicPr>
        <p:blipFill>
          <a:blip r:embed="rId1" cstate="print"/>
          <a:srcRect/>
          <a:stretch>
            <a:fillRect/>
          </a:stretch>
        </p:blipFill>
        <p:spPr bwMode="auto">
          <a:xfrm>
            <a:off x="1979613" y="4652963"/>
            <a:ext cx="3171825" cy="190500"/>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5363"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4</a:t>
            </a:r>
            <a:r>
              <a:rPr lang="zh-CN" altLang="en-US" sz="2000" dirty="0" smtClean="0">
                <a:latin typeface="新宋体" panose="02010609030101010101" charset="-122"/>
                <a:ea typeface="新宋体" panose="02010609030101010101" charset="-122"/>
              </a:rPr>
              <a:t>）</a:t>
            </a:r>
            <a:r>
              <a:rPr lang="zh-CN" altLang="zh-CN" sz="2000" b="1" dirty="0" smtClean="0"/>
              <a:t>仿真开关</a:t>
            </a:r>
            <a:endParaRPr lang="zh-CN" altLang="zh-CN" sz="2000" b="1" dirty="0" smtClean="0"/>
          </a:p>
          <a:p>
            <a:pPr marL="0" indent="0">
              <a:buFont typeface="Wingdings 2" panose="05020102010507070707" pitchFamily="18" charset="2"/>
              <a:buNone/>
            </a:pPr>
            <a:r>
              <a:rPr lang="en-US" altLang="zh-CN" sz="2000" dirty="0" smtClean="0"/>
              <a:t>       </a:t>
            </a:r>
            <a:r>
              <a:rPr lang="zh-CN" altLang="en-US" sz="2000" dirty="0" smtClean="0"/>
              <a:t>如图</a:t>
            </a:r>
            <a:r>
              <a:rPr lang="en-US" altLang="zh-CN" sz="2000" dirty="0" smtClean="0"/>
              <a:t>6</a:t>
            </a:r>
            <a:r>
              <a:rPr lang="zh-CN" altLang="en-US" sz="2000" dirty="0" smtClean="0"/>
              <a:t>，</a:t>
            </a:r>
            <a:r>
              <a:rPr lang="zh-CN" altLang="zh-CN" sz="2000" dirty="0" smtClean="0"/>
              <a:t>左边的开关为仿真启动</a:t>
            </a:r>
            <a:r>
              <a:rPr lang="en-US" altLang="zh-CN" sz="2000" dirty="0" smtClean="0"/>
              <a:t>/</a:t>
            </a:r>
            <a:r>
              <a:rPr lang="zh-CN" altLang="zh-CN" sz="2000" dirty="0" smtClean="0"/>
              <a:t>停止开关，开关拨向左边停止仿真，拨向右边启动仿真；右边开关为暂停开关。</a:t>
            </a:r>
            <a:endParaRPr lang="zh-CN"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r>
              <a:rPr lang="en-US" altLang="zh-CN" sz="1400" dirty="0" smtClean="0"/>
              <a:t> </a:t>
            </a:r>
            <a:r>
              <a:rPr lang="en-US" altLang="zh-CN" sz="1400" dirty="0" smtClean="0"/>
              <a:t>                                                    </a:t>
            </a:r>
            <a:r>
              <a:rPr lang="zh-CN" altLang="zh-CN" sz="1400" dirty="0" smtClean="0"/>
              <a:t>图</a:t>
            </a:r>
            <a:r>
              <a:rPr lang="en-US" altLang="zh-CN" sz="1400" dirty="0" smtClean="0"/>
              <a:t>6  </a:t>
            </a:r>
            <a:r>
              <a:rPr lang="en-US" altLang="zh-CN" sz="1400" dirty="0" err="1" smtClean="0"/>
              <a:t>Multisim</a:t>
            </a:r>
            <a:r>
              <a:rPr lang="en-US" altLang="zh-CN" sz="1400" dirty="0" smtClean="0"/>
              <a:t> 12.0</a:t>
            </a:r>
            <a:r>
              <a:rPr lang="zh-CN" altLang="zh-CN" sz="1400" dirty="0" smtClean="0"/>
              <a:t>的</a:t>
            </a:r>
            <a:r>
              <a:rPr lang="zh-CN" altLang="en-US" sz="1400" dirty="0" smtClean="0"/>
              <a:t>仿真开关</a:t>
            </a:r>
            <a:endParaRPr lang="zh-CN"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15364" name="Picture 2"/>
          <p:cNvPicPr>
            <a:picLocks noChangeAspect="1" noChangeArrowheads="1"/>
          </p:cNvPicPr>
          <p:nvPr/>
        </p:nvPicPr>
        <p:blipFill>
          <a:blip r:embed="rId1" cstate="print"/>
          <a:srcRect/>
          <a:stretch>
            <a:fillRect/>
          </a:stretch>
        </p:blipFill>
        <p:spPr bwMode="auto">
          <a:xfrm>
            <a:off x="3203575" y="3141663"/>
            <a:ext cx="1728465" cy="59504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6387"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5</a:t>
            </a:r>
            <a:r>
              <a:rPr lang="zh-CN" altLang="en-US" sz="2000" dirty="0" smtClean="0">
                <a:latin typeface="新宋体" panose="02010609030101010101" charset="-122"/>
                <a:ea typeface="新宋体" panose="02010609030101010101" charset="-122"/>
              </a:rPr>
              <a:t>）</a:t>
            </a:r>
            <a:r>
              <a:rPr lang="zh-CN" altLang="zh-CN" sz="2000" dirty="0" smtClean="0"/>
              <a:t>元件工具栏</a:t>
            </a:r>
            <a:endParaRPr lang="en-US" altLang="zh-CN" sz="2000" dirty="0" smtClean="0"/>
          </a:p>
          <a:p>
            <a:pPr marL="0" indent="0">
              <a:buFont typeface="Wingdings 2" panose="05020102010507070707" pitchFamily="18" charset="2"/>
              <a:buNone/>
            </a:pPr>
            <a:r>
              <a:rPr lang="en-US" altLang="zh-CN" sz="2000" dirty="0" smtClean="0"/>
              <a:t>       </a:t>
            </a:r>
            <a:r>
              <a:rPr lang="zh-CN" altLang="en-US" sz="2000" dirty="0" smtClean="0"/>
              <a:t>如图</a:t>
            </a:r>
            <a:r>
              <a:rPr lang="en-US" altLang="zh-CN" sz="2000" dirty="0" smtClean="0"/>
              <a:t>7</a:t>
            </a:r>
            <a:r>
              <a:rPr lang="zh-CN" altLang="en-US" sz="2000" dirty="0" smtClean="0"/>
              <a:t>，</a:t>
            </a:r>
            <a:r>
              <a:rPr lang="zh-CN" altLang="zh-CN" sz="2000" dirty="0" smtClean="0"/>
              <a:t>元件工具栏从左到右的模块分别为：电源库、基本元件库、二极管库、晶体管库、模拟器件库、</a:t>
            </a:r>
            <a:r>
              <a:rPr lang="en-US" altLang="zh-CN" sz="2000" dirty="0" smtClean="0"/>
              <a:t>TTL</a:t>
            </a:r>
            <a:r>
              <a:rPr lang="zh-CN" altLang="zh-CN" sz="2000" dirty="0" smtClean="0"/>
              <a:t>器件库、</a:t>
            </a:r>
            <a:r>
              <a:rPr lang="en-US" altLang="zh-CN" sz="2000" dirty="0" smtClean="0"/>
              <a:t>CMOS</a:t>
            </a:r>
            <a:r>
              <a:rPr lang="zh-CN" altLang="zh-CN" sz="2000" dirty="0" smtClean="0"/>
              <a:t>器件库、其他数字元件库、混合元件库、显示元件库、功率元件库、其他元件库、高级外围元件库、</a:t>
            </a:r>
            <a:r>
              <a:rPr lang="en-US" altLang="zh-CN" sz="2000" dirty="0" smtClean="0"/>
              <a:t>RF</a:t>
            </a:r>
            <a:r>
              <a:rPr lang="zh-CN" altLang="zh-CN" sz="2000" dirty="0" smtClean="0"/>
              <a:t>射频元件库、机电类元件库、</a:t>
            </a:r>
            <a:r>
              <a:rPr lang="en-US" altLang="zh-CN" sz="2000" dirty="0" smtClean="0"/>
              <a:t>NI</a:t>
            </a:r>
            <a:r>
              <a:rPr lang="zh-CN" altLang="zh-CN" sz="2000" dirty="0" smtClean="0"/>
              <a:t>元件库、连接元件库、微处理器模块、层次化模块和总线模块</a:t>
            </a: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7  </a:t>
            </a:r>
            <a:r>
              <a:rPr lang="en-US" altLang="zh-CN" sz="1400" dirty="0" err="1" smtClean="0"/>
              <a:t>Multisim</a:t>
            </a:r>
            <a:r>
              <a:rPr lang="en-US" altLang="zh-CN" sz="1400" dirty="0" smtClean="0"/>
              <a:t> 12.0</a:t>
            </a:r>
            <a:r>
              <a:rPr lang="zh-CN" altLang="zh-CN" sz="1400" dirty="0" smtClean="0"/>
              <a:t>的</a:t>
            </a:r>
            <a:r>
              <a:rPr lang="zh-CN" altLang="en-US" sz="1400" dirty="0" smtClean="0"/>
              <a:t>元件工具栏</a:t>
            </a: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16388" name="Picture 2" descr="2015-05-31 11-42-50"/>
          <p:cNvPicPr>
            <a:picLocks noChangeAspect="1" noChangeArrowheads="1"/>
          </p:cNvPicPr>
          <p:nvPr/>
        </p:nvPicPr>
        <p:blipFill>
          <a:blip r:embed="rId1" cstate="print"/>
          <a:srcRect/>
          <a:stretch>
            <a:fillRect/>
          </a:stretch>
        </p:blipFill>
        <p:spPr bwMode="auto">
          <a:xfrm>
            <a:off x="789045" y="4221163"/>
            <a:ext cx="7277646" cy="431973"/>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的基本操作</a:t>
            </a:r>
            <a:endParaRPr lang="zh-CN" altLang="en-US" dirty="0"/>
          </a:p>
        </p:txBody>
      </p:sp>
      <p:sp>
        <p:nvSpPr>
          <p:cNvPr id="17411"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6</a:t>
            </a:r>
            <a:r>
              <a:rPr lang="zh-CN" altLang="en-US" sz="2000" dirty="0" smtClean="0">
                <a:latin typeface="新宋体" panose="02010609030101010101" charset="-122"/>
                <a:ea typeface="新宋体" panose="02010609030101010101" charset="-122"/>
              </a:rPr>
              <a:t>）</a:t>
            </a:r>
            <a:r>
              <a:rPr lang="zh-CN" altLang="zh-CN" sz="2000" dirty="0" smtClean="0"/>
              <a:t>仪器工具栏</a:t>
            </a:r>
            <a:endParaRPr lang="en-US" altLang="zh-CN" sz="2000" dirty="0" smtClean="0"/>
          </a:p>
          <a:p>
            <a:pPr marL="0" indent="0">
              <a:buFont typeface="Wingdings 2" panose="05020102010507070707" pitchFamily="18" charset="2"/>
              <a:buNone/>
            </a:pPr>
            <a:r>
              <a:rPr lang="en-US" altLang="zh-CN" sz="2000" dirty="0" smtClean="0"/>
              <a:t>      </a:t>
            </a:r>
            <a:r>
              <a:rPr lang="zh-CN" altLang="en-US" sz="2000" dirty="0" smtClean="0"/>
              <a:t>如图</a:t>
            </a:r>
            <a:r>
              <a:rPr lang="en-US" altLang="zh-CN" sz="2000" dirty="0" smtClean="0"/>
              <a:t>8</a:t>
            </a:r>
            <a:r>
              <a:rPr lang="zh-CN" altLang="en-US" sz="2000" dirty="0" smtClean="0"/>
              <a:t>，</a:t>
            </a:r>
            <a:r>
              <a:rPr lang="zh-CN" altLang="zh-CN" sz="2000" dirty="0" smtClean="0"/>
              <a:t>仪器工具栏从左到右分别为：数字万用表、函数信号发生器、瓦特表、双通道示波器、四通道示波器、波特图仪、频率计、字信号发生器、逻辑分析仪、逻辑转换仪、伏安特性分析仪、失真分析仪、频谱分析仪、网络分析仪、安捷伦函数发生器、安捷伦万用表、安捷伦示波器、泰克示波器、测量探针、</a:t>
            </a:r>
            <a:r>
              <a:rPr lang="en-US" altLang="zh-CN" sz="2000" dirty="0" err="1" smtClean="0"/>
              <a:t>LabVIEW</a:t>
            </a:r>
            <a:r>
              <a:rPr lang="zh-CN" altLang="zh-CN" sz="2000" dirty="0" smtClean="0"/>
              <a:t>虚拟仪器、</a:t>
            </a:r>
            <a:r>
              <a:rPr lang="en-US" altLang="zh-CN" sz="2000" dirty="0" smtClean="0"/>
              <a:t>NI ELVIS</a:t>
            </a:r>
            <a:r>
              <a:rPr lang="zh-CN" altLang="zh-CN" sz="2000" dirty="0" smtClean="0"/>
              <a:t>仪器工具、电流探针。</a:t>
            </a: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8  </a:t>
            </a:r>
            <a:r>
              <a:rPr lang="en-US" altLang="zh-CN" sz="1400" dirty="0" err="1" smtClean="0"/>
              <a:t>Multisim</a:t>
            </a:r>
            <a:r>
              <a:rPr lang="en-US" altLang="zh-CN" sz="1400" dirty="0" smtClean="0"/>
              <a:t> 12.0</a:t>
            </a:r>
            <a:r>
              <a:rPr lang="zh-CN" altLang="zh-CN" sz="1400" dirty="0" smtClean="0"/>
              <a:t>的</a:t>
            </a:r>
            <a:r>
              <a:rPr lang="zh-CN" altLang="en-US" sz="1400" dirty="0" smtClean="0"/>
              <a:t>仪器工具栏</a:t>
            </a: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17412" name="Picture 2"/>
          <p:cNvPicPr>
            <a:picLocks noChangeAspect="1" noChangeArrowheads="1"/>
          </p:cNvPicPr>
          <p:nvPr/>
        </p:nvPicPr>
        <p:blipFill>
          <a:blip r:embed="rId1" cstate="print"/>
          <a:srcRect/>
          <a:stretch>
            <a:fillRect/>
          </a:stretch>
        </p:blipFill>
        <p:spPr bwMode="auto">
          <a:xfrm>
            <a:off x="251520" y="3976688"/>
            <a:ext cx="8640959" cy="488468"/>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10243" name="内容占位符 2"/>
          <p:cNvSpPr>
            <a:spLocks noGrp="1"/>
          </p:cNvSpPr>
          <p:nvPr>
            <p:ph idx="1"/>
          </p:nvPr>
        </p:nvSpPr>
        <p:spPr>
          <a:xfrm>
            <a:off x="395288" y="981075"/>
            <a:ext cx="7239000" cy="5456238"/>
          </a:xfrm>
        </p:spPr>
        <p:txBody>
          <a:bodyPr/>
          <a:lstStyle/>
          <a:p>
            <a:pPr eaLnBrk="1" hangingPunct="1">
              <a:defRPr/>
            </a:pPr>
            <a:r>
              <a:rPr lang="zh-CN" altLang="en-US" sz="2000" dirty="0" smtClean="0"/>
              <a:t>实例：</a:t>
            </a:r>
            <a:r>
              <a:rPr lang="zh-CN" altLang="zh-CN" sz="2000" dirty="0" smtClean="0"/>
              <a:t>电阻</a:t>
            </a:r>
            <a:r>
              <a:rPr lang="zh-CN" altLang="zh-CN" sz="2000" dirty="0"/>
              <a:t>串联分压电路</a:t>
            </a:r>
            <a:endParaRPr lang="en-US" altLang="zh-CN" sz="2000" dirty="0" smtClean="0"/>
          </a:p>
          <a:p>
            <a:pPr marL="0" indent="0">
              <a:buFont typeface="Wingdings 2" panose="05020102010507070707" pitchFamily="18" charset="2"/>
              <a:buNone/>
              <a:defRPr/>
            </a:pPr>
            <a:r>
              <a:rPr lang="en-US" altLang="zh-CN" sz="2000" dirty="0" smtClean="0">
                <a:latin typeface="新宋体" panose="02010609030101010101" charset="-122"/>
                <a:ea typeface="新宋体" panose="02010609030101010101" charset="-122"/>
              </a:rPr>
              <a:t>   1</a:t>
            </a:r>
            <a:r>
              <a:rPr lang="zh-CN" altLang="en-US" sz="2000" dirty="0" smtClean="0">
                <a:latin typeface="新宋体" panose="02010609030101010101" charset="-122"/>
                <a:ea typeface="新宋体" panose="02010609030101010101" charset="-122"/>
              </a:rPr>
              <a:t>）</a:t>
            </a:r>
            <a:r>
              <a:rPr lang="zh-CN" altLang="zh-CN" sz="2000" b="1" dirty="0"/>
              <a:t>选取元件。</a:t>
            </a:r>
            <a:endParaRPr lang="zh-CN" altLang="zh-CN" sz="2000" b="1" dirty="0"/>
          </a:p>
          <a:p>
            <a:pPr marL="0" indent="0" algn="just">
              <a:buFont typeface="Wingdings 2" panose="05020102010507070707" pitchFamily="18" charset="2"/>
              <a:buNone/>
              <a:defRPr/>
            </a:pPr>
            <a:r>
              <a:rPr lang="en-US" altLang="zh-CN" sz="2000" dirty="0" smtClean="0"/>
              <a:t>     </a:t>
            </a:r>
            <a:r>
              <a:rPr lang="zh-CN" altLang="zh-CN" sz="2000" dirty="0" smtClean="0"/>
              <a:t>一</a:t>
            </a:r>
            <a:r>
              <a:rPr lang="zh-CN" altLang="zh-CN" sz="2000" dirty="0"/>
              <a:t>个</a:t>
            </a:r>
            <a:r>
              <a:rPr lang="en-US" altLang="zh-CN" sz="2000" dirty="0"/>
              <a:t>12V</a:t>
            </a:r>
            <a:r>
              <a:rPr lang="zh-CN" altLang="zh-CN" sz="2000" dirty="0"/>
              <a:t>电源，一个参考接地点，以及一个</a:t>
            </a:r>
            <a:r>
              <a:rPr lang="en-US" altLang="zh-CN" sz="2000" dirty="0"/>
              <a:t>20kΩ</a:t>
            </a:r>
            <a:r>
              <a:rPr lang="zh-CN" altLang="zh-CN" sz="2000" dirty="0"/>
              <a:t>电阻和一个</a:t>
            </a:r>
            <a:r>
              <a:rPr lang="en-US" altLang="zh-CN" sz="2000" dirty="0"/>
              <a:t>30kΩ</a:t>
            </a:r>
            <a:r>
              <a:rPr lang="zh-CN" altLang="zh-CN" sz="2000" dirty="0"/>
              <a:t>电阻。为建立该实验仿真电路，单击</a:t>
            </a:r>
            <a:r>
              <a:rPr lang="zh-CN" altLang="zh-CN" sz="2000" dirty="0" smtClean="0"/>
              <a:t>菜单栏中的</a:t>
            </a:r>
            <a:r>
              <a:rPr lang="en-US" altLang="zh-CN" sz="2000" dirty="0" smtClean="0"/>
              <a:t>Place\Component</a:t>
            </a:r>
            <a:r>
              <a:rPr lang="zh-CN" altLang="zh-CN" sz="2000" dirty="0"/>
              <a:t>，弹出如</a:t>
            </a:r>
            <a:r>
              <a:rPr lang="zh-CN" altLang="zh-CN" sz="2000" dirty="0" smtClean="0"/>
              <a:t>图</a:t>
            </a:r>
            <a:r>
              <a:rPr lang="en-US" altLang="zh-CN" sz="2000" dirty="0" smtClean="0"/>
              <a:t>9</a:t>
            </a:r>
            <a:r>
              <a:rPr lang="zh-CN" altLang="zh-CN" sz="2000" dirty="0"/>
              <a:t>所示的对话框</a:t>
            </a:r>
            <a:r>
              <a:rPr lang="zh-CN" altLang="zh-CN" sz="2000" dirty="0" smtClean="0"/>
              <a:t>。</a:t>
            </a:r>
            <a:endParaRPr lang="en-US" altLang="zh-CN" sz="2000" dirty="0" smtClean="0"/>
          </a:p>
          <a:p>
            <a:pPr marL="0" indent="0" algn="just">
              <a:buFont typeface="Wingdings 2" panose="05020102010507070707" pitchFamily="18" charset="2"/>
              <a:buNone/>
              <a:defRPr/>
            </a:pPr>
            <a:endParaRPr lang="en-US" altLang="zh-CN" sz="2000" dirty="0"/>
          </a:p>
          <a:p>
            <a:pPr marL="0" indent="0">
              <a:buFont typeface="Wingdings 2" panose="05020102010507070707" pitchFamily="18" charset="2"/>
              <a:buNone/>
              <a:defRPr/>
            </a:pPr>
            <a:r>
              <a:rPr lang="en-US" altLang="zh-CN" sz="1400" dirty="0" smtClean="0"/>
              <a:t>                                  </a:t>
            </a: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r>
              <a:rPr lang="zh-CN" altLang="zh-CN" sz="1400" dirty="0" smtClean="0"/>
              <a:t>图</a:t>
            </a:r>
            <a:r>
              <a:rPr lang="en-US" altLang="zh-CN" sz="1400" dirty="0" smtClean="0"/>
              <a:t>9  </a:t>
            </a:r>
            <a:r>
              <a:rPr lang="zh-CN" altLang="zh-CN" sz="1400" dirty="0" smtClean="0"/>
              <a:t>放置</a:t>
            </a:r>
            <a:r>
              <a:rPr lang="zh-CN" altLang="zh-CN" sz="1400" dirty="0"/>
              <a:t>元器件对话框 </a:t>
            </a:r>
            <a:endParaRPr lang="en-US" altLang="zh-CN" sz="1400" dirty="0" smtClean="0"/>
          </a:p>
          <a:p>
            <a:pPr marL="0" indent="0">
              <a:buFont typeface="Wingdings 2" panose="05020102010507070707" pitchFamily="18" charset="2"/>
              <a:buNone/>
              <a:defRPr/>
            </a:pPr>
            <a:endParaRPr lang="en-US" altLang="zh-CN" sz="1400" dirty="0"/>
          </a:p>
          <a:p>
            <a:pPr marL="0" indent="0">
              <a:buFont typeface="Wingdings 2" panose="05020102010507070707" pitchFamily="18" charset="2"/>
              <a:buNone/>
              <a:defRPr/>
            </a:pPr>
            <a:endParaRPr lang="en-US" altLang="zh-CN" sz="1400" dirty="0" smtClean="0"/>
          </a:p>
          <a:p>
            <a:pPr marL="0" indent="0">
              <a:buFont typeface="Wingdings 2" panose="05020102010507070707" pitchFamily="18" charset="2"/>
              <a:buNone/>
              <a:defRPr/>
            </a:pPr>
            <a:endParaRPr lang="en-US" altLang="zh-CN" sz="2000" dirty="0"/>
          </a:p>
          <a:p>
            <a:pPr marL="0" indent="0">
              <a:buFont typeface="Wingdings 2" panose="05020102010507070707" pitchFamily="18" charset="2"/>
              <a:buNone/>
              <a:defRPr/>
            </a:pPr>
            <a:r>
              <a:rPr lang="en-US" altLang="zh-CN" sz="2000" dirty="0" smtClean="0"/>
              <a:t> </a:t>
            </a:r>
            <a:endParaRPr lang="en-US" altLang="zh-CN" sz="2000" dirty="0" smtClean="0"/>
          </a:p>
          <a:p>
            <a:pPr marL="0" indent="0">
              <a:buFont typeface="Wingdings 2" panose="05020102010507070707" pitchFamily="18" charset="2"/>
              <a:buNone/>
              <a:defRPr/>
            </a:pPr>
            <a:r>
              <a:rPr lang="en-US" altLang="zh-CN" sz="2000" dirty="0"/>
              <a:t> </a:t>
            </a:r>
            <a:r>
              <a:rPr lang="en-US" altLang="zh-CN" sz="2000" dirty="0" smtClean="0"/>
              <a:t>       </a:t>
            </a:r>
            <a:endParaRPr lang="zh-CN" altLang="zh-CN" sz="2000" dirty="0"/>
          </a:p>
          <a:p>
            <a:pPr marL="0" indent="0" eaLnBrk="1" hangingPunct="1">
              <a:buFont typeface="Wingdings 2" panose="05020102010507070707" pitchFamily="18" charset="2"/>
              <a:buNone/>
              <a:defRPr/>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defRPr/>
            </a:pPr>
            <a:endParaRPr lang="en-US" altLang="zh-CN" sz="2000" dirty="0"/>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defRPr/>
            </a:pPr>
            <a:endParaRPr lang="zh-CN" altLang="en-US" sz="2000" dirty="0" smtClean="0">
              <a:latin typeface="新宋体" panose="02010609030101010101" charset="-122"/>
              <a:ea typeface="新宋体" panose="02010609030101010101" charset="-122"/>
            </a:endParaRPr>
          </a:p>
        </p:txBody>
      </p:sp>
      <p:pic>
        <p:nvPicPr>
          <p:cNvPr id="18436" name="Picture 2"/>
          <p:cNvPicPr>
            <a:picLocks noChangeAspect="1" noChangeArrowheads="1"/>
          </p:cNvPicPr>
          <p:nvPr/>
        </p:nvPicPr>
        <p:blipFill>
          <a:blip r:embed="rId1" cstate="print"/>
          <a:srcRect/>
          <a:stretch>
            <a:fillRect/>
          </a:stretch>
        </p:blipFill>
        <p:spPr bwMode="auto">
          <a:xfrm>
            <a:off x="1835696" y="3068637"/>
            <a:ext cx="5184575" cy="280863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19459"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zh-CN" altLang="en-US" sz="2000" dirty="0" smtClean="0"/>
              <a:t>    此对话框中包含</a:t>
            </a:r>
            <a:r>
              <a:rPr lang="en-US" altLang="zh-CN" sz="2000" dirty="0" smtClean="0"/>
              <a:t>Group</a:t>
            </a:r>
            <a:r>
              <a:rPr lang="zh-CN" altLang="zh-CN" sz="2000" dirty="0" smtClean="0"/>
              <a:t>下拉列表框</a:t>
            </a:r>
            <a:r>
              <a:rPr lang="zh-CN" altLang="en-US" sz="2000" dirty="0" smtClean="0"/>
              <a:t>，</a:t>
            </a:r>
            <a:r>
              <a:rPr lang="zh-CN" altLang="zh-CN" sz="2000" dirty="0" smtClean="0"/>
              <a:t>如图</a:t>
            </a:r>
            <a:r>
              <a:rPr lang="en-US" altLang="zh-CN" sz="2000" dirty="0" smtClean="0"/>
              <a:t>10</a:t>
            </a:r>
            <a:r>
              <a:rPr lang="zh-CN" altLang="zh-CN" sz="2000" dirty="0" smtClean="0"/>
              <a:t>所</a:t>
            </a:r>
            <a:r>
              <a:rPr lang="zh-CN" altLang="en-US" sz="2000" dirty="0" smtClean="0"/>
              <a:t>示。</a:t>
            </a:r>
            <a:r>
              <a:rPr lang="en-US" altLang="zh-CN" sz="2000" dirty="0" smtClean="0"/>
              <a:t>Group</a:t>
            </a:r>
            <a:r>
              <a:rPr lang="zh-CN" altLang="zh-CN" sz="2000" dirty="0" smtClean="0"/>
              <a:t>为某一元器件库中的各种不同族元件的集合。</a:t>
            </a:r>
            <a:r>
              <a:rPr lang="zh-CN" altLang="en-US" sz="2000" dirty="0" smtClean="0"/>
              <a:t>选取</a:t>
            </a:r>
            <a:r>
              <a:rPr lang="zh-CN" altLang="zh-CN" sz="2000" dirty="0" smtClean="0"/>
              <a:t>一个</a:t>
            </a:r>
            <a:r>
              <a:rPr lang="en-US" altLang="zh-CN" sz="2000" dirty="0" smtClean="0"/>
              <a:t>12V</a:t>
            </a:r>
            <a:r>
              <a:rPr lang="zh-CN" altLang="zh-CN" sz="2000" dirty="0" smtClean="0"/>
              <a:t>电源，一个参考接地点，以及一个</a:t>
            </a:r>
            <a:r>
              <a:rPr lang="en-US" altLang="zh-CN" sz="2000" dirty="0" smtClean="0"/>
              <a:t>20kΩ</a:t>
            </a:r>
            <a:r>
              <a:rPr lang="zh-CN" altLang="zh-CN" sz="2000" dirty="0" smtClean="0"/>
              <a:t>电阻和一个</a:t>
            </a:r>
            <a:r>
              <a:rPr lang="en-US" altLang="zh-CN" sz="2000" dirty="0" smtClean="0"/>
              <a:t>30kΩ</a:t>
            </a:r>
            <a:r>
              <a:rPr lang="zh-CN" altLang="zh-CN" sz="2000" dirty="0" smtClean="0"/>
              <a:t>电阻。为建立该实验仿真电路，单击菜单栏中的</a:t>
            </a:r>
            <a:r>
              <a:rPr lang="en-US" altLang="zh-CN" sz="2000" dirty="0" smtClean="0"/>
              <a:t>Place\Component</a:t>
            </a:r>
            <a:r>
              <a:rPr lang="zh-CN" altLang="zh-CN" sz="2000" dirty="0" smtClean="0"/>
              <a:t>，弹出如图</a:t>
            </a:r>
            <a:r>
              <a:rPr lang="en-US" altLang="zh-CN" sz="2000" dirty="0" smtClean="0"/>
              <a:t>9</a:t>
            </a:r>
            <a:r>
              <a:rPr lang="zh-CN" altLang="zh-CN" sz="2000" dirty="0" smtClean="0"/>
              <a:t>所示的对话框。</a:t>
            </a:r>
            <a:endParaRPr lang="en-US" altLang="zh-CN" sz="2000" dirty="0" smtClean="0"/>
          </a:p>
          <a:p>
            <a:pPr marL="0" indent="0" algn="just">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10 Group</a:t>
            </a:r>
            <a:r>
              <a:rPr lang="zh-CN" altLang="zh-CN" sz="1400" dirty="0" smtClean="0"/>
              <a:t>下拉列表框</a:t>
            </a: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19460" name="Picture 2" descr="2015-05-31 13-04-52"/>
          <p:cNvPicPr>
            <a:picLocks noChangeAspect="1" noChangeArrowheads="1"/>
          </p:cNvPicPr>
          <p:nvPr/>
        </p:nvPicPr>
        <p:blipFill>
          <a:blip r:embed="rId1" cstate="print"/>
          <a:srcRect/>
          <a:stretch>
            <a:fillRect/>
          </a:stretch>
        </p:blipFill>
        <p:spPr bwMode="auto">
          <a:xfrm>
            <a:off x="3131840" y="2781300"/>
            <a:ext cx="2016223" cy="2951956"/>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20483"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2</a:t>
            </a:r>
            <a:r>
              <a:rPr lang="zh-CN" altLang="en-US" sz="2000" dirty="0" smtClean="0">
                <a:latin typeface="新宋体" panose="02010609030101010101" charset="-122"/>
                <a:ea typeface="新宋体" panose="02010609030101010101" charset="-122"/>
              </a:rPr>
              <a:t>）</a:t>
            </a:r>
            <a:r>
              <a:rPr lang="zh-CN" altLang="zh-CN" sz="2000" dirty="0" smtClean="0"/>
              <a:t>连接元件之间的导线</a:t>
            </a:r>
            <a:endParaRPr lang="en-US" altLang="zh-CN" sz="2000" dirty="0" smtClean="0"/>
          </a:p>
          <a:p>
            <a:pPr marL="0" indent="0" algn="just">
              <a:buFont typeface="Wingdings 2" panose="05020102010507070707" pitchFamily="18" charset="2"/>
              <a:buNone/>
            </a:pPr>
            <a:r>
              <a:rPr lang="en-US" altLang="zh-CN" sz="2000" dirty="0" smtClean="0"/>
              <a:t>     </a:t>
            </a:r>
            <a:r>
              <a:rPr lang="zh-CN" altLang="zh-CN" sz="2000" dirty="0" smtClean="0"/>
              <a:t>待所有的元器件都已经放置于工作电路区后，开始连接导线。将鼠标移动到所要连接的器件的某个引脚上，鼠标指针会变成中间有实心黑点的十字型。单击左键后，再次移动鼠标，就会拖动出一条黑实线。将此黑实线移动到所要连接的其他元件的引脚时，再次单击鼠标，这时就会将两个元器件的引脚连接起来。</a:t>
            </a:r>
            <a:r>
              <a:rPr lang="zh-CN" altLang="en-US" sz="2000" dirty="0" smtClean="0"/>
              <a:t>连接好的电路如图</a:t>
            </a:r>
            <a:r>
              <a:rPr lang="en-US" altLang="zh-CN" sz="2000" dirty="0" smtClean="0"/>
              <a:t>11</a:t>
            </a:r>
            <a:r>
              <a:rPr lang="zh-CN" altLang="en-US" sz="2000" dirty="0" smtClean="0"/>
              <a:t>所示。</a:t>
            </a:r>
            <a:endParaRPr lang="zh-CN" altLang="zh-CN" sz="2000" dirty="0" smtClean="0"/>
          </a:p>
          <a:p>
            <a:pPr marL="0" indent="0" algn="just">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11  </a:t>
            </a:r>
            <a:r>
              <a:rPr lang="zh-CN" altLang="zh-CN" sz="1400" dirty="0" smtClean="0"/>
              <a:t>电阻串联分压电路</a:t>
            </a:r>
            <a:endParaRPr lang="en-US" altLang="zh-CN" sz="1400" dirty="0" smtClean="0"/>
          </a:p>
          <a:p>
            <a:pPr marL="0" indent="0" algn="ctr">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20484" name="Picture 2" descr="2015-05-31 13-05-34"/>
          <p:cNvPicPr>
            <a:picLocks noChangeAspect="1" noChangeArrowheads="1"/>
          </p:cNvPicPr>
          <p:nvPr/>
        </p:nvPicPr>
        <p:blipFill>
          <a:blip r:embed="rId1" cstate="print"/>
          <a:srcRect/>
          <a:stretch>
            <a:fillRect/>
          </a:stretch>
        </p:blipFill>
        <p:spPr bwMode="auto">
          <a:xfrm>
            <a:off x="2195736" y="3933824"/>
            <a:ext cx="4320480" cy="1918589"/>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21507"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3</a:t>
            </a:r>
            <a:r>
              <a:rPr lang="zh-CN" altLang="en-US" sz="2000" dirty="0" smtClean="0">
                <a:latin typeface="新宋体" panose="02010609030101010101" charset="-122"/>
                <a:ea typeface="新宋体" panose="02010609030101010101" charset="-122"/>
              </a:rPr>
              <a:t>）</a:t>
            </a:r>
            <a:r>
              <a:rPr lang="zh-CN" altLang="zh-CN" sz="2000" dirty="0" smtClean="0"/>
              <a:t>分析仿真电路</a:t>
            </a:r>
            <a:endParaRPr lang="en-US" altLang="zh-CN" sz="2000" dirty="0" smtClean="0"/>
          </a:p>
          <a:p>
            <a:pPr marL="0" indent="0">
              <a:buFont typeface="Wingdings 2" panose="05020102010507070707" pitchFamily="18" charset="2"/>
              <a:buNone/>
            </a:pPr>
            <a:r>
              <a:rPr lang="en-US" altLang="zh-CN" sz="2000" dirty="0" smtClean="0"/>
              <a:t>    </a:t>
            </a:r>
            <a:r>
              <a:rPr lang="zh-CN" altLang="zh-CN" sz="2000" dirty="0" smtClean="0"/>
              <a:t>单击</a:t>
            </a:r>
            <a:r>
              <a:rPr lang="en-US" altLang="zh-CN" sz="2000" dirty="0" smtClean="0"/>
              <a:t>Simulate\Run</a:t>
            </a:r>
            <a:r>
              <a:rPr lang="zh-CN" altLang="zh-CN" sz="2000" dirty="0" smtClean="0"/>
              <a:t>开始仿真，结果如图</a:t>
            </a:r>
            <a:r>
              <a:rPr lang="en-US" altLang="zh-CN" sz="2000" dirty="0" smtClean="0"/>
              <a:t>12</a:t>
            </a:r>
            <a:r>
              <a:rPr lang="zh-CN" altLang="zh-CN" sz="2000" dirty="0" smtClean="0"/>
              <a:t>所示。</a:t>
            </a:r>
            <a:endParaRPr lang="zh-CN" altLang="zh-CN" sz="2000" dirty="0" smtClean="0"/>
          </a:p>
          <a:p>
            <a:pPr marL="0" indent="0" algn="just">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12 </a:t>
            </a:r>
            <a:r>
              <a:rPr lang="zh-CN" altLang="zh-CN" sz="1400" dirty="0" smtClean="0"/>
              <a:t>万用表面板</a:t>
            </a: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21508" name="Picture 2"/>
          <p:cNvPicPr>
            <a:picLocks noChangeAspect="1" noChangeArrowheads="1"/>
          </p:cNvPicPr>
          <p:nvPr/>
        </p:nvPicPr>
        <p:blipFill>
          <a:blip r:embed="rId1" cstate="print"/>
          <a:srcRect/>
          <a:stretch>
            <a:fillRect/>
          </a:stretch>
        </p:blipFill>
        <p:spPr bwMode="auto">
          <a:xfrm>
            <a:off x="2771800" y="2636838"/>
            <a:ext cx="3024336" cy="2182413"/>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22531"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smtClean="0">
                <a:latin typeface="新宋体" panose="02010609030101010101" charset="-122"/>
                <a:ea typeface="新宋体" panose="02010609030101010101" charset="-122"/>
              </a:rPr>
              <a:t>4</a:t>
            </a:r>
            <a:r>
              <a:rPr lang="zh-CN" altLang="en-US" sz="2000" smtClean="0">
                <a:latin typeface="新宋体" panose="02010609030101010101" charset="-122"/>
                <a:ea typeface="新宋体" panose="02010609030101010101" charset="-122"/>
              </a:rPr>
              <a:t>）</a:t>
            </a:r>
            <a:r>
              <a:rPr lang="zh-CN" altLang="zh-CN" sz="2000" smtClean="0"/>
              <a:t>保存电路</a:t>
            </a:r>
            <a:endParaRPr lang="en-US" altLang="zh-CN" sz="2000" smtClean="0"/>
          </a:p>
          <a:p>
            <a:pPr marL="0" indent="0">
              <a:buFont typeface="Wingdings 2" panose="05020102010507070707" pitchFamily="18" charset="2"/>
              <a:buNone/>
            </a:pPr>
            <a:r>
              <a:rPr lang="en-US" altLang="zh-CN" sz="2000" smtClean="0"/>
              <a:t>     </a:t>
            </a:r>
            <a:r>
              <a:rPr lang="zh-CN" altLang="zh-CN" sz="2000" smtClean="0"/>
              <a:t>创建电路、编辑电路、仿真分析等工作完成后，可以将电路文件存盘。存盘的方法与其他</a:t>
            </a:r>
            <a:r>
              <a:rPr lang="en-US" altLang="zh-CN" sz="2000" smtClean="0"/>
              <a:t>Windows</a:t>
            </a:r>
            <a:r>
              <a:rPr lang="zh-CN" altLang="zh-CN" sz="2000" smtClean="0"/>
              <a:t>应用软件一样，第一次保存新创建的电路文件时，默认的文件名为</a:t>
            </a:r>
            <a:r>
              <a:rPr lang="en-US" altLang="zh-CN" sz="2000" smtClean="0"/>
              <a:t>Design1.ms12</a:t>
            </a:r>
            <a:r>
              <a:rPr lang="zh-CN" altLang="zh-CN" sz="2000" smtClean="0"/>
              <a:t>，当然，也可以更改文件名和存放路径。</a:t>
            </a:r>
            <a:endParaRPr lang="zh-CN" altLang="zh-CN" sz="2000" smtClean="0"/>
          </a:p>
          <a:p>
            <a:pPr marL="0" indent="0" algn="just">
              <a:buFont typeface="Wingdings 2" panose="05020102010507070707" pitchFamily="18" charset="2"/>
              <a:buNone/>
            </a:pPr>
            <a:endParaRPr lang="en-US" altLang="zh-CN" sz="2000" smtClean="0"/>
          </a:p>
          <a:p>
            <a:pPr marL="0" indent="0">
              <a:buFont typeface="Wingdings 2" panose="05020102010507070707" pitchFamily="18" charset="2"/>
              <a:buNone/>
            </a:pPr>
            <a:r>
              <a:rPr lang="en-US" altLang="zh-CN" sz="1400" smtClean="0"/>
              <a:t>                                  </a:t>
            </a:r>
            <a:endParaRPr lang="en-US" altLang="zh-CN" sz="1400" smtClean="0"/>
          </a:p>
          <a:p>
            <a:pPr marL="0" indent="0" algn="ctr">
              <a:buFont typeface="Wingdings 2" panose="05020102010507070707" pitchFamily="18" charset="2"/>
              <a:buNone/>
            </a:pPr>
            <a:endParaRPr lang="en-US" altLang="zh-CN" sz="1400" smtClean="0"/>
          </a:p>
          <a:p>
            <a:pPr marL="0" indent="0" algn="ctr">
              <a:buFont typeface="Wingdings 2" panose="05020102010507070707" pitchFamily="18" charset="2"/>
              <a:buNone/>
            </a:pPr>
            <a:endParaRPr lang="en-US" altLang="zh-CN" sz="1400" smtClean="0"/>
          </a:p>
          <a:p>
            <a:pPr marL="0" indent="0" algn="ctr">
              <a:buFont typeface="Wingdings 2" panose="05020102010507070707" pitchFamily="18" charset="2"/>
              <a:buNone/>
            </a:pPr>
            <a:endParaRPr lang="en-US" altLang="zh-CN" sz="1400" smtClean="0"/>
          </a:p>
          <a:p>
            <a:pPr marL="0" indent="0" algn="ctr">
              <a:buFont typeface="Wingdings 2" panose="05020102010507070707" pitchFamily="18" charset="2"/>
              <a:buNone/>
            </a:pPr>
            <a:endParaRPr lang="en-US" altLang="zh-CN" sz="1400" smtClean="0"/>
          </a:p>
          <a:p>
            <a:pPr marL="0" indent="0" algn="ctr">
              <a:buFont typeface="Wingdings 2" panose="05020102010507070707" pitchFamily="18" charset="2"/>
              <a:buNone/>
            </a:pPr>
            <a:endParaRPr lang="en-US" altLang="zh-CN" sz="1400" smtClean="0"/>
          </a:p>
          <a:p>
            <a:pPr marL="0" indent="0" algn="ctr">
              <a:buFont typeface="Wingdings 2" panose="05020102010507070707" pitchFamily="18" charset="2"/>
              <a:buNone/>
            </a:pPr>
            <a:endParaRPr lang="en-US" altLang="zh-CN" sz="1400" smtClean="0"/>
          </a:p>
          <a:p>
            <a:pPr marL="0" indent="0">
              <a:buFont typeface="Wingdings 2" panose="05020102010507070707" pitchFamily="18" charset="2"/>
              <a:buNone/>
            </a:pPr>
            <a:endParaRPr lang="en-US" altLang="zh-CN" sz="1400" smtClean="0"/>
          </a:p>
          <a:p>
            <a:pPr marL="0" indent="0">
              <a:buFont typeface="Wingdings 2" panose="05020102010507070707" pitchFamily="18" charset="2"/>
              <a:buNone/>
            </a:pPr>
            <a:endParaRPr lang="en-US" altLang="zh-CN" sz="1400" smtClean="0"/>
          </a:p>
          <a:p>
            <a:pPr marL="0" indent="0">
              <a:buFont typeface="Wingdings 2" panose="05020102010507070707" pitchFamily="18" charset="2"/>
              <a:buNone/>
            </a:pPr>
            <a:endParaRPr lang="en-US" altLang="zh-CN" sz="2000" smtClean="0"/>
          </a:p>
          <a:p>
            <a:pPr marL="0" indent="0">
              <a:buFont typeface="Wingdings 2" panose="05020102010507070707" pitchFamily="18" charset="2"/>
              <a:buNone/>
            </a:pPr>
            <a:r>
              <a:rPr lang="en-US" altLang="zh-CN" sz="2000" smtClean="0"/>
              <a:t> </a:t>
            </a:r>
            <a:endParaRPr lang="en-US" altLang="zh-CN" sz="2000" smtClean="0"/>
          </a:p>
          <a:p>
            <a:pPr marL="0" indent="0">
              <a:buFont typeface="Wingdings 2" panose="05020102010507070707" pitchFamily="18" charset="2"/>
              <a:buNone/>
            </a:pPr>
            <a:r>
              <a:rPr lang="en-US" altLang="zh-CN" sz="2000" smtClean="0"/>
              <a:t>        </a:t>
            </a:r>
            <a:endParaRPr lang="zh-CN" altLang="zh-CN" sz="2000" smtClean="0"/>
          </a:p>
          <a:p>
            <a:pPr marL="0" indent="0" eaLnBrk="1" hangingPunct="1">
              <a:buFont typeface="Wingdings 2" panose="05020102010507070707" pitchFamily="18" charset="2"/>
              <a:buNone/>
            </a:pPr>
            <a:endParaRPr lang="en-US" altLang="zh-CN" sz="14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smtClean="0">
                <a:latin typeface="新宋体" panose="02010609030101010101" charset="-122"/>
                <a:ea typeface="新宋体" panose="02010609030101010101" charset="-122"/>
              </a:rPr>
              <a:t>              </a:t>
            </a:r>
            <a:endParaRPr lang="en-US" altLang="zh-CN" sz="2000" smtClean="0"/>
          </a:p>
          <a:p>
            <a:pPr marL="0" indent="0" eaLnBrk="1" hangingPunct="1">
              <a:buFont typeface="Wingdings 2" panose="05020102010507070707" pitchFamily="18" charset="2"/>
              <a:buNone/>
            </a:pPr>
            <a:endParaRPr lang="en-US" altLang="zh-CN" sz="2000" smtClean="0"/>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smtClean="0">
              <a:latin typeface="新宋体" panose="02010609030101010101" charset="-122"/>
              <a:ea typeface="新宋体" panose="02010609030101010101" charset="-122"/>
            </a:endParaRP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23555"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5</a:t>
            </a:r>
            <a:r>
              <a:rPr lang="zh-CN" altLang="en-US" sz="2000" dirty="0" smtClean="0">
                <a:latin typeface="新宋体" panose="02010609030101010101" charset="-122"/>
                <a:ea typeface="新宋体" panose="02010609030101010101" charset="-122"/>
              </a:rPr>
              <a:t>）</a:t>
            </a:r>
            <a:r>
              <a:rPr lang="zh-CN" altLang="zh-CN" sz="2000" dirty="0" smtClean="0"/>
              <a:t>扩展条</a:t>
            </a:r>
            <a:r>
              <a:rPr lang="en-US" altLang="zh-CN" sz="2000" dirty="0" smtClean="0"/>
              <a:t>Spreadsheet View</a:t>
            </a:r>
            <a:r>
              <a:rPr lang="zh-CN" altLang="zh-CN" sz="2000" dirty="0" smtClean="0"/>
              <a:t>（电路元件属性视窗）的应用</a:t>
            </a:r>
            <a:endParaRPr lang="en-US" altLang="zh-CN" sz="2000" dirty="0" smtClean="0"/>
          </a:p>
          <a:p>
            <a:pPr marL="0" indent="0">
              <a:buFont typeface="Wingdings 2" panose="05020102010507070707" pitchFamily="18" charset="2"/>
              <a:buNone/>
            </a:pPr>
            <a:r>
              <a:rPr lang="en-US" altLang="zh-CN" sz="2000" dirty="0" smtClean="0"/>
              <a:t>     </a:t>
            </a:r>
            <a:r>
              <a:rPr lang="zh-CN" altLang="zh-CN" sz="2000" dirty="0" smtClean="0"/>
              <a:t>在</a:t>
            </a:r>
            <a:r>
              <a:rPr lang="en-US" altLang="zh-CN" sz="2000" dirty="0" err="1" smtClean="0"/>
              <a:t>Multisim</a:t>
            </a:r>
            <a:r>
              <a:rPr lang="zh-CN" altLang="zh-CN" sz="2000" dirty="0" smtClean="0"/>
              <a:t>系列软件不同版本中创建一个电路以后，可以通过电路元件属性视窗来查看电路元件的属性，单击</a:t>
            </a:r>
            <a:r>
              <a:rPr lang="en-US" altLang="zh-CN" sz="2000" dirty="0" smtClean="0"/>
              <a:t>Spreadsheet View</a:t>
            </a:r>
            <a:r>
              <a:rPr lang="zh-CN" altLang="zh-CN" sz="2000" dirty="0" smtClean="0"/>
              <a:t>窗口中的</a:t>
            </a:r>
            <a:r>
              <a:rPr lang="en-US" altLang="zh-CN" sz="2000" dirty="0" smtClean="0"/>
              <a:t>Components</a:t>
            </a:r>
            <a:r>
              <a:rPr lang="zh-CN" altLang="zh-CN" sz="2000" dirty="0" smtClean="0"/>
              <a:t>标签，结果如图</a:t>
            </a:r>
            <a:r>
              <a:rPr lang="en-US" altLang="zh-CN" sz="2000" dirty="0" smtClean="0"/>
              <a:t>13</a:t>
            </a:r>
            <a:r>
              <a:rPr lang="zh-CN" altLang="zh-CN" sz="2000" dirty="0" smtClean="0"/>
              <a:t>所示。</a:t>
            </a:r>
            <a:endParaRPr lang="zh-CN"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13   </a:t>
            </a:r>
            <a:r>
              <a:rPr lang="zh-CN" altLang="zh-CN" sz="1400" dirty="0" smtClean="0"/>
              <a:t>电路元件属性视窗</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23556" name="Picture 2"/>
          <p:cNvPicPr>
            <a:picLocks noChangeAspect="1" noChangeArrowheads="1"/>
          </p:cNvPicPr>
          <p:nvPr/>
        </p:nvPicPr>
        <p:blipFill>
          <a:blip r:embed="rId1" cstate="print"/>
          <a:srcRect/>
          <a:stretch>
            <a:fillRect/>
          </a:stretch>
        </p:blipFill>
        <p:spPr bwMode="auto">
          <a:xfrm>
            <a:off x="896749" y="3357562"/>
            <a:ext cx="7262835" cy="1655614"/>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a:t>
            </a:r>
            <a:r>
              <a:rPr lang="en-US" altLang="zh-CN" dirty="0" smtClean="0"/>
              <a:t>12.0</a:t>
            </a:r>
            <a:r>
              <a:rPr lang="zh-CN" altLang="en-US" dirty="0" smtClean="0"/>
              <a:t>电路建立过程</a:t>
            </a:r>
            <a:endParaRPr lang="zh-CN" altLang="en-US" dirty="0"/>
          </a:p>
        </p:txBody>
      </p:sp>
      <p:sp>
        <p:nvSpPr>
          <p:cNvPr id="24579" name="内容占位符 2"/>
          <p:cNvSpPr>
            <a:spLocks noGrp="1"/>
          </p:cNvSpPr>
          <p:nvPr>
            <p:ph idx="1"/>
          </p:nvPr>
        </p:nvSpPr>
        <p:spPr>
          <a:xfrm>
            <a:off x="395288" y="981075"/>
            <a:ext cx="7239000" cy="5456238"/>
          </a:xfrm>
        </p:spPr>
        <p:txBody>
          <a:bodyPr/>
          <a:lstStyle/>
          <a:p>
            <a:pPr marL="0" indent="0" eaLnBrk="1" hangingPunct="1">
              <a:buFont typeface="Wingdings 2" panose="05020102010507070707" pitchFamily="18" charset="2"/>
              <a:buNone/>
            </a:pPr>
            <a:r>
              <a:rPr lang="zh-CN" altLang="en-US" sz="2000" dirty="0" smtClean="0"/>
              <a:t>      将</a:t>
            </a:r>
            <a:r>
              <a:rPr lang="zh-CN" altLang="zh-CN" sz="2000" dirty="0" smtClean="0"/>
              <a:t>鼠标指向电路元件属性视窗中的</a:t>
            </a:r>
            <a:r>
              <a:rPr lang="en-US" altLang="zh-CN" sz="2000" dirty="0" smtClean="0"/>
              <a:t>Component</a:t>
            </a:r>
            <a:r>
              <a:rPr lang="zh-CN" altLang="zh-CN" sz="2000" dirty="0" smtClean="0"/>
              <a:t>标签的</a:t>
            </a:r>
            <a:r>
              <a:rPr lang="en-US" altLang="zh-CN" sz="2000" dirty="0" smtClean="0"/>
              <a:t>Value</a:t>
            </a:r>
            <a:r>
              <a:rPr lang="zh-CN" altLang="zh-CN" sz="2000" dirty="0" smtClean="0"/>
              <a:t>选项后，双击</a:t>
            </a:r>
            <a:r>
              <a:rPr lang="en-US" altLang="zh-CN" sz="2000" dirty="0" smtClean="0"/>
              <a:t>12V</a:t>
            </a:r>
            <a:r>
              <a:rPr lang="zh-CN" altLang="zh-CN" sz="2000" dirty="0" smtClean="0"/>
              <a:t>字体，弹出如图</a:t>
            </a:r>
            <a:r>
              <a:rPr lang="en-US" altLang="zh-CN" sz="2000" dirty="0" smtClean="0"/>
              <a:t>14</a:t>
            </a:r>
            <a:r>
              <a:rPr lang="zh-CN" altLang="zh-CN" sz="2000" dirty="0" smtClean="0"/>
              <a:t>所示的对话框。在</a:t>
            </a:r>
            <a:r>
              <a:rPr lang="zh-CN" altLang="en-US" sz="2000" dirty="0" smtClean="0"/>
              <a:t>该</a:t>
            </a:r>
            <a:r>
              <a:rPr lang="zh-CN" altLang="zh-CN" sz="2000" dirty="0" smtClean="0"/>
              <a:t>对话框中，选中</a:t>
            </a:r>
            <a:r>
              <a:rPr lang="en-US" altLang="zh-CN" sz="2000" dirty="0" smtClean="0"/>
              <a:t>Value</a:t>
            </a:r>
            <a:r>
              <a:rPr lang="zh-CN" altLang="zh-CN" sz="2000" dirty="0" smtClean="0"/>
              <a:t>标签。在该对话框中可以根据需要输入电源的大小（</a:t>
            </a:r>
            <a:r>
              <a:rPr lang="en-US" altLang="zh-CN" sz="2000" dirty="0" smtClean="0"/>
              <a:t>Voltage</a:t>
            </a:r>
            <a:r>
              <a:rPr lang="zh-CN" altLang="zh-CN" sz="2000" dirty="0" smtClean="0"/>
              <a:t>）以及交流分析的幅度、相位（</a:t>
            </a:r>
            <a:r>
              <a:rPr lang="en-US" altLang="zh-CN" sz="2000" dirty="0" smtClean="0"/>
              <a:t>Magnitude/Phase</a:t>
            </a:r>
            <a:r>
              <a:rPr lang="zh-CN" altLang="zh-CN" sz="2000" dirty="0" smtClean="0"/>
              <a:t>）等参数。本例中，在</a:t>
            </a:r>
            <a:r>
              <a:rPr lang="en-US" altLang="zh-CN" sz="2000" dirty="0" smtClean="0"/>
              <a:t>Voltage</a:t>
            </a:r>
            <a:r>
              <a:rPr lang="zh-CN" altLang="zh-CN" sz="2000" dirty="0" smtClean="0"/>
              <a:t>项中填入</a:t>
            </a:r>
            <a:r>
              <a:rPr lang="en-US" altLang="zh-CN" sz="2000" dirty="0" smtClean="0"/>
              <a:t>50V</a:t>
            </a:r>
            <a:r>
              <a:rPr lang="zh-CN" altLang="zh-CN" sz="2000" dirty="0" smtClean="0"/>
              <a:t>，然后单击</a:t>
            </a:r>
            <a:r>
              <a:rPr lang="en-US" altLang="zh-CN" sz="2000" dirty="0" smtClean="0"/>
              <a:t>OK</a:t>
            </a:r>
            <a:r>
              <a:rPr lang="zh-CN" altLang="zh-CN" sz="2000" dirty="0" smtClean="0"/>
              <a:t>按钮，退出该对话框。</a:t>
            </a:r>
            <a:endParaRPr lang="zh-CN"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zh-CN" sz="1400" dirty="0" smtClean="0"/>
              <a:t>图</a:t>
            </a:r>
            <a:r>
              <a:rPr lang="en-US" altLang="zh-CN" sz="1400" dirty="0" smtClean="0"/>
              <a:t>14 </a:t>
            </a:r>
            <a:r>
              <a:rPr lang="zh-CN" altLang="zh-CN" sz="1400" dirty="0" smtClean="0"/>
              <a:t>通过电路元件属性视窗设置电源属性</a:t>
            </a:r>
            <a:endParaRPr lang="zh-CN"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endParaRPr lang="zh-CN" altLang="zh-CN" sz="2000" dirty="0" smtClean="0"/>
          </a:p>
          <a:p>
            <a:pPr marL="0" indent="0" eaLnBrk="1" hangingPunct="1">
              <a:buFont typeface="Wingdings 2" panose="05020102010507070707" pitchFamily="18" charset="2"/>
              <a:buNone/>
            </a:pPr>
            <a:endParaRPr lang="en-US" altLang="zh-CN" sz="14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r>
              <a:rPr lang="en-US" altLang="zh-CN" sz="2000" dirty="0" smtClean="0">
                <a:latin typeface="新宋体" panose="02010609030101010101" charset="-122"/>
                <a:ea typeface="新宋体" panose="02010609030101010101" charset="-122"/>
              </a:rPr>
              <a:t>              </a:t>
            </a:r>
            <a:endParaRPr lang="en-US"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en-US" altLang="zh-CN" sz="2000" dirty="0" smtClean="0">
              <a:latin typeface="新宋体" panose="02010609030101010101" charset="-122"/>
              <a:ea typeface="新宋体" panose="02010609030101010101" charset="-122"/>
            </a:endParaRPr>
          </a:p>
          <a:p>
            <a:pPr marL="0" indent="0" eaLnBrk="1" hangingPunct="1">
              <a:buFont typeface="Wingdings 2" panose="05020102010507070707" pitchFamily="18" charset="2"/>
              <a:buNone/>
            </a:pPr>
            <a:endParaRPr lang="zh-CN" altLang="en-US" sz="2000" dirty="0" smtClean="0">
              <a:latin typeface="新宋体" panose="02010609030101010101" charset="-122"/>
              <a:ea typeface="新宋体" panose="02010609030101010101" charset="-122"/>
            </a:endParaRPr>
          </a:p>
        </p:txBody>
      </p:sp>
      <p:pic>
        <p:nvPicPr>
          <p:cNvPr id="24580" name="Picture 2" descr="2015-05-31 13-17-04"/>
          <p:cNvPicPr>
            <a:picLocks noChangeAspect="1" noChangeArrowheads="1"/>
          </p:cNvPicPr>
          <p:nvPr/>
        </p:nvPicPr>
        <p:blipFill>
          <a:blip r:embed="rId1" cstate="print"/>
          <a:srcRect/>
          <a:stretch>
            <a:fillRect/>
          </a:stretch>
        </p:blipFill>
        <p:spPr bwMode="auto">
          <a:xfrm>
            <a:off x="2627784" y="3068638"/>
            <a:ext cx="2736304" cy="2868332"/>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7239000" cy="608013"/>
          </a:xfrm>
        </p:spPr>
        <p:txBody>
          <a:bodyPr/>
          <a:lstStyle/>
          <a:p>
            <a:pPr eaLnBrk="1" fontAlgn="auto" hangingPunct="1">
              <a:spcAft>
                <a:spcPts val="0"/>
              </a:spcAft>
              <a:defRPr/>
            </a:pPr>
            <a:r>
              <a:rPr lang="en-US" altLang="zh-CN" dirty="0"/>
              <a:t> </a:t>
            </a:r>
            <a:r>
              <a:rPr lang="en-US" altLang="zh-CN" dirty="0" err="1"/>
              <a:t>Multisim</a:t>
            </a:r>
            <a:r>
              <a:rPr lang="en-US" altLang="zh-CN" dirty="0"/>
              <a:t> 12.0</a:t>
            </a:r>
            <a:r>
              <a:rPr lang="zh-CN" altLang="en-US" dirty="0"/>
              <a:t>电路建立过程</a:t>
            </a:r>
            <a:endParaRPr lang="zh-CN" altLang="en-US" dirty="0"/>
          </a:p>
        </p:txBody>
      </p:sp>
      <p:sp>
        <p:nvSpPr>
          <p:cNvPr id="25603" name="内容占位符 2"/>
          <p:cNvSpPr>
            <a:spLocks noGrp="1"/>
          </p:cNvSpPr>
          <p:nvPr>
            <p:ph idx="1"/>
          </p:nvPr>
        </p:nvSpPr>
        <p:spPr>
          <a:xfrm>
            <a:off x="457200" y="1000125"/>
            <a:ext cx="6995120" cy="5456238"/>
          </a:xfrm>
        </p:spPr>
        <p:txBody>
          <a:bodyPr/>
          <a:lstStyle/>
          <a:p>
            <a:pPr marL="0" indent="0">
              <a:buFont typeface="Wingdings 2" panose="05020102010507070707" pitchFamily="18" charset="2"/>
              <a:buNone/>
            </a:pPr>
            <a:r>
              <a:rPr lang="en-US" altLang="zh-CN" sz="2000" dirty="0" smtClean="0"/>
              <a:t>       Spreadsheet View</a:t>
            </a:r>
            <a:r>
              <a:rPr lang="zh-CN" altLang="zh-CN" sz="2000" dirty="0" smtClean="0"/>
              <a:t>还提供了电路元件的定位、替换的便捷操作，在图</a:t>
            </a:r>
            <a:r>
              <a:rPr lang="en-US" altLang="zh-CN" sz="2000" dirty="0" smtClean="0"/>
              <a:t>13</a:t>
            </a:r>
            <a:r>
              <a:rPr lang="zh-CN" altLang="zh-CN" sz="2000" dirty="0" smtClean="0"/>
              <a:t>中，选中电路元件</a:t>
            </a:r>
            <a:r>
              <a:rPr lang="en-US" altLang="zh-CN" sz="2000" dirty="0" smtClean="0"/>
              <a:t>V1</a:t>
            </a:r>
            <a:r>
              <a:rPr lang="zh-CN" altLang="zh-CN" sz="2000" dirty="0" smtClean="0"/>
              <a:t>后，</a:t>
            </a:r>
            <a:r>
              <a:rPr lang="en-US" altLang="zh-CN" sz="2000" dirty="0" smtClean="0"/>
              <a:t>Spreadsheet View</a:t>
            </a:r>
            <a:r>
              <a:rPr lang="zh-CN" altLang="zh-CN" sz="2000" dirty="0" smtClean="0"/>
              <a:t>窗口上方的</a:t>
            </a:r>
            <a:r>
              <a:rPr lang="en-US" altLang="zh-CN" sz="2000" dirty="0" smtClean="0"/>
              <a:t>3</a:t>
            </a:r>
            <a:r>
              <a:rPr lang="zh-CN" altLang="zh-CN" sz="2000" dirty="0" smtClean="0"/>
              <a:t>个按钮将被激活，此时如果单击第</a:t>
            </a:r>
            <a:r>
              <a:rPr lang="en-US" altLang="zh-CN" sz="2000" dirty="0" smtClean="0"/>
              <a:t>1</a:t>
            </a:r>
            <a:r>
              <a:rPr lang="zh-CN" altLang="zh-CN" sz="2000" dirty="0" smtClean="0"/>
              <a:t>个按钮（绿底白色向右指的箭头），则在电路工作区中元件</a:t>
            </a:r>
            <a:r>
              <a:rPr lang="en-US" altLang="zh-CN" sz="2000" dirty="0" smtClean="0"/>
              <a:t>V1</a:t>
            </a:r>
            <a:r>
              <a:rPr lang="zh-CN" altLang="zh-CN" sz="2000" dirty="0" smtClean="0"/>
              <a:t>将被突出选中；单击第</a:t>
            </a:r>
            <a:r>
              <a:rPr lang="en-US" altLang="zh-CN" sz="2000" dirty="0" smtClean="0"/>
              <a:t>2</a:t>
            </a:r>
            <a:r>
              <a:rPr lang="zh-CN" altLang="zh-CN" sz="2000" dirty="0" smtClean="0"/>
              <a:t>个按钮后，将弹出图</a:t>
            </a:r>
            <a:r>
              <a:rPr lang="en-US" altLang="zh-CN" sz="2000" dirty="0" smtClean="0"/>
              <a:t>15</a:t>
            </a:r>
            <a:r>
              <a:rPr lang="zh-CN" altLang="zh-CN" sz="2000" dirty="0" smtClean="0"/>
              <a:t>选择电源的对话框，用户可以根据自身需要来更换元件；单击第</a:t>
            </a:r>
            <a:r>
              <a:rPr lang="en-US" altLang="zh-CN" sz="2000" dirty="0" smtClean="0"/>
              <a:t>3</a:t>
            </a:r>
            <a:r>
              <a:rPr lang="zh-CN" altLang="zh-CN" sz="2000" dirty="0" smtClean="0"/>
              <a:t>个按钮可以选中所有的电路元件，然后选择</a:t>
            </a:r>
            <a:r>
              <a:rPr lang="en-US" altLang="zh-CN" sz="2000" dirty="0" smtClean="0"/>
              <a:t>Export</a:t>
            </a:r>
            <a:r>
              <a:rPr lang="zh-CN" altLang="zh-CN" sz="2000" dirty="0" smtClean="0"/>
              <a:t>菜单中的</a:t>
            </a:r>
            <a:r>
              <a:rPr lang="en-US" altLang="zh-CN" sz="2000" dirty="0" smtClean="0"/>
              <a:t>Export to Excel</a:t>
            </a:r>
            <a:r>
              <a:rPr lang="zh-CN" altLang="zh-CN" sz="2000" dirty="0" smtClean="0"/>
              <a:t>项，可以把电路元件清单转化成文本文档。</a:t>
            </a: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endParaRPr lang="en-US" altLang="zh-CN" sz="20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15 </a:t>
            </a:r>
            <a:r>
              <a:rPr lang="zh-CN" altLang="zh-CN" sz="1400" dirty="0" smtClean="0"/>
              <a:t>选择电源对话框</a:t>
            </a:r>
            <a:endParaRPr lang="en-US" altLang="zh-CN" sz="1400" dirty="0" smtClean="0"/>
          </a:p>
          <a:p>
            <a:pPr marL="0" indent="0" algn="ctr">
              <a:buFont typeface="Wingdings 2" panose="05020102010507070707" pitchFamily="18" charset="2"/>
              <a:buNone/>
            </a:pPr>
            <a:endParaRPr lang="zh-CN" altLang="zh-CN" sz="1400" dirty="0" smtClean="0"/>
          </a:p>
          <a:p>
            <a:pPr marL="0" indent="0">
              <a:buFont typeface="Wingdings 2" panose="05020102010507070707" pitchFamily="18" charset="2"/>
              <a:buNone/>
            </a:pPr>
            <a:endParaRPr lang="en-US" altLang="zh-CN" sz="2000" dirty="0" smtClean="0"/>
          </a:p>
          <a:p>
            <a:pPr marL="0" indent="0">
              <a:buFont typeface="Wingdings 2" panose="05020102010507070707" pitchFamily="18" charset="2"/>
              <a:buNone/>
            </a:pPr>
            <a:r>
              <a:rPr lang="zh-CN" altLang="en-US" sz="2000" dirty="0" smtClean="0"/>
              <a:t>                              </a:t>
            </a:r>
            <a:endParaRPr lang="zh-CN" altLang="zh-CN" sz="2000" dirty="0" smtClean="0"/>
          </a:p>
        </p:txBody>
      </p:sp>
      <p:pic>
        <p:nvPicPr>
          <p:cNvPr id="25604" name="Picture 5"/>
          <p:cNvPicPr>
            <a:picLocks noChangeAspect="1" noChangeArrowheads="1"/>
          </p:cNvPicPr>
          <p:nvPr/>
        </p:nvPicPr>
        <p:blipFill>
          <a:blip r:embed="rId1" cstate="print"/>
          <a:srcRect/>
          <a:stretch>
            <a:fillRect/>
          </a:stretch>
        </p:blipFill>
        <p:spPr bwMode="auto">
          <a:xfrm>
            <a:off x="2700338" y="3644900"/>
            <a:ext cx="3095798" cy="2376388"/>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1"/>
          </p:nvPr>
        </p:nvSpPr>
        <p:spPr/>
        <p:txBody>
          <a:bodyPr/>
          <a:lstStyle/>
          <a:p>
            <a:pPr>
              <a:defRPr/>
            </a:pPr>
            <a:fld id="{3AD074B8-6AC8-4797-A3E2-E89C69A4C924}" type="slidenum">
              <a:rPr lang="zh-CN" altLang="en-US" smtClean="0"/>
            </a:fld>
            <a:endParaRPr lang="en-US" altLang="zh-CN"/>
          </a:p>
        </p:txBody>
      </p:sp>
      <p:sp>
        <p:nvSpPr>
          <p:cNvPr id="5" name="标题 1"/>
          <p:cNvSpPr txBox="1"/>
          <p:nvPr/>
        </p:nvSpPr>
        <p:spPr bwMode="auto">
          <a:xfrm>
            <a:off x="683568" y="0"/>
            <a:ext cx="7716692" cy="735360"/>
          </a:xfrm>
          <a:prstGeom prst="rect">
            <a:avLst/>
          </a:prstGeom>
          <a:noFill/>
          <a:ln w="9525">
            <a:noFill/>
            <a:miter lim="800000"/>
          </a:ln>
        </p:spPr>
        <p:txBody>
          <a:bodyPr vert="horz" wrap="square" lIns="91440" tIns="45720" rIns="91440" bIns="45720" numCol="1" anchor="ctr" anchorCtr="0" compatLnSpc="1"/>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第二节</a:t>
            </a:r>
            <a:r>
              <a:rPr kumimoji="0" lang="zh-CN" altLang="en-US" sz="2800" b="1" i="0" u="none" strike="noStrike" kern="0" cap="none" spc="0" normalizeH="0" noProof="0" dirty="0" smtClean="0">
                <a:ln>
                  <a:noFill/>
                </a:ln>
                <a:solidFill>
                  <a:schemeClr val="bg2"/>
                </a:solidFill>
                <a:effectLst/>
                <a:uLnTx/>
                <a:uFillTx/>
                <a:latin typeface="+mj-lt"/>
                <a:ea typeface="+mj-ea"/>
                <a:cs typeface="+mj-cs"/>
              </a:rPr>
              <a:t>  </a:t>
            </a:r>
            <a: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t>Multisim12.0</a:t>
            </a:r>
            <a:r>
              <a:rPr kumimoji="0" lang="zh-CN" altLang="zh-CN" sz="2800" b="1" i="0" u="none" strike="noStrike" kern="0" cap="none" spc="0" normalizeH="0" baseline="0" noProof="0" dirty="0" smtClean="0">
                <a:ln>
                  <a:noFill/>
                </a:ln>
                <a:solidFill>
                  <a:schemeClr val="bg2"/>
                </a:solidFill>
                <a:effectLst/>
                <a:uLnTx/>
                <a:uFillTx/>
                <a:latin typeface="+mj-lt"/>
                <a:ea typeface="+mj-ea"/>
                <a:cs typeface="+mj-cs"/>
              </a:rPr>
              <a:t>的分析方法</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sp>
        <p:nvSpPr>
          <p:cNvPr id="6" name="标题 1"/>
          <p:cNvSpPr txBox="1"/>
          <p:nvPr/>
        </p:nvSpPr>
        <p:spPr bwMode="auto">
          <a:xfrm>
            <a:off x="827584" y="1052736"/>
            <a:ext cx="7239000" cy="60863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0" cap="none" spc="0" normalizeH="0" baseline="0" noProof="0" smtClean="0">
                <a:ln>
                  <a:noFill/>
                </a:ln>
                <a:solidFill>
                  <a:schemeClr val="bg2"/>
                </a:solidFill>
                <a:effectLst/>
                <a:uLnTx/>
                <a:uFillTx/>
                <a:latin typeface="+mj-lt"/>
                <a:ea typeface="+mj-ea"/>
                <a:cs typeface="+mj-cs"/>
              </a:rPr>
              <a:t>目录</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grpSp>
        <p:nvGrpSpPr>
          <p:cNvPr id="7" name="组合 4"/>
          <p:cNvGrpSpPr/>
          <p:nvPr/>
        </p:nvGrpSpPr>
        <p:grpSpPr bwMode="auto">
          <a:xfrm>
            <a:off x="1043608" y="1772816"/>
            <a:ext cx="4103688" cy="1117600"/>
            <a:chOff x="2267744" y="195486"/>
            <a:chExt cx="4104456" cy="1117366"/>
          </a:xfrm>
        </p:grpSpPr>
        <p:sp>
          <p:nvSpPr>
            <p:cNvPr id="8" name="椭圆 7"/>
            <p:cNvSpPr/>
            <p:nvPr/>
          </p:nvSpPr>
          <p:spPr>
            <a:xfrm>
              <a:off x="2267744" y="195486"/>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圆角矩形 8"/>
            <p:cNvSpPr/>
            <p:nvPr/>
          </p:nvSpPr>
          <p:spPr>
            <a:xfrm>
              <a:off x="2945734" y="474828"/>
              <a:ext cx="3426466"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椭圆 9"/>
            <p:cNvSpPr/>
            <p:nvPr/>
          </p:nvSpPr>
          <p:spPr>
            <a:xfrm>
              <a:off x="2347134" y="274844"/>
              <a:ext cx="957442"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8"/>
          <p:cNvGrpSpPr/>
          <p:nvPr/>
        </p:nvGrpSpPr>
        <p:grpSpPr bwMode="auto">
          <a:xfrm>
            <a:off x="1835696" y="3933056"/>
            <a:ext cx="4103687" cy="1117600"/>
            <a:chOff x="2627784" y="1392664"/>
            <a:chExt cx="4104456" cy="1117366"/>
          </a:xfrm>
        </p:grpSpPr>
        <p:sp>
          <p:nvSpPr>
            <p:cNvPr id="12" name="椭圆 11"/>
            <p:cNvSpPr/>
            <p:nvPr/>
          </p:nvSpPr>
          <p:spPr>
            <a:xfrm>
              <a:off x="2627784" y="1392664"/>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圆角矩形 12"/>
            <p:cNvSpPr/>
            <p:nvPr/>
          </p:nvSpPr>
          <p:spPr>
            <a:xfrm>
              <a:off x="3305773" y="1672005"/>
              <a:ext cx="3426467"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707174" y="1472022"/>
              <a:ext cx="957441"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5" name="TextBox 24"/>
          <p:cNvSpPr txBox="1">
            <a:spLocks noChangeArrowheads="1"/>
          </p:cNvSpPr>
          <p:nvPr/>
        </p:nvSpPr>
        <p:spPr bwMode="auto">
          <a:xfrm>
            <a:off x="1331640" y="2060848"/>
            <a:ext cx="584200" cy="523875"/>
          </a:xfrm>
          <a:prstGeom prst="rect">
            <a:avLst/>
          </a:prstGeom>
          <a:noFill/>
          <a:ln w="9525">
            <a:noFill/>
            <a:miter lim="800000"/>
          </a:ln>
        </p:spPr>
        <p:txBody>
          <a:bodyPr wrap="none">
            <a:spAutoFit/>
          </a:bodyPr>
          <a:lstStyle/>
          <a:p>
            <a:r>
              <a:rPr lang="en-US" altLang="zh-CN" sz="2800" b="1" dirty="0">
                <a:solidFill>
                  <a:srgbClr val="FFC000"/>
                </a:solidFill>
                <a:latin typeface="Arial Unicode MS" panose="020B0604020202020204" charset="-122"/>
                <a:ea typeface="Arial Unicode MS" panose="020B0604020202020204" charset="-122"/>
                <a:cs typeface="Arial Unicode MS" panose="020B0604020202020204" charset="-122"/>
              </a:rPr>
              <a:t>01</a:t>
            </a:r>
            <a:endParaRPr lang="zh-CN" altLang="en-US" sz="2800" b="1" dirty="0">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16" name="TextBox 25"/>
          <p:cNvSpPr txBox="1">
            <a:spLocks noChangeArrowheads="1"/>
          </p:cNvSpPr>
          <p:nvPr/>
        </p:nvSpPr>
        <p:spPr bwMode="auto">
          <a:xfrm>
            <a:off x="2100808" y="4229918"/>
            <a:ext cx="585788"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02</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17" name="矩形 2"/>
          <p:cNvSpPr>
            <a:spLocks noChangeArrowheads="1"/>
          </p:cNvSpPr>
          <p:nvPr/>
        </p:nvSpPr>
        <p:spPr bwMode="auto">
          <a:xfrm>
            <a:off x="2123728" y="2060848"/>
            <a:ext cx="4823756" cy="523220"/>
          </a:xfrm>
          <a:prstGeom prst="rect">
            <a:avLst/>
          </a:prstGeom>
          <a:noFill/>
          <a:ln w="9525">
            <a:noFill/>
            <a:miter lim="800000"/>
          </a:ln>
        </p:spPr>
        <p:txBody>
          <a:bodyPr wrap="none">
            <a:spAutoFit/>
          </a:bodyPr>
          <a:lstStyle/>
          <a:p>
            <a:r>
              <a:rPr lang="en-US" altLang="zh-CN" dirty="0" err="1"/>
              <a:t>Multisim</a:t>
            </a:r>
            <a:r>
              <a:rPr lang="en-US" altLang="zh-CN" dirty="0"/>
              <a:t> 12.0</a:t>
            </a:r>
            <a:r>
              <a:rPr lang="zh-CN" altLang="en-US" dirty="0"/>
              <a:t>的分析</a:t>
            </a:r>
            <a:r>
              <a:rPr lang="zh-CN" altLang="en-US" dirty="0" smtClean="0"/>
              <a:t>方法</a:t>
            </a:r>
            <a:r>
              <a:rPr lang="zh-CN" altLang="en-US" dirty="0"/>
              <a:t>种类</a:t>
            </a:r>
            <a:endParaRPr lang="zh-CN" altLang="en-US" dirty="0"/>
          </a:p>
        </p:txBody>
      </p:sp>
      <p:sp>
        <p:nvSpPr>
          <p:cNvPr id="18" name="矩形 3"/>
          <p:cNvSpPr>
            <a:spLocks noChangeArrowheads="1"/>
          </p:cNvSpPr>
          <p:nvPr/>
        </p:nvSpPr>
        <p:spPr bwMode="auto">
          <a:xfrm>
            <a:off x="2953296" y="4307706"/>
            <a:ext cx="3160712" cy="368300"/>
          </a:xfrm>
          <a:prstGeom prst="rect">
            <a:avLst/>
          </a:prstGeom>
          <a:noFill/>
          <a:ln w="9525">
            <a:noFill/>
            <a:miter lim="800000"/>
          </a:ln>
        </p:spPr>
        <p:txBody>
          <a:bodyPr wrap="none">
            <a:spAutoFit/>
          </a:bodyPr>
          <a:lstStyle/>
          <a:p>
            <a:r>
              <a:rPr lang="en-US" altLang="zh-CN"/>
              <a:t>Multisim 12.0</a:t>
            </a:r>
            <a:r>
              <a:rPr lang="zh-CN" altLang="en-US"/>
              <a:t>的分析方法详解</a:t>
            </a:r>
            <a:endParaRPr lang="zh-CN" altLang="en-US"/>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的分析方法种类</a:t>
            </a:r>
            <a:endParaRPr lang="zh-CN" altLang="en-US" dirty="0"/>
          </a:p>
        </p:txBody>
      </p:sp>
      <p:sp>
        <p:nvSpPr>
          <p:cNvPr id="8195" name="内容占位符 2"/>
          <p:cNvSpPr>
            <a:spLocks noGrp="1"/>
          </p:cNvSpPr>
          <p:nvPr>
            <p:ph idx="1"/>
          </p:nvPr>
        </p:nvSpPr>
        <p:spPr>
          <a:xfrm>
            <a:off x="457200" y="1000125"/>
            <a:ext cx="8147248" cy="5456238"/>
          </a:xfrm>
        </p:spPr>
        <p:txBody>
          <a:bodyPr/>
          <a:lstStyle/>
          <a:p>
            <a:pPr eaLnBrk="1" hangingPunct="1">
              <a:defRPr/>
            </a:pPr>
            <a:r>
              <a:rPr lang="en-US" altLang="zh-CN" sz="2400" dirty="0" err="1"/>
              <a:t>Multisim</a:t>
            </a:r>
            <a:r>
              <a:rPr lang="en-US" altLang="zh-CN" sz="2400" dirty="0"/>
              <a:t> 12.0</a:t>
            </a:r>
            <a:r>
              <a:rPr lang="zh-CN" altLang="zh-CN" sz="2400" dirty="0"/>
              <a:t>具有丰富的电路所需要的仿真与分析</a:t>
            </a:r>
            <a:r>
              <a:rPr lang="zh-CN" altLang="zh-CN" sz="2400" dirty="0" smtClean="0"/>
              <a:t>功能</a:t>
            </a:r>
            <a:r>
              <a:rPr lang="zh-CN" altLang="en-US" sz="2400" dirty="0" smtClean="0"/>
              <a:t>，</a:t>
            </a:r>
            <a:r>
              <a:rPr lang="zh-CN" altLang="zh-CN" sz="2400" dirty="0"/>
              <a:t>其中包括了</a:t>
            </a:r>
            <a:r>
              <a:rPr lang="en-US" altLang="zh-CN" sz="2400" dirty="0"/>
              <a:t>19</a:t>
            </a:r>
            <a:r>
              <a:rPr lang="zh-CN" altLang="zh-CN" sz="2400" dirty="0"/>
              <a:t>个分析</a:t>
            </a:r>
            <a:r>
              <a:rPr lang="zh-CN" altLang="zh-CN" sz="2400" dirty="0" smtClean="0"/>
              <a:t>命令</a:t>
            </a:r>
            <a:r>
              <a:rPr lang="zh-CN" altLang="en-US" sz="2400" dirty="0" smtClean="0"/>
              <a:t>，</a:t>
            </a:r>
            <a:r>
              <a:rPr lang="zh-CN" altLang="zh-CN" sz="2400" dirty="0" smtClean="0"/>
              <a:t>分别</a:t>
            </a:r>
            <a:r>
              <a:rPr lang="zh-CN" altLang="zh-CN" sz="2400" dirty="0"/>
              <a:t>为：静态工作点分析、交流分析、单一频率交流分析、瞬态分析、傅里叶分析、噪声分析、噪声系数分析、失真分析、直流扫描分析、灵敏度分析、参数扫描分析、温度扫描分析、零点极点分析、传递函数分析、最坏情况分析、蒙特卡洛分析、布线宽度分析、批处理分析、用户自定义分析。</a:t>
            </a:r>
            <a:endParaRPr lang="zh-CN" altLang="zh-CN" sz="2400" dirty="0"/>
          </a:p>
          <a:p>
            <a:pPr marL="0" indent="0" eaLnBrk="1" hangingPunct="1">
              <a:buFont typeface="Wingdings 2" panose="05020102010507070707" pitchFamily="18" charset="2"/>
              <a:buNone/>
              <a:defRPr/>
            </a:pPr>
            <a:endParaRPr lang="en-US" altLang="zh-CN" sz="2000" dirty="0" smtClean="0"/>
          </a:p>
          <a:p>
            <a:pPr marL="0" indent="0" eaLnBrk="1" hangingPunct="1">
              <a:buFont typeface="Wingdings 2" panose="05020102010507070707" pitchFamily="18" charset="2"/>
              <a:buNone/>
              <a:defRPr/>
            </a:pPr>
            <a:endParaRPr lang="en-US" altLang="zh-CN" dirty="0" smtClean="0"/>
          </a:p>
          <a:p>
            <a:pPr marL="0" indent="0" eaLnBrk="1" hangingPunct="1">
              <a:buFont typeface="Wingdings 2" panose="05020102010507070707" pitchFamily="18" charset="2"/>
              <a:buNone/>
              <a:defRPr/>
            </a:pPr>
            <a:endParaRPr lang="en-US" altLang="zh-CN" dirty="0" smtClean="0"/>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8195" name="内容占位符 2"/>
          <p:cNvSpPr>
            <a:spLocks noGrp="1"/>
          </p:cNvSpPr>
          <p:nvPr>
            <p:ph idx="1"/>
          </p:nvPr>
        </p:nvSpPr>
        <p:spPr>
          <a:xfrm>
            <a:off x="457200" y="1000125"/>
            <a:ext cx="7239000" cy="5456238"/>
          </a:xfrm>
        </p:spPr>
        <p:txBody>
          <a:bodyPr/>
          <a:lstStyle/>
          <a:p>
            <a:pPr marL="0" indent="0" eaLnBrk="1" hangingPunct="1">
              <a:buFont typeface="Wingdings 2" panose="05020102010507070707" pitchFamily="18" charset="2"/>
              <a:buNone/>
              <a:defRPr/>
            </a:pPr>
            <a:r>
              <a:rPr lang="en-US" altLang="zh-CN" sz="2400" dirty="0" smtClean="0"/>
              <a:t>    </a:t>
            </a:r>
            <a:r>
              <a:rPr lang="zh-CN" altLang="en-US" sz="2400" dirty="0" smtClean="0"/>
              <a:t>对于</a:t>
            </a:r>
            <a:r>
              <a:rPr lang="en-US" altLang="zh-CN" sz="2400" dirty="0" err="1"/>
              <a:t>Multisim</a:t>
            </a:r>
            <a:r>
              <a:rPr lang="en-US" altLang="zh-CN" sz="2400" dirty="0"/>
              <a:t> 12.0</a:t>
            </a:r>
            <a:r>
              <a:rPr lang="zh-CN" altLang="en-US" sz="2400" dirty="0"/>
              <a:t>的分析</a:t>
            </a:r>
            <a:r>
              <a:rPr lang="zh-CN" altLang="en-US" sz="2400" dirty="0" smtClean="0"/>
              <a:t>方法，下面将以实例进行祥解。</a:t>
            </a:r>
            <a:endParaRPr lang="en-US" altLang="zh-CN" sz="2400" dirty="0" smtClean="0"/>
          </a:p>
          <a:p>
            <a:pPr eaLnBrk="1" hangingPunct="1">
              <a:defRPr/>
            </a:pPr>
            <a:r>
              <a:rPr lang="zh-CN" altLang="en-US" sz="2400" dirty="0" smtClean="0"/>
              <a:t>实例：单管基本放大电路</a:t>
            </a:r>
            <a:endParaRPr lang="en-US" altLang="zh-CN" sz="2400" dirty="0" smtClean="0"/>
          </a:p>
          <a:p>
            <a:pPr marL="0" indent="0" eaLnBrk="1" hangingPunct="1">
              <a:buFont typeface="Wingdings 2" panose="05020102010507070707" pitchFamily="18" charset="2"/>
              <a:buNone/>
              <a:defRPr/>
            </a:pPr>
            <a:r>
              <a:rPr lang="en-US" altLang="zh-CN" sz="2400" dirty="0" smtClean="0"/>
              <a:t>   </a:t>
            </a:r>
            <a:r>
              <a:rPr lang="zh-CN" altLang="zh-CN" sz="2400" dirty="0" smtClean="0"/>
              <a:t>电路</a:t>
            </a:r>
            <a:r>
              <a:rPr lang="zh-CN" altLang="zh-CN" sz="2400" dirty="0"/>
              <a:t>如图</a:t>
            </a:r>
            <a:r>
              <a:rPr lang="en-US" altLang="zh-CN" sz="2400" dirty="0" smtClean="0"/>
              <a:t>1</a:t>
            </a:r>
            <a:r>
              <a:rPr lang="zh-CN" altLang="zh-CN" sz="2400" dirty="0" smtClean="0"/>
              <a:t>所</a:t>
            </a:r>
            <a:r>
              <a:rPr lang="zh-CN" altLang="zh-CN" sz="2400" dirty="0"/>
              <a:t>示，此电路为单管基本放大电路。其中晶体管采用</a:t>
            </a:r>
            <a:r>
              <a:rPr lang="en-US" altLang="zh-CN" sz="2400" dirty="0" smtClean="0"/>
              <a:t>2N2222A</a:t>
            </a:r>
            <a:r>
              <a:rPr lang="zh-CN" altLang="zh-CN" sz="2400" dirty="0" smtClean="0"/>
              <a:t>。</a:t>
            </a: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algn="ctr" eaLnBrk="1" hangingPunct="1">
              <a:buFont typeface="Wingdings 2" panose="05020102010507070707" pitchFamily="18" charset="2"/>
              <a:buNone/>
              <a:defRPr/>
            </a:pPr>
            <a:r>
              <a:rPr lang="zh-CN" altLang="en-US" sz="1400" dirty="0" smtClean="0"/>
              <a:t>图</a:t>
            </a:r>
            <a:r>
              <a:rPr lang="en-US" altLang="zh-CN" sz="1400" dirty="0" smtClean="0"/>
              <a:t>1 </a:t>
            </a:r>
            <a:r>
              <a:rPr lang="zh-CN" altLang="en-US" sz="1400" dirty="0" smtClean="0"/>
              <a:t>单管基本放大</a:t>
            </a:r>
            <a:r>
              <a:rPr lang="zh-CN" altLang="en-US" sz="1400" dirty="0"/>
              <a:t>电路</a:t>
            </a:r>
            <a:endParaRPr lang="en-US" altLang="zh-CN" sz="1400" dirty="0" smtClean="0"/>
          </a:p>
          <a:p>
            <a:pPr marL="0" indent="0" eaLnBrk="1" hangingPunct="1">
              <a:buFont typeface="Wingdings 2" panose="05020102010507070707" pitchFamily="18" charset="2"/>
              <a:buNone/>
              <a:defRPr/>
            </a:pPr>
            <a:endParaRPr lang="zh-CN" altLang="zh-CN" sz="2400" dirty="0"/>
          </a:p>
          <a:p>
            <a:pPr marL="0" indent="0" eaLnBrk="1" hangingPunct="1">
              <a:buFont typeface="Wingdings 2" panose="05020102010507070707" pitchFamily="18" charset="2"/>
              <a:buNone/>
              <a:defRPr/>
            </a:pPr>
            <a:endParaRPr lang="en-US" altLang="zh-CN" dirty="0" smtClean="0"/>
          </a:p>
        </p:txBody>
      </p:sp>
      <p:pic>
        <p:nvPicPr>
          <p:cNvPr id="9220" name="Picture 2"/>
          <p:cNvPicPr>
            <a:picLocks noChangeAspect="1" noChangeArrowheads="1"/>
          </p:cNvPicPr>
          <p:nvPr/>
        </p:nvPicPr>
        <p:blipFill>
          <a:blip r:embed="rId1" cstate="print"/>
          <a:srcRect/>
          <a:stretch>
            <a:fillRect/>
          </a:stretch>
        </p:blipFill>
        <p:spPr bwMode="auto">
          <a:xfrm>
            <a:off x="2843213" y="3284538"/>
            <a:ext cx="2476500" cy="185737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0243" name="内容占位符 2"/>
          <p:cNvSpPr>
            <a:spLocks noGrp="1"/>
          </p:cNvSpPr>
          <p:nvPr>
            <p:ph idx="1"/>
          </p:nvPr>
        </p:nvSpPr>
        <p:spPr>
          <a:xfrm>
            <a:off x="457200" y="1000125"/>
            <a:ext cx="7239000" cy="5456238"/>
          </a:xfrm>
        </p:spPr>
        <p:txBody>
          <a:bodyPr/>
          <a:lstStyle/>
          <a:p>
            <a:pPr marL="0" indent="0" eaLnBrk="1" hangingPunct="1">
              <a:buFont typeface="Wingdings 2" panose="05020102010507070707" pitchFamily="18" charset="2"/>
              <a:buNone/>
            </a:pPr>
            <a:r>
              <a:rPr lang="en-US" altLang="zh-CN" sz="2400" smtClean="0"/>
              <a:t>1</a:t>
            </a:r>
            <a:r>
              <a:rPr lang="zh-CN" altLang="en-US" sz="2400" smtClean="0"/>
              <a:t>）</a:t>
            </a:r>
            <a:r>
              <a:rPr lang="zh-CN" altLang="zh-CN" sz="2400" smtClean="0"/>
              <a:t>直流静态工作点分析</a:t>
            </a:r>
            <a:endParaRPr lang="en-US" altLang="zh-CN" sz="2400" smtClean="0"/>
          </a:p>
          <a:p>
            <a:pPr marL="0" indent="0" eaLnBrk="1" hangingPunct="1">
              <a:buFont typeface="Wingdings 2" panose="05020102010507070707" pitchFamily="18" charset="2"/>
              <a:buNone/>
            </a:pPr>
            <a:r>
              <a:rPr lang="en-US" altLang="zh-CN" sz="2400" smtClean="0"/>
              <a:t>     </a:t>
            </a:r>
            <a:r>
              <a:rPr lang="zh-CN" altLang="zh-CN" sz="2400" smtClean="0"/>
              <a:t>直流工作点分析（</a:t>
            </a:r>
            <a:r>
              <a:rPr lang="en-US" altLang="zh-CN" sz="2400" smtClean="0"/>
              <a:t>DC Operating Point Analysis</a:t>
            </a:r>
            <a:r>
              <a:rPr lang="zh-CN" altLang="zh-CN" sz="2400" smtClean="0"/>
              <a:t>）是最基本的电路分析，通常是为了判断电路的静态工作点是否设置合适，如果设置不合适，会导致电路不能正常工作。</a:t>
            </a:r>
            <a:endParaRPr lang="en-US" altLang="zh-CN" sz="2400" smtClean="0"/>
          </a:p>
          <a:p>
            <a:pPr marL="0" indent="0">
              <a:buFont typeface="Wingdings 2" panose="05020102010507070707" pitchFamily="18" charset="2"/>
              <a:buNone/>
            </a:pPr>
            <a:r>
              <a:rPr lang="en-US" altLang="zh-CN" sz="2400" smtClean="0"/>
              <a:t>     </a:t>
            </a:r>
            <a:r>
              <a:rPr lang="zh-CN" altLang="zh-CN" sz="2400" smtClean="0"/>
              <a:t>在进行直流工作点分析时，电路中的交流信号将自动设为</a:t>
            </a:r>
            <a:r>
              <a:rPr lang="en-US" altLang="zh-CN" sz="2400" smtClean="0"/>
              <a:t>0</a:t>
            </a:r>
            <a:r>
              <a:rPr lang="zh-CN" altLang="zh-CN" sz="2400" smtClean="0"/>
              <a:t>，电容被视为开路，电感被视为短路，数字元件被当成一个大电阻来处理。</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 </a:t>
            </a:r>
            <a:r>
              <a:rPr lang="zh-CN" altLang="en-US" sz="1400" smtClean="0"/>
              <a:t>单管基本放大电路</a:t>
            </a:r>
            <a:endParaRPr lang="en-US" altLang="zh-CN" sz="1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1267" name="内容占位符 2"/>
          <p:cNvSpPr>
            <a:spLocks noGrp="1"/>
          </p:cNvSpPr>
          <p:nvPr>
            <p:ph idx="1"/>
          </p:nvPr>
        </p:nvSpPr>
        <p:spPr>
          <a:xfrm>
            <a:off x="539750" y="1052513"/>
            <a:ext cx="7239000" cy="5456237"/>
          </a:xfrm>
        </p:spPr>
        <p:txBody>
          <a:bodyPr/>
          <a:lstStyle/>
          <a:p>
            <a:pPr marL="0" indent="0" algn="just" eaLnBrk="1" hangingPunct="1">
              <a:buFont typeface="Wingdings 2" panose="05020102010507070707" pitchFamily="18" charset="2"/>
              <a:buNone/>
            </a:pPr>
            <a:r>
              <a:rPr lang="zh-CN" altLang="en-US" sz="2400" smtClean="0"/>
              <a:t>     启动菜单命令</a:t>
            </a:r>
            <a:r>
              <a:rPr lang="en-US" altLang="zh-CN" sz="2400" smtClean="0"/>
              <a:t>Simulate/Analyses/DC operating point</a:t>
            </a:r>
            <a:r>
              <a:rPr lang="zh-CN" altLang="en-US" sz="2400" smtClean="0"/>
              <a:t>，进入静态工作点分析对话框，如图</a:t>
            </a:r>
            <a:r>
              <a:rPr lang="en-US" altLang="zh-CN" sz="2400" smtClean="0"/>
              <a:t>2</a:t>
            </a:r>
            <a:r>
              <a:rPr lang="zh-CN" altLang="en-US" sz="2400" smtClean="0"/>
              <a:t>所示。对话框包括</a:t>
            </a:r>
            <a:r>
              <a:rPr lang="en-US" altLang="zh-CN" sz="2400" smtClean="0"/>
              <a:t>Output</a:t>
            </a:r>
            <a:r>
              <a:rPr lang="zh-CN" altLang="en-US" sz="2400" smtClean="0"/>
              <a:t>页、</a:t>
            </a:r>
            <a:r>
              <a:rPr lang="en-US" altLang="zh-CN" sz="2400" smtClean="0"/>
              <a:t>Analysis Options</a:t>
            </a:r>
            <a:r>
              <a:rPr lang="zh-CN" altLang="en-US" sz="2400" smtClean="0"/>
              <a:t>页和</a:t>
            </a:r>
            <a:r>
              <a:rPr lang="en-US" altLang="zh-CN" sz="2400" smtClean="0"/>
              <a:t>Summary</a:t>
            </a:r>
            <a:r>
              <a:rPr lang="zh-CN" altLang="en-US" sz="2400" smtClean="0"/>
              <a:t>页。</a:t>
            </a:r>
            <a:endParaRPr lang="en-US" altLang="zh-CN" sz="2400" smtClean="0"/>
          </a:p>
          <a:p>
            <a:pPr marL="0" indent="0" algn="just" eaLnBrk="1" hangingPunct="1">
              <a:buFont typeface="Wingdings 2" panose="05020102010507070707" pitchFamily="18" charset="2"/>
              <a:buNone/>
            </a:pPr>
            <a:endParaRPr lang="en-US"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r>
              <a:rPr lang="zh-CN" altLang="en-US" sz="1400" smtClean="0"/>
              <a:t>图</a:t>
            </a:r>
            <a:r>
              <a:rPr lang="en-US" altLang="zh-CN" sz="1400" smtClean="0"/>
              <a:t>2 </a:t>
            </a:r>
            <a:r>
              <a:rPr lang="zh-CN" altLang="zh-CN" sz="1400" smtClean="0"/>
              <a:t>静态工作点分析对话框</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11268" name="Picture 2"/>
          <p:cNvPicPr>
            <a:picLocks noChangeAspect="1" noChangeArrowheads="1"/>
          </p:cNvPicPr>
          <p:nvPr/>
        </p:nvPicPr>
        <p:blipFill>
          <a:blip r:embed="rId1" cstate="print"/>
          <a:srcRect/>
          <a:stretch>
            <a:fillRect/>
          </a:stretch>
        </p:blipFill>
        <p:spPr bwMode="auto">
          <a:xfrm>
            <a:off x="2987675" y="3068638"/>
            <a:ext cx="2200275" cy="185737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2291" name="内容占位符 2"/>
          <p:cNvSpPr>
            <a:spLocks noGrp="1"/>
          </p:cNvSpPr>
          <p:nvPr>
            <p:ph idx="1"/>
          </p:nvPr>
        </p:nvSpPr>
        <p:spPr>
          <a:xfrm>
            <a:off x="539750" y="1052513"/>
            <a:ext cx="7239000" cy="5456237"/>
          </a:xfrm>
        </p:spPr>
        <p:txBody>
          <a:bodyPr/>
          <a:lstStyle/>
          <a:p>
            <a:pPr marL="0" indent="0" algn="just" eaLnBrk="1" hangingPunct="1">
              <a:buFont typeface="Wingdings 2" panose="05020102010507070707" pitchFamily="18" charset="2"/>
              <a:buNone/>
            </a:pPr>
            <a:r>
              <a:rPr lang="zh-CN" altLang="en-US" sz="2400" smtClean="0"/>
              <a:t>      其中</a:t>
            </a:r>
            <a:r>
              <a:rPr lang="en-US" altLang="zh-CN" sz="2400" smtClean="0"/>
              <a:t>Output</a:t>
            </a:r>
            <a:r>
              <a:rPr lang="zh-CN" altLang="zh-CN" sz="2400" smtClean="0"/>
              <a:t>页是必须设定的部分，在此页中指定所要分析的节点，才能进行静态工作点分析。该页包括</a:t>
            </a:r>
            <a:r>
              <a:rPr lang="en-US" altLang="zh-CN" sz="2400" smtClean="0"/>
              <a:t>Variables in circuit</a:t>
            </a:r>
            <a:r>
              <a:rPr lang="zh-CN" altLang="zh-CN" sz="2400" smtClean="0"/>
              <a:t>区块和 </a:t>
            </a:r>
            <a:r>
              <a:rPr lang="en-US" altLang="zh-CN" sz="2400" smtClean="0"/>
              <a:t>Selected variables for analysis</a:t>
            </a:r>
            <a:r>
              <a:rPr lang="zh-CN" altLang="zh-CN" sz="2400" smtClean="0"/>
              <a:t>区块，</a:t>
            </a:r>
            <a:r>
              <a:rPr lang="en-US" altLang="zh-CN" sz="2400" smtClean="0"/>
              <a:t>Variables in circuit</a:t>
            </a:r>
            <a:r>
              <a:rPr lang="zh-CN" altLang="zh-CN" sz="2400" smtClean="0"/>
              <a:t>区块列出电路里的所有节点名称</a:t>
            </a:r>
            <a:r>
              <a:rPr lang="zh-CN" altLang="en-US" sz="2400" smtClean="0"/>
              <a:t>，</a:t>
            </a:r>
            <a:r>
              <a:rPr lang="zh-CN" altLang="zh-CN" sz="2400" smtClean="0"/>
              <a:t>选取所要分析的节点，再按“</a:t>
            </a:r>
            <a:r>
              <a:rPr lang="en-US" altLang="zh-CN" sz="2400" smtClean="0"/>
              <a:t>Add</a:t>
            </a:r>
            <a:r>
              <a:rPr lang="zh-CN" altLang="zh-CN" sz="2400" smtClean="0"/>
              <a:t>”按钮即可将所选取的节点放到右边的</a:t>
            </a:r>
            <a:r>
              <a:rPr lang="en-US" altLang="zh-CN" sz="2400" smtClean="0"/>
              <a:t>Selected variables for analysis</a:t>
            </a:r>
            <a:r>
              <a:rPr lang="zh-CN" altLang="zh-CN" sz="2400" smtClean="0"/>
              <a:t>区块</a:t>
            </a:r>
            <a:r>
              <a:rPr lang="zh-CN" altLang="en-US" sz="2400" smtClean="0"/>
              <a:t>；</a:t>
            </a:r>
            <a:r>
              <a:rPr lang="en-US" altLang="zh-CN" sz="2400" smtClean="0"/>
              <a:t>Selected variables for analysis</a:t>
            </a:r>
            <a:r>
              <a:rPr lang="zh-CN" altLang="zh-CN" sz="2400" smtClean="0"/>
              <a:t>区块内列出所要分析的节点，如果需要去除某个节点，则选取所要去除的节点，再按“</a:t>
            </a:r>
            <a:r>
              <a:rPr lang="en-US" altLang="zh-CN" sz="2400" smtClean="0"/>
              <a:t>Remove</a:t>
            </a:r>
            <a:r>
              <a:rPr lang="zh-CN" altLang="zh-CN" sz="2400" smtClean="0"/>
              <a:t>”按钮将节点放回</a:t>
            </a:r>
            <a:r>
              <a:rPr lang="en-US" altLang="zh-CN" sz="2400" smtClean="0"/>
              <a:t>Variables in circuit</a:t>
            </a:r>
            <a:r>
              <a:rPr lang="zh-CN" altLang="zh-CN" sz="2400" smtClean="0"/>
              <a:t>区块。</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3315"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      </a:t>
            </a:r>
            <a:r>
              <a:rPr lang="zh-CN" altLang="zh-CN" sz="2400" smtClean="0"/>
              <a:t>在</a:t>
            </a:r>
            <a:r>
              <a:rPr lang="en-US" altLang="zh-CN" sz="2400" smtClean="0"/>
              <a:t>Analysis Options</a:t>
            </a:r>
            <a:r>
              <a:rPr lang="zh-CN" altLang="zh-CN" sz="2400" smtClean="0"/>
              <a:t>页中可以进行其他一些设定，包括在</a:t>
            </a:r>
            <a:r>
              <a:rPr lang="en-US" altLang="zh-CN" sz="2400" smtClean="0"/>
              <a:t>Title for analysis</a:t>
            </a:r>
            <a:r>
              <a:rPr lang="zh-CN" altLang="zh-CN" sz="2400" smtClean="0"/>
              <a:t>字段中输入所要进行分析的名称和通过</a:t>
            </a:r>
            <a:r>
              <a:rPr lang="en-US" altLang="zh-CN" sz="2400" smtClean="0"/>
              <a:t>Use custom analysis options</a:t>
            </a:r>
            <a:r>
              <a:rPr lang="zh-CN" altLang="zh-CN" sz="2400" smtClean="0"/>
              <a:t>设定习惯分析方式等，一般无需设定，采用默认值即可。</a:t>
            </a:r>
            <a:endParaRPr lang="en-US" altLang="zh-CN" sz="2400" smtClean="0"/>
          </a:p>
          <a:p>
            <a:pPr marL="0" indent="0">
              <a:buFont typeface="Wingdings 2" panose="05020102010507070707" pitchFamily="18" charset="2"/>
              <a:buNone/>
            </a:pPr>
            <a:r>
              <a:rPr lang="en-US" altLang="zh-CN" sz="2400" smtClean="0"/>
              <a:t>      </a:t>
            </a:r>
            <a:r>
              <a:rPr lang="zh-CN" altLang="zh-CN" sz="2400" smtClean="0"/>
              <a:t>在</a:t>
            </a:r>
            <a:r>
              <a:rPr lang="en-US" altLang="zh-CN" sz="2400" smtClean="0"/>
              <a:t>Summary</a:t>
            </a:r>
            <a:r>
              <a:rPr lang="zh-CN" altLang="zh-CN" sz="2400" smtClean="0"/>
              <a:t>页中进行分析设定确认，一般无需设定，采用默认值。</a:t>
            </a:r>
            <a:endParaRPr lang="zh-CN" altLang="zh-CN" sz="2400" smtClean="0"/>
          </a:p>
          <a:p>
            <a:pPr marL="0" indent="0">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4339" name="内容占位符 2"/>
          <p:cNvSpPr>
            <a:spLocks noGrp="1"/>
          </p:cNvSpPr>
          <p:nvPr>
            <p:ph idx="1"/>
          </p:nvPr>
        </p:nvSpPr>
        <p:spPr>
          <a:xfrm>
            <a:off x="573088" y="1052513"/>
            <a:ext cx="7239000" cy="5456237"/>
          </a:xfrm>
        </p:spPr>
        <p:txBody>
          <a:bodyPr/>
          <a:lstStyle/>
          <a:p>
            <a:pPr marL="0" indent="0" algn="just" eaLnBrk="1" hangingPunct="1">
              <a:buFont typeface="Wingdings 2" panose="05020102010507070707" pitchFamily="18" charset="2"/>
              <a:buNone/>
            </a:pPr>
            <a:r>
              <a:rPr lang="en-US" altLang="zh-CN" sz="2400" smtClean="0"/>
              <a:t>       </a:t>
            </a:r>
            <a:r>
              <a:rPr lang="zh-CN" altLang="zh-CN" sz="2400" smtClean="0"/>
              <a:t>当设定完成后，按图</a:t>
            </a:r>
            <a:r>
              <a:rPr lang="en-US" altLang="zh-CN" sz="2400" smtClean="0"/>
              <a:t>2</a:t>
            </a:r>
            <a:r>
              <a:rPr lang="zh-CN" altLang="zh-CN" sz="2400" smtClean="0"/>
              <a:t>所示对话框下面的“</a:t>
            </a:r>
            <a:r>
              <a:rPr lang="en-US" altLang="zh-CN" sz="2400" smtClean="0"/>
              <a:t>Simulate</a:t>
            </a:r>
            <a:r>
              <a:rPr lang="zh-CN" altLang="zh-CN" sz="2400" smtClean="0"/>
              <a:t>”按钮即可进行分析。分析结果如图</a:t>
            </a:r>
            <a:r>
              <a:rPr lang="en-US" altLang="zh-CN" sz="2400" smtClean="0"/>
              <a:t>3</a:t>
            </a:r>
            <a:r>
              <a:rPr lang="zh-CN" altLang="zh-CN" sz="2400" smtClean="0"/>
              <a:t>所示。在该分析结果图中，可以对分析结果进行一般的文档操作，例如保存、打印等。</a:t>
            </a:r>
            <a:endParaRPr lang="en-US"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3   </a:t>
            </a:r>
            <a:r>
              <a:rPr lang="zh-CN" altLang="zh-CN" sz="1400" smtClean="0"/>
              <a:t>静态工作点分析结果</a:t>
            </a:r>
            <a:endParaRPr lang="zh-CN" altLang="zh-CN" sz="2400" smtClean="0"/>
          </a:p>
          <a:p>
            <a:pPr marL="0" indent="0" eaLnBrk="1" hangingPunct="1">
              <a:buFont typeface="Wingdings 2" panose="05020102010507070707" pitchFamily="18" charset="2"/>
              <a:buNone/>
            </a:pPr>
            <a:endParaRPr lang="en-US" altLang="zh-CN" smtClean="0"/>
          </a:p>
        </p:txBody>
      </p:sp>
      <p:pic>
        <p:nvPicPr>
          <p:cNvPr id="14340" name="Picture 2" descr="2015-05-31 16-12-21"/>
          <p:cNvPicPr>
            <a:picLocks noChangeAspect="1" noChangeArrowheads="1"/>
          </p:cNvPicPr>
          <p:nvPr/>
        </p:nvPicPr>
        <p:blipFill>
          <a:blip r:embed="rId1" cstate="print"/>
          <a:srcRect/>
          <a:stretch>
            <a:fillRect/>
          </a:stretch>
        </p:blipFill>
        <p:spPr bwMode="auto">
          <a:xfrm>
            <a:off x="2843213" y="3500438"/>
            <a:ext cx="2574925" cy="1331912"/>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5363" name="内容占位符 2"/>
          <p:cNvSpPr>
            <a:spLocks noGrp="1"/>
          </p:cNvSpPr>
          <p:nvPr>
            <p:ph idx="1"/>
          </p:nvPr>
        </p:nvSpPr>
        <p:spPr>
          <a:xfrm>
            <a:off x="539750" y="1052513"/>
            <a:ext cx="7239000" cy="5456237"/>
          </a:xfrm>
        </p:spPr>
        <p:txBody>
          <a:bodyPr/>
          <a:lstStyle/>
          <a:p>
            <a:pPr marL="0" indent="0" eaLnBrk="1" hangingPunct="1">
              <a:buFont typeface="Wingdings 2" panose="05020102010507070707" pitchFamily="18" charset="2"/>
              <a:buNone/>
            </a:pPr>
            <a:r>
              <a:rPr lang="en-US" altLang="zh-CN" sz="2400" smtClean="0"/>
              <a:t>2</a:t>
            </a:r>
            <a:r>
              <a:rPr lang="zh-CN" altLang="en-US" sz="2400" smtClean="0"/>
              <a:t>）交流</a:t>
            </a:r>
            <a:r>
              <a:rPr lang="zh-CN" altLang="zh-CN" sz="2400" smtClean="0"/>
              <a:t>分析</a:t>
            </a:r>
            <a:endParaRPr lang="en-US" altLang="zh-CN" sz="2400" smtClean="0"/>
          </a:p>
          <a:p>
            <a:pPr marL="0" indent="0" algn="just" eaLnBrk="1" hangingPunct="1">
              <a:buFont typeface="Wingdings 2" panose="05020102010507070707" pitchFamily="18" charset="2"/>
              <a:buNone/>
            </a:pPr>
            <a:r>
              <a:rPr lang="en-US" altLang="zh-CN" sz="2400" smtClean="0"/>
              <a:t>      </a:t>
            </a:r>
            <a:r>
              <a:rPr lang="zh-CN" altLang="zh-CN" sz="2400" smtClean="0"/>
              <a:t>启动菜单命令</a:t>
            </a:r>
            <a:r>
              <a:rPr lang="en-US" altLang="zh-CN" sz="2400" smtClean="0"/>
              <a:t>Simulate/Analyses/AC Analysis</a:t>
            </a:r>
            <a:r>
              <a:rPr lang="zh-CN" altLang="zh-CN" sz="2400" smtClean="0"/>
              <a:t>，进入交流分析对话框，如图</a:t>
            </a:r>
            <a:r>
              <a:rPr lang="en-US" altLang="zh-CN" sz="2400" smtClean="0"/>
              <a:t>4</a:t>
            </a:r>
            <a:r>
              <a:rPr lang="zh-CN" altLang="zh-CN" sz="2400" smtClean="0"/>
              <a:t>所示。</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4</a:t>
            </a:r>
            <a:r>
              <a:rPr lang="zh-CN" altLang="zh-CN" sz="1400" smtClean="0"/>
              <a:t>交流分析对话框</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15364" name="Picture 2" descr="2015-05-31 16-13-44"/>
          <p:cNvPicPr>
            <a:picLocks noChangeAspect="1" noChangeArrowheads="1"/>
          </p:cNvPicPr>
          <p:nvPr/>
        </p:nvPicPr>
        <p:blipFill>
          <a:blip r:embed="rId1" cstate="print"/>
          <a:srcRect/>
          <a:stretch>
            <a:fillRect/>
          </a:stretch>
        </p:blipFill>
        <p:spPr bwMode="auto">
          <a:xfrm>
            <a:off x="3059113" y="2781300"/>
            <a:ext cx="2193925" cy="1843088"/>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8195"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defRPr/>
            </a:pPr>
            <a:r>
              <a:rPr lang="en-US" altLang="zh-CN" sz="2400" dirty="0" smtClean="0"/>
              <a:t>      </a:t>
            </a:r>
            <a:r>
              <a:rPr lang="zh-CN" altLang="zh-CN" sz="2400" dirty="0" smtClean="0"/>
              <a:t>其中</a:t>
            </a:r>
            <a:r>
              <a:rPr lang="zh-CN" altLang="zh-CN" sz="2400" dirty="0"/>
              <a:t>包括</a:t>
            </a:r>
            <a:r>
              <a:rPr lang="en-US" altLang="zh-CN" sz="2400" dirty="0"/>
              <a:t>4</a:t>
            </a:r>
            <a:r>
              <a:rPr lang="zh-CN" altLang="zh-CN" sz="2400" dirty="0"/>
              <a:t>个选项</a:t>
            </a:r>
            <a:r>
              <a:rPr lang="zh-CN" altLang="zh-CN" sz="2400" dirty="0" smtClean="0"/>
              <a:t>卡</a:t>
            </a:r>
            <a:r>
              <a:rPr lang="zh-CN" altLang="en-US" sz="2400" dirty="0" smtClean="0"/>
              <a:t>，</a:t>
            </a:r>
            <a:r>
              <a:rPr lang="zh-CN" altLang="zh-CN" sz="2400" dirty="0" smtClean="0"/>
              <a:t>除了</a:t>
            </a:r>
            <a:r>
              <a:rPr lang="en-US" altLang="zh-CN" sz="2400" dirty="0"/>
              <a:t>Frequency parameters</a:t>
            </a:r>
            <a:r>
              <a:rPr lang="zh-CN" altLang="zh-CN" sz="2400" dirty="0"/>
              <a:t>选项卡外，其余均与静态工作点的设定一样。</a:t>
            </a:r>
            <a:r>
              <a:rPr lang="en-US" altLang="zh-CN" sz="2400" dirty="0"/>
              <a:t>Frequency parameters</a:t>
            </a:r>
            <a:r>
              <a:rPr lang="zh-CN" altLang="zh-CN" sz="2400" dirty="0"/>
              <a:t>选项卡包括下列</a:t>
            </a:r>
            <a:r>
              <a:rPr lang="en-US" altLang="zh-CN" sz="2400" dirty="0"/>
              <a:t>6</a:t>
            </a:r>
            <a:r>
              <a:rPr lang="zh-CN" altLang="zh-CN" sz="2400" dirty="0"/>
              <a:t>个项目：</a:t>
            </a:r>
            <a:endParaRPr lang="zh-CN" altLang="zh-CN" sz="2400" dirty="0"/>
          </a:p>
          <a:p>
            <a:pPr algn="just">
              <a:buFont typeface="Wingdings" panose="05000000000000000000" pitchFamily="2" charset="2"/>
              <a:buChar char="Ø"/>
              <a:defRPr/>
            </a:pPr>
            <a:r>
              <a:rPr lang="en-US" altLang="zh-CN" sz="2400" dirty="0" smtClean="0"/>
              <a:t>Start </a:t>
            </a:r>
            <a:r>
              <a:rPr lang="en-US" altLang="zh-CN" sz="2400" dirty="0"/>
              <a:t>frequency</a:t>
            </a:r>
            <a:r>
              <a:rPr lang="zh-CN" altLang="zh-CN" sz="2400" dirty="0"/>
              <a:t>（</a:t>
            </a:r>
            <a:r>
              <a:rPr lang="en-US" altLang="zh-CN" sz="2400" dirty="0"/>
              <a:t>FSTART</a:t>
            </a:r>
            <a:r>
              <a:rPr lang="zh-CN" altLang="zh-CN" sz="2400" dirty="0"/>
              <a:t>）：设定交流分析的起始频率。</a:t>
            </a:r>
            <a:endParaRPr lang="zh-CN" altLang="zh-CN" sz="2400" dirty="0"/>
          </a:p>
          <a:p>
            <a:pPr algn="just">
              <a:buFont typeface="Wingdings" panose="05000000000000000000" pitchFamily="2" charset="2"/>
              <a:buChar char="Ø"/>
              <a:defRPr/>
            </a:pPr>
            <a:r>
              <a:rPr lang="en-US" altLang="zh-CN" sz="2400" dirty="0"/>
              <a:t>Stop frequency</a:t>
            </a:r>
            <a:r>
              <a:rPr lang="zh-CN" altLang="zh-CN" sz="2400" dirty="0"/>
              <a:t>（</a:t>
            </a:r>
            <a:r>
              <a:rPr lang="en-US" altLang="zh-CN" sz="2400" dirty="0"/>
              <a:t>FSTOP</a:t>
            </a:r>
            <a:r>
              <a:rPr lang="zh-CN" altLang="zh-CN" sz="2400" dirty="0"/>
              <a:t>）：设定交流分析的终止频率。</a:t>
            </a:r>
            <a:endParaRPr lang="zh-CN" altLang="zh-CN" sz="2400" dirty="0"/>
          </a:p>
          <a:p>
            <a:pPr algn="just">
              <a:buFont typeface="Wingdings" panose="05000000000000000000" pitchFamily="2" charset="2"/>
              <a:buChar char="Ø"/>
              <a:defRPr/>
            </a:pPr>
            <a:r>
              <a:rPr lang="en-US" altLang="zh-CN" sz="2400" dirty="0"/>
              <a:t>Sweep type</a:t>
            </a:r>
            <a:r>
              <a:rPr lang="zh-CN" altLang="zh-CN" sz="2400" dirty="0"/>
              <a:t>：设定交流分析的扫描方式，其中包括</a:t>
            </a:r>
            <a:r>
              <a:rPr lang="en-US" altLang="zh-CN" sz="2400" dirty="0"/>
              <a:t>Decade</a:t>
            </a:r>
            <a:r>
              <a:rPr lang="zh-CN" altLang="zh-CN" sz="2400" dirty="0"/>
              <a:t>（十倍频扫描）、</a:t>
            </a:r>
            <a:r>
              <a:rPr lang="en-US" altLang="zh-CN" sz="2400" dirty="0"/>
              <a:t>Octave</a:t>
            </a:r>
            <a:r>
              <a:rPr lang="zh-CN" altLang="zh-CN" sz="2400" dirty="0"/>
              <a:t>（八倍频扫描）及</a:t>
            </a:r>
            <a:r>
              <a:rPr lang="en-US" altLang="zh-CN" sz="2400" dirty="0"/>
              <a:t>Linear</a:t>
            </a:r>
            <a:r>
              <a:rPr lang="zh-CN" altLang="zh-CN" sz="2400" dirty="0"/>
              <a:t>（线性扫描），通常是采用十倍频扫描（</a:t>
            </a:r>
            <a:r>
              <a:rPr lang="en-US" altLang="zh-CN" sz="2400" dirty="0"/>
              <a:t>Decade</a:t>
            </a:r>
            <a:r>
              <a:rPr lang="zh-CN" altLang="zh-CN" sz="2400" dirty="0"/>
              <a:t>），以对数方式展现分析结果。</a:t>
            </a:r>
            <a:endParaRPr lang="zh-CN" altLang="zh-CN" sz="2400" dirty="0"/>
          </a:p>
          <a:p>
            <a:pPr marL="0" indent="0">
              <a:buFont typeface="Wingdings 2" panose="05020102010507070707" pitchFamily="18" charset="2"/>
              <a:buNone/>
              <a:defRPr/>
            </a:pPr>
            <a:endParaRPr lang="zh-CN"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zh-CN" altLang="zh-CN" sz="2400" dirty="0"/>
          </a:p>
          <a:p>
            <a:pPr marL="0" indent="0" eaLnBrk="1" hangingPunct="1">
              <a:buFont typeface="Wingdings 2" panose="05020102010507070707" pitchFamily="18" charset="2"/>
              <a:buNone/>
              <a:defRPr/>
            </a:pPr>
            <a:endParaRPr lang="en-US" altLang="zh-CN" dirty="0" smtClean="0"/>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8195" name="内容占位符 2"/>
          <p:cNvSpPr>
            <a:spLocks noGrp="1"/>
          </p:cNvSpPr>
          <p:nvPr>
            <p:ph idx="1"/>
          </p:nvPr>
        </p:nvSpPr>
        <p:spPr>
          <a:xfrm>
            <a:off x="539750" y="1052513"/>
            <a:ext cx="7239000" cy="5456237"/>
          </a:xfrm>
        </p:spPr>
        <p:txBody>
          <a:bodyPr/>
          <a:lstStyle/>
          <a:p>
            <a:pPr>
              <a:buFont typeface="Wingdings" panose="05000000000000000000" pitchFamily="2" charset="2"/>
              <a:buChar char="Ø"/>
              <a:defRPr/>
            </a:pPr>
            <a:r>
              <a:rPr lang="en-US" altLang="zh-CN" sz="2400" dirty="0"/>
              <a:t>Number of points per decade</a:t>
            </a:r>
            <a:r>
              <a:rPr lang="zh-CN" altLang="zh-CN" sz="2400" dirty="0"/>
              <a:t>：设定每十倍频中采样点数。</a:t>
            </a:r>
            <a:endParaRPr lang="zh-CN" altLang="zh-CN" sz="2400" dirty="0"/>
          </a:p>
          <a:p>
            <a:pPr>
              <a:buFont typeface="Wingdings" panose="05000000000000000000" pitchFamily="2" charset="2"/>
              <a:buChar char="Ø"/>
              <a:defRPr/>
            </a:pPr>
            <a:r>
              <a:rPr lang="en-US" altLang="zh-CN" sz="2400" dirty="0"/>
              <a:t>Vertical scale</a:t>
            </a:r>
            <a:r>
              <a:rPr lang="zh-CN" altLang="zh-CN" sz="2400" dirty="0"/>
              <a:t>：设定垂直刻度，其中包括</a:t>
            </a:r>
            <a:r>
              <a:rPr lang="en-US" altLang="zh-CN" sz="2400" dirty="0"/>
              <a:t>Decibel</a:t>
            </a:r>
            <a:r>
              <a:rPr lang="zh-CN" altLang="zh-CN" sz="2400" dirty="0"/>
              <a:t>（分贝）、</a:t>
            </a:r>
            <a:r>
              <a:rPr lang="en-US" altLang="zh-CN" sz="2400" dirty="0"/>
              <a:t>Octave</a:t>
            </a:r>
            <a:r>
              <a:rPr lang="zh-CN" altLang="zh-CN" sz="2400" dirty="0"/>
              <a:t>（八倍频程）、</a:t>
            </a:r>
            <a:r>
              <a:rPr lang="en-US" altLang="zh-CN" sz="2400" dirty="0"/>
              <a:t>Linear</a:t>
            </a:r>
            <a:r>
              <a:rPr lang="zh-CN" altLang="zh-CN" sz="2400" dirty="0"/>
              <a:t>（线性）及</a:t>
            </a:r>
            <a:r>
              <a:rPr lang="en-US" altLang="zh-CN" sz="2400" dirty="0"/>
              <a:t>Logarithmic</a:t>
            </a:r>
            <a:r>
              <a:rPr lang="zh-CN" altLang="zh-CN" sz="2400" dirty="0"/>
              <a:t>（对数）。通常采用</a:t>
            </a:r>
            <a:r>
              <a:rPr lang="en-US" altLang="zh-CN" sz="2400" dirty="0"/>
              <a:t>Logarithmic</a:t>
            </a:r>
            <a:r>
              <a:rPr lang="zh-CN" altLang="zh-CN" sz="2400" dirty="0"/>
              <a:t>或</a:t>
            </a:r>
            <a:r>
              <a:rPr lang="en-US" altLang="zh-CN" sz="2400" dirty="0"/>
              <a:t>Decibel</a:t>
            </a:r>
            <a:r>
              <a:rPr lang="zh-CN" altLang="zh-CN" sz="2400" dirty="0"/>
              <a:t>选项。</a:t>
            </a:r>
            <a:endParaRPr lang="zh-CN" altLang="zh-CN" sz="2400" dirty="0"/>
          </a:p>
          <a:p>
            <a:pPr>
              <a:buFont typeface="Wingdings" panose="05000000000000000000" pitchFamily="2" charset="2"/>
              <a:buChar char="Ø"/>
              <a:defRPr/>
            </a:pPr>
            <a:r>
              <a:rPr lang="en-US" altLang="zh-CN" sz="2400" dirty="0"/>
              <a:t>Reset to default</a:t>
            </a:r>
            <a:r>
              <a:rPr lang="zh-CN" altLang="zh-CN" sz="2400" dirty="0"/>
              <a:t>：将所有设定恢复为默认值。</a:t>
            </a:r>
            <a:endParaRPr lang="zh-CN" altLang="zh-CN" sz="2400" dirty="0"/>
          </a:p>
          <a:p>
            <a:pPr marL="0" indent="0">
              <a:buFont typeface="Wingdings 2" panose="05020102010507070707" pitchFamily="18" charset="2"/>
              <a:buNone/>
              <a:defRPr/>
            </a:pPr>
            <a:endParaRPr lang="zh-CN"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zh-CN" altLang="zh-CN" sz="2400" dirty="0"/>
          </a:p>
          <a:p>
            <a:pPr marL="0" indent="0" eaLnBrk="1" hangingPunct="1">
              <a:buFont typeface="Wingdings 2" panose="05020102010507070707" pitchFamily="18" charset="2"/>
              <a:buNone/>
              <a:defRPr/>
            </a:pPr>
            <a:endParaRPr lang="en-US" altLang="zh-CN" dirty="0" smtClean="0"/>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8435" name="内容占位符 2"/>
          <p:cNvSpPr>
            <a:spLocks noGrp="1"/>
          </p:cNvSpPr>
          <p:nvPr>
            <p:ph idx="1"/>
          </p:nvPr>
        </p:nvSpPr>
        <p:spPr>
          <a:xfrm>
            <a:off x="539750" y="1052513"/>
            <a:ext cx="7239000" cy="5456237"/>
          </a:xfrm>
        </p:spPr>
        <p:txBody>
          <a:bodyPr/>
          <a:lstStyle/>
          <a:p>
            <a:pPr marL="0" indent="0" algn="just" eaLnBrk="1" hangingPunct="1">
              <a:buFont typeface="Wingdings 2" panose="05020102010507070707" pitchFamily="18" charset="2"/>
              <a:buNone/>
            </a:pPr>
            <a:r>
              <a:rPr lang="en-US" altLang="zh-CN" sz="2400" smtClean="0"/>
              <a:t>       </a:t>
            </a:r>
            <a:r>
              <a:rPr lang="zh-CN" altLang="zh-CN" sz="2400" smtClean="0"/>
              <a:t>当设定完成后，按图</a:t>
            </a:r>
            <a:r>
              <a:rPr lang="en-US" altLang="zh-CN" sz="2400" smtClean="0"/>
              <a:t>4</a:t>
            </a:r>
            <a:r>
              <a:rPr lang="zh-CN" altLang="zh-CN" sz="2400" smtClean="0"/>
              <a:t>所示对话框下面的“</a:t>
            </a:r>
            <a:r>
              <a:rPr lang="en-US" altLang="zh-CN" sz="2400" smtClean="0"/>
              <a:t>Simulate</a:t>
            </a:r>
            <a:r>
              <a:rPr lang="zh-CN" altLang="zh-CN" sz="2400" smtClean="0"/>
              <a:t>”按钮即可进行分析，分析结果如图</a:t>
            </a:r>
            <a:r>
              <a:rPr lang="en-US" altLang="zh-CN" sz="2400" smtClean="0"/>
              <a:t>5</a:t>
            </a:r>
            <a:r>
              <a:rPr lang="zh-CN" altLang="zh-CN" sz="2400" smtClean="0"/>
              <a:t>所示。</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5   </a:t>
            </a:r>
            <a:r>
              <a:rPr lang="zh-CN" altLang="zh-CN" sz="1400" smtClean="0"/>
              <a:t>交流分析</a:t>
            </a:r>
            <a:r>
              <a:rPr lang="zh-CN" altLang="en-US" sz="1400" smtClean="0"/>
              <a:t>结果</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18436" name="Picture 2" descr="2015-05-31 16-16-03"/>
          <p:cNvPicPr>
            <a:picLocks noChangeAspect="1" noChangeArrowheads="1"/>
          </p:cNvPicPr>
          <p:nvPr/>
        </p:nvPicPr>
        <p:blipFill>
          <a:blip r:embed="rId1" cstate="print"/>
          <a:srcRect/>
          <a:stretch>
            <a:fillRect/>
          </a:stretch>
        </p:blipFill>
        <p:spPr bwMode="auto">
          <a:xfrm>
            <a:off x="2879725" y="3213100"/>
            <a:ext cx="2400300" cy="17557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19459"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3</a:t>
            </a:r>
            <a:r>
              <a:rPr lang="zh-CN" altLang="en-US" sz="2400" smtClean="0"/>
              <a:t>）</a:t>
            </a:r>
            <a:r>
              <a:rPr lang="zh-CN" altLang="zh-CN" sz="2400" b="1" smtClean="0"/>
              <a:t>单一频率交流分析</a:t>
            </a:r>
            <a:endParaRPr lang="zh-CN" altLang="zh-CN" sz="2400" b="1" smtClean="0"/>
          </a:p>
          <a:p>
            <a:pPr marL="0" indent="0" algn="just">
              <a:buFont typeface="Wingdings 2" panose="05020102010507070707" pitchFamily="18" charset="2"/>
              <a:buNone/>
            </a:pPr>
            <a:r>
              <a:rPr lang="en-US" altLang="zh-CN" sz="2400" smtClean="0"/>
              <a:t>     </a:t>
            </a:r>
            <a:r>
              <a:rPr lang="zh-CN" altLang="zh-CN" sz="2400" smtClean="0"/>
              <a:t>单击</a:t>
            </a:r>
            <a:r>
              <a:rPr lang="en-US" altLang="zh-CN" sz="2400" smtClean="0"/>
              <a:t>Simulate\Analysis\Single Frequency AC Analysis</a:t>
            </a:r>
            <a:r>
              <a:rPr lang="zh-CN" altLang="zh-CN" sz="2400" smtClean="0"/>
              <a:t>，弹出图</a:t>
            </a:r>
            <a:r>
              <a:rPr lang="en-US" altLang="zh-CN" sz="2400" smtClean="0"/>
              <a:t>6</a:t>
            </a:r>
            <a:r>
              <a:rPr lang="zh-CN" altLang="zh-CN" sz="2400" smtClean="0"/>
              <a:t>所示对话框。其中，</a:t>
            </a:r>
            <a:r>
              <a:rPr lang="en-US" altLang="zh-CN" sz="2400" smtClean="0"/>
              <a:t>Output</a:t>
            </a:r>
            <a:r>
              <a:rPr lang="zh-CN" altLang="zh-CN" sz="2400" smtClean="0"/>
              <a:t>、</a:t>
            </a:r>
            <a:r>
              <a:rPr lang="en-US" altLang="zh-CN" sz="2400" smtClean="0"/>
              <a:t>Analysis options</a:t>
            </a:r>
            <a:r>
              <a:rPr lang="zh-CN" altLang="zh-CN" sz="2400" smtClean="0"/>
              <a:t>和</a:t>
            </a:r>
            <a:r>
              <a:rPr lang="en-US" altLang="zh-CN" sz="2400" smtClean="0"/>
              <a:t>Summary</a:t>
            </a:r>
            <a:r>
              <a:rPr lang="zh-CN" altLang="zh-CN" sz="2400" smtClean="0"/>
              <a:t>标签与</a:t>
            </a:r>
            <a:r>
              <a:rPr lang="en-US" altLang="zh-CN" sz="2400" smtClean="0"/>
              <a:t>DC Operating Point Analysis</a:t>
            </a:r>
            <a:r>
              <a:rPr lang="zh-CN" altLang="zh-CN" sz="2400" smtClean="0"/>
              <a:t>对话框中的响应标签完全一致。</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6   </a:t>
            </a:r>
            <a:r>
              <a:rPr lang="zh-CN" altLang="zh-CN" sz="1400" smtClean="0"/>
              <a:t>单一频率交流分析对话框</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19460" name="Picture 2" descr="2015-05-31 16-17-10"/>
          <p:cNvPicPr>
            <a:picLocks noChangeAspect="1" noChangeArrowheads="1"/>
          </p:cNvPicPr>
          <p:nvPr/>
        </p:nvPicPr>
        <p:blipFill>
          <a:blip r:embed="rId1" cstate="print"/>
          <a:srcRect/>
          <a:stretch>
            <a:fillRect/>
          </a:stretch>
        </p:blipFill>
        <p:spPr bwMode="auto">
          <a:xfrm>
            <a:off x="3059113" y="3357563"/>
            <a:ext cx="2193925" cy="1843087"/>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0483"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      </a:t>
            </a:r>
            <a:r>
              <a:rPr lang="zh-CN" altLang="zh-CN" sz="2400" smtClean="0"/>
              <a:t>按照图</a:t>
            </a:r>
            <a:r>
              <a:rPr lang="en-US" altLang="zh-CN" sz="2400" smtClean="0"/>
              <a:t>6</a:t>
            </a:r>
            <a:r>
              <a:rPr lang="zh-CN" altLang="zh-CN" sz="2400" smtClean="0"/>
              <a:t>中的参数设置，测试用户自定义的放大电路对</a:t>
            </a:r>
            <a:r>
              <a:rPr lang="en-US" altLang="zh-CN" sz="2400" smtClean="0"/>
              <a:t>1kHz</a:t>
            </a:r>
            <a:r>
              <a:rPr lang="zh-CN" altLang="zh-CN" sz="2400" smtClean="0"/>
              <a:t>信号的频率响应，在将</a:t>
            </a:r>
            <a:r>
              <a:rPr lang="en-US" altLang="zh-CN" sz="2400" smtClean="0"/>
              <a:t>V3</a:t>
            </a:r>
            <a:r>
              <a:rPr lang="zh-CN" altLang="zh-CN" sz="2400" smtClean="0"/>
              <a:t>设置为输出节点的情况下，结果如图</a:t>
            </a:r>
            <a:r>
              <a:rPr lang="en-US" altLang="zh-CN" sz="2400" smtClean="0"/>
              <a:t>7</a:t>
            </a:r>
            <a:r>
              <a:rPr lang="zh-CN" altLang="zh-CN" sz="2400" smtClean="0"/>
              <a:t>所示。</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7 </a:t>
            </a:r>
            <a:r>
              <a:rPr lang="zh-CN" altLang="zh-CN" sz="1400" smtClean="0"/>
              <a:t>单一频率交流分析</a:t>
            </a:r>
            <a:r>
              <a:rPr lang="zh-CN" altLang="en-US" sz="1400" smtClean="0"/>
              <a:t>结果</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20484" name="Picture 2" descr="2015-05-31 16-18-33"/>
          <p:cNvPicPr>
            <a:picLocks noChangeAspect="1" noChangeArrowheads="1"/>
          </p:cNvPicPr>
          <p:nvPr/>
        </p:nvPicPr>
        <p:blipFill>
          <a:blip r:embed="rId1" cstate="print"/>
          <a:srcRect/>
          <a:stretch>
            <a:fillRect/>
          </a:stretch>
        </p:blipFill>
        <p:spPr bwMode="auto">
          <a:xfrm>
            <a:off x="2555875" y="3500438"/>
            <a:ext cx="3086100" cy="1243012"/>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1507"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4</a:t>
            </a:r>
            <a:r>
              <a:rPr lang="zh-CN" altLang="en-US" sz="2400" smtClean="0"/>
              <a:t>）</a:t>
            </a:r>
            <a:r>
              <a:rPr lang="zh-CN" altLang="zh-CN" sz="2400" smtClean="0"/>
              <a:t> 瞬态分析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瞬态分析（</a:t>
            </a:r>
            <a:r>
              <a:rPr lang="en-US" altLang="zh-CN" sz="2400" smtClean="0"/>
              <a:t>Transient Analysis</a:t>
            </a:r>
            <a:r>
              <a:rPr lang="zh-CN" altLang="zh-CN" sz="2400" smtClean="0"/>
              <a:t>）是对所选定的电路节点的时域响应，即电路的响应在激励的作用下在时间域内的函数波形，是一种非线性分析。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在进行瞬态分析时，直流电源保持常数，交流信号源随着时间而改变，电容和电感都是能量储存模式元件。瞬态分析的结果通常为分析节点的电压波形，通常是为了找出电子电路的工作情况，就像用示波器观察节点电压波形一样，所以使用示波器也可以观察到相同的结果。</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6   </a:t>
            </a:r>
            <a:r>
              <a:rPr lang="zh-CN" altLang="zh-CN" sz="1400" smtClean="0"/>
              <a:t>单一频率交流分析对话框</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2531"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      </a:t>
            </a:r>
            <a:r>
              <a:rPr lang="zh-CN" altLang="zh-CN" sz="2400" smtClean="0"/>
              <a:t>启动菜单命令</a:t>
            </a:r>
            <a:r>
              <a:rPr lang="en-US" altLang="zh-CN" sz="2400" smtClean="0"/>
              <a:t>Simulate\Analysis\Transient Analysis</a:t>
            </a:r>
            <a:r>
              <a:rPr lang="zh-CN" altLang="zh-CN" sz="2400" smtClean="0"/>
              <a:t>，出现如图</a:t>
            </a:r>
            <a:r>
              <a:rPr lang="en-US" altLang="zh-CN" sz="2400" smtClean="0"/>
              <a:t>8</a:t>
            </a:r>
            <a:r>
              <a:rPr lang="zh-CN" altLang="zh-CN" sz="2400" smtClean="0"/>
              <a:t>所示的对话框</a:t>
            </a:r>
            <a:r>
              <a:rPr lang="zh-CN" altLang="en-US" sz="2400" smtClean="0"/>
              <a:t>。</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8  </a:t>
            </a:r>
            <a:r>
              <a:rPr lang="zh-CN" altLang="zh-CN" sz="1400" smtClean="0"/>
              <a:t>瞬态分析对话框</a:t>
            </a: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22532" name="Picture 2" descr="2015-05-31 16-19-35"/>
          <p:cNvPicPr>
            <a:picLocks noChangeAspect="1" noChangeArrowheads="1"/>
          </p:cNvPicPr>
          <p:nvPr/>
        </p:nvPicPr>
        <p:blipFill>
          <a:blip r:embed="rId1" cstate="print"/>
          <a:srcRect/>
          <a:stretch>
            <a:fillRect/>
          </a:stretch>
        </p:blipFill>
        <p:spPr bwMode="auto">
          <a:xfrm>
            <a:off x="3059113" y="2133600"/>
            <a:ext cx="2193925" cy="1843088"/>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3555"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     </a:t>
            </a:r>
            <a:r>
              <a:rPr lang="zh-CN" altLang="zh-CN" sz="2400" smtClean="0"/>
              <a:t>其中包括</a:t>
            </a:r>
            <a:r>
              <a:rPr lang="en-US" altLang="zh-CN" sz="2400" smtClean="0"/>
              <a:t>4</a:t>
            </a:r>
            <a:r>
              <a:rPr lang="zh-CN" altLang="zh-CN" sz="2400" smtClean="0"/>
              <a:t>个选项卡，除了</a:t>
            </a:r>
            <a:r>
              <a:rPr lang="en-US" altLang="zh-CN" sz="2400" smtClean="0"/>
              <a:t>Analysis parameters</a:t>
            </a:r>
            <a:r>
              <a:rPr lang="zh-CN" altLang="zh-CN" sz="2400" smtClean="0"/>
              <a:t>之外，其余均与静态工作点分析的设定相同</a:t>
            </a:r>
            <a:r>
              <a:rPr lang="zh-CN" altLang="en-US" sz="2400" smtClean="0"/>
              <a:t>。</a:t>
            </a:r>
            <a:r>
              <a:rPr lang="zh-CN" altLang="zh-CN" sz="2400" smtClean="0"/>
              <a:t>按照图</a:t>
            </a:r>
            <a:r>
              <a:rPr lang="en-US" altLang="zh-CN" sz="2400" smtClean="0"/>
              <a:t>8</a:t>
            </a:r>
            <a:r>
              <a:rPr lang="zh-CN" altLang="zh-CN" sz="2400" smtClean="0"/>
              <a:t>中的设置，把仿真终止时间改为</a:t>
            </a:r>
            <a:r>
              <a:rPr lang="en-US" altLang="zh-CN" sz="2400" smtClean="0"/>
              <a:t>0.01s</a:t>
            </a:r>
            <a:r>
              <a:rPr lang="zh-CN" altLang="zh-CN" sz="2400" smtClean="0"/>
              <a:t>，在</a:t>
            </a:r>
            <a:r>
              <a:rPr lang="en-US" altLang="zh-CN" sz="2400" smtClean="0"/>
              <a:t>Output</a:t>
            </a:r>
            <a:r>
              <a:rPr lang="zh-CN" altLang="zh-CN" sz="2400" smtClean="0"/>
              <a:t>标签中将节点</a:t>
            </a:r>
            <a:r>
              <a:rPr lang="en-US" altLang="zh-CN" sz="2400" smtClean="0"/>
              <a:t>3</a:t>
            </a:r>
            <a:r>
              <a:rPr lang="zh-CN" altLang="zh-CN" sz="2400" smtClean="0"/>
              <a:t>设为输出节点，其余按默认设置。单击</a:t>
            </a:r>
            <a:r>
              <a:rPr lang="en-US" altLang="zh-CN" sz="2400" smtClean="0"/>
              <a:t>Simulate</a:t>
            </a:r>
            <a:r>
              <a:rPr lang="zh-CN" altLang="zh-CN" sz="2400" smtClean="0"/>
              <a:t>按钮，弹出如图</a:t>
            </a:r>
            <a:r>
              <a:rPr lang="en-US" altLang="zh-CN" sz="2400" smtClean="0"/>
              <a:t>9</a:t>
            </a:r>
            <a:r>
              <a:rPr lang="zh-CN" altLang="zh-CN" sz="2400" smtClean="0"/>
              <a:t>所示的瞬态分析的结果窗口</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9  </a:t>
            </a:r>
            <a:r>
              <a:rPr lang="zh-CN" altLang="zh-CN" sz="1400" smtClean="0"/>
              <a:t>瞬态分析</a:t>
            </a:r>
            <a:r>
              <a:rPr lang="zh-CN" altLang="en-US" sz="1400" smtClean="0"/>
              <a:t>结果</a:t>
            </a:r>
            <a:endParaRPr lang="zh-CN" altLang="zh-CN" sz="2400" smtClean="0"/>
          </a:p>
          <a:p>
            <a:pPr marL="0" indent="0" eaLnBrk="1" hangingPunct="1">
              <a:buFont typeface="Wingdings 2" panose="05020102010507070707" pitchFamily="18" charset="2"/>
              <a:buNone/>
            </a:pPr>
            <a:endParaRPr lang="en-US" altLang="zh-CN" smtClean="0"/>
          </a:p>
        </p:txBody>
      </p:sp>
      <p:pic>
        <p:nvPicPr>
          <p:cNvPr id="23556" name="Picture 2" descr="2015-05-31 16-21-00"/>
          <p:cNvPicPr>
            <a:picLocks noChangeAspect="1" noChangeArrowheads="1"/>
          </p:cNvPicPr>
          <p:nvPr/>
        </p:nvPicPr>
        <p:blipFill>
          <a:blip r:embed="rId1" cstate="print"/>
          <a:srcRect/>
          <a:stretch>
            <a:fillRect/>
          </a:stretch>
        </p:blipFill>
        <p:spPr bwMode="auto">
          <a:xfrm>
            <a:off x="2700338" y="3573463"/>
            <a:ext cx="2736850" cy="20034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4579"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5</a:t>
            </a:r>
            <a:r>
              <a:rPr lang="zh-CN" altLang="en-US" sz="2400" smtClean="0"/>
              <a:t>）</a:t>
            </a:r>
            <a:r>
              <a:rPr lang="zh-CN" altLang="zh-CN" sz="2400" smtClean="0"/>
              <a:t> </a:t>
            </a:r>
            <a:r>
              <a:rPr lang="zh-CN" altLang="en-US" sz="2400" smtClean="0"/>
              <a:t>傅里叶</a:t>
            </a:r>
            <a:r>
              <a:rPr lang="zh-CN" altLang="zh-CN" sz="2400" smtClean="0"/>
              <a:t>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傅里叶分析（</a:t>
            </a:r>
            <a:r>
              <a:rPr lang="en-US" altLang="zh-CN" sz="2400" smtClean="0"/>
              <a:t>Fourier Analysis</a:t>
            </a:r>
            <a:r>
              <a:rPr lang="zh-CN" altLang="zh-CN" sz="2400" smtClean="0"/>
              <a:t>）方法是分析周期性非正弦信号的一种数学方法，用于分析时域信号的直流分量、基频分量和谐波分量。它通过对被测节点处的时域变换信号进行傅里叶变换，找出其时域变换规律</a:t>
            </a:r>
            <a:r>
              <a:rPr lang="zh-CN" altLang="en-US" sz="2400" smtClean="0"/>
              <a:t>。</a:t>
            </a:r>
            <a:r>
              <a:rPr lang="zh-CN" altLang="zh-CN" sz="2400" smtClean="0"/>
              <a:t>单击</a:t>
            </a:r>
            <a:r>
              <a:rPr lang="en-US" altLang="zh-CN" sz="2400" smtClean="0"/>
              <a:t>Simulate\Analysis\ Fourier analysis</a:t>
            </a:r>
            <a:r>
              <a:rPr lang="zh-CN" altLang="zh-CN" sz="2400" smtClean="0"/>
              <a:t>命令，打开</a:t>
            </a:r>
            <a:r>
              <a:rPr lang="en-US" altLang="zh-CN" sz="2400" smtClean="0"/>
              <a:t>Fourier Analysis</a:t>
            </a:r>
            <a:r>
              <a:rPr lang="zh-CN" altLang="zh-CN" sz="2400" smtClean="0"/>
              <a:t>对话框，进行傅里叶分析参数设置，如图</a:t>
            </a:r>
            <a:r>
              <a:rPr lang="en-US" altLang="zh-CN" sz="2400" smtClean="0"/>
              <a:t>10</a:t>
            </a:r>
            <a:r>
              <a:rPr lang="zh-CN" altLang="zh-CN" sz="2400" smtClean="0"/>
              <a:t>所示。</a:t>
            </a:r>
            <a:endParaRPr lang="zh-CN" altLang="zh-CN" sz="2400" smtClean="0"/>
          </a:p>
          <a:p>
            <a:pPr marL="0" indent="0">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10 Fourier Analysis </a:t>
            </a:r>
            <a:r>
              <a:rPr lang="zh-CN" altLang="zh-CN" sz="1400" smtClean="0"/>
              <a:t>对话框</a:t>
            </a: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24580" name="Picture 2"/>
          <p:cNvPicPr>
            <a:picLocks noChangeAspect="1" noChangeArrowheads="1"/>
          </p:cNvPicPr>
          <p:nvPr/>
        </p:nvPicPr>
        <p:blipFill>
          <a:blip r:embed="rId1" cstate="print"/>
          <a:srcRect/>
          <a:stretch>
            <a:fillRect/>
          </a:stretch>
        </p:blipFill>
        <p:spPr bwMode="auto">
          <a:xfrm>
            <a:off x="3086100" y="4292600"/>
            <a:ext cx="2200275" cy="185737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8195"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defRPr/>
            </a:pPr>
            <a:r>
              <a:rPr lang="en-US" altLang="zh-CN" sz="2400" dirty="0"/>
              <a:t> </a:t>
            </a:r>
            <a:r>
              <a:rPr lang="en-US" altLang="zh-CN" sz="2400" dirty="0" smtClean="0"/>
              <a:t>    Output</a:t>
            </a:r>
            <a:r>
              <a:rPr lang="zh-CN" altLang="zh-CN" sz="2400" dirty="0"/>
              <a:t>标签、</a:t>
            </a:r>
            <a:r>
              <a:rPr lang="en-US" altLang="zh-CN" sz="2400" dirty="0"/>
              <a:t>Analysis options</a:t>
            </a:r>
            <a:r>
              <a:rPr lang="zh-CN" altLang="zh-CN" sz="2400" dirty="0"/>
              <a:t>标签和</a:t>
            </a:r>
            <a:r>
              <a:rPr lang="en-US" altLang="zh-CN" sz="2400" dirty="0"/>
              <a:t>Summary</a:t>
            </a:r>
            <a:r>
              <a:rPr lang="zh-CN" altLang="zh-CN" sz="2400" dirty="0"/>
              <a:t>标签的设置内容和前述其他分析方法的对话框设置相同。</a:t>
            </a:r>
            <a:r>
              <a:rPr lang="en-US" altLang="zh-CN" sz="2400" dirty="0"/>
              <a:t>Analysis Parameters</a:t>
            </a:r>
            <a:r>
              <a:rPr lang="zh-CN" altLang="zh-CN" sz="2400" dirty="0"/>
              <a:t>标签项用来设置傅里叶分析的基本参数和显示方式，其设置主要包括三个选项</a:t>
            </a:r>
            <a:r>
              <a:rPr lang="zh-CN" altLang="zh-CN" sz="2400" dirty="0" smtClean="0"/>
              <a:t>区域</a:t>
            </a:r>
            <a:r>
              <a:rPr lang="zh-CN" altLang="en-US" sz="2400" dirty="0" smtClean="0"/>
              <a:t>。</a:t>
            </a:r>
            <a:endParaRPr lang="en-US" altLang="zh-CN" sz="2400" dirty="0" smtClean="0"/>
          </a:p>
          <a:p>
            <a:pPr>
              <a:buFont typeface="Wingdings" panose="05000000000000000000" pitchFamily="2" charset="2"/>
              <a:buChar char="Ø"/>
              <a:defRPr/>
            </a:pPr>
            <a:r>
              <a:rPr lang="zh-CN" altLang="en-US" sz="2400" dirty="0" smtClean="0"/>
              <a:t>在</a:t>
            </a:r>
            <a:r>
              <a:rPr lang="en-US" altLang="zh-CN" sz="2400" dirty="0" smtClean="0"/>
              <a:t>Sampling options</a:t>
            </a:r>
            <a:r>
              <a:rPr lang="zh-CN" altLang="en-US" sz="2400" dirty="0" smtClean="0"/>
              <a:t>中，</a:t>
            </a:r>
            <a:r>
              <a:rPr lang="en-US" altLang="zh-CN" sz="2400" dirty="0" smtClean="0"/>
              <a:t> </a:t>
            </a:r>
            <a:r>
              <a:rPr lang="zh-CN" altLang="zh-CN" sz="2400" dirty="0" smtClean="0"/>
              <a:t>单击</a:t>
            </a:r>
            <a:r>
              <a:rPr lang="zh-CN" altLang="zh-CN" sz="2400" dirty="0"/>
              <a:t>“</a:t>
            </a:r>
            <a:r>
              <a:rPr lang="en-US" altLang="zh-CN" sz="2400" dirty="0"/>
              <a:t>Edit transient analysis</a:t>
            </a:r>
            <a:r>
              <a:rPr lang="zh-CN" altLang="zh-CN" sz="2400" dirty="0"/>
              <a:t>”按钮，设置瞬时分析选项，具体设置方法与瞬态分析设置方法相同，如</a:t>
            </a:r>
            <a:r>
              <a:rPr lang="zh-CN" altLang="zh-CN" sz="2400" dirty="0" smtClean="0"/>
              <a:t>图</a:t>
            </a:r>
            <a:r>
              <a:rPr lang="en-US" altLang="zh-CN" sz="2400" dirty="0" smtClean="0"/>
              <a:t>11</a:t>
            </a:r>
            <a:r>
              <a:rPr lang="zh-CN" altLang="zh-CN" sz="2400" dirty="0"/>
              <a:t>所示。</a:t>
            </a:r>
            <a:endParaRPr lang="zh-CN"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r>
              <a:rPr lang="zh-CN" altLang="en-US" sz="1400" dirty="0"/>
              <a:t>图</a:t>
            </a:r>
            <a:r>
              <a:rPr lang="en-US" altLang="zh-CN" sz="1400" dirty="0"/>
              <a:t>11  </a:t>
            </a:r>
            <a:r>
              <a:rPr lang="zh-CN" altLang="en-US" sz="1400" dirty="0"/>
              <a:t>瞬时</a:t>
            </a:r>
            <a:r>
              <a:rPr lang="zh-CN" altLang="zh-CN" sz="1400" dirty="0"/>
              <a:t>分析</a:t>
            </a:r>
            <a:r>
              <a:rPr lang="zh-CN" altLang="en-US" sz="1400" dirty="0"/>
              <a:t>选项</a:t>
            </a: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p:txBody>
      </p:sp>
      <p:pic>
        <p:nvPicPr>
          <p:cNvPr id="25604" name="Picture 2" descr="2015-05-31 16-22-31"/>
          <p:cNvPicPr>
            <a:picLocks noChangeAspect="1" noChangeArrowheads="1"/>
          </p:cNvPicPr>
          <p:nvPr/>
        </p:nvPicPr>
        <p:blipFill>
          <a:blip r:embed="rId1" cstate="print"/>
          <a:srcRect/>
          <a:stretch>
            <a:fillRect/>
          </a:stretch>
        </p:blipFill>
        <p:spPr bwMode="auto">
          <a:xfrm>
            <a:off x="3276600" y="4292600"/>
            <a:ext cx="1785938" cy="16891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8195" name="内容占位符 2"/>
          <p:cNvSpPr>
            <a:spLocks noGrp="1"/>
          </p:cNvSpPr>
          <p:nvPr>
            <p:ph idx="1"/>
          </p:nvPr>
        </p:nvSpPr>
        <p:spPr>
          <a:xfrm>
            <a:off x="539750" y="1052513"/>
            <a:ext cx="7239000" cy="5456237"/>
          </a:xfrm>
        </p:spPr>
        <p:txBody>
          <a:bodyPr/>
          <a:lstStyle/>
          <a:p>
            <a:pPr algn="just">
              <a:buFont typeface="Wingdings" panose="05000000000000000000" pitchFamily="2" charset="2"/>
              <a:buChar char="Ø"/>
              <a:defRPr/>
            </a:pPr>
            <a:r>
              <a:rPr lang="en-US" altLang="zh-CN" sz="2400" dirty="0"/>
              <a:t>Result</a:t>
            </a:r>
            <a:r>
              <a:rPr lang="zh-CN" altLang="zh-CN" sz="2400" dirty="0"/>
              <a:t>：选择仿真结果的显示方式。其中</a:t>
            </a:r>
            <a:r>
              <a:rPr lang="en-US" altLang="zh-CN" sz="2400" dirty="0"/>
              <a:t>Display phase</a:t>
            </a:r>
            <a:r>
              <a:rPr lang="zh-CN" altLang="zh-CN" sz="2400" dirty="0"/>
              <a:t>用于设置显示幅度频谱和相位频谱</a:t>
            </a:r>
            <a:r>
              <a:rPr lang="zh-CN" altLang="zh-CN" sz="2400" dirty="0" smtClean="0"/>
              <a:t>。</a:t>
            </a:r>
            <a:r>
              <a:rPr lang="en-US" altLang="zh-CN" sz="2400" dirty="0" smtClean="0"/>
              <a:t>Display </a:t>
            </a:r>
            <a:r>
              <a:rPr lang="en-US" altLang="zh-CN" sz="2400" dirty="0"/>
              <a:t>as bar graph</a:t>
            </a:r>
            <a:r>
              <a:rPr lang="zh-CN" altLang="zh-CN" sz="2400" dirty="0"/>
              <a:t>用于设置以线条绘出频谱图。</a:t>
            </a:r>
            <a:r>
              <a:rPr lang="en-US" altLang="zh-CN" sz="2400" dirty="0"/>
              <a:t>Normalize graphs</a:t>
            </a:r>
            <a:r>
              <a:rPr lang="zh-CN" altLang="zh-CN" sz="2400" dirty="0"/>
              <a:t>用于设置绘出归一化频谱图。</a:t>
            </a:r>
            <a:r>
              <a:rPr lang="en-US" altLang="zh-CN" sz="2400" dirty="0"/>
              <a:t>Display</a:t>
            </a:r>
            <a:r>
              <a:rPr lang="zh-CN" altLang="zh-CN" sz="2400" dirty="0"/>
              <a:t>用来设置所要显示的</a:t>
            </a:r>
            <a:r>
              <a:rPr lang="zh-CN" altLang="zh-CN" sz="2400" dirty="0" smtClean="0"/>
              <a:t>项目</a:t>
            </a:r>
            <a:r>
              <a:rPr lang="zh-CN" altLang="en-US" sz="2400" dirty="0" smtClean="0"/>
              <a:t>。</a:t>
            </a:r>
            <a:endParaRPr lang="zh-CN" altLang="zh-CN" sz="2400" dirty="0"/>
          </a:p>
          <a:p>
            <a:pPr algn="just">
              <a:buFont typeface="Wingdings" panose="05000000000000000000" pitchFamily="2" charset="2"/>
              <a:buChar char="Ø"/>
              <a:defRPr/>
            </a:pPr>
            <a:r>
              <a:rPr lang="en-US" altLang="zh-CN" sz="2400" dirty="0"/>
              <a:t>More options</a:t>
            </a:r>
            <a:r>
              <a:rPr lang="zh-CN" altLang="zh-CN" sz="2400" dirty="0"/>
              <a:t>：该部分包括两个选项。其中</a:t>
            </a:r>
            <a:r>
              <a:rPr lang="en-US" altLang="zh-CN" sz="2400" dirty="0"/>
              <a:t>Degree of polynomial for interpolation</a:t>
            </a:r>
            <a:r>
              <a:rPr lang="zh-CN" altLang="zh-CN" sz="2400" dirty="0"/>
              <a:t>选项的功能是设定仿真中用于点间插值的多项式的次数，选取本选项后，即可在其右边方框中指定多项式次数。</a:t>
            </a:r>
            <a:r>
              <a:rPr lang="en-US" altLang="zh-CN" sz="2400" dirty="0"/>
              <a:t>Sampling Frequency</a:t>
            </a:r>
            <a:r>
              <a:rPr lang="zh-CN" altLang="zh-CN" sz="2400" dirty="0"/>
              <a:t>栏用于指定采样率。</a:t>
            </a:r>
            <a:endParaRPr lang="zh-CN" altLang="zh-CN" sz="2400" dirty="0"/>
          </a:p>
          <a:p>
            <a:pPr marL="0" indent="0" eaLnBrk="1" hangingPunct="1">
              <a:buFont typeface="Wingdings 2" panose="05020102010507070707" pitchFamily="18" charset="2"/>
              <a:buNone/>
              <a:defRPr/>
            </a:pPr>
            <a:endParaRPr lang="en-US" altLang="zh-CN" sz="2400" dirty="0" smtClean="0"/>
          </a:p>
          <a:p>
            <a:pPr marL="0" indent="0" eaLnBrk="1" hangingPunct="1">
              <a:buFont typeface="Wingdings 2" panose="05020102010507070707" pitchFamily="18" charset="2"/>
              <a:buNone/>
              <a:defRPr/>
            </a:pPr>
            <a:endParaRPr lang="en-US" altLang="zh-CN" sz="2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7651"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6</a:t>
            </a:r>
            <a:r>
              <a:rPr lang="zh-CN" altLang="en-US" sz="2400" smtClean="0"/>
              <a:t>）</a:t>
            </a:r>
            <a:r>
              <a:rPr lang="zh-CN" altLang="zh-CN" sz="2400" smtClean="0"/>
              <a:t>  噪声分析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噪声分析（</a:t>
            </a:r>
            <a:r>
              <a:rPr lang="en-US" altLang="zh-CN" sz="2400" smtClean="0"/>
              <a:t>Noise Analysis</a:t>
            </a:r>
            <a:r>
              <a:rPr lang="zh-CN" altLang="zh-CN" sz="2400" smtClean="0"/>
              <a:t>）就是分析噪声对电路性能的影响以及噪声的大小。</a:t>
            </a:r>
            <a:r>
              <a:rPr lang="en-US" altLang="zh-CN" sz="2400" smtClean="0"/>
              <a:t>Multisim 12.0</a:t>
            </a:r>
            <a:r>
              <a:rPr lang="zh-CN" altLang="zh-CN" sz="2400" smtClean="0"/>
              <a:t>中的噪声模型假定了仿真电路中的每一个元件经过噪声分析后，它们的总噪声输出对仿真电路的输出节点的影响。</a:t>
            </a:r>
            <a:endParaRPr lang="en-US" altLang="zh-CN" sz="2400" smtClean="0"/>
          </a:p>
          <a:p>
            <a:pPr marL="0" indent="0">
              <a:buFont typeface="Wingdings 2" panose="05020102010507070707" pitchFamily="18" charset="2"/>
              <a:buNone/>
            </a:pPr>
            <a:r>
              <a:rPr lang="en-US" altLang="zh-CN" sz="2400" smtClean="0"/>
              <a:t>      </a:t>
            </a:r>
            <a:r>
              <a:rPr lang="zh-CN" altLang="zh-CN" sz="2400" smtClean="0"/>
              <a:t>单击</a:t>
            </a:r>
            <a:r>
              <a:rPr lang="en-US" altLang="zh-CN" sz="2400" smtClean="0"/>
              <a:t>Simulate\Analysis\Noise analysis</a:t>
            </a:r>
            <a:r>
              <a:rPr lang="zh-CN" altLang="zh-CN" sz="2400" smtClean="0"/>
              <a:t>，将弹出如图</a:t>
            </a:r>
            <a:r>
              <a:rPr lang="en-US" altLang="zh-CN" sz="2400" smtClean="0"/>
              <a:t>12</a:t>
            </a:r>
            <a:r>
              <a:rPr lang="zh-CN" altLang="zh-CN" sz="2400" smtClean="0"/>
              <a:t>所示的对话框。</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12 </a:t>
            </a:r>
            <a:r>
              <a:rPr lang="zh-CN" altLang="en-US" sz="1400" smtClean="0"/>
              <a:t>噪声分析</a:t>
            </a:r>
            <a:r>
              <a:rPr lang="zh-CN" altLang="zh-CN" sz="1400" smtClean="0"/>
              <a:t>对话框</a:t>
            </a:r>
            <a:r>
              <a:rPr lang="zh-CN" altLang="en-US" sz="1400" smtClean="0"/>
              <a:t>之一</a:t>
            </a: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27652" name="Picture 2" descr="2015-05-31 16-25-21"/>
          <p:cNvPicPr>
            <a:picLocks noChangeAspect="1" noChangeArrowheads="1"/>
          </p:cNvPicPr>
          <p:nvPr/>
        </p:nvPicPr>
        <p:blipFill>
          <a:blip r:embed="rId1" cstate="print"/>
          <a:srcRect/>
          <a:stretch>
            <a:fillRect/>
          </a:stretch>
        </p:blipFill>
        <p:spPr bwMode="auto">
          <a:xfrm>
            <a:off x="3132138" y="4005263"/>
            <a:ext cx="2197100" cy="1841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8675"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该对话框包含</a:t>
            </a:r>
            <a:r>
              <a:rPr lang="en-US" altLang="zh-CN" sz="2400" smtClean="0"/>
              <a:t>5</a:t>
            </a:r>
            <a:r>
              <a:rPr lang="zh-CN" altLang="zh-CN" sz="2400" smtClean="0"/>
              <a:t>个标签项</a:t>
            </a:r>
            <a:r>
              <a:rPr lang="zh-CN" altLang="en-US" sz="2400" smtClean="0"/>
              <a:t>，</a:t>
            </a:r>
            <a:r>
              <a:rPr lang="zh-CN" altLang="zh-CN" sz="2400" smtClean="0"/>
              <a:t>其中</a:t>
            </a:r>
            <a:r>
              <a:rPr lang="en-US" altLang="zh-CN" sz="2400" smtClean="0"/>
              <a:t>Analysis parameter</a:t>
            </a:r>
            <a:r>
              <a:rPr lang="zh-CN" altLang="zh-CN" sz="2400" smtClean="0"/>
              <a:t>选项卡和</a:t>
            </a:r>
            <a:r>
              <a:rPr lang="en-US" altLang="zh-CN" sz="2400" smtClean="0"/>
              <a:t>Frequency parameters</a:t>
            </a:r>
            <a:r>
              <a:rPr lang="zh-CN" altLang="zh-CN" sz="2400" smtClean="0"/>
              <a:t>选项卡的界面分别如图</a:t>
            </a:r>
            <a:r>
              <a:rPr lang="en-US" altLang="zh-CN" sz="2400" smtClean="0"/>
              <a:t>12</a:t>
            </a:r>
            <a:r>
              <a:rPr lang="zh-CN" altLang="zh-CN" sz="2400" smtClean="0"/>
              <a:t>和图</a:t>
            </a:r>
            <a:r>
              <a:rPr lang="en-US" altLang="zh-CN" sz="2400" smtClean="0"/>
              <a:t>13</a:t>
            </a:r>
            <a:r>
              <a:rPr lang="zh-CN" altLang="zh-CN" sz="2400" smtClean="0"/>
              <a:t>所示。</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13 </a:t>
            </a:r>
            <a:r>
              <a:rPr lang="zh-CN" altLang="en-US" sz="1400" smtClean="0"/>
              <a:t>噪声分析</a:t>
            </a:r>
            <a:r>
              <a:rPr lang="zh-CN" altLang="zh-CN" sz="1400" smtClean="0"/>
              <a:t>对话框</a:t>
            </a:r>
            <a:r>
              <a:rPr lang="zh-CN" altLang="en-US" sz="1400" smtClean="0"/>
              <a:t>之二</a:t>
            </a: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28676" name="Picture 2" descr="2015-05-31 16-25-52"/>
          <p:cNvPicPr>
            <a:picLocks noChangeAspect="1" noChangeArrowheads="1"/>
          </p:cNvPicPr>
          <p:nvPr/>
        </p:nvPicPr>
        <p:blipFill>
          <a:blip r:embed="rId1" cstate="print"/>
          <a:srcRect/>
          <a:stretch>
            <a:fillRect/>
          </a:stretch>
        </p:blipFill>
        <p:spPr bwMode="auto">
          <a:xfrm>
            <a:off x="2916238" y="2852738"/>
            <a:ext cx="2197100" cy="1841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29699"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在</a:t>
            </a:r>
            <a:r>
              <a:rPr lang="en-US" altLang="zh-CN" sz="2400" smtClean="0"/>
              <a:t>Output</a:t>
            </a:r>
            <a:r>
              <a:rPr lang="zh-CN" altLang="zh-CN" sz="2400" smtClean="0"/>
              <a:t>选项卡中设置待观察的输出变量为</a:t>
            </a:r>
            <a:r>
              <a:rPr lang="en-US" altLang="zh-CN" sz="2400" smtClean="0"/>
              <a:t>inoise-spectrum</a:t>
            </a:r>
            <a:r>
              <a:rPr lang="zh-CN" altLang="zh-CN" sz="2400" smtClean="0"/>
              <a:t>（输入噪声频谱）和</a:t>
            </a:r>
            <a:r>
              <a:rPr lang="en-US" altLang="zh-CN" sz="2400" smtClean="0"/>
              <a:t>onoise-spectrum</a:t>
            </a:r>
            <a:r>
              <a:rPr lang="zh-CN" altLang="zh-CN" sz="2400" smtClean="0"/>
              <a:t>（输出噪声频谱）以及</a:t>
            </a:r>
            <a:r>
              <a:rPr lang="en-US" altLang="zh-CN" sz="2400" smtClean="0"/>
              <a:t>onoise_qq1</a:t>
            </a:r>
            <a:r>
              <a:rPr lang="zh-CN" altLang="zh-CN" sz="2400" smtClean="0"/>
              <a:t>等，如图</a:t>
            </a:r>
            <a:r>
              <a:rPr lang="en-US" altLang="zh-CN" sz="2400" smtClean="0"/>
              <a:t>14</a:t>
            </a:r>
            <a:r>
              <a:rPr lang="zh-CN" altLang="zh-CN" sz="2400" smtClean="0"/>
              <a:t>所示。右键单击晶体管</a:t>
            </a:r>
            <a:r>
              <a:rPr lang="en-US" altLang="zh-CN" sz="2400" smtClean="0"/>
              <a:t>2N2222A</a:t>
            </a:r>
            <a:r>
              <a:rPr lang="zh-CN" altLang="zh-CN" sz="2400" smtClean="0"/>
              <a:t>，单击</a:t>
            </a:r>
            <a:r>
              <a:rPr lang="en-US" altLang="zh-CN" sz="2400" smtClean="0"/>
              <a:t>Properties</a:t>
            </a:r>
            <a:r>
              <a:rPr lang="zh-CN" altLang="zh-CN" sz="2400" smtClean="0"/>
              <a:t>，在弹出的对话框中选择</a:t>
            </a:r>
            <a:r>
              <a:rPr lang="en-US" altLang="zh-CN" sz="2400" smtClean="0"/>
              <a:t>Edit model</a:t>
            </a:r>
            <a:r>
              <a:rPr lang="zh-CN" altLang="zh-CN" sz="2400" smtClean="0"/>
              <a:t>按钮，如图</a:t>
            </a:r>
            <a:r>
              <a:rPr lang="en-US" altLang="zh-CN" sz="2400" smtClean="0"/>
              <a:t>15</a:t>
            </a:r>
            <a:r>
              <a:rPr lang="zh-CN" altLang="zh-CN" sz="2400" smtClean="0"/>
              <a:t>所示，将晶体管模型中的</a:t>
            </a:r>
            <a:r>
              <a:rPr lang="en-US" altLang="zh-CN" sz="2400" smtClean="0"/>
              <a:t>KF</a:t>
            </a:r>
            <a:r>
              <a:rPr lang="zh-CN" altLang="zh-CN" sz="2400" smtClean="0"/>
              <a:t>（闪烁噪声系数）设置为图中的数值，单击</a:t>
            </a:r>
            <a:r>
              <a:rPr lang="en-US" altLang="zh-CN" sz="2400" smtClean="0"/>
              <a:t>Change Component</a:t>
            </a:r>
            <a:r>
              <a:rPr lang="zh-CN" altLang="zh-CN" sz="2400" smtClean="0"/>
              <a:t>，仅改变当前元件的模型参数。也可以单击图</a:t>
            </a:r>
            <a:r>
              <a:rPr lang="en-US" altLang="zh-CN" sz="2400" smtClean="0"/>
              <a:t>15</a:t>
            </a:r>
            <a:r>
              <a:rPr lang="zh-CN" altLang="zh-CN" sz="2400" smtClean="0"/>
              <a:t>中的</a:t>
            </a:r>
            <a:r>
              <a:rPr lang="en-US" altLang="zh-CN" sz="2400" smtClean="0"/>
              <a:t>Reset to default</a:t>
            </a:r>
            <a:r>
              <a:rPr lang="zh-CN" altLang="zh-CN" sz="2400" smtClean="0"/>
              <a:t>按钮来恢复元件默认的</a:t>
            </a:r>
            <a:r>
              <a:rPr lang="en-US" altLang="zh-CN" sz="2400" smtClean="0"/>
              <a:t>SPICE</a:t>
            </a:r>
            <a:r>
              <a:rPr lang="zh-CN" altLang="zh-CN" sz="2400" smtClean="0"/>
              <a:t>参数。</a:t>
            </a:r>
            <a:endParaRPr lang="zh-CN"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0723" name="内容占位符 2"/>
          <p:cNvSpPr>
            <a:spLocks noGrp="1"/>
          </p:cNvSpPr>
          <p:nvPr>
            <p:ph idx="1"/>
          </p:nvPr>
        </p:nvSpPr>
        <p:spPr>
          <a:xfrm>
            <a:off x="611188" y="981075"/>
            <a:ext cx="7239000" cy="5456238"/>
          </a:xfrm>
        </p:spPr>
        <p:txBody>
          <a:bodyPr/>
          <a:lstStyle/>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14 </a:t>
            </a:r>
            <a:r>
              <a:rPr lang="zh-CN" altLang="en-US" sz="1400" smtClean="0"/>
              <a:t>噪声分析</a:t>
            </a:r>
            <a:r>
              <a:rPr lang="zh-CN" altLang="zh-CN" sz="1400" smtClean="0"/>
              <a:t>对话框</a:t>
            </a:r>
            <a:r>
              <a:rPr lang="zh-CN" altLang="en-US" sz="1400" smtClean="0"/>
              <a:t>之三</a:t>
            </a: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15   </a:t>
            </a:r>
            <a:r>
              <a:rPr lang="zh-CN" altLang="en-US" sz="1400" smtClean="0"/>
              <a:t>设置闪烁噪声系数</a:t>
            </a:r>
            <a:r>
              <a:rPr lang="en-US" altLang="zh-CN" sz="1400" smtClean="0"/>
              <a:t>KF</a:t>
            </a:r>
            <a:r>
              <a:rPr lang="zh-CN" altLang="en-US" sz="1400" smtClean="0"/>
              <a:t>的值</a:t>
            </a:r>
            <a:endParaRPr lang="en-US" altLang="zh-CN" smtClean="0"/>
          </a:p>
        </p:txBody>
      </p:sp>
      <p:pic>
        <p:nvPicPr>
          <p:cNvPr id="30724" name="Picture 2" descr="2015-05-31 16-26-59"/>
          <p:cNvPicPr>
            <a:picLocks noChangeAspect="1" noChangeArrowheads="1"/>
          </p:cNvPicPr>
          <p:nvPr/>
        </p:nvPicPr>
        <p:blipFill>
          <a:blip r:embed="rId1" cstate="print"/>
          <a:srcRect/>
          <a:stretch>
            <a:fillRect/>
          </a:stretch>
        </p:blipFill>
        <p:spPr bwMode="auto">
          <a:xfrm>
            <a:off x="3203848" y="1196752"/>
            <a:ext cx="2197100" cy="1841500"/>
          </a:xfrm>
          <a:prstGeom prst="rect">
            <a:avLst/>
          </a:prstGeom>
          <a:noFill/>
          <a:ln w="9525">
            <a:noFill/>
            <a:miter lim="800000"/>
            <a:headEnd/>
            <a:tailEnd/>
          </a:ln>
        </p:spPr>
      </p:pic>
      <p:pic>
        <p:nvPicPr>
          <p:cNvPr id="30725" name="Picture 3"/>
          <p:cNvPicPr>
            <a:picLocks noChangeAspect="1" noChangeArrowheads="1"/>
          </p:cNvPicPr>
          <p:nvPr/>
        </p:nvPicPr>
        <p:blipFill>
          <a:blip r:embed="rId2" cstate="print"/>
          <a:srcRect/>
          <a:stretch>
            <a:fillRect/>
          </a:stretch>
        </p:blipFill>
        <p:spPr bwMode="auto">
          <a:xfrm>
            <a:off x="3275856" y="3861048"/>
            <a:ext cx="1971675" cy="15144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1747"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改变</a:t>
            </a:r>
            <a:r>
              <a:rPr lang="en-US" altLang="zh-CN" sz="2400" smtClean="0"/>
              <a:t>KF</a:t>
            </a:r>
            <a:r>
              <a:rPr lang="zh-CN" altLang="zh-CN" sz="2400" smtClean="0"/>
              <a:t>的</a:t>
            </a:r>
            <a:r>
              <a:rPr lang="en-US" altLang="zh-CN" sz="2400" smtClean="0"/>
              <a:t>SPICE</a:t>
            </a:r>
            <a:r>
              <a:rPr lang="zh-CN" altLang="zh-CN" sz="2400" smtClean="0"/>
              <a:t>参数值后，单击</a:t>
            </a:r>
            <a:r>
              <a:rPr lang="en-US" altLang="zh-CN" sz="2400" smtClean="0"/>
              <a:t>Simulate</a:t>
            </a:r>
            <a:r>
              <a:rPr lang="zh-CN" altLang="zh-CN" sz="2400" smtClean="0"/>
              <a:t>按钮，启动噪声分析，得到如图</a:t>
            </a:r>
            <a:r>
              <a:rPr lang="en-US" altLang="zh-CN" sz="2400" smtClean="0"/>
              <a:t>16</a:t>
            </a:r>
            <a:r>
              <a:rPr lang="zh-CN" altLang="zh-CN" sz="2400" smtClean="0"/>
              <a:t>所示的结果。</a:t>
            </a:r>
            <a:endParaRPr lang="zh-CN"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16 </a:t>
            </a:r>
            <a:r>
              <a:rPr lang="zh-CN" altLang="en-US" sz="1400" smtClean="0"/>
              <a:t>噪声分析结果</a:t>
            </a: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31748" name="Picture 2" descr="2015-05-31 16-33-37"/>
          <p:cNvPicPr>
            <a:picLocks noChangeAspect="1" noChangeArrowheads="1"/>
          </p:cNvPicPr>
          <p:nvPr/>
        </p:nvPicPr>
        <p:blipFill>
          <a:blip r:embed="rId1" cstate="print"/>
          <a:srcRect/>
          <a:stretch>
            <a:fillRect/>
          </a:stretch>
        </p:blipFill>
        <p:spPr bwMode="auto">
          <a:xfrm>
            <a:off x="2843213" y="2493963"/>
            <a:ext cx="2778125" cy="17811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2771"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7</a:t>
            </a:r>
            <a:r>
              <a:rPr lang="zh-CN" altLang="en-US" sz="2400" smtClean="0"/>
              <a:t>）</a:t>
            </a:r>
            <a:r>
              <a:rPr lang="zh-CN" altLang="zh-CN" sz="2400" smtClean="0"/>
              <a:t>  噪声</a:t>
            </a:r>
            <a:r>
              <a:rPr lang="zh-CN" altLang="en-US" sz="2400" smtClean="0"/>
              <a:t>系数</a:t>
            </a:r>
            <a:r>
              <a:rPr lang="zh-CN" altLang="zh-CN" sz="2400" smtClean="0"/>
              <a:t>分析</a:t>
            </a:r>
            <a:endParaRPr lang="en-US" altLang="zh-CN" sz="2400" smtClean="0"/>
          </a:p>
          <a:p>
            <a:pPr marL="0" indent="0" algn="just">
              <a:buFont typeface="Wingdings 2" panose="05020102010507070707" pitchFamily="18" charset="2"/>
              <a:buNone/>
            </a:pPr>
            <a:r>
              <a:rPr lang="en-US" altLang="zh-CN" sz="2400" smtClean="0"/>
              <a:t>      </a:t>
            </a:r>
            <a:r>
              <a:rPr lang="zh-CN" altLang="zh-CN" sz="2400" smtClean="0"/>
              <a:t>噪声系数分析用来衡量噪声对信号的干扰程度。</a:t>
            </a:r>
            <a:r>
              <a:rPr lang="en-US" altLang="zh-CN" sz="2400" smtClean="0"/>
              <a:t>      Multisim 12.0</a:t>
            </a:r>
            <a:r>
              <a:rPr lang="zh-CN" altLang="zh-CN" sz="2400" smtClean="0"/>
              <a:t>的噪声系数分析（</a:t>
            </a:r>
            <a:r>
              <a:rPr lang="en-US" altLang="zh-CN" sz="2400" smtClean="0"/>
              <a:t>Noise Figure Analysis</a:t>
            </a:r>
            <a:r>
              <a:rPr lang="zh-CN" altLang="zh-CN" sz="2400" smtClean="0"/>
              <a:t>）是指分析输入信噪比</a:t>
            </a:r>
            <a:r>
              <a:rPr lang="en-US" altLang="zh-CN" sz="2400" smtClean="0"/>
              <a:t>/</a:t>
            </a:r>
            <a:r>
              <a:rPr lang="zh-CN" altLang="zh-CN" sz="2400" smtClean="0"/>
              <a:t>输出信噪比的变化。</a:t>
            </a:r>
            <a:endParaRPr lang="en-US" altLang="zh-CN" sz="2400" smtClean="0"/>
          </a:p>
          <a:p>
            <a:pPr marL="0" indent="0" eaLnBrk="1" hangingPunct="1">
              <a:buFont typeface="Wingdings 2" panose="05020102010507070707" pitchFamily="18" charset="2"/>
              <a:buNone/>
            </a:pPr>
            <a:r>
              <a:rPr lang="en-US" altLang="zh-CN" sz="2400" smtClean="0"/>
              <a:t>     </a:t>
            </a:r>
            <a:r>
              <a:rPr lang="zh-CN" altLang="zh-CN" sz="2400" smtClean="0"/>
              <a:t>单击</a:t>
            </a:r>
            <a:r>
              <a:rPr lang="en-US" altLang="zh-CN" sz="2400" smtClean="0"/>
              <a:t>Simulate\Analysis\ Noise figure analysis</a:t>
            </a:r>
            <a:r>
              <a:rPr lang="zh-CN" altLang="zh-CN" sz="2400" smtClean="0"/>
              <a:t>，将弹出如图</a:t>
            </a:r>
            <a:r>
              <a:rPr lang="en-US" altLang="zh-CN" sz="2400" smtClean="0"/>
              <a:t>17</a:t>
            </a:r>
            <a:r>
              <a:rPr lang="zh-CN" altLang="zh-CN" sz="2400" smtClean="0"/>
              <a:t>所示的对话框。</a:t>
            </a: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17</a:t>
            </a:r>
            <a:r>
              <a:rPr lang="zh-CN" altLang="en-US" sz="1400" smtClean="0"/>
              <a:t>噪声系数分析</a:t>
            </a:r>
            <a:r>
              <a:rPr lang="zh-CN" altLang="zh-CN" sz="1400" smtClean="0"/>
              <a:t>对话框</a:t>
            </a: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32772" name="Picture 2" descr="2015-05-31 16-34-39"/>
          <p:cNvPicPr>
            <a:picLocks noChangeAspect="1" noChangeArrowheads="1"/>
          </p:cNvPicPr>
          <p:nvPr/>
        </p:nvPicPr>
        <p:blipFill>
          <a:blip r:embed="rId1" cstate="print"/>
          <a:srcRect/>
          <a:stretch>
            <a:fillRect/>
          </a:stretch>
        </p:blipFill>
        <p:spPr bwMode="auto">
          <a:xfrm>
            <a:off x="3132138" y="3789363"/>
            <a:ext cx="1978025" cy="1858962"/>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8195" name="内容占位符 2"/>
          <p:cNvSpPr>
            <a:spLocks noGrp="1"/>
          </p:cNvSpPr>
          <p:nvPr>
            <p:ph idx="1"/>
          </p:nvPr>
        </p:nvSpPr>
        <p:spPr>
          <a:xfrm>
            <a:off x="501650" y="1060450"/>
            <a:ext cx="7239000" cy="5456238"/>
          </a:xfrm>
        </p:spPr>
        <p:txBody>
          <a:bodyPr/>
          <a:lstStyle/>
          <a:p>
            <a:pPr marL="0" indent="0">
              <a:buFont typeface="Wingdings 2" panose="05020102010507070707" pitchFamily="18" charset="2"/>
              <a:buNone/>
              <a:defRPr/>
            </a:pPr>
            <a:r>
              <a:rPr lang="en-US" altLang="zh-CN" sz="2400" dirty="0" smtClean="0"/>
              <a:t>     </a:t>
            </a:r>
            <a:r>
              <a:rPr lang="zh-CN" altLang="zh-CN" sz="2400" dirty="0" smtClean="0"/>
              <a:t>其中</a:t>
            </a:r>
            <a:r>
              <a:rPr lang="en-US" altLang="zh-CN" sz="2400" dirty="0"/>
              <a:t>Analysis parameters</a:t>
            </a:r>
            <a:r>
              <a:rPr lang="zh-CN" altLang="zh-CN" sz="2400" dirty="0"/>
              <a:t>标签中各选项的含义如下：</a:t>
            </a:r>
            <a:endParaRPr lang="zh-CN" altLang="zh-CN" sz="2400" dirty="0"/>
          </a:p>
          <a:p>
            <a:pPr>
              <a:buFont typeface="Wingdings" panose="05000000000000000000" pitchFamily="2" charset="2"/>
              <a:buChar char="Ø"/>
              <a:defRPr/>
            </a:pPr>
            <a:r>
              <a:rPr lang="en-US" altLang="zh-CN" sz="2400" dirty="0"/>
              <a:t>Input noise reference source</a:t>
            </a:r>
            <a:r>
              <a:rPr lang="zh-CN" altLang="zh-CN" sz="2400" dirty="0"/>
              <a:t>：选择交流信号的输入噪声参考源。</a:t>
            </a:r>
            <a:endParaRPr lang="zh-CN" altLang="zh-CN" sz="2400" dirty="0"/>
          </a:p>
          <a:p>
            <a:pPr>
              <a:buFont typeface="Wingdings" panose="05000000000000000000" pitchFamily="2" charset="2"/>
              <a:buChar char="Ø"/>
              <a:defRPr/>
            </a:pPr>
            <a:r>
              <a:rPr lang="en-US" altLang="zh-CN" sz="2400" dirty="0"/>
              <a:t>Output node</a:t>
            </a:r>
            <a:r>
              <a:rPr lang="zh-CN" altLang="zh-CN" sz="2400" dirty="0"/>
              <a:t>：选择输出噪声的节点。</a:t>
            </a:r>
            <a:endParaRPr lang="zh-CN" altLang="zh-CN" sz="2400" dirty="0"/>
          </a:p>
          <a:p>
            <a:pPr>
              <a:buFont typeface="Wingdings" panose="05000000000000000000" pitchFamily="2" charset="2"/>
              <a:buChar char="Ø"/>
              <a:defRPr/>
            </a:pPr>
            <a:r>
              <a:rPr lang="en-US" altLang="zh-CN" sz="2400" dirty="0"/>
              <a:t>Reference node</a:t>
            </a:r>
            <a:r>
              <a:rPr lang="zh-CN" altLang="zh-CN" sz="2400" dirty="0"/>
              <a:t>：设置参考电压的节点，默认值为接地点。</a:t>
            </a:r>
            <a:endParaRPr lang="zh-CN" altLang="zh-CN" sz="2400" dirty="0"/>
          </a:p>
          <a:p>
            <a:pPr>
              <a:buFont typeface="Wingdings" panose="05000000000000000000" pitchFamily="2" charset="2"/>
              <a:buChar char="Ø"/>
              <a:defRPr/>
            </a:pPr>
            <a:r>
              <a:rPr lang="en-US" altLang="zh-CN" sz="2400" dirty="0"/>
              <a:t>Frequency</a:t>
            </a:r>
            <a:r>
              <a:rPr lang="zh-CN" altLang="zh-CN" sz="2400" dirty="0"/>
              <a:t>：设置输入频率。</a:t>
            </a:r>
            <a:endParaRPr lang="zh-CN" altLang="zh-CN" sz="2400" dirty="0"/>
          </a:p>
          <a:p>
            <a:pPr>
              <a:buFont typeface="Wingdings" panose="05000000000000000000" pitchFamily="2" charset="2"/>
              <a:buChar char="Ø"/>
              <a:defRPr/>
            </a:pPr>
            <a:r>
              <a:rPr lang="en-US" altLang="zh-CN" sz="2400" dirty="0"/>
              <a:t>Temperature</a:t>
            </a:r>
            <a:r>
              <a:rPr lang="zh-CN" altLang="zh-CN" sz="2400" dirty="0"/>
              <a:t>：设置输入温度。</a:t>
            </a:r>
            <a:endParaRPr lang="en-US" altLang="zh-CN" sz="2400" dirty="0" smtClean="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smtClean="0"/>
          </a:p>
          <a:p>
            <a:pPr marL="0" indent="0" algn="ctr" eaLnBrk="1" hangingPunct="1">
              <a:buFont typeface="Wingdings 2" panose="05020102010507070707" pitchFamily="18" charset="2"/>
              <a:buNone/>
              <a:defRPr/>
            </a:pPr>
            <a:endParaRPr lang="en-US" altLang="zh-CN" sz="1400" dirty="0"/>
          </a:p>
          <a:p>
            <a:pPr marL="0" indent="0" algn="ctr" eaLnBrk="1" hangingPunct="1">
              <a:buFont typeface="Wingdings 2" panose="05020102010507070707" pitchFamily="18" charset="2"/>
              <a:buNone/>
              <a:defRPr/>
            </a:pPr>
            <a:endParaRPr lang="en-US" altLang="zh-CN" sz="1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en-US" altLang="zh-CN" sz="2400" dirty="0"/>
          </a:p>
          <a:p>
            <a:pPr marL="0" indent="0" eaLnBrk="1" hangingPunct="1">
              <a:buFont typeface="Wingdings 2" panose="05020102010507070707" pitchFamily="18" charset="2"/>
              <a:buNone/>
              <a:defRPr/>
            </a:pPr>
            <a:endParaRPr lang="zh-CN" altLang="zh-CN" sz="2400" dirty="0"/>
          </a:p>
          <a:p>
            <a:pPr marL="0" indent="0" eaLnBrk="1" hangingPunct="1">
              <a:buFont typeface="Wingdings 2" panose="05020102010507070707" pitchFamily="18" charset="2"/>
              <a:buNone/>
              <a:defRPr/>
            </a:pPr>
            <a:endParaRPr lang="en-US" altLang="zh-CN" dirty="0" smtClean="0"/>
          </a:p>
        </p:txBody>
      </p:sp>
    </p:spTree>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4819"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加入幅值</a:t>
            </a:r>
            <a:r>
              <a:rPr lang="en-US" altLang="zh-CN" sz="2400" smtClean="0"/>
              <a:t>5mV</a:t>
            </a:r>
            <a:r>
              <a:rPr lang="zh-CN" altLang="zh-CN" sz="2400" smtClean="0"/>
              <a:t>，频率为</a:t>
            </a:r>
            <a:r>
              <a:rPr lang="en-US" altLang="zh-CN" sz="2400" smtClean="0"/>
              <a:t>1kHz</a:t>
            </a:r>
            <a:r>
              <a:rPr lang="zh-CN" altLang="zh-CN" sz="2400" smtClean="0"/>
              <a:t>的交流电。单击</a:t>
            </a:r>
            <a:r>
              <a:rPr lang="en-US" altLang="zh-CN" sz="2400" smtClean="0"/>
              <a:t>Simulate</a:t>
            </a:r>
            <a:r>
              <a:rPr lang="zh-CN" altLang="zh-CN" sz="2400" smtClean="0"/>
              <a:t>按钮，启动噪声系数分析，得到的结果如图</a:t>
            </a:r>
            <a:r>
              <a:rPr lang="en-US" altLang="zh-CN" sz="2400" smtClean="0"/>
              <a:t>18</a:t>
            </a:r>
            <a:r>
              <a:rPr lang="zh-CN" altLang="zh-CN" sz="2400" smtClean="0"/>
              <a:t>所示。</a:t>
            </a:r>
            <a:endParaRPr lang="zh-CN"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18 </a:t>
            </a:r>
            <a:r>
              <a:rPr lang="zh-CN" altLang="en-US" sz="1400" smtClean="0"/>
              <a:t>噪声系数分析结果</a:t>
            </a: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34820" name="Picture 2" descr="2015-05-31 16-35-28"/>
          <p:cNvPicPr>
            <a:picLocks noChangeAspect="1" noChangeArrowheads="1"/>
          </p:cNvPicPr>
          <p:nvPr/>
        </p:nvPicPr>
        <p:blipFill>
          <a:blip r:embed="rId1" cstate="print"/>
          <a:srcRect/>
          <a:stretch>
            <a:fillRect/>
          </a:stretch>
        </p:blipFill>
        <p:spPr bwMode="auto">
          <a:xfrm>
            <a:off x="2987675" y="3213100"/>
            <a:ext cx="2292350" cy="1122363"/>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5843"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8</a:t>
            </a:r>
            <a:r>
              <a:rPr lang="zh-CN" altLang="en-US" sz="2400" smtClean="0"/>
              <a:t>）</a:t>
            </a:r>
            <a:r>
              <a:rPr lang="zh-CN" altLang="zh-CN" sz="2400" smtClean="0"/>
              <a:t>  </a:t>
            </a:r>
            <a:r>
              <a:rPr lang="zh-CN" altLang="en-US" sz="2400" smtClean="0"/>
              <a:t>失真</a:t>
            </a:r>
            <a:r>
              <a:rPr lang="zh-CN" altLang="zh-CN" sz="2400" smtClean="0"/>
              <a:t>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失真分析（</a:t>
            </a:r>
            <a:r>
              <a:rPr lang="en-US" altLang="zh-CN" sz="2400" smtClean="0"/>
              <a:t>Distortion Analysis</a:t>
            </a:r>
            <a:r>
              <a:rPr lang="zh-CN" altLang="zh-CN" sz="2400" smtClean="0"/>
              <a:t>）用于分析电子电路中的非线性失真和相位偏移，通常非线性失真会导致谐波失真，而相位偏移会导致互调失真。在进行失真分析之前，必须决定要用什么电源，每个电源失真分析参数的设定都是独立的。</a:t>
            </a:r>
            <a:endParaRPr lang="zh-CN" altLang="zh-CN" sz="2400" smtClean="0"/>
          </a:p>
          <a:p>
            <a:pPr marL="0" indent="0">
              <a:buFont typeface="Wingdings 2" panose="05020102010507070707" pitchFamily="18" charset="2"/>
              <a:buNone/>
            </a:pPr>
            <a:r>
              <a:rPr lang="en-US" altLang="zh-CN" sz="2400" smtClean="0"/>
              <a:t>      </a:t>
            </a:r>
            <a:r>
              <a:rPr lang="zh-CN" altLang="zh-CN" sz="2400" smtClean="0"/>
              <a:t>单击</a:t>
            </a:r>
            <a:r>
              <a:rPr lang="en-US" altLang="zh-CN" sz="2400" smtClean="0"/>
              <a:t>Simulate\Analysis\Distortion analysis</a:t>
            </a:r>
            <a:r>
              <a:rPr lang="zh-CN" altLang="zh-CN" sz="2400" smtClean="0"/>
              <a:t>命令，打开失真分析对话框，如图</a:t>
            </a:r>
            <a:r>
              <a:rPr lang="en-US" altLang="zh-CN" sz="2400" smtClean="0"/>
              <a:t>19</a:t>
            </a:r>
            <a:r>
              <a:rPr lang="zh-CN" altLang="zh-CN" sz="2400" smtClean="0"/>
              <a:t>所示。</a:t>
            </a:r>
            <a:endParaRPr lang="zh-CN"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19   </a:t>
            </a:r>
            <a:r>
              <a:rPr lang="zh-CN" altLang="en-US" sz="1400" smtClean="0"/>
              <a:t>失真分析</a:t>
            </a:r>
            <a:r>
              <a:rPr lang="zh-CN" altLang="zh-CN" sz="1400" smtClean="0"/>
              <a:t>对话框</a:t>
            </a: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35844" name="Picture 2" descr="2015-05-31 16-36-27"/>
          <p:cNvPicPr>
            <a:picLocks noChangeAspect="1" noChangeArrowheads="1"/>
          </p:cNvPicPr>
          <p:nvPr/>
        </p:nvPicPr>
        <p:blipFill>
          <a:blip r:embed="rId1" cstate="print"/>
          <a:srcRect/>
          <a:stretch>
            <a:fillRect/>
          </a:stretch>
        </p:blipFill>
        <p:spPr bwMode="auto">
          <a:xfrm>
            <a:off x="2987675" y="4292600"/>
            <a:ext cx="2197100" cy="1841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6867"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其中</a:t>
            </a:r>
            <a:r>
              <a:rPr lang="en-US" altLang="zh-CN" sz="2400" smtClean="0"/>
              <a:t>Analysis parameters</a:t>
            </a:r>
            <a:r>
              <a:rPr lang="zh-CN" altLang="zh-CN" sz="2400" smtClean="0"/>
              <a:t>标签用来设置频率的参数。其余三个选项卡的设置内容与其他分析方法的对话框设置相同。</a:t>
            </a: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p:txBody>
      </p:sp>
    </p:spTree>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7891"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9</a:t>
            </a:r>
            <a:r>
              <a:rPr lang="zh-CN" altLang="en-US" sz="2400" smtClean="0"/>
              <a:t>）</a:t>
            </a:r>
            <a:r>
              <a:rPr lang="zh-CN" altLang="zh-CN" sz="2400" smtClean="0"/>
              <a:t> </a:t>
            </a:r>
            <a:r>
              <a:rPr lang="zh-CN" altLang="en-US" sz="2400" smtClean="0"/>
              <a:t>直流扫描分析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直流扫描分析（</a:t>
            </a:r>
            <a:r>
              <a:rPr lang="en-US" altLang="zh-CN" sz="2400" smtClean="0"/>
              <a:t>DC Sweep Analysis</a:t>
            </a:r>
            <a:r>
              <a:rPr lang="zh-CN" altLang="zh-CN" sz="2400" smtClean="0"/>
              <a:t>）就是分析电路中某节点电压（电流）随着电路中的一个或两个直流电源变化的情况。通过扫描分析可以非常直接的看到扫描参数的变化对仿真实验结果的影响。在进行直流扫描分析时，电容视为开路，电感视为短路。</a:t>
            </a:r>
            <a:endParaRPr lang="en-US" altLang="zh-CN" sz="2400" smtClean="0"/>
          </a:p>
          <a:p>
            <a:pPr marL="0" indent="0">
              <a:buFont typeface="Wingdings 2" panose="05020102010507070707" pitchFamily="18" charset="2"/>
              <a:buNone/>
            </a:pPr>
            <a:r>
              <a:rPr lang="en-US" altLang="zh-CN" sz="2400" smtClean="0"/>
              <a:t>    </a:t>
            </a:r>
            <a:r>
              <a:rPr lang="zh-CN" altLang="zh-CN" sz="2400" smtClean="0"/>
              <a:t>启动菜单</a:t>
            </a:r>
            <a:r>
              <a:rPr lang="en-US" altLang="zh-CN" sz="2400" smtClean="0"/>
              <a:t>Simulate\Analysis\DC Sweep analysis</a:t>
            </a:r>
            <a:r>
              <a:rPr lang="zh-CN" altLang="zh-CN" sz="2400" smtClean="0"/>
              <a:t>，打开直流扫描分析对话框，如图</a:t>
            </a:r>
            <a:r>
              <a:rPr lang="en-US" altLang="zh-CN" sz="2400" smtClean="0"/>
              <a:t>20</a:t>
            </a:r>
            <a:r>
              <a:rPr lang="zh-CN" altLang="zh-CN" sz="2400" smtClean="0"/>
              <a:t>所示。</a:t>
            </a:r>
            <a:endParaRPr lang="zh-CN" altLang="zh-CN" sz="2400" smtClean="0"/>
          </a:p>
          <a:p>
            <a:pPr marL="0" indent="0">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20  </a:t>
            </a:r>
            <a:r>
              <a:rPr lang="zh-CN" altLang="zh-CN" sz="1400" smtClean="0"/>
              <a:t>直流扫描分析对话框 </a:t>
            </a:r>
            <a:endParaRPr lang="en-US" altLang="zh-CN" sz="1400" smtClean="0"/>
          </a:p>
          <a:p>
            <a:pPr marL="0" indent="0" algn="ctr" eaLnBrk="1" hangingPunct="1">
              <a:buFont typeface="Wingdings 2" panose="05020102010507070707" pitchFamily="18" charset="2"/>
              <a:buNone/>
            </a:pP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37892" name="Picture 2" descr="2015-05-31 16-37-53"/>
          <p:cNvPicPr>
            <a:picLocks noChangeAspect="1" noChangeArrowheads="1"/>
          </p:cNvPicPr>
          <p:nvPr/>
        </p:nvPicPr>
        <p:blipFill>
          <a:blip r:embed="rId1" cstate="print"/>
          <a:srcRect/>
          <a:stretch>
            <a:fillRect/>
          </a:stretch>
        </p:blipFill>
        <p:spPr bwMode="auto">
          <a:xfrm>
            <a:off x="3132138" y="4221163"/>
            <a:ext cx="2193925" cy="1843087"/>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8915" name="内容占位符 2"/>
          <p:cNvSpPr>
            <a:spLocks noGrp="1"/>
          </p:cNvSpPr>
          <p:nvPr>
            <p:ph idx="1"/>
          </p:nvPr>
        </p:nvSpPr>
        <p:spPr>
          <a:xfrm>
            <a:off x="539750" y="1052513"/>
            <a:ext cx="7239000" cy="5456237"/>
          </a:xfrm>
        </p:spPr>
        <p:txBody>
          <a:bodyPr/>
          <a:lstStyle/>
          <a:p>
            <a:pPr marL="0" indent="0" algn="just" eaLnBrk="1" hangingPunct="1">
              <a:buFont typeface="Wingdings 2" panose="05020102010507070707" pitchFamily="18" charset="2"/>
              <a:buNone/>
            </a:pPr>
            <a:r>
              <a:rPr lang="en-US" altLang="zh-CN" sz="2400" smtClean="0"/>
              <a:t>       </a:t>
            </a:r>
            <a:r>
              <a:rPr lang="zh-CN" altLang="zh-CN" sz="2400" smtClean="0"/>
              <a:t>其中包括了四个选项卡，除了</a:t>
            </a:r>
            <a:r>
              <a:rPr lang="en-US" altLang="zh-CN" sz="2400" smtClean="0"/>
              <a:t>Analysis parameters</a:t>
            </a:r>
            <a:r>
              <a:rPr lang="zh-CN" altLang="zh-CN" sz="2400" smtClean="0"/>
              <a:t>选项卡之外，其余均与静态工作点分析的设定相同</a:t>
            </a:r>
            <a:r>
              <a:rPr lang="zh-CN" altLang="en-US" sz="2400" smtClean="0"/>
              <a:t>。</a:t>
            </a:r>
            <a:endParaRPr lang="en-US" altLang="zh-CN" sz="2400" smtClean="0"/>
          </a:p>
          <a:p>
            <a:pPr marL="0" indent="0" algn="just">
              <a:buFont typeface="Wingdings 2" panose="05020102010507070707" pitchFamily="18" charset="2"/>
              <a:buNone/>
            </a:pPr>
            <a:r>
              <a:rPr lang="en-US" altLang="zh-CN" sz="2400" smtClean="0"/>
              <a:t>      </a:t>
            </a:r>
            <a:r>
              <a:rPr lang="zh-CN" altLang="zh-CN" sz="2400" smtClean="0"/>
              <a:t>在</a:t>
            </a:r>
            <a:r>
              <a:rPr lang="en-US" altLang="zh-CN" sz="2400" smtClean="0"/>
              <a:t>Analysis parameters</a:t>
            </a:r>
            <a:r>
              <a:rPr lang="zh-CN" altLang="zh-CN" sz="2400" smtClean="0"/>
              <a:t>选项卡中，包括了</a:t>
            </a:r>
            <a:r>
              <a:rPr lang="en-US" altLang="zh-CN" sz="2400" smtClean="0"/>
              <a:t>Source1</a:t>
            </a:r>
            <a:r>
              <a:rPr lang="zh-CN" altLang="zh-CN" sz="2400" smtClean="0"/>
              <a:t>和</a:t>
            </a:r>
            <a:r>
              <a:rPr lang="en-US" altLang="zh-CN" sz="2400" smtClean="0"/>
              <a:t>Source2</a:t>
            </a:r>
            <a:r>
              <a:rPr lang="zh-CN" altLang="zh-CN" sz="2400" smtClean="0"/>
              <a:t>两个区块，每个区块各有下列项目：</a:t>
            </a:r>
            <a:endParaRPr lang="zh-CN" altLang="zh-CN" sz="2400" smtClean="0"/>
          </a:p>
          <a:p>
            <a:pPr marL="0" indent="0">
              <a:buFont typeface="Wingdings 2" panose="05020102010507070707" pitchFamily="18" charset="2"/>
              <a:buNone/>
            </a:pPr>
            <a:r>
              <a:rPr lang="en-US" altLang="zh-CN" sz="2400" smtClean="0"/>
              <a:t>     1</a:t>
            </a:r>
            <a:r>
              <a:rPr lang="zh-CN" altLang="en-US" sz="2400" smtClean="0"/>
              <a:t>）</a:t>
            </a:r>
            <a:r>
              <a:rPr lang="en-US" altLang="zh-CN" sz="2400" smtClean="0"/>
              <a:t>Source</a:t>
            </a:r>
            <a:r>
              <a:rPr lang="zh-CN" altLang="zh-CN" sz="2400" smtClean="0"/>
              <a:t>：指定所要扫描的电源。</a:t>
            </a:r>
            <a:endParaRPr lang="zh-CN" altLang="zh-CN" sz="2400" smtClean="0"/>
          </a:p>
          <a:p>
            <a:pPr marL="0" indent="0">
              <a:buFont typeface="Wingdings 2" panose="05020102010507070707" pitchFamily="18" charset="2"/>
              <a:buNone/>
            </a:pPr>
            <a:r>
              <a:rPr lang="en-US" altLang="zh-CN" sz="2400" smtClean="0"/>
              <a:t>     2</a:t>
            </a:r>
            <a:r>
              <a:rPr lang="zh-CN" altLang="en-US" sz="2400" smtClean="0"/>
              <a:t>）</a:t>
            </a:r>
            <a:r>
              <a:rPr lang="en-US" altLang="zh-CN" sz="2400" smtClean="0"/>
              <a:t>Start value</a:t>
            </a:r>
            <a:r>
              <a:rPr lang="zh-CN" altLang="zh-CN" sz="2400" smtClean="0"/>
              <a:t>：设定开始扫描的电压值。</a:t>
            </a:r>
            <a:endParaRPr lang="zh-CN" altLang="zh-CN" sz="2400" smtClean="0"/>
          </a:p>
          <a:p>
            <a:pPr marL="0" indent="0">
              <a:buFont typeface="Wingdings 2" panose="05020102010507070707" pitchFamily="18" charset="2"/>
              <a:buNone/>
            </a:pPr>
            <a:r>
              <a:rPr lang="en-US" altLang="zh-CN" sz="2400" smtClean="0"/>
              <a:t>     3</a:t>
            </a:r>
            <a:r>
              <a:rPr lang="zh-CN" altLang="en-US" sz="2400" smtClean="0"/>
              <a:t>）</a:t>
            </a:r>
            <a:r>
              <a:rPr lang="en-US" altLang="zh-CN" sz="2400" smtClean="0"/>
              <a:t>Stop value</a:t>
            </a:r>
            <a:r>
              <a:rPr lang="zh-CN" altLang="zh-CN" sz="2400" smtClean="0"/>
              <a:t>：设定终止扫描的电压值。</a:t>
            </a:r>
            <a:endParaRPr lang="zh-CN" altLang="zh-CN" sz="2400" smtClean="0"/>
          </a:p>
          <a:p>
            <a:pPr marL="0" indent="0">
              <a:buFont typeface="Wingdings 2" panose="05020102010507070707" pitchFamily="18" charset="2"/>
              <a:buNone/>
            </a:pPr>
            <a:r>
              <a:rPr lang="en-US" altLang="zh-CN" sz="2400" smtClean="0"/>
              <a:t>     4</a:t>
            </a:r>
            <a:r>
              <a:rPr lang="zh-CN" altLang="en-US" sz="2400" smtClean="0"/>
              <a:t>）</a:t>
            </a:r>
            <a:r>
              <a:rPr lang="en-US" altLang="zh-CN" sz="2400" smtClean="0"/>
              <a:t>Increment</a:t>
            </a:r>
            <a:r>
              <a:rPr lang="zh-CN" altLang="zh-CN" sz="2400" smtClean="0"/>
              <a:t>：设定扫描的增量（或间距）。</a:t>
            </a:r>
            <a:endParaRPr lang="zh-CN"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p:txBody>
      </p:sp>
    </p:spTree>
  </p:cSld>
  <p:clrMapOvr>
    <a:masterClrMapping/>
  </p:clrMapOvr>
  <p:transition spd="med"/>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39939" name="内容占位符 2"/>
          <p:cNvSpPr>
            <a:spLocks noGrp="1"/>
          </p:cNvSpPr>
          <p:nvPr>
            <p:ph idx="1"/>
          </p:nvPr>
        </p:nvSpPr>
        <p:spPr>
          <a:xfrm>
            <a:off x="539750" y="1052513"/>
            <a:ext cx="7239000" cy="5456237"/>
          </a:xfrm>
        </p:spPr>
        <p:txBody>
          <a:bodyPr/>
          <a:lstStyle/>
          <a:p>
            <a:pPr marL="0" indent="0" algn="just" eaLnBrk="1" hangingPunct="1">
              <a:buFont typeface="Wingdings 2" panose="05020102010507070707" pitchFamily="18" charset="2"/>
              <a:buNone/>
            </a:pPr>
            <a:r>
              <a:rPr lang="en-US" altLang="zh-CN" sz="2400" smtClean="0"/>
              <a:t>     </a:t>
            </a:r>
            <a:r>
              <a:rPr lang="zh-CN" altLang="zh-CN" sz="2400" smtClean="0"/>
              <a:t>直流扫描分析的结果</a:t>
            </a:r>
            <a:r>
              <a:rPr lang="zh-CN" altLang="en-US" sz="2400" smtClean="0"/>
              <a:t>如图</a:t>
            </a:r>
            <a:r>
              <a:rPr lang="en-US" altLang="zh-CN" sz="2400" smtClean="0"/>
              <a:t>21</a:t>
            </a:r>
            <a:r>
              <a:rPr lang="zh-CN" altLang="en-US" sz="2400" smtClean="0"/>
              <a:t>所示</a:t>
            </a:r>
            <a:r>
              <a:rPr lang="zh-CN" altLang="zh-CN" sz="2400" smtClean="0"/>
              <a:t>，</a:t>
            </a:r>
            <a:r>
              <a:rPr lang="en-US" altLang="zh-CN" sz="2400" smtClean="0"/>
              <a:t>V2</a:t>
            </a:r>
            <a:r>
              <a:rPr lang="zh-CN" altLang="zh-CN" sz="2400" smtClean="0"/>
              <a:t>是基极电压，</a:t>
            </a:r>
            <a:r>
              <a:rPr lang="en-US" altLang="zh-CN" sz="2400" smtClean="0"/>
              <a:t>V3</a:t>
            </a:r>
            <a:r>
              <a:rPr lang="zh-CN" altLang="zh-CN" sz="2400" smtClean="0"/>
              <a:t>是集电极电压。</a:t>
            </a: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zh-CN" sz="1400" smtClean="0"/>
              <a:t> 图</a:t>
            </a:r>
            <a:r>
              <a:rPr lang="en-US" altLang="zh-CN" sz="1400" smtClean="0"/>
              <a:t>21 </a:t>
            </a:r>
            <a:r>
              <a:rPr lang="zh-CN" altLang="zh-CN" sz="1400" smtClean="0"/>
              <a:t>直流扫描分析结果</a:t>
            </a:r>
            <a:endParaRPr lang="zh-CN" altLang="zh-CN" sz="1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endParaRPr lang="en-US" altLang="zh-CN" sz="1400" smtClean="0"/>
          </a:p>
        </p:txBody>
      </p:sp>
      <p:pic>
        <p:nvPicPr>
          <p:cNvPr id="39940" name="Picture 2"/>
          <p:cNvPicPr>
            <a:picLocks noChangeAspect="1" noChangeArrowheads="1"/>
          </p:cNvPicPr>
          <p:nvPr/>
        </p:nvPicPr>
        <p:blipFill>
          <a:blip r:embed="rId1" cstate="print"/>
          <a:srcRect/>
          <a:stretch>
            <a:fillRect/>
          </a:stretch>
        </p:blipFill>
        <p:spPr bwMode="auto">
          <a:xfrm>
            <a:off x="2987675" y="2420938"/>
            <a:ext cx="2152650" cy="1495425"/>
          </a:xfrm>
          <a:prstGeom prst="rect">
            <a:avLst/>
          </a:prstGeom>
          <a:noFill/>
          <a:ln w="9525">
            <a:noFill/>
            <a:miter lim="800000"/>
            <a:headEnd/>
            <a:tailEnd/>
          </a:ln>
          <a:effectLst/>
        </p:spPr>
      </p:pic>
    </p:spTree>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40963"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10</a:t>
            </a:r>
            <a:r>
              <a:rPr lang="zh-CN" altLang="en-US" sz="2400" smtClean="0"/>
              <a:t>）</a:t>
            </a:r>
            <a:r>
              <a:rPr lang="zh-CN" altLang="zh-CN" sz="2400" smtClean="0"/>
              <a:t> </a:t>
            </a:r>
            <a:r>
              <a:rPr lang="zh-CN" altLang="en-US" sz="2400" smtClean="0"/>
              <a:t>灵敏度分析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灵敏度分析（</a:t>
            </a:r>
            <a:r>
              <a:rPr lang="en-US" altLang="zh-CN" sz="2400" smtClean="0"/>
              <a:t>Sensitivity Analysis</a:t>
            </a:r>
            <a:r>
              <a:rPr lang="zh-CN" altLang="zh-CN" sz="2400" smtClean="0"/>
              <a:t>）就是指当电路中某个元件的参数发生变化时，分析它的变化对电路输出的节点电压和支路电流的影响。灵敏度分析包括直流灵敏度分析和交流灵敏度分析。直流灵敏度分析的仿真分析结果以数值的形式显示，交流灵敏度的仿真分析结果可以用曲线的形式显示。</a:t>
            </a:r>
            <a:r>
              <a:rPr lang="en-US" altLang="zh-CN" sz="2400" smtClean="0"/>
              <a:t>     </a:t>
            </a:r>
            <a:endParaRPr lang="en-US" altLang="zh-CN" sz="2400" smtClean="0"/>
          </a:p>
          <a:p>
            <a:pPr marL="0" indent="0">
              <a:buFont typeface="Wingdings 2" panose="05020102010507070707" pitchFamily="18" charset="2"/>
              <a:buNone/>
            </a:pPr>
            <a:r>
              <a:rPr lang="en-US" altLang="zh-CN" sz="2400" smtClean="0"/>
              <a:t>      </a:t>
            </a:r>
            <a:r>
              <a:rPr lang="zh-CN" altLang="zh-CN" sz="2400" smtClean="0"/>
              <a:t>单击</a:t>
            </a:r>
            <a:r>
              <a:rPr lang="en-US" altLang="zh-CN" sz="2400" smtClean="0"/>
              <a:t>Simulate\Analysis\Sensitivity</a:t>
            </a:r>
            <a:r>
              <a:rPr lang="zh-CN" altLang="zh-CN" sz="2400" smtClean="0"/>
              <a:t>，弹出如图</a:t>
            </a:r>
            <a:r>
              <a:rPr lang="en-US" altLang="zh-CN" sz="2400" smtClean="0"/>
              <a:t>22</a:t>
            </a:r>
            <a:r>
              <a:rPr lang="zh-CN" altLang="zh-CN" sz="2400" smtClean="0"/>
              <a:t>所示的对话框。</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22</a:t>
            </a:r>
            <a:r>
              <a:rPr lang="zh-CN" altLang="en-US" sz="1400" smtClean="0"/>
              <a:t>灵敏度</a:t>
            </a:r>
            <a:r>
              <a:rPr lang="zh-CN" altLang="zh-CN" sz="1400" smtClean="0"/>
              <a:t>分析对话框</a:t>
            </a: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40964" name="Picture 2" descr="2015-05-31 16-41-12"/>
          <p:cNvPicPr>
            <a:picLocks noChangeAspect="1" noChangeArrowheads="1"/>
          </p:cNvPicPr>
          <p:nvPr/>
        </p:nvPicPr>
        <p:blipFill>
          <a:blip r:embed="rId1" cstate="print"/>
          <a:srcRect/>
          <a:stretch>
            <a:fillRect/>
          </a:stretch>
        </p:blipFill>
        <p:spPr bwMode="auto">
          <a:xfrm>
            <a:off x="3203575" y="4292600"/>
            <a:ext cx="2197100" cy="1841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41987"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电压灵敏度分析的输出节点为</a:t>
            </a:r>
            <a:r>
              <a:rPr lang="en-US" altLang="zh-CN" sz="2400" smtClean="0"/>
              <a:t>V</a:t>
            </a:r>
            <a:r>
              <a:rPr lang="zh-CN" altLang="zh-CN" sz="2400" smtClean="0"/>
              <a:t>（</a:t>
            </a:r>
            <a:r>
              <a:rPr lang="en-US" altLang="zh-CN" sz="2400" smtClean="0"/>
              <a:t>1</a:t>
            </a:r>
            <a:r>
              <a:rPr lang="zh-CN" altLang="zh-CN" sz="2400" smtClean="0"/>
              <a:t>），选择输出端的参考节点为地。输出灵敏度的格式是</a:t>
            </a:r>
            <a:r>
              <a:rPr lang="en-US" altLang="zh-CN" sz="2400" smtClean="0"/>
              <a:t>Relative</a:t>
            </a:r>
            <a:r>
              <a:rPr lang="zh-CN" altLang="zh-CN" sz="2400" smtClean="0"/>
              <a:t>，如图</a:t>
            </a:r>
            <a:r>
              <a:rPr lang="en-US" altLang="zh-CN" sz="2400" smtClean="0"/>
              <a:t>2-22</a:t>
            </a:r>
            <a:r>
              <a:rPr lang="zh-CN" altLang="zh-CN" sz="2400" smtClean="0"/>
              <a:t>所示，在图</a:t>
            </a:r>
            <a:r>
              <a:rPr lang="en-US" altLang="zh-CN" sz="2400" smtClean="0"/>
              <a:t>22</a:t>
            </a:r>
            <a:r>
              <a:rPr lang="zh-CN" altLang="zh-CN" sz="2400" smtClean="0"/>
              <a:t>的</a:t>
            </a:r>
            <a:r>
              <a:rPr lang="en-US" altLang="zh-CN" sz="2400" smtClean="0"/>
              <a:t>Output</a:t>
            </a:r>
            <a:r>
              <a:rPr lang="zh-CN" altLang="zh-CN" sz="2400" smtClean="0"/>
              <a:t>选项卡中，将所有的变量</a:t>
            </a:r>
            <a:r>
              <a:rPr lang="en-US" altLang="zh-CN" sz="2400" smtClean="0"/>
              <a:t>rr1</a:t>
            </a:r>
            <a:r>
              <a:rPr lang="zh-CN" altLang="zh-CN" sz="2400" smtClean="0"/>
              <a:t>、</a:t>
            </a:r>
            <a:r>
              <a:rPr lang="en-US" altLang="zh-CN" sz="2400" smtClean="0"/>
              <a:t>rr2</a:t>
            </a:r>
            <a:r>
              <a:rPr lang="zh-CN" altLang="zh-CN" sz="2400" smtClean="0"/>
              <a:t>、</a:t>
            </a:r>
            <a:r>
              <a:rPr lang="en-US" altLang="zh-CN" sz="2400" smtClean="0"/>
              <a:t>vv1</a:t>
            </a:r>
            <a:r>
              <a:rPr lang="zh-CN" altLang="zh-CN" sz="2400" smtClean="0"/>
              <a:t>都设置为输出节点。</a:t>
            </a:r>
            <a:endParaRPr lang="en-US" altLang="zh-CN" sz="2400" smtClean="0"/>
          </a:p>
          <a:p>
            <a:pPr marL="0" indent="0" algn="just">
              <a:buFont typeface="Wingdings 2" panose="05020102010507070707" pitchFamily="18" charset="2"/>
              <a:buNone/>
            </a:pPr>
            <a:r>
              <a:rPr lang="en-US" altLang="zh-CN" sz="2400" smtClean="0"/>
              <a:t>     </a:t>
            </a:r>
            <a:r>
              <a:rPr lang="zh-CN" altLang="zh-CN" sz="2400" smtClean="0"/>
              <a:t>单击</a:t>
            </a:r>
            <a:r>
              <a:rPr lang="en-US" altLang="zh-CN" sz="2400" smtClean="0"/>
              <a:t>Simulate</a:t>
            </a:r>
            <a:r>
              <a:rPr lang="zh-CN" altLang="zh-CN" sz="2400" smtClean="0"/>
              <a:t>按钮，启动灵敏度分析，得到如图</a:t>
            </a:r>
            <a:r>
              <a:rPr lang="en-US" altLang="zh-CN" sz="2400" smtClean="0"/>
              <a:t>23</a:t>
            </a:r>
            <a:r>
              <a:rPr lang="zh-CN" altLang="zh-CN" sz="2400" smtClean="0"/>
              <a:t>所示的结果。</a:t>
            </a:r>
            <a:endParaRPr lang="zh-CN" altLang="zh-CN" sz="2400" smtClean="0"/>
          </a:p>
          <a:p>
            <a:pPr marL="0" indent="0" algn="just">
              <a:buFont typeface="Wingdings 2" panose="05020102010507070707" pitchFamily="18" charset="2"/>
              <a:buNone/>
            </a:pPr>
            <a:endParaRPr lang="en-US"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23 </a:t>
            </a:r>
            <a:r>
              <a:rPr lang="zh-CN" altLang="en-US" sz="1400" smtClean="0"/>
              <a:t>灵敏度</a:t>
            </a:r>
            <a:r>
              <a:rPr lang="zh-CN" altLang="zh-CN" sz="1400" smtClean="0"/>
              <a:t>分析结果</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41988" name="Picture 2" descr="2015-05-31 16-42-17"/>
          <p:cNvPicPr>
            <a:picLocks noChangeAspect="1" noChangeArrowheads="1"/>
          </p:cNvPicPr>
          <p:nvPr/>
        </p:nvPicPr>
        <p:blipFill>
          <a:blip r:embed="rId1" cstate="print"/>
          <a:srcRect/>
          <a:stretch>
            <a:fillRect/>
          </a:stretch>
        </p:blipFill>
        <p:spPr bwMode="auto">
          <a:xfrm>
            <a:off x="2843213" y="4076700"/>
            <a:ext cx="2428875" cy="1217613"/>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43011"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11</a:t>
            </a:r>
            <a:r>
              <a:rPr lang="zh-CN" altLang="en-US" sz="2400" smtClean="0"/>
              <a:t>）</a:t>
            </a:r>
            <a:r>
              <a:rPr lang="zh-CN" altLang="zh-CN" sz="2400" smtClean="0"/>
              <a:t> </a:t>
            </a:r>
            <a:r>
              <a:rPr lang="zh-CN" altLang="en-US" sz="2400" smtClean="0"/>
              <a:t>参数扫描分析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参数扫描分析（</a:t>
            </a:r>
            <a:r>
              <a:rPr lang="en-US" altLang="zh-CN" sz="2400" smtClean="0"/>
              <a:t>Parameter Sweep Analysis</a:t>
            </a:r>
            <a:r>
              <a:rPr lang="zh-CN" altLang="zh-CN" sz="2400" smtClean="0"/>
              <a:t>）就是不断变化仿真电路中某个元件的参数值，观察其参数值在一定范围内的变化对电路的直流工作点等性能的影响。</a:t>
            </a:r>
            <a:r>
              <a:rPr lang="en-US" altLang="zh-CN" sz="2400" smtClean="0"/>
              <a:t>    </a:t>
            </a:r>
            <a:endParaRPr lang="en-US" altLang="zh-CN" sz="2400" smtClean="0"/>
          </a:p>
          <a:p>
            <a:pPr marL="0" indent="0" algn="just">
              <a:buFont typeface="Wingdings 2" panose="05020102010507070707" pitchFamily="18" charset="2"/>
              <a:buNone/>
            </a:pPr>
            <a:r>
              <a:rPr lang="en-US" altLang="zh-CN" sz="2400" smtClean="0"/>
              <a:t>      </a:t>
            </a:r>
            <a:r>
              <a:rPr lang="zh-CN" altLang="zh-CN" sz="2400" smtClean="0"/>
              <a:t>启动菜单命令</a:t>
            </a:r>
            <a:r>
              <a:rPr lang="en-US" altLang="zh-CN" sz="2400" smtClean="0"/>
              <a:t>Simulate\Analysis\Parameter Sweep</a:t>
            </a:r>
            <a:r>
              <a:rPr lang="zh-CN" altLang="zh-CN" sz="2400" smtClean="0"/>
              <a:t>，出现如图</a:t>
            </a:r>
            <a:r>
              <a:rPr lang="en-US" altLang="zh-CN" sz="2400" smtClean="0"/>
              <a:t>24</a:t>
            </a:r>
            <a:r>
              <a:rPr lang="zh-CN" altLang="zh-CN" sz="2400" smtClean="0"/>
              <a:t>所示的对话框。</a:t>
            </a:r>
            <a:endParaRPr lang="zh-CN" altLang="zh-CN" sz="2400" smtClean="0"/>
          </a:p>
          <a:p>
            <a:pPr marL="0" indent="0">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24</a:t>
            </a:r>
            <a:r>
              <a:rPr lang="zh-CN" altLang="zh-CN" sz="1400" smtClean="0"/>
              <a:t>参数扫描分析对话框</a:t>
            </a: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43012" name="Picture 2" descr="2015-05-31 16-57-51"/>
          <p:cNvPicPr>
            <a:picLocks noChangeAspect="1" noChangeArrowheads="1"/>
          </p:cNvPicPr>
          <p:nvPr/>
        </p:nvPicPr>
        <p:blipFill>
          <a:blip r:embed="rId1" cstate="print"/>
          <a:srcRect/>
          <a:stretch>
            <a:fillRect/>
          </a:stretch>
        </p:blipFill>
        <p:spPr bwMode="auto">
          <a:xfrm>
            <a:off x="3132138" y="3895725"/>
            <a:ext cx="2197100" cy="1841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44035"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en-US" sz="2400" smtClean="0"/>
              <a:t>这</a:t>
            </a:r>
            <a:r>
              <a:rPr lang="zh-CN" altLang="zh-CN" sz="2400" smtClean="0"/>
              <a:t>其中包括</a:t>
            </a:r>
            <a:r>
              <a:rPr lang="en-US" altLang="zh-CN" sz="2400" smtClean="0"/>
              <a:t>4</a:t>
            </a:r>
            <a:r>
              <a:rPr lang="zh-CN" altLang="zh-CN" sz="2400" smtClean="0"/>
              <a:t>个选项卡，除了</a:t>
            </a:r>
            <a:r>
              <a:rPr lang="en-US" altLang="zh-CN" sz="2400" smtClean="0"/>
              <a:t>Analysis parameters</a:t>
            </a:r>
            <a:r>
              <a:rPr lang="zh-CN" altLang="zh-CN" sz="2400" smtClean="0"/>
              <a:t>外，其余均与静态工作点分析的设定相同</a:t>
            </a:r>
            <a:r>
              <a:rPr lang="zh-CN" altLang="en-US" sz="2400" smtClean="0"/>
              <a:t>。本例</a:t>
            </a:r>
            <a:r>
              <a:rPr lang="zh-CN" altLang="zh-CN" sz="2400" smtClean="0"/>
              <a:t>设置节点</a:t>
            </a:r>
            <a:r>
              <a:rPr lang="en-US" altLang="zh-CN" sz="2400" smtClean="0"/>
              <a:t>3</a:t>
            </a:r>
            <a:r>
              <a:rPr lang="zh-CN" altLang="zh-CN" sz="2400" smtClean="0"/>
              <a:t>（三极管的集电极）为扫描输出节点，电阻</a:t>
            </a:r>
            <a:r>
              <a:rPr lang="en-US" altLang="zh-CN" sz="2400" smtClean="0"/>
              <a:t>Rb</a:t>
            </a:r>
            <a:r>
              <a:rPr lang="zh-CN" altLang="zh-CN" sz="2400" smtClean="0"/>
              <a:t>为扫描电阻，观察其变化对直流静态工作点影响，其他扫描参数分析对话框的设置如图</a:t>
            </a:r>
            <a:r>
              <a:rPr lang="en-US" altLang="zh-CN" sz="2400" smtClean="0"/>
              <a:t>24</a:t>
            </a:r>
            <a:r>
              <a:rPr lang="zh-CN" altLang="zh-CN" sz="2400" smtClean="0"/>
              <a:t>所示。启动参数扫描分析，</a:t>
            </a:r>
            <a:r>
              <a:rPr lang="en-US" altLang="zh-CN" sz="2400" smtClean="0"/>
              <a:t>Multisim12.0</a:t>
            </a:r>
            <a:r>
              <a:rPr lang="zh-CN" altLang="zh-CN" sz="2400" smtClean="0"/>
              <a:t>自动改变电阻</a:t>
            </a:r>
            <a:r>
              <a:rPr lang="en-US" altLang="zh-CN" sz="2400" smtClean="0"/>
              <a:t>Rb</a:t>
            </a:r>
            <a:r>
              <a:rPr lang="zh-CN" altLang="zh-CN" sz="2400" smtClean="0"/>
              <a:t>的数值，得到如图</a:t>
            </a:r>
            <a:r>
              <a:rPr lang="en-US" altLang="zh-CN" sz="2400" smtClean="0"/>
              <a:t>25</a:t>
            </a:r>
            <a:r>
              <a:rPr lang="zh-CN" altLang="zh-CN" sz="2400" smtClean="0"/>
              <a:t>所示结果。</a:t>
            </a:r>
            <a:endParaRPr lang="zh-CN" altLang="zh-CN" sz="2400" smtClean="0"/>
          </a:p>
          <a:p>
            <a:pPr marL="0" indent="0" algn="just">
              <a:buFont typeface="Wingdings 2" panose="05020102010507070707" pitchFamily="18" charset="2"/>
              <a:buNone/>
            </a:pPr>
            <a:endParaRPr lang="en-US" altLang="zh-CN" sz="2400" smtClean="0"/>
          </a:p>
          <a:p>
            <a:pPr marL="0" indent="0" algn="just"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25</a:t>
            </a:r>
            <a:r>
              <a:rPr lang="zh-CN" altLang="zh-CN" sz="1400" smtClean="0"/>
              <a:t>单管共射放大电路参数扫描分析结果</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44036" name="Picture 2" descr="2015-05-31 17-07-20"/>
          <p:cNvPicPr>
            <a:picLocks noChangeAspect="1" noChangeArrowheads="1"/>
          </p:cNvPicPr>
          <p:nvPr/>
        </p:nvPicPr>
        <p:blipFill>
          <a:blip r:embed="rId1" cstate="print"/>
          <a:srcRect/>
          <a:stretch>
            <a:fillRect/>
          </a:stretch>
        </p:blipFill>
        <p:spPr bwMode="auto">
          <a:xfrm>
            <a:off x="2843213" y="3860800"/>
            <a:ext cx="2582862" cy="1674813"/>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45059" name="内容占位符 2"/>
          <p:cNvSpPr>
            <a:spLocks noGrp="1"/>
          </p:cNvSpPr>
          <p:nvPr>
            <p:ph idx="1"/>
          </p:nvPr>
        </p:nvSpPr>
        <p:spPr>
          <a:xfrm>
            <a:off x="539750" y="1052513"/>
            <a:ext cx="7239000" cy="5456237"/>
          </a:xfrm>
        </p:spPr>
        <p:txBody>
          <a:bodyPr/>
          <a:lstStyle/>
          <a:p>
            <a:pPr marL="0" indent="0">
              <a:buFont typeface="Wingdings 2" panose="05020102010507070707" pitchFamily="18" charset="2"/>
              <a:buNone/>
            </a:pPr>
            <a:r>
              <a:rPr lang="en-US" altLang="zh-CN" sz="2400" smtClean="0"/>
              <a:t>12</a:t>
            </a:r>
            <a:r>
              <a:rPr lang="zh-CN" altLang="en-US" sz="2400" smtClean="0"/>
              <a:t>）</a:t>
            </a:r>
            <a:r>
              <a:rPr lang="zh-CN" altLang="zh-CN" sz="2400" smtClean="0"/>
              <a:t> </a:t>
            </a:r>
            <a:r>
              <a:rPr lang="zh-CN" altLang="en-US" sz="2400" smtClean="0"/>
              <a:t>温度扫描分析</a:t>
            </a:r>
            <a:endParaRPr lang="en-US" altLang="zh-CN" sz="2400" smtClean="0"/>
          </a:p>
          <a:p>
            <a:pPr marL="0" indent="0">
              <a:buFont typeface="Wingdings 2" panose="05020102010507070707" pitchFamily="18" charset="2"/>
              <a:buNone/>
            </a:pPr>
            <a:r>
              <a:rPr lang="en-US" altLang="zh-CN" sz="2400" smtClean="0"/>
              <a:t>      </a:t>
            </a:r>
            <a:r>
              <a:rPr lang="zh-CN" altLang="zh-CN" sz="2400" smtClean="0"/>
              <a:t>温度扫描分析（</a:t>
            </a:r>
            <a:r>
              <a:rPr lang="en-US" altLang="zh-CN" sz="2400" smtClean="0"/>
              <a:t>Temperature Sweep Analysis</a:t>
            </a:r>
            <a:r>
              <a:rPr lang="zh-CN" altLang="zh-CN" sz="2400" smtClean="0"/>
              <a:t>）是分析温度的变化对电路性能的影响。</a:t>
            </a:r>
            <a:r>
              <a:rPr lang="en-US" altLang="zh-CN" sz="2400" smtClean="0"/>
              <a:t>Multisim 12.0</a:t>
            </a:r>
            <a:r>
              <a:rPr lang="zh-CN" altLang="zh-CN" sz="2400" smtClean="0"/>
              <a:t>中提供了研究电路性能随温度变化而变化的温度扫描分析，该分析相当于在不同的温度条件下多次进行仿真电路的瞬态性能分析。</a:t>
            </a:r>
            <a:endParaRPr lang="zh-CN" altLang="zh-CN" sz="2400" smtClean="0"/>
          </a:p>
          <a:p>
            <a:pPr marL="0" indent="0" algn="just">
              <a:buFont typeface="Wingdings 2" panose="05020102010507070707" pitchFamily="18" charset="2"/>
              <a:buNone/>
            </a:pPr>
            <a:r>
              <a:rPr lang="en-US" altLang="zh-CN" sz="2400" smtClean="0"/>
              <a:t>       </a:t>
            </a:r>
            <a:r>
              <a:rPr lang="zh-CN" altLang="zh-CN" sz="2400" smtClean="0"/>
              <a:t>单击</a:t>
            </a:r>
            <a:r>
              <a:rPr lang="en-US" altLang="zh-CN" sz="2400" smtClean="0"/>
              <a:t>Simulate\Analysis\ Temperature Sweep</a:t>
            </a:r>
            <a:r>
              <a:rPr lang="zh-CN" altLang="en-US" sz="2400" smtClean="0"/>
              <a:t>，</a:t>
            </a:r>
            <a:r>
              <a:rPr lang="zh-CN" altLang="zh-CN" sz="2400" smtClean="0"/>
              <a:t>出现如图</a:t>
            </a:r>
            <a:r>
              <a:rPr lang="en-US" altLang="zh-CN" sz="2400" smtClean="0"/>
              <a:t>26</a:t>
            </a:r>
            <a:r>
              <a:rPr lang="zh-CN" altLang="zh-CN" sz="2400" smtClean="0"/>
              <a:t>所示的对话框。</a:t>
            </a:r>
            <a:endParaRPr lang="zh-CN" altLang="zh-CN" sz="2400" smtClean="0"/>
          </a:p>
          <a:p>
            <a:pPr marL="0" indent="0">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26 </a:t>
            </a:r>
            <a:r>
              <a:rPr lang="zh-CN" altLang="en-US" sz="1400" smtClean="0"/>
              <a:t>温度</a:t>
            </a:r>
            <a:r>
              <a:rPr lang="zh-CN" altLang="zh-CN" sz="1400" smtClean="0"/>
              <a:t>扫描分析对话框</a:t>
            </a:r>
            <a:endParaRPr lang="en-US" altLang="zh-CN" sz="1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45060" name="Picture 2" descr="2015-05-31 17-09-15"/>
          <p:cNvPicPr>
            <a:picLocks noChangeAspect="1" noChangeArrowheads="1"/>
          </p:cNvPicPr>
          <p:nvPr/>
        </p:nvPicPr>
        <p:blipFill>
          <a:blip r:embed="rId1" cstate="print"/>
          <a:srcRect/>
          <a:stretch>
            <a:fillRect/>
          </a:stretch>
        </p:blipFill>
        <p:spPr bwMode="auto">
          <a:xfrm>
            <a:off x="3059113" y="4437063"/>
            <a:ext cx="2197100" cy="1841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a:t>
            </a:r>
            <a:r>
              <a:rPr lang="en-US" altLang="zh-CN" dirty="0" smtClean="0"/>
              <a:t>12.0</a:t>
            </a:r>
            <a:r>
              <a:rPr lang="zh-CN" altLang="en-US" dirty="0" smtClean="0"/>
              <a:t>的分析方法详解</a:t>
            </a:r>
            <a:endParaRPr lang="zh-CN" altLang="en-US" dirty="0"/>
          </a:p>
        </p:txBody>
      </p:sp>
      <p:sp>
        <p:nvSpPr>
          <p:cNvPr id="46083" name="内容占位符 2"/>
          <p:cNvSpPr>
            <a:spLocks noGrp="1"/>
          </p:cNvSpPr>
          <p:nvPr>
            <p:ph idx="1"/>
          </p:nvPr>
        </p:nvSpPr>
        <p:spPr>
          <a:xfrm>
            <a:off x="539750" y="1052513"/>
            <a:ext cx="7239000" cy="5456237"/>
          </a:xfrm>
        </p:spPr>
        <p:txBody>
          <a:bodyPr/>
          <a:lstStyle/>
          <a:p>
            <a:pPr marL="0" indent="0" algn="just">
              <a:buFont typeface="Wingdings 2" panose="05020102010507070707" pitchFamily="18" charset="2"/>
              <a:buNone/>
            </a:pPr>
            <a:r>
              <a:rPr lang="en-US" altLang="zh-CN" sz="2400" smtClean="0"/>
              <a:t>      </a:t>
            </a:r>
            <a:r>
              <a:rPr lang="zh-CN" altLang="zh-CN" sz="2400" smtClean="0"/>
              <a:t>单击</a:t>
            </a:r>
            <a:r>
              <a:rPr lang="en-US" altLang="zh-CN" sz="2400" smtClean="0"/>
              <a:t>Edit analysis</a:t>
            </a:r>
            <a:r>
              <a:rPr lang="zh-CN" altLang="zh-CN" sz="2400" smtClean="0"/>
              <a:t>按钮，在弹出的对话框中将瞬态分析的停止时间设置为</a:t>
            </a:r>
            <a:r>
              <a:rPr lang="en-US" altLang="zh-CN" sz="2400" smtClean="0"/>
              <a:t>0.01s</a:t>
            </a:r>
            <a:r>
              <a:rPr lang="zh-CN" altLang="zh-CN" sz="2400" smtClean="0"/>
              <a:t>。上述设置表示在</a:t>
            </a:r>
            <a:r>
              <a:rPr lang="en-US" altLang="zh-CN" sz="2400" smtClean="0"/>
              <a:t>27</a:t>
            </a:r>
            <a:r>
              <a:rPr lang="zh-CN" altLang="zh-CN" sz="2400" smtClean="0"/>
              <a:t>℃</a:t>
            </a:r>
            <a:r>
              <a:rPr lang="en-US" altLang="zh-CN" sz="2400" smtClean="0"/>
              <a:t>~100</a:t>
            </a:r>
            <a:r>
              <a:rPr lang="ja-JP" altLang="zh-CN" sz="2400" smtClean="0">
                <a:cs typeface="HG丸ｺﾞｼｯｸM-PRO"/>
              </a:rPr>
              <a:t>℃</a:t>
            </a:r>
            <a:r>
              <a:rPr lang="zh-CN" altLang="zh-CN" sz="2400" smtClean="0"/>
              <a:t>进行</a:t>
            </a:r>
            <a:r>
              <a:rPr lang="en-US" altLang="zh-CN" sz="2400" smtClean="0"/>
              <a:t>3</a:t>
            </a:r>
            <a:r>
              <a:rPr lang="zh-CN" altLang="zh-CN" sz="2400" smtClean="0"/>
              <a:t>次瞬态分析。本例在图</a:t>
            </a:r>
            <a:r>
              <a:rPr lang="en-US" altLang="zh-CN" sz="2400" smtClean="0"/>
              <a:t>26</a:t>
            </a:r>
            <a:r>
              <a:rPr lang="zh-CN" altLang="zh-CN" sz="2400" smtClean="0"/>
              <a:t>的</a:t>
            </a:r>
            <a:r>
              <a:rPr lang="en-US" altLang="zh-CN" sz="2400" smtClean="0"/>
              <a:t>Output</a:t>
            </a:r>
            <a:r>
              <a:rPr lang="zh-CN" altLang="zh-CN" sz="2400" smtClean="0"/>
              <a:t>选项卡中将图</a:t>
            </a:r>
            <a:r>
              <a:rPr lang="en-US" altLang="zh-CN" sz="2400" smtClean="0"/>
              <a:t>1</a:t>
            </a:r>
            <a:r>
              <a:rPr lang="zh-CN" altLang="zh-CN" sz="2400" smtClean="0"/>
              <a:t>的</a:t>
            </a:r>
            <a:r>
              <a:rPr lang="en-US" altLang="zh-CN" sz="2400" smtClean="0"/>
              <a:t>3</a:t>
            </a:r>
            <a:r>
              <a:rPr lang="zh-CN" altLang="zh-CN" sz="2400" smtClean="0"/>
              <a:t>号节点设置为输出节点。从图</a:t>
            </a:r>
            <a:r>
              <a:rPr lang="en-US" altLang="zh-CN" sz="2400" smtClean="0"/>
              <a:t>27</a:t>
            </a:r>
            <a:r>
              <a:rPr lang="zh-CN" altLang="zh-CN" sz="2400" smtClean="0"/>
              <a:t>中可以看到温度对晶体管放大电路放大倍数的影响。</a:t>
            </a:r>
            <a:endParaRPr lang="zh-CN" altLang="zh-CN" sz="2400" smtClean="0"/>
          </a:p>
          <a:p>
            <a:pPr marL="0" indent="0">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algn="ctr" eaLnBrk="1" hangingPunct="1">
              <a:buFont typeface="Wingdings 2" panose="05020102010507070707" pitchFamily="18" charset="2"/>
              <a:buNone/>
            </a:pPr>
            <a:endParaRPr lang="en-US" altLang="zh-CN" sz="1400" smtClean="0"/>
          </a:p>
          <a:p>
            <a:pPr marL="0" indent="0" algn="ctr" eaLnBrk="1" hangingPunct="1">
              <a:buFont typeface="Wingdings 2" panose="05020102010507070707" pitchFamily="18" charset="2"/>
              <a:buNone/>
            </a:pPr>
            <a:r>
              <a:rPr lang="zh-CN" altLang="en-US" sz="1400" smtClean="0"/>
              <a:t>图</a:t>
            </a:r>
            <a:r>
              <a:rPr lang="en-US" altLang="zh-CN" sz="1400" smtClean="0"/>
              <a:t>27  </a:t>
            </a:r>
            <a:r>
              <a:rPr lang="zh-CN" altLang="zh-CN" sz="1400" smtClean="0"/>
              <a:t>温度扫描分析结果</a:t>
            </a: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pic>
        <p:nvPicPr>
          <p:cNvPr id="46084" name="Picture 1" descr="2015-05-31 17-10-40"/>
          <p:cNvPicPr>
            <a:picLocks noChangeAspect="1" noChangeArrowheads="1"/>
          </p:cNvPicPr>
          <p:nvPr/>
        </p:nvPicPr>
        <p:blipFill>
          <a:blip r:embed="rId1" cstate="print"/>
          <a:srcRect/>
          <a:stretch>
            <a:fillRect/>
          </a:stretch>
        </p:blipFill>
        <p:spPr bwMode="auto">
          <a:xfrm>
            <a:off x="2984500" y="3213100"/>
            <a:ext cx="2624138" cy="173355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1"/>
          </p:nvPr>
        </p:nvSpPr>
        <p:spPr/>
        <p:txBody>
          <a:bodyPr/>
          <a:lstStyle/>
          <a:p>
            <a:pPr>
              <a:defRPr/>
            </a:pPr>
            <a:fld id="{3AD074B8-6AC8-4797-A3E2-E89C69A4C924}" type="slidenum">
              <a:rPr lang="zh-CN" altLang="en-US" smtClean="0"/>
            </a:fld>
            <a:endParaRPr lang="en-US" altLang="zh-CN"/>
          </a:p>
        </p:txBody>
      </p:sp>
      <p:sp>
        <p:nvSpPr>
          <p:cNvPr id="5" name="标题 1"/>
          <p:cNvSpPr txBox="1"/>
          <p:nvPr/>
        </p:nvSpPr>
        <p:spPr bwMode="auto">
          <a:xfrm>
            <a:off x="467544" y="0"/>
            <a:ext cx="7932716" cy="620688"/>
          </a:xfrm>
          <a:prstGeom prst="rect">
            <a:avLst/>
          </a:prstGeom>
          <a:noFill/>
          <a:ln w="9525">
            <a:noFill/>
            <a:miter lim="800000"/>
          </a:ln>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第三节  </a:t>
            </a:r>
            <a:r>
              <a:rPr kumimoji="0" lang="en-US" altLang="zh-CN" sz="2800" b="1" i="0" u="none" strike="noStrike" kern="0" cap="none" spc="0" normalizeH="0" baseline="0" noProof="0" dirty="0" err="1" smtClean="0">
                <a:ln>
                  <a:noFill/>
                </a:ln>
                <a:solidFill>
                  <a:schemeClr val="bg2"/>
                </a:solidFill>
                <a:effectLst/>
                <a:uLnTx/>
                <a:uFillTx/>
                <a:latin typeface="+mj-lt"/>
                <a:ea typeface="+mj-ea"/>
                <a:cs typeface="+mj-cs"/>
              </a:rPr>
              <a:t>Multisim</a:t>
            </a:r>
            <a: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t> 12.0</a:t>
            </a: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的虚拟仪器使用方法</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sp>
        <p:nvSpPr>
          <p:cNvPr id="6" name="标题 1"/>
          <p:cNvSpPr txBox="1"/>
          <p:nvPr/>
        </p:nvSpPr>
        <p:spPr bwMode="auto">
          <a:xfrm>
            <a:off x="755576" y="1484784"/>
            <a:ext cx="7239000" cy="60863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目录</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grpSp>
        <p:nvGrpSpPr>
          <p:cNvPr id="7" name="组合 4"/>
          <p:cNvGrpSpPr/>
          <p:nvPr/>
        </p:nvGrpSpPr>
        <p:grpSpPr bwMode="auto">
          <a:xfrm>
            <a:off x="2012876" y="2379182"/>
            <a:ext cx="4103688" cy="1117600"/>
            <a:chOff x="2267744" y="195486"/>
            <a:chExt cx="4104456" cy="1117366"/>
          </a:xfrm>
        </p:grpSpPr>
        <p:sp>
          <p:nvSpPr>
            <p:cNvPr id="8" name="椭圆 7"/>
            <p:cNvSpPr/>
            <p:nvPr/>
          </p:nvSpPr>
          <p:spPr>
            <a:xfrm>
              <a:off x="2267744" y="195486"/>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圆角矩形 8"/>
            <p:cNvSpPr/>
            <p:nvPr/>
          </p:nvSpPr>
          <p:spPr>
            <a:xfrm>
              <a:off x="2945734" y="474828"/>
              <a:ext cx="3426466"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椭圆 9"/>
            <p:cNvSpPr/>
            <p:nvPr/>
          </p:nvSpPr>
          <p:spPr>
            <a:xfrm>
              <a:off x="2347134" y="274844"/>
              <a:ext cx="957442"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11" name="TextBox 24"/>
          <p:cNvSpPr txBox="1">
            <a:spLocks noChangeArrowheads="1"/>
          </p:cNvSpPr>
          <p:nvPr/>
        </p:nvSpPr>
        <p:spPr bwMode="auto">
          <a:xfrm>
            <a:off x="2279576" y="2676044"/>
            <a:ext cx="584200"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01</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12" name="矩形 2"/>
          <p:cNvSpPr>
            <a:spLocks noChangeArrowheads="1"/>
          </p:cNvSpPr>
          <p:nvPr/>
        </p:nvSpPr>
        <p:spPr bwMode="auto">
          <a:xfrm>
            <a:off x="3130476" y="2753832"/>
            <a:ext cx="2928938" cy="369887"/>
          </a:xfrm>
          <a:prstGeom prst="rect">
            <a:avLst/>
          </a:prstGeom>
          <a:noFill/>
          <a:ln w="9525">
            <a:noFill/>
            <a:miter lim="800000"/>
          </a:ln>
        </p:spPr>
        <p:txBody>
          <a:bodyPr wrap="none">
            <a:spAutoFit/>
          </a:bodyPr>
          <a:lstStyle/>
          <a:p>
            <a:r>
              <a:rPr lang="en-US" altLang="zh-CN"/>
              <a:t>Multisim 12.0</a:t>
            </a:r>
            <a:r>
              <a:rPr lang="zh-CN" altLang="en-US"/>
              <a:t>常用虚拟仪器</a:t>
            </a:r>
            <a:endParaRPr lang="zh-CN" altLang="en-US"/>
          </a:p>
        </p:txBody>
      </p:sp>
    </p:spTree>
  </p:cSld>
  <p:clrMapOvr>
    <a:masterClrMapping/>
  </p:clrMapOvr>
  <p:transition spd="med"/>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9219"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a:t>
            </a:r>
            <a:r>
              <a:rPr lang="zh-CN" altLang="en-US" sz="2400" dirty="0" smtClean="0"/>
              <a:t>）</a:t>
            </a:r>
            <a:r>
              <a:rPr lang="zh-CN" altLang="zh-CN" sz="2400" dirty="0" smtClean="0"/>
              <a:t>数字万用表</a:t>
            </a:r>
            <a:endParaRPr lang="en-US" altLang="zh-CN" sz="2400" dirty="0" smtClean="0"/>
          </a:p>
          <a:p>
            <a:pPr marL="0" indent="0" algn="just">
              <a:buFont typeface="Wingdings 2" panose="05020102010507070707" pitchFamily="18" charset="2"/>
              <a:buNone/>
            </a:pPr>
            <a:r>
              <a:rPr lang="en-US" altLang="zh-CN" sz="2400" dirty="0" smtClean="0"/>
              <a:t>       </a:t>
            </a:r>
            <a:r>
              <a:rPr lang="en-US" altLang="zh-CN" sz="2400" dirty="0" err="1" smtClean="0"/>
              <a:t>Multisim</a:t>
            </a:r>
            <a:r>
              <a:rPr lang="en-US" altLang="zh-CN" sz="2400" dirty="0" smtClean="0"/>
              <a:t> 12.0 </a:t>
            </a:r>
            <a:r>
              <a:rPr lang="zh-CN" altLang="zh-CN" sz="2400" dirty="0" smtClean="0"/>
              <a:t>提供的万用表外观和操作与实际的万用表相似，但测量起来比实际的万用表功能更加强大，操作起来更加方便。可以测电流</a:t>
            </a:r>
            <a:r>
              <a:rPr lang="en-US" altLang="zh-CN" sz="2400" dirty="0" smtClean="0"/>
              <a:t>A</a:t>
            </a:r>
            <a:r>
              <a:rPr lang="zh-CN" altLang="zh-CN" sz="2400" dirty="0" smtClean="0"/>
              <a:t>、电压</a:t>
            </a:r>
            <a:r>
              <a:rPr lang="en-US" altLang="zh-CN" sz="2400" dirty="0" smtClean="0"/>
              <a:t>V</a:t>
            </a:r>
            <a:r>
              <a:rPr lang="zh-CN" altLang="zh-CN" sz="2400" dirty="0" smtClean="0"/>
              <a:t>、电阻</a:t>
            </a:r>
            <a:r>
              <a:rPr lang="en-US" altLang="zh-CN" sz="2400" dirty="0" smtClean="0"/>
              <a:t>Ω</a:t>
            </a:r>
            <a:r>
              <a:rPr lang="zh-CN" altLang="zh-CN" sz="2400" dirty="0" smtClean="0"/>
              <a:t>和分贝值</a:t>
            </a:r>
            <a:r>
              <a:rPr lang="en-US" altLang="zh-CN" sz="2400" dirty="0" smtClean="0"/>
              <a:t>db</a:t>
            </a:r>
            <a:r>
              <a:rPr lang="zh-CN" altLang="zh-CN" sz="2400" dirty="0" smtClean="0"/>
              <a:t>，测直流信号或交流信号。 </a:t>
            </a:r>
            <a:endParaRPr lang="en-US" altLang="zh-CN" sz="2400" dirty="0" smtClean="0"/>
          </a:p>
          <a:p>
            <a:pPr marL="0" indent="0" algn="just">
              <a:buFont typeface="Wingdings 2" panose="05020102010507070707" pitchFamily="18" charset="2"/>
              <a:buNone/>
            </a:pPr>
            <a:r>
              <a:rPr lang="en-US" altLang="zh-CN" sz="2400" dirty="0" smtClean="0"/>
              <a:t>      </a:t>
            </a:r>
            <a:r>
              <a:rPr lang="zh-CN" altLang="zh-CN" sz="2400" dirty="0" smtClean="0"/>
              <a:t>在仪器栏选中数字万用表后，双击数字万用表图标，弹出如图</a:t>
            </a:r>
            <a:r>
              <a:rPr lang="en-US" altLang="zh-CN" sz="2400" dirty="0" smtClean="0"/>
              <a:t>1</a:t>
            </a:r>
            <a:r>
              <a:rPr lang="zh-CN" altLang="zh-CN" sz="2400" dirty="0" smtClean="0"/>
              <a:t>所示的数字万用表的面板。</a:t>
            </a:r>
            <a:endParaRPr lang="en-US" altLang="zh-CN" sz="2400" dirty="0" smtClean="0"/>
          </a:p>
          <a:p>
            <a:pPr marL="0" indent="0">
              <a:buFont typeface="Wingdings 2" panose="05020102010507070707" pitchFamily="18" charset="2"/>
              <a:buNone/>
            </a:pPr>
            <a:endParaRPr lang="zh-CN" altLang="zh-CN" sz="24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r>
              <a:rPr lang="zh-CN" altLang="en-US" sz="1400" dirty="0" smtClean="0"/>
              <a:t>图</a:t>
            </a:r>
            <a:r>
              <a:rPr lang="en-US" altLang="zh-CN" sz="1400" dirty="0" smtClean="0"/>
              <a:t>1 </a:t>
            </a:r>
            <a:r>
              <a:rPr lang="zh-CN" altLang="en-US" sz="1400" dirty="0" smtClean="0"/>
              <a:t>万用表面板</a:t>
            </a:r>
            <a:endParaRPr lang="en-US" altLang="zh-CN" sz="1400" dirty="0" smtClean="0"/>
          </a:p>
        </p:txBody>
      </p:sp>
      <p:pic>
        <p:nvPicPr>
          <p:cNvPr id="9220" name="Picture 107" descr="3"/>
          <p:cNvPicPr>
            <a:picLocks noChangeAspect="1" noChangeArrowheads="1"/>
          </p:cNvPicPr>
          <p:nvPr/>
        </p:nvPicPr>
        <p:blipFill>
          <a:blip r:embed="rId1" cstate="print"/>
          <a:srcRect/>
          <a:stretch>
            <a:fillRect/>
          </a:stretch>
        </p:blipFill>
        <p:spPr bwMode="auto">
          <a:xfrm>
            <a:off x="3563888" y="4365104"/>
            <a:ext cx="981075" cy="8921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0243"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en-US" altLang="zh-CN" sz="2400" dirty="0" smtClean="0"/>
              <a:t> </a:t>
            </a:r>
            <a:r>
              <a:rPr lang="zh-CN" altLang="zh-CN" sz="2400" dirty="0" smtClean="0"/>
              <a:t>单击</a:t>
            </a:r>
            <a:r>
              <a:rPr lang="en-US" altLang="zh-CN" sz="2400" dirty="0" smtClean="0"/>
              <a:t>Set</a:t>
            </a:r>
            <a:r>
              <a:rPr lang="zh-CN" altLang="zh-CN" sz="2400" dirty="0" smtClean="0"/>
              <a:t>按钮，弹出如图</a:t>
            </a:r>
            <a:r>
              <a:rPr lang="en-US" altLang="zh-CN" sz="2400" dirty="0" smtClean="0"/>
              <a:t>2</a:t>
            </a:r>
            <a:r>
              <a:rPr lang="zh-CN" altLang="zh-CN" sz="2400" dirty="0" smtClean="0"/>
              <a:t>所示的</a:t>
            </a:r>
            <a:r>
              <a:rPr lang="en-US" altLang="zh-CN" sz="2400" dirty="0" err="1" smtClean="0"/>
              <a:t>Multimeter</a:t>
            </a:r>
            <a:r>
              <a:rPr lang="en-US" altLang="zh-CN" sz="2400" dirty="0" smtClean="0"/>
              <a:t> Settings</a:t>
            </a:r>
            <a:r>
              <a:rPr lang="zh-CN" altLang="zh-CN" sz="2400" dirty="0" smtClean="0"/>
              <a:t>（万用表设置）对话框，从中可以对数字万用表的内部参数进行设置。</a:t>
            </a:r>
            <a:endParaRPr lang="zh-CN" altLang="zh-CN" sz="2400" dirty="0" smtClean="0"/>
          </a:p>
          <a:p>
            <a:pPr marL="0" indent="0" algn="just">
              <a:buFont typeface="Wingdings 2" panose="05020102010507070707" pitchFamily="18" charset="2"/>
              <a:buNone/>
            </a:pPr>
            <a:endParaRPr lang="zh-CN" altLang="zh-CN" sz="24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eaLnBrk="1" hangingPunct="1">
              <a:buFont typeface="Wingdings 2" panose="05020102010507070707" pitchFamily="18" charset="2"/>
              <a:buNone/>
            </a:pPr>
            <a:endParaRPr lang="en-US" altLang="zh-CN" sz="1400" dirty="0" smtClean="0"/>
          </a:p>
          <a:p>
            <a:pPr marL="0" indent="0" algn="ctr" eaLnBrk="1" hangingPunct="1">
              <a:buFont typeface="Wingdings 2" panose="05020102010507070707" pitchFamily="18" charset="2"/>
              <a:buNone/>
            </a:pPr>
            <a:endParaRPr lang="en-US" altLang="zh-CN" sz="1400" dirty="0" smtClean="0"/>
          </a:p>
          <a:p>
            <a:pPr marL="0" indent="0" algn="ctr" eaLnBrk="1" hangingPunct="1">
              <a:buFont typeface="Wingdings 2" panose="05020102010507070707" pitchFamily="18" charset="2"/>
              <a:buNone/>
            </a:pPr>
            <a:r>
              <a:rPr lang="zh-CN" altLang="en-US" sz="1400" dirty="0" smtClean="0"/>
              <a:t>图</a:t>
            </a:r>
            <a:r>
              <a:rPr lang="en-US" altLang="zh-CN" sz="1400" dirty="0" smtClean="0"/>
              <a:t>2 </a:t>
            </a:r>
            <a:r>
              <a:rPr lang="zh-CN" altLang="en-US" sz="1400" dirty="0" smtClean="0"/>
              <a:t>万用表设置</a:t>
            </a:r>
            <a:endParaRPr lang="en-US" altLang="zh-CN" sz="1400" dirty="0" smtClean="0"/>
          </a:p>
        </p:txBody>
      </p:sp>
      <p:pic>
        <p:nvPicPr>
          <p:cNvPr id="10244" name="Picture 1" descr="3"/>
          <p:cNvPicPr>
            <a:picLocks noChangeAspect="1" noChangeArrowheads="1"/>
          </p:cNvPicPr>
          <p:nvPr/>
        </p:nvPicPr>
        <p:blipFill>
          <a:blip r:embed="rId1" cstate="print"/>
          <a:srcRect/>
          <a:stretch>
            <a:fillRect/>
          </a:stretch>
        </p:blipFill>
        <p:spPr bwMode="auto">
          <a:xfrm>
            <a:off x="3059113" y="2492375"/>
            <a:ext cx="1997075" cy="163195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12.0</a:t>
            </a:r>
            <a:r>
              <a:rPr lang="zh-CN" altLang="zh-CN" dirty="0"/>
              <a:t>常用虚拟仪器</a:t>
            </a:r>
            <a:endParaRPr lang="zh-CN" altLang="en-US" dirty="0"/>
          </a:p>
        </p:txBody>
      </p:sp>
      <p:sp>
        <p:nvSpPr>
          <p:cNvPr id="11267"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en-US" altLang="zh-CN" sz="2400" smtClean="0"/>
              <a:t>      Electronic setting</a:t>
            </a:r>
            <a:r>
              <a:rPr lang="zh-CN" altLang="zh-CN" sz="2400" smtClean="0"/>
              <a:t>（电气特性设置）如下</a:t>
            </a:r>
            <a:r>
              <a:rPr lang="zh-CN" altLang="en-US" sz="2400" smtClean="0"/>
              <a:t>：</a:t>
            </a:r>
            <a:endParaRPr lang="en-US" altLang="zh-CN" sz="2400" smtClean="0"/>
          </a:p>
          <a:p>
            <a:pPr marL="0" indent="0">
              <a:buFont typeface="Wingdings 2" panose="05020102010507070707" pitchFamily="18" charset="2"/>
              <a:buNone/>
            </a:pPr>
            <a:r>
              <a:rPr lang="en-US" altLang="zh-CN" sz="2400" smtClean="0"/>
              <a:t>      Ammeter Resistance</a:t>
            </a:r>
            <a:r>
              <a:rPr lang="zh-CN" altLang="zh-CN" sz="2400" smtClean="0"/>
              <a:t>（</a:t>
            </a:r>
            <a:r>
              <a:rPr lang="en-US" altLang="zh-CN" sz="2400" smtClean="0"/>
              <a:t>R</a:t>
            </a:r>
            <a:r>
              <a:rPr lang="zh-CN" altLang="zh-CN" sz="2400" smtClean="0"/>
              <a:t>）：设置测试电流时表头的内阻，其大小影响电流的测量精度。</a:t>
            </a:r>
            <a:endParaRPr lang="zh-CN" altLang="zh-CN" sz="2400" smtClean="0"/>
          </a:p>
          <a:p>
            <a:pPr marL="0" indent="0">
              <a:buFont typeface="Wingdings 2" panose="05020102010507070707" pitchFamily="18" charset="2"/>
              <a:buNone/>
            </a:pPr>
            <a:r>
              <a:rPr lang="en-US" altLang="zh-CN" sz="2400" smtClean="0"/>
              <a:t>      Voltmeter Resistance</a:t>
            </a:r>
            <a:r>
              <a:rPr lang="zh-CN" altLang="zh-CN" sz="2400" smtClean="0"/>
              <a:t>（</a:t>
            </a:r>
            <a:r>
              <a:rPr lang="en-US" altLang="zh-CN" sz="2400" smtClean="0"/>
              <a:t>R</a:t>
            </a:r>
            <a:r>
              <a:rPr lang="zh-CN" altLang="zh-CN" sz="2400" smtClean="0"/>
              <a:t>）：设置测试电压时表头的内阻。</a:t>
            </a:r>
            <a:endParaRPr lang="zh-CN" altLang="zh-CN" sz="2400" smtClean="0"/>
          </a:p>
          <a:p>
            <a:pPr marL="0" indent="0">
              <a:buFont typeface="Wingdings 2" panose="05020102010507070707" pitchFamily="18" charset="2"/>
              <a:buNone/>
            </a:pPr>
            <a:r>
              <a:rPr lang="en-US" altLang="zh-CN" sz="2400" smtClean="0"/>
              <a:t>      Ohmmeter Current</a:t>
            </a:r>
            <a:r>
              <a:rPr lang="zh-CN" altLang="zh-CN" sz="2400" smtClean="0"/>
              <a:t>（</a:t>
            </a:r>
            <a:r>
              <a:rPr lang="en-US" altLang="zh-CN" sz="2400" smtClean="0"/>
              <a:t>I</a:t>
            </a:r>
            <a:r>
              <a:rPr lang="zh-CN" altLang="zh-CN" sz="2400" smtClean="0"/>
              <a:t>）：设置测试电阻时流过表头的电流值。</a:t>
            </a:r>
            <a:endParaRPr lang="zh-CN" altLang="zh-CN" sz="2400" smtClean="0"/>
          </a:p>
          <a:p>
            <a:pPr marL="0" indent="0">
              <a:buFont typeface="Wingdings 2" panose="05020102010507070707" pitchFamily="18" charset="2"/>
              <a:buNone/>
            </a:pPr>
            <a:r>
              <a:rPr lang="en-US" altLang="zh-CN" sz="2400" smtClean="0"/>
              <a:t>      dB relative value</a:t>
            </a:r>
            <a:r>
              <a:rPr lang="zh-CN" altLang="zh-CN" sz="2400" smtClean="0"/>
              <a:t>（</a:t>
            </a:r>
            <a:r>
              <a:rPr lang="en-US" altLang="zh-CN" sz="2400" smtClean="0"/>
              <a:t>V</a:t>
            </a:r>
            <a:r>
              <a:rPr lang="zh-CN" altLang="zh-CN" sz="2400" smtClean="0"/>
              <a:t>）：用于设置分贝相对值，预先设置为</a:t>
            </a:r>
            <a:r>
              <a:rPr lang="en-US" altLang="zh-CN" sz="2400" smtClean="0"/>
              <a:t>774.597 mV</a:t>
            </a:r>
            <a:r>
              <a:rPr lang="zh-CN" altLang="zh-CN" sz="2400" smtClean="0"/>
              <a:t>。</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r>
              <a:rPr lang="en-US" altLang="zh-CN" dirty="0" err="1"/>
              <a:t>Multisim</a:t>
            </a:r>
            <a:r>
              <a:rPr lang="en-US" altLang="zh-CN" dirty="0"/>
              <a:t> 12.0</a:t>
            </a:r>
            <a:r>
              <a:rPr lang="zh-CN" altLang="zh-CN" dirty="0"/>
              <a:t>常用虚拟仪器</a:t>
            </a:r>
            <a:endParaRPr lang="zh-CN" altLang="en-US" dirty="0"/>
          </a:p>
        </p:txBody>
      </p:sp>
      <p:sp>
        <p:nvSpPr>
          <p:cNvPr id="12291"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en-US" altLang="zh-CN" sz="2400" smtClean="0"/>
              <a:t>     Display setting</a:t>
            </a:r>
            <a:r>
              <a:rPr lang="zh-CN" altLang="zh-CN" sz="2400" smtClean="0"/>
              <a:t>（显示特性设置）如下</a:t>
            </a:r>
            <a:r>
              <a:rPr lang="zh-CN" altLang="en-US" sz="2400" smtClean="0"/>
              <a:t>：</a:t>
            </a:r>
            <a:r>
              <a:rPr lang="zh-CN" altLang="zh-CN" sz="2400" smtClean="0"/>
              <a:t> </a:t>
            </a:r>
            <a:endParaRPr lang="zh-CN" altLang="zh-CN" sz="2400" smtClean="0"/>
          </a:p>
          <a:p>
            <a:pPr marL="0" indent="0">
              <a:buFont typeface="Wingdings 2" panose="05020102010507070707" pitchFamily="18" charset="2"/>
              <a:buNone/>
            </a:pPr>
            <a:r>
              <a:rPr lang="en-US" altLang="zh-CN" sz="2400" smtClean="0"/>
              <a:t>     Ammeter overrange</a:t>
            </a:r>
            <a:r>
              <a:rPr lang="zh-CN" altLang="zh-CN" sz="2400" smtClean="0"/>
              <a:t>（</a:t>
            </a:r>
            <a:r>
              <a:rPr lang="en-US" altLang="zh-CN" sz="2400" smtClean="0"/>
              <a:t>I</a:t>
            </a:r>
            <a:r>
              <a:rPr lang="zh-CN" altLang="zh-CN" sz="2400" smtClean="0"/>
              <a:t>）：设置电流表的测量范围。</a:t>
            </a:r>
            <a:endParaRPr lang="zh-CN" altLang="zh-CN" sz="2400" smtClean="0"/>
          </a:p>
          <a:p>
            <a:pPr marL="0" indent="0">
              <a:buFont typeface="Wingdings 2" panose="05020102010507070707" pitchFamily="18" charset="2"/>
              <a:buNone/>
            </a:pPr>
            <a:r>
              <a:rPr lang="en-US" altLang="zh-CN" sz="2400" smtClean="0"/>
              <a:t>     Voltmeter overrange</a:t>
            </a:r>
            <a:r>
              <a:rPr lang="zh-CN" altLang="zh-CN" sz="2400" smtClean="0"/>
              <a:t>（</a:t>
            </a:r>
            <a:r>
              <a:rPr lang="en-US" altLang="zh-CN" sz="2400" smtClean="0"/>
              <a:t>V</a:t>
            </a:r>
            <a:r>
              <a:rPr lang="zh-CN" altLang="zh-CN" sz="2400" smtClean="0"/>
              <a:t>）：设置电压表的测量范围。</a:t>
            </a:r>
            <a:endParaRPr lang="zh-CN" altLang="zh-CN" sz="2400" smtClean="0"/>
          </a:p>
          <a:p>
            <a:pPr marL="0" indent="0">
              <a:buFont typeface="Wingdings 2" panose="05020102010507070707" pitchFamily="18" charset="2"/>
              <a:buNone/>
            </a:pPr>
            <a:r>
              <a:rPr lang="en-US" altLang="zh-CN" sz="2400" smtClean="0"/>
              <a:t>     Ohmmeter overrange</a:t>
            </a:r>
            <a:r>
              <a:rPr lang="zh-CN" altLang="zh-CN" sz="2400" smtClean="0"/>
              <a:t>（</a:t>
            </a:r>
            <a:r>
              <a:rPr lang="en-US" altLang="zh-CN" sz="2400" smtClean="0"/>
              <a:t>R</a:t>
            </a:r>
            <a:r>
              <a:rPr lang="zh-CN" altLang="zh-CN" sz="2400" smtClean="0"/>
              <a:t>）：设置欧姆表的测量范围。</a:t>
            </a:r>
            <a:endParaRPr lang="zh-CN" altLang="zh-CN" sz="2400" smtClean="0"/>
          </a:p>
          <a:p>
            <a:pPr marL="0" indent="0">
              <a:buFont typeface="Wingdings 2" panose="05020102010507070707" pitchFamily="18" charset="2"/>
              <a:buNone/>
            </a:pPr>
            <a:r>
              <a:rPr lang="en-US" altLang="zh-CN" sz="2400" smtClean="0"/>
              <a:t>     </a:t>
            </a:r>
            <a:r>
              <a:rPr lang="zh-CN" altLang="zh-CN" sz="2400" smtClean="0"/>
              <a:t>设置完成后，单击</a:t>
            </a:r>
            <a:r>
              <a:rPr lang="en-US" altLang="zh-CN" sz="2400" smtClean="0"/>
              <a:t>OK</a:t>
            </a:r>
            <a:r>
              <a:rPr lang="zh-CN" altLang="zh-CN" sz="2400" smtClean="0"/>
              <a:t>按钮保存设置；单击</a:t>
            </a:r>
            <a:r>
              <a:rPr lang="en-US" altLang="zh-CN" sz="2400" smtClean="0"/>
              <a:t>Cancel</a:t>
            </a:r>
            <a:r>
              <a:rPr lang="zh-CN" altLang="zh-CN" sz="2400" smtClean="0"/>
              <a:t>按钮取消本次设置。</a:t>
            </a:r>
            <a:endParaRPr lang="zh-CN"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en-US" altLang="zh-CN" sz="2400" smtClean="0"/>
          </a:p>
          <a:p>
            <a:pPr marL="0" indent="0" eaLnBrk="1" hangingPunct="1">
              <a:buFont typeface="Wingdings 2" panose="05020102010507070707" pitchFamily="18" charset="2"/>
              <a:buNone/>
            </a:pPr>
            <a:endParaRPr lang="zh-CN" altLang="zh-CN" sz="2400" smtClean="0"/>
          </a:p>
          <a:p>
            <a:pPr marL="0" indent="0" eaLnBrk="1" hangingPunct="1">
              <a:buFont typeface="Wingdings 2" panose="05020102010507070707" pitchFamily="18" charset="2"/>
              <a:buNone/>
            </a:pPr>
            <a:endParaRPr lang="en-US" altLang="zh-CN" smtClean="0"/>
          </a:p>
        </p:txBody>
      </p:sp>
    </p:spTree>
  </p:cSld>
  <p:clrMapOvr>
    <a:masterClrMapping/>
  </p:clrMapOvr>
  <p:transition spd="med"/>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3315" name="内容占位符 2"/>
          <p:cNvSpPr>
            <a:spLocks noGrp="1"/>
          </p:cNvSpPr>
          <p:nvPr>
            <p:ph idx="1"/>
          </p:nvPr>
        </p:nvSpPr>
        <p:spPr>
          <a:xfrm>
            <a:off x="539552" y="1401762"/>
            <a:ext cx="7239000" cy="5456238"/>
          </a:xfrm>
        </p:spPr>
        <p:txBody>
          <a:bodyPr/>
          <a:lstStyle/>
          <a:p>
            <a:pPr marL="0" indent="0">
              <a:buFont typeface="Wingdings 2" panose="05020102010507070707" pitchFamily="18" charset="2"/>
              <a:buNone/>
            </a:pPr>
            <a:r>
              <a:rPr lang="en-US" altLang="zh-CN" sz="2400" dirty="0" smtClean="0"/>
              <a:t>2</a:t>
            </a:r>
            <a:r>
              <a:rPr lang="zh-CN" altLang="en-US" sz="2400" dirty="0" smtClean="0"/>
              <a:t>）</a:t>
            </a:r>
            <a:r>
              <a:rPr lang="zh-CN" altLang="zh-CN" sz="2400" dirty="0" smtClean="0"/>
              <a:t>函数信号发生器</a:t>
            </a:r>
            <a:endParaRPr lang="zh-CN" altLang="zh-CN" sz="2400" dirty="0" smtClean="0"/>
          </a:p>
          <a:p>
            <a:pPr marL="0" indent="0">
              <a:buFont typeface="Wingdings 2" panose="05020102010507070707" pitchFamily="18" charset="2"/>
              <a:buNone/>
            </a:pPr>
            <a:r>
              <a:rPr lang="en-US" altLang="zh-CN" sz="2400" dirty="0" smtClean="0"/>
              <a:t>      </a:t>
            </a:r>
            <a:r>
              <a:rPr lang="zh-CN" altLang="zh-CN" sz="2400" dirty="0" smtClean="0"/>
              <a:t>函数信号发生器可模拟在实际工作中使用的待测设备的激励信号，在电路实验、信号测试、调试电子电路及设备时具有十分广泛的用途。</a:t>
            </a:r>
            <a:r>
              <a:rPr lang="en-US" altLang="zh-CN" sz="2400" dirty="0" err="1" smtClean="0"/>
              <a:t>Multisim</a:t>
            </a:r>
            <a:r>
              <a:rPr lang="en-US" altLang="zh-CN" sz="2400" dirty="0" smtClean="0"/>
              <a:t> 12.0</a:t>
            </a:r>
            <a:r>
              <a:rPr lang="zh-CN" altLang="zh-CN" sz="2400" dirty="0" smtClean="0"/>
              <a:t>提供的函数发生器可以产生正弦波、三角波和矩形波，信号频率可在</a:t>
            </a:r>
            <a:r>
              <a:rPr lang="en-US" altLang="zh-CN" sz="2400" dirty="0" smtClean="0"/>
              <a:t>1Hz</a:t>
            </a:r>
            <a:r>
              <a:rPr lang="zh-CN" altLang="zh-CN" sz="2400" dirty="0" smtClean="0"/>
              <a:t>到</a:t>
            </a:r>
            <a:r>
              <a:rPr lang="en-US" altLang="zh-CN" sz="2400" dirty="0" smtClean="0"/>
              <a:t>999MHz</a:t>
            </a:r>
            <a:r>
              <a:rPr lang="zh-CN" altLang="zh-CN" sz="2400" dirty="0" smtClean="0"/>
              <a:t>范围内调整。信号的幅值以及占空比等参数也可以根据需要进行调节。信号发生器有三个引线端口：负极、正极和公共端。 </a:t>
            </a:r>
            <a:endParaRPr lang="en-US" altLang="zh-CN" sz="2400" dirty="0" smtClean="0"/>
          </a:p>
          <a:p>
            <a:pPr marL="0" indent="0">
              <a:buFont typeface="Wingdings 2" panose="05020102010507070707" pitchFamily="18" charset="2"/>
              <a:buNone/>
            </a:pPr>
            <a:r>
              <a:rPr lang="zh-CN" altLang="en-US" sz="2000" dirty="0" smtClean="0"/>
              <a:t>       双击函数信号发生器图标，弹出函数信号发生器的参数设置控制面板，如图</a:t>
            </a:r>
            <a:r>
              <a:rPr lang="en-US" altLang="zh-CN" sz="2000" dirty="0" smtClean="0"/>
              <a:t>3</a:t>
            </a:r>
            <a:r>
              <a:rPr lang="zh-CN" altLang="en-US" sz="2000" dirty="0" smtClean="0"/>
              <a:t>所示。</a:t>
            </a:r>
            <a:endParaRPr lang="en-US"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                                                                      图</a:t>
            </a:r>
            <a:r>
              <a:rPr lang="en-US" altLang="zh-CN" sz="1400" dirty="0" smtClean="0"/>
              <a:t>3</a:t>
            </a:r>
            <a:r>
              <a:rPr lang="zh-CN" altLang="zh-CN" sz="1400" dirty="0" smtClean="0"/>
              <a:t>函数信号发生器</a:t>
            </a:r>
            <a:endParaRPr lang="zh-CN" altLang="zh-CN" sz="1400" dirty="0" smtClean="0"/>
          </a:p>
        </p:txBody>
      </p:sp>
      <p:pic>
        <p:nvPicPr>
          <p:cNvPr id="13316" name="Picture 108" descr="3"/>
          <p:cNvPicPr>
            <a:picLocks noChangeAspect="1" noChangeArrowheads="1"/>
          </p:cNvPicPr>
          <p:nvPr/>
        </p:nvPicPr>
        <p:blipFill>
          <a:blip r:embed="rId1" cstate="print"/>
          <a:srcRect/>
          <a:stretch>
            <a:fillRect/>
          </a:stretch>
        </p:blipFill>
        <p:spPr bwMode="auto">
          <a:xfrm>
            <a:off x="5004048" y="4941168"/>
            <a:ext cx="1222375" cy="13684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4339"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Waveforms</a:t>
            </a:r>
            <a:r>
              <a:rPr lang="zh-CN" altLang="zh-CN" sz="2000" dirty="0" smtClean="0"/>
              <a:t>：波形选择区用于选择输出波形，分别为正弦波、三角波、</a:t>
            </a:r>
            <a:r>
              <a:rPr lang="zh-CN" altLang="zh-CN" sz="2000" dirty="0" smtClean="0"/>
              <a:t>矩形波</a:t>
            </a:r>
            <a:r>
              <a:rPr lang="zh-CN" altLang="zh-CN" sz="2000" dirty="0" smtClean="0"/>
              <a:t>。</a:t>
            </a:r>
            <a:endParaRPr lang="zh-CN" altLang="zh-CN" sz="2000" dirty="0" smtClean="0"/>
          </a:p>
          <a:p>
            <a:pPr marL="0" indent="0">
              <a:buFont typeface="Wingdings 2" panose="05020102010507070707" pitchFamily="18" charset="2"/>
              <a:buNone/>
            </a:pPr>
            <a:r>
              <a:rPr lang="en-US" altLang="zh-CN" sz="2000" dirty="0" smtClean="0"/>
              <a:t>      Frequency</a:t>
            </a:r>
            <a:r>
              <a:rPr lang="zh-CN" altLang="zh-CN" sz="2000" dirty="0" smtClean="0"/>
              <a:t>：频率设置，用于设置输出信号的频率，可选范围</a:t>
            </a:r>
            <a:r>
              <a:rPr lang="en-US" altLang="zh-CN" sz="2000" dirty="0" smtClean="0"/>
              <a:t>1 </a:t>
            </a:r>
            <a:r>
              <a:rPr lang="en-US" altLang="zh-CN" sz="2000" dirty="0" err="1" smtClean="0"/>
              <a:t>fHz</a:t>
            </a:r>
            <a:r>
              <a:rPr lang="zh-CN" altLang="zh-CN" sz="2000" dirty="0" smtClean="0"/>
              <a:t>～</a:t>
            </a:r>
            <a:r>
              <a:rPr lang="en-US" altLang="zh-CN" sz="2000" dirty="0" smtClean="0"/>
              <a:t>1 000 THz</a:t>
            </a:r>
            <a:r>
              <a:rPr lang="zh-CN" altLang="zh-CN" sz="2000" dirty="0" smtClean="0"/>
              <a:t>。</a:t>
            </a:r>
            <a:endParaRPr lang="zh-CN" altLang="zh-CN" sz="2000" dirty="0" smtClean="0"/>
          </a:p>
          <a:p>
            <a:pPr marL="0" indent="0">
              <a:buFont typeface="Wingdings 2" panose="05020102010507070707" pitchFamily="18" charset="2"/>
              <a:buNone/>
            </a:pPr>
            <a:r>
              <a:rPr lang="en-US" altLang="zh-CN" sz="2000" dirty="0" smtClean="0"/>
              <a:t>      Duty Cycle</a:t>
            </a:r>
            <a:r>
              <a:rPr lang="zh-CN" altLang="zh-CN" sz="2000" dirty="0" smtClean="0"/>
              <a:t>：占空比设置用于设置输出的三角波和方波电压信号的占空比，设定范围</a:t>
            </a:r>
            <a:r>
              <a:rPr lang="en-US" altLang="zh-CN" sz="2000" dirty="0" smtClean="0"/>
              <a:t>1%</a:t>
            </a:r>
            <a:r>
              <a:rPr lang="zh-CN" altLang="zh-CN" sz="2000" dirty="0" smtClean="0"/>
              <a:t>～</a:t>
            </a:r>
            <a:r>
              <a:rPr lang="en-US" altLang="zh-CN" sz="2000" dirty="0" smtClean="0"/>
              <a:t>99%</a:t>
            </a:r>
            <a:r>
              <a:rPr lang="zh-CN" altLang="zh-CN" sz="2000" dirty="0" smtClean="0"/>
              <a:t>。</a:t>
            </a:r>
            <a:endParaRPr lang="zh-CN" altLang="zh-CN" sz="2000" dirty="0" smtClean="0"/>
          </a:p>
          <a:p>
            <a:pPr marL="0" indent="0">
              <a:buFont typeface="Wingdings 2" panose="05020102010507070707" pitchFamily="18" charset="2"/>
              <a:buNone/>
            </a:pPr>
            <a:r>
              <a:rPr lang="en-US" altLang="zh-CN" sz="2000" dirty="0" smtClean="0"/>
              <a:t>      Amplitude</a:t>
            </a:r>
            <a:r>
              <a:rPr lang="zh-CN" altLang="zh-CN" sz="2000" dirty="0" smtClean="0"/>
              <a:t>：振幅设置用于设置输出信号的峰值，可选范围</a:t>
            </a:r>
            <a:r>
              <a:rPr lang="en-US" altLang="zh-CN" sz="2000" dirty="0" smtClean="0"/>
              <a:t>1 </a:t>
            </a:r>
            <a:r>
              <a:rPr lang="en-US" altLang="zh-CN" sz="2000" dirty="0" err="1" smtClean="0"/>
              <a:t>fVp</a:t>
            </a:r>
            <a:r>
              <a:rPr lang="zh-CN" altLang="zh-CN" sz="2000" dirty="0" smtClean="0"/>
              <a:t>～</a:t>
            </a:r>
            <a:r>
              <a:rPr lang="en-US" altLang="zh-CN" sz="2000" dirty="0" smtClean="0"/>
              <a:t>1 000 </a:t>
            </a:r>
            <a:r>
              <a:rPr lang="en-US" altLang="zh-CN" sz="2000" dirty="0" err="1" smtClean="0"/>
              <a:t>TVp</a:t>
            </a:r>
            <a:r>
              <a:rPr lang="zh-CN" altLang="zh-CN" sz="2000" dirty="0" smtClean="0"/>
              <a:t>。</a:t>
            </a:r>
            <a:endParaRPr lang="zh-CN" altLang="zh-CN" sz="2000" dirty="0" smtClean="0"/>
          </a:p>
          <a:p>
            <a:pPr marL="0" indent="0">
              <a:buFont typeface="Wingdings 2" panose="05020102010507070707" pitchFamily="18" charset="2"/>
              <a:buNone/>
            </a:pPr>
            <a:r>
              <a:rPr lang="en-US" altLang="zh-CN" sz="2000" dirty="0" smtClean="0"/>
              <a:t>      Offset</a:t>
            </a:r>
            <a:r>
              <a:rPr lang="zh-CN" altLang="zh-CN" sz="2000" dirty="0" smtClean="0"/>
              <a:t>：偏移设置用于设置输出信号的偏置电压，即设置输出信号中直流成分的大小。</a:t>
            </a:r>
            <a:endParaRPr lang="zh-CN" altLang="zh-CN" sz="2000" dirty="0" smtClean="0"/>
          </a:p>
          <a:p>
            <a:pPr marL="0" indent="0">
              <a:buFont typeface="Wingdings 2" panose="05020102010507070707" pitchFamily="18" charset="2"/>
              <a:buNone/>
            </a:pPr>
            <a:r>
              <a:rPr lang="en-US" altLang="zh-CN" sz="2000" dirty="0" smtClean="0"/>
              <a:t>      Set rise/Fall time</a:t>
            </a:r>
            <a:r>
              <a:rPr lang="zh-CN" altLang="zh-CN" sz="2000" dirty="0" smtClean="0"/>
              <a:t>：设置方波的上升沿与下降沿的时间。</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a:t>
            </a:r>
            <a:r>
              <a:rPr lang="en-US" altLang="zh-CN" sz="2000" dirty="0" smtClean="0"/>
              <a:t>Common</a:t>
            </a:r>
            <a:r>
              <a:rPr lang="zh-CN" altLang="zh-CN" sz="2000" dirty="0" smtClean="0"/>
              <a:t>：分别表示波形电压信号的正极性输出端、负极性输出端、公共端。</a:t>
            </a:r>
            <a:endParaRPr lang="zh-CN" altLang="zh-CN" sz="2000" dirty="0" smtClean="0"/>
          </a:p>
          <a:p>
            <a:pPr marL="0" indent="0" eaLnBrk="1" hangingPunct="1">
              <a:buFont typeface="Wingdings 2" panose="05020102010507070707" pitchFamily="18" charset="2"/>
              <a:buNone/>
            </a:pPr>
            <a:endParaRPr lang="en-US"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eaLnBrk="1" hangingPunct="1">
              <a:buFont typeface="Wingdings 2" panose="05020102010507070707" pitchFamily="18" charset="2"/>
              <a:buNone/>
            </a:pPr>
            <a:endParaRPr lang="en-US" altLang="zh-CN" sz="1400" dirty="0" smtClean="0"/>
          </a:p>
          <a:p>
            <a:pPr marL="0" indent="0" algn="ctr" eaLnBrk="1" hangingPunct="1">
              <a:buFont typeface="Wingdings 2" panose="05020102010507070707" pitchFamily="18" charset="2"/>
              <a:buNone/>
            </a:pPr>
            <a:endParaRPr lang="en-US" altLang="zh-CN" sz="1400" dirty="0" smtClean="0"/>
          </a:p>
        </p:txBody>
      </p:sp>
    </p:spTree>
  </p:cSld>
  <p:clrMapOvr>
    <a:masterClrMapping/>
  </p:clrMapOvr>
  <p:transition spd="med"/>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5363"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3</a:t>
            </a:r>
            <a:r>
              <a:rPr lang="zh-CN" altLang="en-US" sz="2400" dirty="0" smtClean="0"/>
              <a:t>）</a:t>
            </a:r>
            <a:r>
              <a:rPr lang="zh-CN" altLang="zh-CN" sz="2400" dirty="0" smtClean="0"/>
              <a:t>瓦特表（</a:t>
            </a:r>
            <a:r>
              <a:rPr lang="en-US" altLang="zh-CN" sz="2400" dirty="0" smtClean="0"/>
              <a:t>Wattmeter</a:t>
            </a:r>
            <a:r>
              <a:rPr lang="zh-CN" altLang="zh-CN" sz="2400" dirty="0" smtClean="0"/>
              <a:t>）</a:t>
            </a:r>
            <a:endParaRPr lang="en-US" altLang="zh-CN" sz="2400" dirty="0" smtClean="0"/>
          </a:p>
          <a:p>
            <a:pPr marL="0" indent="0">
              <a:buFont typeface="Wingdings 2" panose="05020102010507070707" pitchFamily="18" charset="2"/>
              <a:buNone/>
            </a:pPr>
            <a:r>
              <a:rPr lang="en-US" altLang="zh-CN" sz="2400" dirty="0" smtClean="0"/>
              <a:t>      </a:t>
            </a:r>
            <a:r>
              <a:rPr lang="en-US" altLang="zh-CN" sz="2400" dirty="0" err="1" smtClean="0"/>
              <a:t>Multisim</a:t>
            </a:r>
            <a:r>
              <a:rPr lang="en-US" altLang="zh-CN" sz="2400" dirty="0" smtClean="0"/>
              <a:t> 12.0</a:t>
            </a:r>
            <a:r>
              <a:rPr lang="zh-CN" altLang="zh-CN" sz="2400" dirty="0" smtClean="0"/>
              <a:t>提供的瓦特表用来测量电路的交流或者直流功率，瓦特表有四个引线端口：电压正极和负极、电流正极和负极。如图</a:t>
            </a:r>
            <a:r>
              <a:rPr lang="en-US" altLang="zh-CN" sz="2400" dirty="0" smtClean="0"/>
              <a:t>4</a:t>
            </a:r>
            <a:r>
              <a:rPr lang="zh-CN" altLang="zh-CN" sz="2400" dirty="0" smtClean="0"/>
              <a:t>所示，</a:t>
            </a:r>
            <a:r>
              <a:rPr lang="zh-CN" altLang="en-US" sz="2400" dirty="0" smtClean="0"/>
              <a:t>瓦特</a:t>
            </a:r>
            <a:r>
              <a:rPr lang="zh-CN" altLang="zh-CN" sz="2400" dirty="0" smtClean="0"/>
              <a:t>表的操作界面包括显示文本框和接线端子组成。</a:t>
            </a:r>
            <a:endParaRPr lang="en-US" altLang="zh-CN" sz="2400" dirty="0" smtClean="0"/>
          </a:p>
          <a:p>
            <a:pPr marL="0" indent="0">
              <a:buFont typeface="Wingdings 2" panose="05020102010507070707" pitchFamily="18" charset="2"/>
              <a:buNone/>
            </a:pPr>
            <a:r>
              <a:rPr lang="en-US" altLang="zh-CN" sz="2400" dirty="0" smtClean="0"/>
              <a:t>     </a:t>
            </a:r>
            <a:r>
              <a:rPr lang="zh-CN" altLang="zh-CN" sz="2400" dirty="0" smtClean="0"/>
              <a:t>显示文本框：上侧的文本框显示测量的有功功率，</a:t>
            </a:r>
            <a:r>
              <a:rPr lang="en-US" altLang="zh-CN" sz="2400" dirty="0" smtClean="0"/>
              <a:t>Power factor</a:t>
            </a:r>
            <a:r>
              <a:rPr lang="zh-CN" altLang="zh-CN" sz="2400" dirty="0" smtClean="0"/>
              <a:t>显示功率因素。</a:t>
            </a:r>
            <a:endParaRPr lang="zh-CN" altLang="zh-CN" sz="2400" dirty="0" smtClean="0"/>
          </a:p>
          <a:p>
            <a:pPr marL="0" indent="0">
              <a:buFont typeface="Wingdings 2" panose="05020102010507070707" pitchFamily="18" charset="2"/>
              <a:buNone/>
            </a:pPr>
            <a:r>
              <a:rPr lang="en-US" altLang="zh-CN" sz="2400" dirty="0" smtClean="0"/>
              <a:t>     </a:t>
            </a:r>
            <a:r>
              <a:rPr lang="zh-CN" altLang="zh-CN" sz="2400" dirty="0" smtClean="0"/>
              <a:t>接线端子：</a:t>
            </a:r>
            <a:r>
              <a:rPr lang="en-US" altLang="zh-CN" sz="2400" dirty="0" smtClean="0"/>
              <a:t>Voltage</a:t>
            </a:r>
            <a:r>
              <a:rPr lang="zh-CN" altLang="zh-CN" sz="2400" dirty="0" smtClean="0"/>
              <a:t>接线端子和被测支路并联，</a:t>
            </a:r>
            <a:r>
              <a:rPr lang="en-US" altLang="zh-CN" sz="2400" dirty="0" smtClean="0"/>
              <a:t>Current</a:t>
            </a:r>
            <a:r>
              <a:rPr lang="zh-CN" altLang="zh-CN" sz="2400" dirty="0" smtClean="0"/>
              <a:t>接线端子和被测支路串联。</a:t>
            </a:r>
            <a:endParaRPr lang="zh-CN" altLang="zh-CN" sz="2400" dirty="0" smtClean="0"/>
          </a:p>
          <a:p>
            <a:pPr marL="0" indent="0">
              <a:buFont typeface="Wingdings 2" panose="05020102010507070707" pitchFamily="18" charset="2"/>
              <a:buNone/>
            </a:pPr>
            <a:endParaRPr lang="zh-CN" altLang="zh-CN" sz="24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4</a:t>
            </a:r>
            <a:r>
              <a:rPr lang="zh-CN" altLang="en-US" sz="1400" dirty="0" smtClean="0"/>
              <a:t>瓦特表</a:t>
            </a:r>
            <a:endParaRPr lang="zh-CN"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15364" name="Picture 4" descr="3"/>
          <p:cNvPicPr>
            <a:picLocks noChangeAspect="1" noChangeArrowheads="1"/>
          </p:cNvPicPr>
          <p:nvPr/>
        </p:nvPicPr>
        <p:blipFill>
          <a:blip r:embed="rId1" cstate="print"/>
          <a:srcRect/>
          <a:stretch>
            <a:fillRect/>
          </a:stretch>
        </p:blipFill>
        <p:spPr bwMode="auto">
          <a:xfrm>
            <a:off x="3635896" y="5229200"/>
            <a:ext cx="1133475" cy="995362"/>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6387"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4</a:t>
            </a:r>
            <a:r>
              <a:rPr lang="zh-CN" altLang="en-US" sz="2400" dirty="0" smtClean="0"/>
              <a:t>）</a:t>
            </a:r>
            <a:r>
              <a:rPr lang="zh-CN" altLang="zh-CN" sz="2400" dirty="0" smtClean="0"/>
              <a:t>双通道示波器（</a:t>
            </a:r>
            <a:r>
              <a:rPr lang="en-US" altLang="zh-CN" sz="2400" dirty="0" smtClean="0"/>
              <a:t>Oscilloscope</a:t>
            </a:r>
            <a:r>
              <a:rPr lang="zh-CN" altLang="zh-CN" sz="2400" dirty="0" smtClean="0"/>
              <a:t>）</a:t>
            </a:r>
            <a:endParaRPr lang="en-US" altLang="zh-CN" sz="2400" dirty="0" smtClean="0"/>
          </a:p>
          <a:p>
            <a:pPr marL="0" indent="0">
              <a:buFont typeface="Wingdings 2" panose="05020102010507070707" pitchFamily="18" charset="2"/>
              <a:buNone/>
            </a:pPr>
            <a:r>
              <a:rPr lang="en-US" altLang="zh-CN" sz="2400" dirty="0" smtClean="0"/>
              <a:t>     </a:t>
            </a:r>
            <a:r>
              <a:rPr lang="zh-CN" altLang="zh-CN" sz="2400" dirty="0" smtClean="0"/>
              <a:t>示波器是电子实验中使用最为频繁的仪器之一。它可以用来显示电信号波形的形状、幅度、频率等参数。</a:t>
            </a:r>
            <a:r>
              <a:rPr lang="en-US" altLang="zh-CN" sz="2400" dirty="0" err="1" smtClean="0"/>
              <a:t>Multisim</a:t>
            </a:r>
            <a:r>
              <a:rPr lang="en-US" altLang="zh-CN" sz="2400" dirty="0" smtClean="0"/>
              <a:t> 12.0</a:t>
            </a:r>
            <a:r>
              <a:rPr lang="zh-CN" altLang="zh-CN" sz="2400" dirty="0" smtClean="0"/>
              <a:t>提供的双通道示波器与实际的示波器外观和基本操作基本相同，如图</a:t>
            </a:r>
            <a:r>
              <a:rPr lang="en-US" altLang="zh-CN" sz="2400" dirty="0" smtClean="0"/>
              <a:t>5</a:t>
            </a:r>
            <a:r>
              <a:rPr lang="zh-CN" altLang="zh-CN" sz="2400" dirty="0" smtClean="0"/>
              <a:t>所示，该示波器可以观察一路或两路信号波形的形状，分析被测周期信号的幅值和频率，时间基准可在秒直至纳秒范围内调节。示波器图标有四个连接点：</a:t>
            </a:r>
            <a:r>
              <a:rPr lang="en-US" altLang="zh-CN" sz="2400" dirty="0" smtClean="0"/>
              <a:t>A</a:t>
            </a:r>
            <a:r>
              <a:rPr lang="zh-CN" altLang="zh-CN" sz="2400" dirty="0" smtClean="0"/>
              <a:t>通道输入、</a:t>
            </a:r>
            <a:r>
              <a:rPr lang="en-US" altLang="zh-CN" sz="2400" dirty="0" smtClean="0"/>
              <a:t>B</a:t>
            </a:r>
            <a:r>
              <a:rPr lang="zh-CN" altLang="zh-CN" sz="2400" dirty="0" smtClean="0"/>
              <a:t>通道输入、外触发端</a:t>
            </a:r>
            <a:r>
              <a:rPr lang="en-US" altLang="zh-CN" sz="2400" dirty="0" smtClean="0"/>
              <a:t>T</a:t>
            </a:r>
            <a:r>
              <a:rPr lang="zh-CN" altLang="zh-CN" sz="2400" dirty="0" smtClean="0"/>
              <a:t>和接地端</a:t>
            </a:r>
            <a:r>
              <a:rPr lang="en-US" altLang="zh-CN" sz="2400" dirty="0" smtClean="0"/>
              <a:t>G</a:t>
            </a:r>
            <a:r>
              <a:rPr lang="zh-CN" altLang="zh-CN" sz="2400" dirty="0" smtClean="0"/>
              <a:t>。</a:t>
            </a:r>
            <a:endParaRPr lang="zh-CN" altLang="zh-CN" sz="2400" dirty="0" smtClean="0"/>
          </a:p>
          <a:p>
            <a:pPr marL="0" indent="0">
              <a:buFont typeface="Wingdings 2" panose="05020102010507070707" pitchFamily="18" charset="2"/>
              <a:buNone/>
            </a:pPr>
            <a:endParaRPr lang="zh-CN" altLang="zh-CN" sz="24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5</a:t>
            </a:r>
            <a:r>
              <a:rPr lang="zh-CN" altLang="zh-CN" sz="1400" dirty="0" smtClean="0"/>
              <a:t>双通道示波器（</a:t>
            </a:r>
            <a:r>
              <a:rPr lang="en-US" altLang="zh-CN" sz="1400" dirty="0" smtClean="0"/>
              <a:t>Oscilloscope</a:t>
            </a:r>
            <a:r>
              <a:rPr lang="zh-CN" altLang="zh-CN" sz="1400" dirty="0" smtClean="0"/>
              <a:t>）</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16388" name="图片 1"/>
          <p:cNvPicPr>
            <a:picLocks noChangeAspect="1" noChangeArrowheads="1"/>
          </p:cNvPicPr>
          <p:nvPr/>
        </p:nvPicPr>
        <p:blipFill>
          <a:blip r:embed="rId1" cstate="print">
            <a:lum contrast="20000"/>
          </a:blip>
          <a:srcRect/>
          <a:stretch>
            <a:fillRect/>
          </a:stretch>
        </p:blipFill>
        <p:spPr bwMode="auto">
          <a:xfrm>
            <a:off x="3059113" y="4508500"/>
            <a:ext cx="1624012" cy="16097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7411"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en-US" altLang="zh-CN" sz="2400" dirty="0" smtClean="0"/>
              <a:t>    </a:t>
            </a:r>
            <a:endParaRPr lang="en-US" altLang="zh-CN" sz="2400" dirty="0" smtClean="0"/>
          </a:p>
          <a:p>
            <a:pPr marL="0" indent="0">
              <a:buFont typeface="Wingdings 2" panose="05020102010507070707" pitchFamily="18" charset="2"/>
              <a:buNone/>
            </a:pPr>
            <a:r>
              <a:rPr lang="en-US" altLang="zh-CN" sz="2400" dirty="0" smtClean="0"/>
              <a:t> </a:t>
            </a:r>
            <a:r>
              <a:rPr lang="zh-CN" altLang="zh-CN" sz="2400" dirty="0" smtClean="0"/>
              <a:t>示波器的面板如图</a:t>
            </a:r>
            <a:r>
              <a:rPr lang="en-US" altLang="zh-CN" sz="2400" dirty="0" smtClean="0"/>
              <a:t>6</a:t>
            </a:r>
            <a:r>
              <a:rPr lang="zh-CN" altLang="zh-CN" sz="2400" dirty="0" smtClean="0"/>
              <a:t>所示，面板由两部分组成：上面是示波器的观察窗口，显示</a:t>
            </a:r>
            <a:r>
              <a:rPr lang="en-US" altLang="zh-CN" sz="2400" dirty="0" smtClean="0"/>
              <a:t>A</a:t>
            </a:r>
            <a:r>
              <a:rPr lang="zh-CN" altLang="zh-CN" sz="2400" dirty="0" smtClean="0"/>
              <a:t>、</a:t>
            </a:r>
            <a:r>
              <a:rPr lang="en-US" altLang="zh-CN" sz="2400" dirty="0" smtClean="0"/>
              <a:t>B</a:t>
            </a:r>
            <a:r>
              <a:rPr lang="zh-CN" altLang="zh-CN" sz="2400" dirty="0" smtClean="0"/>
              <a:t>两通道的信号波形；下面是它的控制面板和数轴数据显示区。</a:t>
            </a:r>
            <a:endParaRPr lang="zh-CN" altLang="zh-CN" sz="24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6</a:t>
            </a:r>
            <a:r>
              <a:rPr lang="zh-CN" altLang="zh-CN" sz="1400" dirty="0" smtClean="0"/>
              <a:t>双通道示波器（</a:t>
            </a:r>
            <a:r>
              <a:rPr lang="en-US" altLang="zh-CN" sz="1400" dirty="0" smtClean="0"/>
              <a:t>Oscilloscope</a:t>
            </a:r>
            <a:r>
              <a:rPr lang="zh-CN" altLang="zh-CN" sz="1400" dirty="0" smtClean="0"/>
              <a:t>）面板</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17412" name="Picture 8" descr="3"/>
          <p:cNvPicPr>
            <a:picLocks noChangeAspect="1" noChangeArrowheads="1"/>
          </p:cNvPicPr>
          <p:nvPr/>
        </p:nvPicPr>
        <p:blipFill>
          <a:blip r:embed="rId1" cstate="print"/>
          <a:srcRect/>
          <a:stretch>
            <a:fillRect/>
          </a:stretch>
        </p:blipFill>
        <p:spPr bwMode="auto">
          <a:xfrm>
            <a:off x="2843213" y="2636838"/>
            <a:ext cx="2370137" cy="19018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8435"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5</a:t>
            </a:r>
            <a:r>
              <a:rPr lang="zh-CN" altLang="en-US" sz="2400" dirty="0" smtClean="0"/>
              <a:t>）</a:t>
            </a:r>
            <a:r>
              <a:rPr lang="zh-CN" altLang="zh-CN" sz="2400" b="1" dirty="0" smtClean="0"/>
              <a:t>四通道示波器（</a:t>
            </a:r>
            <a:r>
              <a:rPr lang="en-US" altLang="zh-CN" sz="2400" b="1" dirty="0" smtClean="0"/>
              <a:t>4 Channel Oscilloscope</a:t>
            </a:r>
            <a:r>
              <a:rPr lang="zh-CN" altLang="zh-CN" sz="2400" b="1" dirty="0" smtClean="0"/>
              <a:t>）</a:t>
            </a:r>
            <a:endParaRPr lang="zh-CN" altLang="zh-CN" sz="2400" b="1" dirty="0" smtClean="0"/>
          </a:p>
          <a:p>
            <a:pPr marL="0" indent="0">
              <a:buFont typeface="Wingdings 2" panose="05020102010507070707" pitchFamily="18" charset="2"/>
              <a:buNone/>
            </a:pPr>
            <a:r>
              <a:rPr lang="en-US" altLang="zh-CN" sz="2400" dirty="0" smtClean="0"/>
              <a:t>     </a:t>
            </a:r>
            <a:r>
              <a:rPr lang="zh-CN" altLang="zh-CN" sz="2000" dirty="0" smtClean="0"/>
              <a:t>四通道示波器与双通道示波器的使用方法和参数调整方式完全一样，只是多了一个通道控制器旋钮，当旋钮拨到某个通道位置，才能对该通道的</a:t>
            </a:r>
            <a:r>
              <a:rPr lang="en-US" altLang="zh-CN" sz="2000" dirty="0" smtClean="0"/>
              <a:t>Y</a:t>
            </a:r>
            <a:r>
              <a:rPr lang="zh-CN" altLang="zh-CN" sz="2000" dirty="0" smtClean="0"/>
              <a:t>轴进行调整。</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四通道示波器测试实例，按照图</a:t>
            </a:r>
            <a:r>
              <a:rPr lang="en-US" altLang="zh-CN" sz="2000" dirty="0" smtClean="0"/>
              <a:t>7</a:t>
            </a:r>
            <a:r>
              <a:rPr lang="zh-CN" altLang="zh-CN" sz="2000" dirty="0" smtClean="0"/>
              <a:t>连接电路图，观察</a:t>
            </a:r>
            <a:r>
              <a:rPr lang="en-US" altLang="zh-CN" sz="2000" dirty="0" smtClean="0"/>
              <a:t>D</a:t>
            </a:r>
            <a:r>
              <a:rPr lang="zh-CN" altLang="zh-CN" sz="2000" dirty="0" smtClean="0"/>
              <a:t>触发器的输入和输出及时钟信号的波形，如图</a:t>
            </a:r>
            <a:r>
              <a:rPr lang="en-US" altLang="zh-CN" sz="2000" dirty="0" smtClean="0"/>
              <a:t>8</a:t>
            </a:r>
            <a:r>
              <a:rPr lang="zh-CN" altLang="zh-CN" sz="2000" dirty="0" smtClean="0"/>
              <a:t>所示。 </a:t>
            </a:r>
            <a:endParaRPr lang="zh-CN" altLang="zh-CN" sz="2000" dirty="0" smtClean="0"/>
          </a:p>
          <a:p>
            <a:pPr marL="0" indent="0">
              <a:buFont typeface="Wingdings 2" panose="05020102010507070707" pitchFamily="18" charset="2"/>
              <a:buNone/>
            </a:pPr>
            <a:endParaRPr lang="zh-CN" altLang="zh-CN" sz="24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buFont typeface="Wingdings 2" panose="05020102010507070707" pitchFamily="18" charset="2"/>
              <a:buNone/>
            </a:pPr>
            <a:r>
              <a:rPr lang="zh-CN" altLang="en-US" sz="1400" dirty="0" smtClean="0"/>
              <a:t>图</a:t>
            </a:r>
            <a:r>
              <a:rPr lang="en-US" altLang="zh-CN" sz="1400" dirty="0" smtClean="0"/>
              <a:t>7</a:t>
            </a:r>
            <a:r>
              <a:rPr lang="zh-CN" altLang="zh-CN" sz="1400" dirty="0" smtClean="0"/>
              <a:t>四通道示波器测试电路</a:t>
            </a:r>
            <a:r>
              <a:rPr lang="en-US" altLang="zh-CN" sz="1400" dirty="0" smtClean="0"/>
              <a:t>                                      </a:t>
            </a:r>
            <a:r>
              <a:rPr lang="zh-CN" altLang="en-US" sz="1400" dirty="0" smtClean="0"/>
              <a:t>图</a:t>
            </a:r>
            <a:r>
              <a:rPr lang="en-US" altLang="zh-CN" sz="1400" dirty="0" smtClean="0"/>
              <a:t>8</a:t>
            </a:r>
            <a:r>
              <a:rPr lang="zh-CN" altLang="zh-CN" sz="1400" dirty="0" smtClean="0"/>
              <a:t>四通道示波器波形图</a:t>
            </a:r>
            <a:endParaRPr lang="en-US" altLang="zh-CN" sz="1400" dirty="0" smtClean="0"/>
          </a:p>
          <a:p>
            <a:pPr marL="0" indent="0">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18436" name="图片 1"/>
          <p:cNvPicPr>
            <a:picLocks noChangeAspect="1" noChangeArrowheads="1"/>
          </p:cNvPicPr>
          <p:nvPr/>
        </p:nvPicPr>
        <p:blipFill>
          <a:blip r:embed="rId1" cstate="print"/>
          <a:srcRect/>
          <a:stretch>
            <a:fillRect/>
          </a:stretch>
        </p:blipFill>
        <p:spPr bwMode="auto">
          <a:xfrm>
            <a:off x="684213" y="3644900"/>
            <a:ext cx="2216150" cy="1609725"/>
          </a:xfrm>
          <a:prstGeom prst="rect">
            <a:avLst/>
          </a:prstGeom>
          <a:noFill/>
          <a:ln w="9525">
            <a:noFill/>
            <a:miter lim="800000"/>
            <a:headEnd/>
            <a:tailEnd/>
          </a:ln>
        </p:spPr>
      </p:pic>
      <p:pic>
        <p:nvPicPr>
          <p:cNvPr id="18437" name="Picture 3"/>
          <p:cNvPicPr>
            <a:picLocks noChangeAspect="1" noChangeArrowheads="1"/>
          </p:cNvPicPr>
          <p:nvPr/>
        </p:nvPicPr>
        <p:blipFill>
          <a:blip r:embed="rId2" cstate="print"/>
          <a:srcRect/>
          <a:stretch>
            <a:fillRect/>
          </a:stretch>
        </p:blipFill>
        <p:spPr bwMode="auto">
          <a:xfrm>
            <a:off x="4139952" y="3645024"/>
            <a:ext cx="2381250" cy="17907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19459"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6</a:t>
            </a:r>
            <a:r>
              <a:rPr lang="zh-CN" altLang="en-US" sz="2400" dirty="0" smtClean="0"/>
              <a:t>）</a:t>
            </a:r>
            <a:r>
              <a:rPr lang="zh-CN" altLang="zh-CN" sz="2400" dirty="0" smtClean="0"/>
              <a:t>波特图仪（</a:t>
            </a:r>
            <a:r>
              <a:rPr lang="en-US" altLang="zh-CN" sz="2400" dirty="0" smtClean="0"/>
              <a:t>Bode Plotter</a:t>
            </a:r>
            <a:r>
              <a:rPr lang="zh-CN" altLang="zh-CN" sz="2400" dirty="0" smtClean="0"/>
              <a:t>）</a:t>
            </a:r>
            <a:endParaRPr lang="en-US" altLang="zh-CN" sz="2400" dirty="0" smtClean="0"/>
          </a:p>
          <a:p>
            <a:pPr marL="0" indent="0" algn="just">
              <a:buFont typeface="Wingdings 2" panose="05020102010507070707" pitchFamily="18" charset="2"/>
              <a:buNone/>
            </a:pPr>
            <a:r>
              <a:rPr lang="zh-CN" altLang="en-US" sz="2000" dirty="0" smtClean="0"/>
              <a:t>     波特图仪是一种用来测量和显示一个电路系统或放大器幅频特性和相频特性的仪器，是交流分析的重要工具，类似于实际电路测量中常用的扫频仪。其图标如图</a:t>
            </a:r>
            <a:r>
              <a:rPr lang="en-US" altLang="zh-CN" sz="2000" dirty="0" smtClean="0"/>
              <a:t>9</a:t>
            </a:r>
            <a:r>
              <a:rPr lang="zh-CN" altLang="en-US" sz="2000" dirty="0" smtClean="0"/>
              <a:t>所示。图标上有</a:t>
            </a:r>
            <a:r>
              <a:rPr lang="en-US" altLang="zh-CN" sz="2000" dirty="0" smtClean="0"/>
              <a:t>in+</a:t>
            </a:r>
            <a:r>
              <a:rPr lang="zh-CN" altLang="en-US" sz="2000" dirty="0" smtClean="0"/>
              <a:t>、</a:t>
            </a:r>
            <a:r>
              <a:rPr lang="en-US" altLang="zh-CN" sz="2000" dirty="0" smtClean="0"/>
              <a:t>in-</a:t>
            </a:r>
            <a:r>
              <a:rPr lang="zh-CN" altLang="en-US" sz="2000" dirty="0" smtClean="0"/>
              <a:t>、</a:t>
            </a:r>
            <a:r>
              <a:rPr lang="en-US" altLang="zh-CN" sz="2000" dirty="0" smtClean="0"/>
              <a:t>out+</a:t>
            </a:r>
            <a:r>
              <a:rPr lang="zh-CN" altLang="en-US" sz="2000" dirty="0" smtClean="0"/>
              <a:t>、</a:t>
            </a:r>
            <a:r>
              <a:rPr lang="en-US" altLang="zh-CN" sz="2000" dirty="0" smtClean="0"/>
              <a:t>out-4</a:t>
            </a:r>
            <a:r>
              <a:rPr lang="zh-CN" altLang="en-US" sz="2000" dirty="0" smtClean="0"/>
              <a:t>个端子，其中</a:t>
            </a:r>
            <a:r>
              <a:rPr lang="en-US" altLang="zh-CN" sz="2000" dirty="0" smtClean="0"/>
              <a:t>in</a:t>
            </a:r>
            <a:r>
              <a:rPr lang="zh-CN" altLang="en-US" sz="2000" dirty="0" smtClean="0"/>
              <a:t>两个端子连接系统信号输入端，</a:t>
            </a:r>
            <a:r>
              <a:rPr lang="en-US" altLang="zh-CN" sz="2000" dirty="0" smtClean="0"/>
              <a:t>out</a:t>
            </a:r>
            <a:r>
              <a:rPr lang="zh-CN" altLang="en-US" sz="2000" dirty="0" smtClean="0"/>
              <a:t>两个端子连接系统信号输出端。需要注意，在使用波特图仪时，必须在系统的信号输入端连接一个交流信号源或函数信号发生器，此信号源由波特图仪自行控制不需设置。</a:t>
            </a:r>
            <a:endParaRPr lang="zh-CN"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9</a:t>
            </a:r>
            <a:r>
              <a:rPr lang="zh-CN" altLang="en-US" sz="1400" dirty="0" smtClean="0"/>
              <a:t>波特图仪</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19460" name="图片 1"/>
          <p:cNvPicPr>
            <a:picLocks noChangeAspect="1" noChangeArrowheads="1"/>
          </p:cNvPicPr>
          <p:nvPr/>
        </p:nvPicPr>
        <p:blipFill>
          <a:blip r:embed="rId1" cstate="print"/>
          <a:srcRect/>
          <a:stretch>
            <a:fillRect/>
          </a:stretch>
        </p:blipFill>
        <p:spPr bwMode="auto">
          <a:xfrm>
            <a:off x="3492500" y="4365625"/>
            <a:ext cx="958850" cy="8636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0483"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zh-CN" altLang="zh-CN" sz="2400" dirty="0" smtClean="0"/>
              <a:t>波特</a:t>
            </a:r>
            <a:r>
              <a:rPr lang="zh-CN" altLang="zh-CN" sz="2400" dirty="0" smtClean="0"/>
              <a:t>图仪控制面板如图</a:t>
            </a:r>
            <a:r>
              <a:rPr lang="en-US" altLang="zh-CN" sz="2400" dirty="0" smtClean="0"/>
              <a:t>10</a:t>
            </a:r>
            <a:r>
              <a:rPr lang="zh-CN" altLang="zh-CN" sz="2400" dirty="0" smtClean="0"/>
              <a:t>所示，分为</a:t>
            </a:r>
            <a:r>
              <a:rPr lang="en-US" altLang="zh-CN" sz="2400" dirty="0" smtClean="0"/>
              <a:t>Magnitude</a:t>
            </a:r>
            <a:r>
              <a:rPr lang="zh-CN" altLang="zh-CN" sz="2400" dirty="0" smtClean="0"/>
              <a:t>（幅值）或</a:t>
            </a:r>
            <a:r>
              <a:rPr lang="en-US" altLang="zh-CN" sz="2400" dirty="0" smtClean="0"/>
              <a:t>Phase</a:t>
            </a:r>
            <a:r>
              <a:rPr lang="zh-CN" altLang="zh-CN" sz="2400" dirty="0" smtClean="0"/>
              <a:t>（相位）的选择、</a:t>
            </a:r>
            <a:r>
              <a:rPr lang="en-US" altLang="zh-CN" sz="2400" dirty="0" smtClean="0"/>
              <a:t>Horizontal</a:t>
            </a:r>
            <a:r>
              <a:rPr lang="zh-CN" altLang="zh-CN" sz="2400" dirty="0" smtClean="0"/>
              <a:t>（横轴）设置、</a:t>
            </a:r>
            <a:r>
              <a:rPr lang="en-US" altLang="zh-CN" sz="2400" dirty="0" smtClean="0"/>
              <a:t>Vertical</a:t>
            </a:r>
            <a:r>
              <a:rPr lang="zh-CN" altLang="zh-CN" sz="2400" dirty="0" smtClean="0"/>
              <a:t>（纵轴）设置、显示方式的其他控制信号，面板中的</a:t>
            </a:r>
            <a:r>
              <a:rPr lang="en-US" altLang="zh-CN" sz="2400" dirty="0" smtClean="0"/>
              <a:t>F</a:t>
            </a:r>
            <a:r>
              <a:rPr lang="zh-CN" altLang="zh-CN" sz="2400" dirty="0" smtClean="0"/>
              <a:t>指的是终值，</a:t>
            </a:r>
            <a:r>
              <a:rPr lang="en-US" altLang="zh-CN" sz="2400" dirty="0" smtClean="0"/>
              <a:t>I</a:t>
            </a:r>
            <a:r>
              <a:rPr lang="zh-CN" altLang="zh-CN" sz="2400" dirty="0" smtClean="0"/>
              <a:t>指的是初值。在波特图仪的面板上，可以直接设置横轴和纵轴的坐标及其参数。</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10</a:t>
            </a:r>
            <a:r>
              <a:rPr lang="zh-CN" altLang="zh-CN" sz="1400" dirty="0" smtClean="0"/>
              <a:t>波特图仪控制面板</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20484" name="Picture 16" descr="3"/>
          <p:cNvPicPr>
            <a:picLocks noChangeAspect="1" noChangeArrowheads="1"/>
          </p:cNvPicPr>
          <p:nvPr/>
        </p:nvPicPr>
        <p:blipFill>
          <a:blip r:embed="rId1" cstate="print"/>
          <a:srcRect/>
          <a:stretch>
            <a:fillRect/>
          </a:stretch>
        </p:blipFill>
        <p:spPr bwMode="auto">
          <a:xfrm>
            <a:off x="2771775" y="4149725"/>
            <a:ext cx="2516188" cy="10541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1507"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7</a:t>
            </a:r>
            <a:r>
              <a:rPr lang="zh-CN" altLang="en-US" sz="2400" dirty="0" smtClean="0"/>
              <a:t>）</a:t>
            </a:r>
            <a:r>
              <a:rPr lang="zh-CN" altLang="zh-CN" sz="2400" b="1" dirty="0" smtClean="0"/>
              <a:t>频率计（</a:t>
            </a:r>
            <a:r>
              <a:rPr lang="en-US" altLang="zh-CN" sz="2400" b="1" dirty="0" smtClean="0"/>
              <a:t>Frequency </a:t>
            </a:r>
            <a:r>
              <a:rPr lang="en-US" altLang="zh-CN" sz="2400" b="1" dirty="0" err="1" smtClean="0"/>
              <a:t>couter</a:t>
            </a:r>
            <a:r>
              <a:rPr lang="zh-CN" altLang="zh-CN" sz="2400" b="1" dirty="0" smtClean="0"/>
              <a:t>）</a:t>
            </a:r>
            <a:endParaRPr lang="zh-CN" altLang="zh-CN" sz="2400" b="1" dirty="0" smtClean="0"/>
          </a:p>
          <a:p>
            <a:pPr marL="0" indent="0" algn="just">
              <a:buFont typeface="Wingdings 2" panose="05020102010507070707" pitchFamily="18" charset="2"/>
              <a:buNone/>
            </a:pPr>
            <a:r>
              <a:rPr lang="en-US" altLang="zh-CN" sz="2000" dirty="0" smtClean="0"/>
              <a:t>      </a:t>
            </a:r>
            <a:r>
              <a:rPr lang="zh-CN" altLang="zh-CN" sz="2000" dirty="0" smtClean="0"/>
              <a:t>频率计主要用来测量信号的频率、周期、相位，脉冲信号的上升沿和下降沿，频率计的参数设置面板如图</a:t>
            </a:r>
            <a:r>
              <a:rPr lang="en-US" altLang="zh-CN" sz="2000" dirty="0" smtClean="0"/>
              <a:t>11</a:t>
            </a:r>
            <a:r>
              <a:rPr lang="zh-CN" altLang="zh-CN" sz="2000" dirty="0" smtClean="0"/>
              <a:t>所示。该控制面板分为</a:t>
            </a:r>
            <a:r>
              <a:rPr lang="en-US" altLang="zh-CN" sz="2000" dirty="0" smtClean="0"/>
              <a:t>5</a:t>
            </a:r>
            <a:r>
              <a:rPr lang="zh-CN" altLang="zh-CN" sz="2000" dirty="0" smtClean="0"/>
              <a:t>个部分，包括测量结果显示文本框、Measurement选项、Coupling选项、Sensitivity选项和Trigger Level选项。</a:t>
            </a:r>
            <a:endParaRPr lang="zh-CN"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11</a:t>
            </a:r>
            <a:r>
              <a:rPr lang="zh-CN" altLang="en-US" sz="1400" dirty="0" smtClean="0"/>
              <a:t>频率计面板</a:t>
            </a:r>
            <a:endParaRPr lang="en-US" altLang="zh-CN" sz="1400" dirty="0" smtClean="0"/>
          </a:p>
          <a:p>
            <a:pPr marL="0" indent="0" algn="ctr">
              <a:buFont typeface="Wingdings 2" panose="05020102010507070707" pitchFamily="18" charset="2"/>
              <a:buNone/>
            </a:pPr>
            <a:endParaRPr lang="en-US" altLang="zh-CN" sz="1400" dirty="0" smtClean="0"/>
          </a:p>
        </p:txBody>
      </p:sp>
      <p:pic>
        <p:nvPicPr>
          <p:cNvPr id="21508" name="Picture 19" descr="3"/>
          <p:cNvPicPr>
            <a:picLocks noChangeAspect="1" noChangeArrowheads="1"/>
          </p:cNvPicPr>
          <p:nvPr/>
        </p:nvPicPr>
        <p:blipFill>
          <a:blip r:embed="rId1" cstate="print"/>
          <a:srcRect/>
          <a:stretch>
            <a:fillRect/>
          </a:stretch>
        </p:blipFill>
        <p:spPr bwMode="auto">
          <a:xfrm>
            <a:off x="3132138" y="3141663"/>
            <a:ext cx="1865312" cy="12065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2531"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en-US" altLang="zh-CN" sz="2000" dirty="0" smtClean="0"/>
              <a:t>     </a:t>
            </a:r>
            <a:endParaRPr lang="en-US" altLang="zh-CN" sz="2000" dirty="0" smtClean="0"/>
          </a:p>
          <a:p>
            <a:pPr marL="0" indent="0">
              <a:buFont typeface="Wingdings 2" panose="05020102010507070707" pitchFamily="18" charset="2"/>
              <a:buNone/>
            </a:pPr>
            <a:r>
              <a:rPr lang="zh-CN" altLang="zh-CN" sz="2000" dirty="0" smtClean="0"/>
              <a:t>Measurement</a:t>
            </a:r>
            <a:r>
              <a:rPr lang="zh-CN" altLang="zh-CN" sz="2000" dirty="0" smtClean="0"/>
              <a:t>选项区：包括Freq按钮、Period按钮、Pulse按钮和Rise/Fall按钮。</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Freq按钮：单击该按钮，则输出结果为信号频率。</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Period按钮：单击该按钮，则输出结果为信号周期。</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Pulse按钮：单击该按钮，则输出结果为高、低电平脉宽。</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Rise/Fall按钮：单击该按钮，则输出结果显示数字信号的上升沿和下降沿时间。</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Coupling选项区：选择信号的耦合方式，AC表示交流耦合方式，DC表示直流耦合方式。</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Sensitivity选项区：主要用于设置频率计的灵敏度。</a:t>
            </a:r>
            <a:endParaRPr lang="zh-CN" altLang="zh-CN" sz="2000" dirty="0" smtClean="0"/>
          </a:p>
          <a:p>
            <a:pPr marL="0" indent="0">
              <a:buFont typeface="Wingdings 2" panose="05020102010507070707" pitchFamily="18" charset="2"/>
              <a:buNone/>
            </a:pPr>
            <a:r>
              <a:rPr lang="en-US" altLang="zh-CN" sz="2000" dirty="0" smtClean="0"/>
              <a:t>     </a:t>
            </a:r>
            <a:r>
              <a:rPr lang="zh-CN" altLang="zh-CN" sz="2000" dirty="0" smtClean="0"/>
              <a:t>Trigger Level选项区：通过滚动文本框设置数字信号的触发电平大小。</a:t>
            </a:r>
            <a:endParaRPr lang="zh-CN" altLang="zh-CN" sz="2000" dirty="0" smtClean="0"/>
          </a:p>
          <a:p>
            <a:pPr marL="0" indent="0" algn="ctr">
              <a:buFont typeface="Wingdings 2" panose="05020102010507070707" pitchFamily="18" charset="2"/>
              <a:buNone/>
            </a:pPr>
            <a:endParaRPr lang="en-US" altLang="zh-CN" sz="2000" dirty="0" smtClean="0"/>
          </a:p>
        </p:txBody>
      </p:sp>
    </p:spTree>
  </p:cSld>
  <p:clrMapOvr>
    <a:masterClrMapping/>
  </p:clrMapOvr>
  <p:transition spd="med"/>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3555"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8</a:t>
            </a:r>
            <a:r>
              <a:rPr lang="zh-CN" altLang="en-US" sz="2400" dirty="0" smtClean="0"/>
              <a:t>）</a:t>
            </a:r>
            <a:r>
              <a:rPr lang="zh-CN" altLang="zh-CN" sz="2400" b="1" dirty="0" smtClean="0"/>
              <a:t> 数字信号发生器（</a:t>
            </a:r>
            <a:r>
              <a:rPr lang="en-US" altLang="zh-CN" sz="2400" b="1" dirty="0" smtClean="0"/>
              <a:t>Word Generator</a:t>
            </a:r>
            <a:r>
              <a:rPr lang="zh-CN" altLang="zh-CN" sz="2400" b="1" dirty="0" smtClean="0"/>
              <a:t>）</a:t>
            </a:r>
            <a:endParaRPr lang="zh-CN" altLang="zh-CN" sz="2400" b="1" dirty="0" smtClean="0"/>
          </a:p>
          <a:p>
            <a:pPr marL="0" indent="0" algn="just">
              <a:buFont typeface="Wingdings 2" panose="05020102010507070707" pitchFamily="18" charset="2"/>
              <a:buNone/>
            </a:pPr>
            <a:r>
              <a:rPr lang="en-US" altLang="zh-CN" sz="2000" dirty="0" smtClean="0"/>
              <a:t>      </a:t>
            </a:r>
            <a:r>
              <a:rPr lang="zh-CN" altLang="zh-CN" sz="2000" dirty="0" smtClean="0"/>
              <a:t>数字信号发生器是一个通用的数字激励源编辑器，内有一个最大可达</a:t>
            </a:r>
            <a:r>
              <a:rPr lang="en-US" altLang="zh-CN" sz="2000" dirty="0" smtClean="0"/>
              <a:t>0400H</a:t>
            </a:r>
            <a:r>
              <a:rPr lang="zh-CN" altLang="zh-CN" sz="2000" dirty="0" smtClean="0"/>
              <a:t>的可编程</a:t>
            </a:r>
            <a:r>
              <a:rPr lang="en-US" altLang="zh-CN" sz="2000" dirty="0" smtClean="0"/>
              <a:t>32</a:t>
            </a:r>
            <a:r>
              <a:rPr lang="zh-CN" altLang="zh-CN" sz="2000" dirty="0" smtClean="0"/>
              <a:t>位数据区，数据区中的数据按一定的触发方式、速度、循环方式产生</a:t>
            </a:r>
            <a:r>
              <a:rPr lang="en-US" altLang="zh-CN" sz="2000" dirty="0" smtClean="0"/>
              <a:t>32</a:t>
            </a:r>
            <a:r>
              <a:rPr lang="zh-CN" altLang="zh-CN" sz="2000" dirty="0" smtClean="0"/>
              <a:t>位同步逻辑信号。</a:t>
            </a:r>
            <a:r>
              <a:rPr lang="zh-CN" altLang="en-US" sz="2000" dirty="0" smtClean="0"/>
              <a:t>数</a:t>
            </a:r>
            <a:r>
              <a:rPr lang="zh-CN" altLang="zh-CN" sz="2000" dirty="0" smtClean="0"/>
              <a:t>字信号发生器的图标如图</a:t>
            </a:r>
            <a:r>
              <a:rPr lang="en-US" altLang="zh-CN" sz="2000" dirty="0" smtClean="0"/>
              <a:t>12</a:t>
            </a:r>
            <a:r>
              <a:rPr lang="zh-CN" altLang="zh-CN" sz="2000" dirty="0" smtClean="0"/>
              <a:t>所示，左右各</a:t>
            </a:r>
            <a:r>
              <a:rPr lang="en-US" altLang="zh-CN" sz="2000" dirty="0" smtClean="0"/>
              <a:t>16</a:t>
            </a:r>
            <a:r>
              <a:rPr lang="zh-CN" altLang="zh-CN" sz="2000" dirty="0" smtClean="0"/>
              <a:t>个端子，分别为</a:t>
            </a:r>
            <a:r>
              <a:rPr lang="en-US" altLang="zh-CN" sz="2000" dirty="0" smtClean="0"/>
              <a:t>0</a:t>
            </a:r>
            <a:r>
              <a:rPr lang="zh-CN" altLang="zh-CN" sz="2000" dirty="0" smtClean="0"/>
              <a:t>～</a:t>
            </a:r>
            <a:r>
              <a:rPr lang="en-US" altLang="zh-CN" sz="2000" dirty="0" smtClean="0"/>
              <a:t>15</a:t>
            </a:r>
            <a:r>
              <a:rPr lang="zh-CN" altLang="zh-CN" sz="2000" dirty="0" smtClean="0"/>
              <a:t>和</a:t>
            </a:r>
            <a:r>
              <a:rPr lang="en-US" altLang="zh-CN" sz="2000" dirty="0" smtClean="0"/>
              <a:t>16</a:t>
            </a:r>
            <a:r>
              <a:rPr lang="zh-CN" altLang="zh-CN" sz="2000" dirty="0" smtClean="0"/>
              <a:t>～</a:t>
            </a:r>
            <a:r>
              <a:rPr lang="en-US" altLang="zh-CN" sz="2000" dirty="0" smtClean="0"/>
              <a:t>31</a:t>
            </a:r>
            <a:r>
              <a:rPr lang="zh-CN" altLang="zh-CN" sz="2000" dirty="0" smtClean="0"/>
              <a:t>的逻辑信号输出端，可连接至测试电路的输入端。图标下面有</a:t>
            </a:r>
            <a:r>
              <a:rPr lang="en-US" altLang="zh-CN" sz="2000" dirty="0" smtClean="0"/>
              <a:t>R</a:t>
            </a:r>
            <a:r>
              <a:rPr lang="zh-CN" altLang="zh-CN" sz="2000" dirty="0" smtClean="0"/>
              <a:t>和</a:t>
            </a:r>
            <a:r>
              <a:rPr lang="en-US" altLang="zh-CN" sz="2000" dirty="0" smtClean="0"/>
              <a:t>T</a:t>
            </a:r>
            <a:r>
              <a:rPr lang="zh-CN" altLang="zh-CN" sz="2000" dirty="0" smtClean="0"/>
              <a:t>两个端子，</a:t>
            </a:r>
            <a:r>
              <a:rPr lang="en-US" altLang="zh-CN" sz="2000" dirty="0" smtClean="0"/>
              <a:t>R</a:t>
            </a:r>
            <a:r>
              <a:rPr lang="zh-CN" altLang="zh-CN" sz="2000" dirty="0" smtClean="0"/>
              <a:t>为数据备用信号端，</a:t>
            </a:r>
            <a:r>
              <a:rPr lang="en-US" altLang="zh-CN" sz="2000" dirty="0" smtClean="0"/>
              <a:t>T</a:t>
            </a:r>
            <a:r>
              <a:rPr lang="zh-CN" altLang="zh-CN" sz="2000" dirty="0" smtClean="0"/>
              <a:t>为外触发信号端。</a:t>
            </a:r>
            <a:endParaRPr lang="zh-CN" altLang="zh-CN" sz="20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12</a:t>
            </a:r>
            <a:r>
              <a:rPr lang="zh-CN" altLang="en-US" sz="1400" dirty="0" smtClean="0"/>
              <a:t>数字信号发生器</a:t>
            </a:r>
            <a:endParaRPr lang="en-US" altLang="zh-CN" sz="1400" dirty="0" smtClean="0"/>
          </a:p>
        </p:txBody>
      </p:sp>
      <p:pic>
        <p:nvPicPr>
          <p:cNvPr id="23556" name="图片 1"/>
          <p:cNvPicPr>
            <a:picLocks noChangeAspect="1" noChangeArrowheads="1"/>
          </p:cNvPicPr>
          <p:nvPr/>
        </p:nvPicPr>
        <p:blipFill>
          <a:blip r:embed="rId1" cstate="print"/>
          <a:srcRect/>
          <a:stretch>
            <a:fillRect/>
          </a:stretch>
        </p:blipFill>
        <p:spPr bwMode="auto">
          <a:xfrm>
            <a:off x="3563938" y="3644900"/>
            <a:ext cx="812800" cy="16097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4579"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zh-CN" altLang="en-US" sz="2400" dirty="0" smtClean="0"/>
              <a:t>      </a:t>
            </a:r>
            <a:endParaRPr lang="en-US" altLang="zh-CN" sz="2400" dirty="0" smtClean="0"/>
          </a:p>
          <a:p>
            <a:pPr marL="0" indent="0">
              <a:buFont typeface="Wingdings 2" panose="05020102010507070707" pitchFamily="18" charset="2"/>
              <a:buNone/>
            </a:pPr>
            <a:r>
              <a:rPr lang="zh-CN" altLang="en-US" sz="2400" dirty="0" smtClean="0"/>
              <a:t>数</a:t>
            </a:r>
            <a:r>
              <a:rPr lang="zh-CN" altLang="zh-CN" sz="2400" dirty="0" smtClean="0"/>
              <a:t>字信号</a:t>
            </a:r>
            <a:r>
              <a:rPr lang="zh-CN" altLang="zh-CN" sz="2400" dirty="0" smtClean="0"/>
              <a:t>发生器的面板如图</a:t>
            </a:r>
            <a:r>
              <a:rPr lang="en-US" altLang="zh-CN" sz="2400" dirty="0" smtClean="0"/>
              <a:t>13</a:t>
            </a:r>
            <a:r>
              <a:rPr lang="zh-CN" altLang="zh-CN" sz="2400" dirty="0" smtClean="0"/>
              <a:t>所示，左侧是控制面板，右侧是字信号发生器的字符窗口。控制面板分为字符编辑显示区、</a:t>
            </a:r>
            <a:r>
              <a:rPr lang="en-US" altLang="zh-CN" sz="2400" dirty="0" smtClean="0"/>
              <a:t>Controls</a:t>
            </a:r>
            <a:r>
              <a:rPr lang="zh-CN" altLang="zh-CN" sz="2400" dirty="0" smtClean="0"/>
              <a:t>（控制方式）、</a:t>
            </a:r>
            <a:r>
              <a:rPr lang="en-US" altLang="zh-CN" sz="2400" dirty="0" smtClean="0"/>
              <a:t>Display</a:t>
            </a:r>
            <a:r>
              <a:rPr lang="zh-CN" altLang="zh-CN" sz="2400" dirty="0" smtClean="0"/>
              <a:t>（显示方式）、</a:t>
            </a:r>
            <a:r>
              <a:rPr lang="en-US" altLang="zh-CN" sz="2400" dirty="0" smtClean="0"/>
              <a:t>Trigger</a:t>
            </a:r>
            <a:r>
              <a:rPr lang="zh-CN" altLang="zh-CN" sz="2400" dirty="0" smtClean="0"/>
              <a:t>（触发）和</a:t>
            </a:r>
            <a:r>
              <a:rPr lang="en-US" altLang="zh-CN" sz="2400" dirty="0" smtClean="0"/>
              <a:t>Frequency</a:t>
            </a:r>
            <a:r>
              <a:rPr lang="zh-CN" altLang="zh-CN" sz="2400" dirty="0" smtClean="0"/>
              <a:t>（频率）五个部分。</a:t>
            </a:r>
            <a:endParaRPr lang="zh-CN" altLang="zh-CN" sz="2400" dirty="0" smtClean="0"/>
          </a:p>
          <a:p>
            <a:pPr marL="0" indent="0" eaLnBrk="1" hangingPunct="1">
              <a:buFont typeface="Wingdings 2" panose="05020102010507070707" pitchFamily="18" charset="2"/>
              <a:buNone/>
            </a:pPr>
            <a:endParaRPr lang="en-US" altLang="zh-CN"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13</a:t>
            </a:r>
            <a:r>
              <a:rPr lang="zh-CN" altLang="zh-CN" sz="1400" dirty="0" smtClean="0"/>
              <a:t>数字信号发生器设置面板</a:t>
            </a:r>
            <a:endParaRPr lang="en-US" altLang="zh-CN" sz="1400" dirty="0" smtClean="0"/>
          </a:p>
        </p:txBody>
      </p:sp>
      <p:pic>
        <p:nvPicPr>
          <p:cNvPr id="24580" name="Picture 23" descr="3"/>
          <p:cNvPicPr>
            <a:picLocks noChangeAspect="1" noChangeArrowheads="1"/>
          </p:cNvPicPr>
          <p:nvPr/>
        </p:nvPicPr>
        <p:blipFill>
          <a:blip r:embed="rId1" cstate="print"/>
          <a:srcRect/>
          <a:stretch>
            <a:fillRect/>
          </a:stretch>
        </p:blipFill>
        <p:spPr bwMode="auto">
          <a:xfrm>
            <a:off x="3059113" y="3068638"/>
            <a:ext cx="2252662" cy="16160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5603"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9</a:t>
            </a:r>
            <a:r>
              <a:rPr lang="zh-CN" altLang="en-US" sz="2400" dirty="0" smtClean="0"/>
              <a:t>）</a:t>
            </a:r>
            <a:r>
              <a:rPr lang="zh-CN" altLang="zh-CN" sz="2400" dirty="0" smtClean="0"/>
              <a:t>逻辑分析仪（</a:t>
            </a:r>
            <a:r>
              <a:rPr lang="en-US" altLang="zh-CN" sz="2400" dirty="0" smtClean="0"/>
              <a:t>Logic Analyzer</a:t>
            </a:r>
            <a:r>
              <a:rPr lang="zh-CN" altLang="zh-CN" sz="2400" dirty="0" smtClean="0"/>
              <a:t>）</a:t>
            </a:r>
            <a:r>
              <a:rPr lang="en-US" altLang="zh-CN" sz="2000" dirty="0" smtClean="0"/>
              <a:t>     </a:t>
            </a:r>
            <a:endParaRPr lang="en-US" altLang="zh-CN" sz="2000" dirty="0" smtClean="0"/>
          </a:p>
          <a:p>
            <a:pPr marL="0" indent="0">
              <a:buFont typeface="Wingdings 2" panose="05020102010507070707" pitchFamily="18" charset="2"/>
              <a:buNone/>
            </a:pPr>
            <a:r>
              <a:rPr lang="en-US" altLang="zh-CN" sz="2000" dirty="0" smtClean="0"/>
              <a:t>      </a:t>
            </a:r>
            <a:r>
              <a:rPr lang="zh-CN" altLang="zh-CN" sz="2000" dirty="0" smtClean="0"/>
              <a:t>逻辑分析仪是分析数字系统逻辑关系的仪器。逻辑分析仪是利用时钟从测试设备上采集和显示数字信号的仪器，最主要作用在于时序判定。</a:t>
            </a:r>
            <a:r>
              <a:rPr lang="en-US" altLang="zh-CN" sz="2000" dirty="0" err="1" smtClean="0"/>
              <a:t>MultiSim</a:t>
            </a:r>
            <a:r>
              <a:rPr lang="en-US" altLang="zh-CN" sz="2000" dirty="0" smtClean="0"/>
              <a:t> 12.0</a:t>
            </a:r>
            <a:r>
              <a:rPr lang="zh-CN" altLang="zh-CN" sz="2000" dirty="0" smtClean="0"/>
              <a:t>提供了</a:t>
            </a:r>
            <a:r>
              <a:rPr lang="en-US" altLang="zh-CN" sz="2000" dirty="0" smtClean="0"/>
              <a:t>16</a:t>
            </a:r>
            <a:r>
              <a:rPr lang="zh-CN" altLang="zh-CN" sz="2000" dirty="0" smtClean="0"/>
              <a:t>路的逻辑分析仪，用来数字信号的高速采集和时序分析，逻辑分析仪的图标如图</a:t>
            </a:r>
            <a:r>
              <a:rPr lang="en-US" altLang="zh-CN" sz="2000" dirty="0" smtClean="0"/>
              <a:t>14</a:t>
            </a:r>
            <a:r>
              <a:rPr lang="zh-CN" altLang="zh-CN" sz="2000" dirty="0" smtClean="0"/>
              <a:t>所示。逻辑分析仪的连接端口左边为</a:t>
            </a:r>
            <a:r>
              <a:rPr lang="en-US" altLang="zh-CN" sz="2000" dirty="0" smtClean="0"/>
              <a:t>16</a:t>
            </a:r>
            <a:r>
              <a:rPr lang="zh-CN" altLang="zh-CN" sz="2000" dirty="0" smtClean="0"/>
              <a:t>路信号输入端，图标下部的</a:t>
            </a:r>
            <a:r>
              <a:rPr lang="en-US" altLang="zh-CN" sz="2000" dirty="0" smtClean="0"/>
              <a:t>C</a:t>
            </a:r>
            <a:r>
              <a:rPr lang="zh-CN" altLang="zh-CN" sz="2000" dirty="0" smtClean="0"/>
              <a:t>、</a:t>
            </a:r>
            <a:r>
              <a:rPr lang="en-US" altLang="zh-CN" sz="2000" dirty="0" smtClean="0"/>
              <a:t>Q</a:t>
            </a:r>
            <a:r>
              <a:rPr lang="zh-CN" altLang="zh-CN" sz="2000" dirty="0" smtClean="0"/>
              <a:t>、</a:t>
            </a:r>
            <a:r>
              <a:rPr lang="en-US" altLang="zh-CN" sz="2000" dirty="0" smtClean="0"/>
              <a:t>T</a:t>
            </a:r>
            <a:r>
              <a:rPr lang="zh-CN" altLang="zh-CN" sz="2000" dirty="0" smtClean="0"/>
              <a:t>三个端子分别为外时钟输入端、时钟控制输入端和触发控制输入端。</a:t>
            </a:r>
            <a:endParaRPr lang="zh-CN" altLang="zh-CN" sz="2000"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14</a:t>
            </a:r>
            <a:r>
              <a:rPr lang="zh-CN" altLang="zh-CN" sz="1400" dirty="0" smtClean="0"/>
              <a:t>逻辑分析仪</a:t>
            </a:r>
            <a:endParaRPr lang="en-US" altLang="zh-CN" sz="1400" dirty="0" smtClean="0"/>
          </a:p>
        </p:txBody>
      </p:sp>
      <p:pic>
        <p:nvPicPr>
          <p:cNvPr id="25604" name="图片 1"/>
          <p:cNvPicPr>
            <a:picLocks noChangeAspect="1" noChangeArrowheads="1"/>
          </p:cNvPicPr>
          <p:nvPr/>
        </p:nvPicPr>
        <p:blipFill>
          <a:blip r:embed="rId1" cstate="print"/>
          <a:srcRect/>
          <a:stretch>
            <a:fillRect/>
          </a:stretch>
        </p:blipFill>
        <p:spPr bwMode="auto">
          <a:xfrm>
            <a:off x="3708400" y="3789363"/>
            <a:ext cx="673100" cy="18002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6627"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000" dirty="0" smtClean="0"/>
              <a:t>      </a:t>
            </a:r>
            <a:endParaRPr lang="en-US" altLang="zh-CN" sz="2000" dirty="0" smtClean="0"/>
          </a:p>
          <a:p>
            <a:pPr marL="0" indent="0" algn="just">
              <a:buFont typeface="Wingdings 2" panose="05020102010507070707" pitchFamily="18" charset="2"/>
              <a:buNone/>
            </a:pPr>
            <a:r>
              <a:rPr lang="zh-CN" altLang="zh-CN" sz="2000" dirty="0" smtClean="0"/>
              <a:t>逻辑分析仪</a:t>
            </a:r>
            <a:r>
              <a:rPr lang="zh-CN" altLang="zh-CN" sz="2000" dirty="0" smtClean="0"/>
              <a:t>的面板</a:t>
            </a:r>
            <a:r>
              <a:rPr lang="zh-CN" altLang="en-US" sz="2000" dirty="0" smtClean="0"/>
              <a:t>如图</a:t>
            </a:r>
            <a:r>
              <a:rPr lang="en-US" altLang="zh-CN" sz="2000" dirty="0" smtClean="0"/>
              <a:t>15</a:t>
            </a:r>
            <a:r>
              <a:rPr lang="zh-CN" altLang="en-US" sz="2000" dirty="0" smtClean="0"/>
              <a:t>，</a:t>
            </a:r>
            <a:r>
              <a:rPr lang="zh-CN" altLang="zh-CN" sz="2000" dirty="0" smtClean="0"/>
              <a:t>分上下两个部分，上半部分是</a:t>
            </a:r>
            <a:r>
              <a:rPr lang="en-US" altLang="zh-CN" sz="2000" dirty="0" smtClean="0"/>
              <a:t>16</a:t>
            </a:r>
            <a:r>
              <a:rPr lang="zh-CN" altLang="zh-CN" sz="2000" dirty="0" smtClean="0"/>
              <a:t>路测试信号的波形显示区，如果某路连接有被测信号，则该路小圆圈内出现一个黑圆点。当改变连接导线的颜色时，显示波形的颜色随之改变。波形显示区有两根数轴，拖动数轴上方的三角形，可以左右移动数轴。下半部分是逻辑分析仪的控制窗口，控制信号有：</a:t>
            </a:r>
            <a:r>
              <a:rPr lang="en-US" altLang="zh-CN" sz="2000" dirty="0" smtClean="0"/>
              <a:t>Stop</a:t>
            </a:r>
            <a:r>
              <a:rPr lang="zh-CN" altLang="zh-CN" sz="2000" dirty="0" smtClean="0"/>
              <a:t>（停止）、</a:t>
            </a:r>
            <a:r>
              <a:rPr lang="en-US" altLang="zh-CN" sz="2000" dirty="0" smtClean="0"/>
              <a:t>Reset</a:t>
            </a:r>
            <a:r>
              <a:rPr lang="zh-CN" altLang="zh-CN" sz="2000" dirty="0" smtClean="0"/>
              <a:t>（复位）、</a:t>
            </a:r>
            <a:r>
              <a:rPr lang="en-US" altLang="zh-CN" sz="2000" dirty="0" smtClean="0"/>
              <a:t>Reverse</a:t>
            </a:r>
            <a:r>
              <a:rPr lang="zh-CN" altLang="zh-CN" sz="2000" dirty="0" smtClean="0"/>
              <a:t>（反相显示）、</a:t>
            </a:r>
            <a:r>
              <a:rPr lang="en-US" altLang="zh-CN" sz="2000" dirty="0" smtClean="0"/>
              <a:t>Clock</a:t>
            </a:r>
            <a:r>
              <a:rPr lang="zh-CN" altLang="zh-CN" sz="2000" dirty="0" smtClean="0"/>
              <a:t>（时钟）设置和</a:t>
            </a:r>
            <a:r>
              <a:rPr lang="en-US" altLang="zh-CN" sz="2000" dirty="0" smtClean="0"/>
              <a:t>Trigger</a:t>
            </a:r>
            <a:r>
              <a:rPr lang="zh-CN" altLang="zh-CN" sz="2000" dirty="0" smtClean="0"/>
              <a:t>（触发）设置。</a:t>
            </a:r>
            <a:endParaRPr lang="zh-CN" altLang="zh-CN" sz="2000"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15</a:t>
            </a:r>
            <a:r>
              <a:rPr lang="zh-CN" altLang="zh-CN" sz="1400" dirty="0" smtClean="0"/>
              <a:t>逻辑分析仪</a:t>
            </a:r>
            <a:r>
              <a:rPr lang="zh-CN" altLang="en-US" sz="1400" dirty="0" smtClean="0"/>
              <a:t>面板</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26628" name="Picture 27" descr="3"/>
          <p:cNvPicPr>
            <a:picLocks noChangeAspect="1" noChangeArrowheads="1"/>
          </p:cNvPicPr>
          <p:nvPr/>
        </p:nvPicPr>
        <p:blipFill>
          <a:blip r:embed="rId1" cstate="print"/>
          <a:srcRect/>
          <a:stretch>
            <a:fillRect/>
          </a:stretch>
        </p:blipFill>
        <p:spPr bwMode="auto">
          <a:xfrm>
            <a:off x="2843808" y="3573016"/>
            <a:ext cx="2406650" cy="2179637"/>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7651"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10</a:t>
            </a:r>
            <a:r>
              <a:rPr lang="zh-CN" altLang="en-US" sz="2400" dirty="0" smtClean="0"/>
              <a:t>）</a:t>
            </a:r>
            <a:r>
              <a:rPr lang="zh-CN" altLang="zh-CN" sz="2400" dirty="0" smtClean="0"/>
              <a:t>逻辑转换器（</a:t>
            </a:r>
            <a:r>
              <a:rPr lang="en-US" altLang="zh-CN" sz="2400" dirty="0" smtClean="0"/>
              <a:t>Logic Converter</a:t>
            </a:r>
            <a:r>
              <a:rPr lang="zh-CN" altLang="zh-CN" sz="2400" dirty="0" smtClean="0"/>
              <a:t>）</a:t>
            </a:r>
            <a:endParaRPr lang="en-US" altLang="zh-CN" sz="2000" dirty="0" smtClean="0"/>
          </a:p>
          <a:p>
            <a:pPr marL="0" indent="0" algn="just">
              <a:buFont typeface="Wingdings 2" panose="05020102010507070707" pitchFamily="18" charset="2"/>
              <a:buNone/>
            </a:pPr>
            <a:r>
              <a:rPr lang="en-US" altLang="zh-CN" sz="2000" dirty="0" smtClean="0"/>
              <a:t>       </a:t>
            </a:r>
            <a:r>
              <a:rPr lang="en-US" altLang="zh-CN" sz="2000" dirty="0" err="1" smtClean="0"/>
              <a:t>Multisim</a:t>
            </a:r>
            <a:r>
              <a:rPr lang="en-US" altLang="zh-CN" sz="2000" dirty="0" smtClean="0"/>
              <a:t> 12.0</a:t>
            </a:r>
            <a:r>
              <a:rPr lang="zh-CN" altLang="zh-CN" sz="2000" dirty="0" smtClean="0"/>
              <a:t>提供了一种独特的虚拟仪器，逻辑转换器。实际中没有这种仪器，逻辑转换器可以在逻辑电路、真值表和逻辑表达式之间进行转换。逻辑转换仪的图标如图</a:t>
            </a:r>
            <a:r>
              <a:rPr lang="en-US" altLang="zh-CN" sz="2000" dirty="0" smtClean="0"/>
              <a:t>16</a:t>
            </a:r>
            <a:r>
              <a:rPr lang="zh-CN" altLang="zh-CN" sz="2000" dirty="0" smtClean="0"/>
              <a:t>所示。图标中包括</a:t>
            </a:r>
            <a:r>
              <a:rPr lang="en-US" altLang="zh-CN" sz="2000" dirty="0" smtClean="0"/>
              <a:t>9</a:t>
            </a:r>
            <a:r>
              <a:rPr lang="zh-CN" altLang="zh-CN" sz="2000" dirty="0" smtClean="0"/>
              <a:t>个端子，左边</a:t>
            </a:r>
            <a:r>
              <a:rPr lang="en-US" altLang="zh-CN" sz="2000" dirty="0" smtClean="0"/>
              <a:t>8</a:t>
            </a:r>
            <a:r>
              <a:rPr lang="zh-CN" altLang="zh-CN" sz="2000" dirty="0" smtClean="0"/>
              <a:t>个端子用来连接输入信号，最右边一个端子连接输出信号，只有在用到逻辑电路转换为真值表时，才需要将图标与逻辑电路相连接。</a:t>
            </a:r>
            <a:endParaRPr lang="zh-CN" altLang="zh-CN" sz="2000" dirty="0" smtClean="0"/>
          </a:p>
          <a:p>
            <a:pPr marL="0" indent="0" algn="ctr" eaLnBrk="1" hangingPunct="1">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16</a:t>
            </a:r>
            <a:r>
              <a:rPr lang="zh-CN" altLang="zh-CN" sz="1400" dirty="0" smtClean="0"/>
              <a:t>逻辑</a:t>
            </a:r>
            <a:r>
              <a:rPr lang="zh-CN" altLang="en-US" sz="1400" dirty="0" smtClean="0"/>
              <a:t>转换器</a:t>
            </a:r>
            <a:endParaRPr lang="en-US" altLang="zh-CN" sz="1400" dirty="0" smtClean="0"/>
          </a:p>
        </p:txBody>
      </p:sp>
      <p:pic>
        <p:nvPicPr>
          <p:cNvPr id="27652" name="图片 1"/>
          <p:cNvPicPr>
            <a:picLocks noChangeAspect="1" noChangeArrowheads="1"/>
          </p:cNvPicPr>
          <p:nvPr/>
        </p:nvPicPr>
        <p:blipFill>
          <a:blip r:embed="rId1" cstate="print"/>
          <a:srcRect/>
          <a:stretch>
            <a:fillRect/>
          </a:stretch>
        </p:blipFill>
        <p:spPr bwMode="auto">
          <a:xfrm>
            <a:off x="3132138" y="4149725"/>
            <a:ext cx="2025650" cy="10826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8675" name="内容占位符 2"/>
          <p:cNvSpPr>
            <a:spLocks noGrp="1"/>
          </p:cNvSpPr>
          <p:nvPr>
            <p:ph idx="1"/>
          </p:nvPr>
        </p:nvSpPr>
        <p:spPr>
          <a:xfrm>
            <a:off x="468313" y="98107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zh-CN" altLang="zh-CN" sz="2400" dirty="0" smtClean="0"/>
              <a:t>逻辑</a:t>
            </a:r>
            <a:r>
              <a:rPr lang="zh-CN" altLang="zh-CN" sz="2400" dirty="0" smtClean="0"/>
              <a:t>转换仪的面板由</a:t>
            </a:r>
            <a:r>
              <a:rPr lang="en-US" altLang="zh-CN" sz="2400" dirty="0" smtClean="0"/>
              <a:t>4</a:t>
            </a:r>
            <a:r>
              <a:rPr lang="zh-CN" altLang="zh-CN" sz="2400" dirty="0" smtClean="0"/>
              <a:t>部分组成：</a:t>
            </a:r>
            <a:r>
              <a:rPr lang="en-US" altLang="zh-CN" sz="2400" dirty="0" smtClean="0"/>
              <a:t>A</a:t>
            </a:r>
            <a:r>
              <a:rPr lang="zh-CN" altLang="zh-CN" sz="2400" dirty="0" smtClean="0"/>
              <a:t>～</a:t>
            </a:r>
            <a:r>
              <a:rPr lang="en-US" altLang="zh-CN" sz="2400" dirty="0" smtClean="0"/>
              <a:t>H </a:t>
            </a:r>
            <a:r>
              <a:rPr lang="zh-CN" altLang="zh-CN" sz="2400" dirty="0" smtClean="0"/>
              <a:t>八个输入端和</a:t>
            </a:r>
            <a:r>
              <a:rPr lang="en-US" altLang="zh-CN" sz="2400" dirty="0" smtClean="0"/>
              <a:t>OUT</a:t>
            </a:r>
            <a:r>
              <a:rPr lang="zh-CN" altLang="zh-CN" sz="2400" dirty="0" smtClean="0"/>
              <a:t>输出端（可供选用的输入逻辑变量）、真值表显示栏、逻辑表达式栏及逻辑转换方式选择区（</a:t>
            </a:r>
            <a:r>
              <a:rPr lang="en-US" altLang="zh-CN" sz="2400" dirty="0" smtClean="0"/>
              <a:t>Conversions</a:t>
            </a:r>
            <a:r>
              <a:rPr lang="zh-CN" altLang="zh-CN" sz="2400" dirty="0" smtClean="0"/>
              <a:t>），面板如图</a:t>
            </a:r>
            <a:r>
              <a:rPr lang="en-US" altLang="zh-CN" sz="2400" dirty="0" smtClean="0"/>
              <a:t>17</a:t>
            </a:r>
            <a:r>
              <a:rPr lang="zh-CN" altLang="zh-CN" sz="2400" dirty="0" smtClean="0"/>
              <a:t>所示</a:t>
            </a:r>
            <a:r>
              <a:rPr lang="zh-CN" altLang="en-US" sz="2400" dirty="0" smtClean="0"/>
              <a:t>。</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17</a:t>
            </a:r>
            <a:r>
              <a:rPr lang="zh-CN" altLang="zh-CN" sz="1400" dirty="0" smtClean="0"/>
              <a:t>逻辑</a:t>
            </a:r>
            <a:r>
              <a:rPr lang="zh-CN" altLang="en-US" sz="1400" dirty="0" smtClean="0"/>
              <a:t>转换器面板</a:t>
            </a:r>
            <a:endParaRPr lang="en-US" altLang="zh-CN" sz="1400" dirty="0" smtClean="0"/>
          </a:p>
        </p:txBody>
      </p:sp>
      <p:pic>
        <p:nvPicPr>
          <p:cNvPr id="28676" name="Picture 32" descr="3"/>
          <p:cNvPicPr>
            <a:picLocks noChangeAspect="1" noChangeArrowheads="1"/>
          </p:cNvPicPr>
          <p:nvPr/>
        </p:nvPicPr>
        <p:blipFill>
          <a:blip r:embed="rId1" cstate="print"/>
          <a:srcRect/>
          <a:stretch>
            <a:fillRect/>
          </a:stretch>
        </p:blipFill>
        <p:spPr bwMode="auto">
          <a:xfrm>
            <a:off x="2943225" y="3716338"/>
            <a:ext cx="2392363" cy="15208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29699"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11</a:t>
            </a:r>
            <a:r>
              <a:rPr lang="zh-CN" altLang="en-US" sz="2400" dirty="0" smtClean="0"/>
              <a:t>）</a:t>
            </a:r>
            <a:r>
              <a:rPr lang="en-US" altLang="zh-CN" sz="2400" dirty="0" smtClean="0"/>
              <a:t> IV</a:t>
            </a:r>
            <a:r>
              <a:rPr lang="zh-CN" altLang="zh-CN" sz="2400" dirty="0" smtClean="0"/>
              <a:t>分析仪（</a:t>
            </a:r>
            <a:r>
              <a:rPr lang="en-US" altLang="zh-CN" sz="2400" dirty="0" smtClean="0"/>
              <a:t>IV Analyzer</a:t>
            </a:r>
            <a:r>
              <a:rPr lang="zh-CN" altLang="zh-CN" sz="2400" dirty="0" smtClean="0"/>
              <a:t>）</a:t>
            </a:r>
            <a:endParaRPr lang="en-US" altLang="zh-CN" sz="2400" dirty="0" smtClean="0"/>
          </a:p>
          <a:p>
            <a:pPr marL="0" indent="0" algn="just">
              <a:buFont typeface="Wingdings 2" panose="05020102010507070707" pitchFamily="18" charset="2"/>
              <a:buNone/>
            </a:pPr>
            <a:r>
              <a:rPr lang="en-US" altLang="zh-CN" sz="2000" dirty="0" smtClean="0"/>
              <a:t>     IV</a:t>
            </a:r>
            <a:r>
              <a:rPr lang="zh-CN" altLang="zh-CN" sz="2000" dirty="0" smtClean="0"/>
              <a:t>分析仪专门用来分析晶体管的伏安特性曲线，如二极管、</a:t>
            </a:r>
            <a:r>
              <a:rPr lang="en-US" altLang="zh-CN" sz="2000" dirty="0" smtClean="0"/>
              <a:t>NPN</a:t>
            </a:r>
            <a:r>
              <a:rPr lang="zh-CN" altLang="zh-CN" sz="2000" dirty="0" smtClean="0"/>
              <a:t>管、</a:t>
            </a:r>
            <a:r>
              <a:rPr lang="en-US" altLang="zh-CN" sz="2000" dirty="0" smtClean="0"/>
              <a:t>PNP</a:t>
            </a:r>
            <a:r>
              <a:rPr lang="zh-CN" altLang="zh-CN" sz="2000" dirty="0" smtClean="0"/>
              <a:t>管、</a:t>
            </a:r>
            <a:r>
              <a:rPr lang="en-US" altLang="zh-CN" sz="2000" dirty="0" smtClean="0"/>
              <a:t>NMOS</a:t>
            </a:r>
            <a:r>
              <a:rPr lang="zh-CN" altLang="zh-CN" sz="2000" dirty="0" smtClean="0"/>
              <a:t>管、</a:t>
            </a:r>
            <a:r>
              <a:rPr lang="en-US" altLang="zh-CN" sz="2000" dirty="0" smtClean="0"/>
              <a:t>PMOS</a:t>
            </a:r>
            <a:r>
              <a:rPr lang="zh-CN" altLang="zh-CN" sz="2000" dirty="0" smtClean="0"/>
              <a:t>管等器件。</a:t>
            </a:r>
            <a:endParaRPr lang="en-US" altLang="zh-CN" sz="1400" dirty="0" smtClean="0"/>
          </a:p>
          <a:p>
            <a:pPr marL="0" indent="0" algn="just">
              <a:buFont typeface="Wingdings 2" panose="05020102010507070707" pitchFamily="18" charset="2"/>
              <a:buNone/>
            </a:pPr>
            <a:r>
              <a:rPr lang="en-US" altLang="zh-CN" sz="1400" dirty="0" smtClean="0"/>
              <a:t>       </a:t>
            </a:r>
            <a:r>
              <a:rPr lang="zh-CN" altLang="zh-CN" sz="2000" dirty="0" smtClean="0"/>
              <a:t>如图</a:t>
            </a:r>
            <a:r>
              <a:rPr lang="en-US" altLang="zh-CN" sz="2000" dirty="0" smtClean="0"/>
              <a:t>18</a:t>
            </a:r>
            <a:r>
              <a:rPr lang="zh-CN" altLang="zh-CN" sz="2000" dirty="0" smtClean="0"/>
              <a:t>所示，伏安特性测试仪的操作界面包括图形显示窗、元器件状态显示文本框、</a:t>
            </a:r>
            <a:r>
              <a:rPr lang="en-US" altLang="zh-CN" sz="2000" dirty="0" smtClean="0"/>
              <a:t>Components</a:t>
            </a:r>
            <a:r>
              <a:rPr lang="zh-CN" altLang="zh-CN" sz="2000" dirty="0" smtClean="0"/>
              <a:t>下拉列表框、</a:t>
            </a:r>
            <a:r>
              <a:rPr lang="en-US" altLang="zh-CN" sz="2000" dirty="0" smtClean="0"/>
              <a:t>Current Range</a:t>
            </a:r>
            <a:r>
              <a:rPr lang="zh-CN" altLang="zh-CN" sz="2000" dirty="0" smtClean="0"/>
              <a:t>（</a:t>
            </a:r>
            <a:r>
              <a:rPr lang="en-US" altLang="zh-CN" sz="2000" dirty="0" smtClean="0"/>
              <a:t>A</a:t>
            </a:r>
            <a:r>
              <a:rPr lang="zh-CN" altLang="zh-CN" sz="2000" dirty="0" smtClean="0"/>
              <a:t>）复选框、</a:t>
            </a:r>
            <a:r>
              <a:rPr lang="en-US" altLang="zh-CN" sz="2000" dirty="0" smtClean="0"/>
              <a:t>Voltage Range</a:t>
            </a:r>
            <a:r>
              <a:rPr lang="zh-CN" altLang="zh-CN" sz="2000" dirty="0" smtClean="0"/>
              <a:t>（</a:t>
            </a:r>
            <a:r>
              <a:rPr lang="en-US" altLang="zh-CN" sz="2000" dirty="0" smtClean="0"/>
              <a:t>V</a:t>
            </a:r>
            <a:r>
              <a:rPr lang="zh-CN" altLang="zh-CN" sz="2000" dirty="0" smtClean="0"/>
              <a:t>）复选框、</a:t>
            </a:r>
            <a:r>
              <a:rPr lang="en-US" altLang="zh-CN" sz="2000" dirty="0" smtClean="0"/>
              <a:t>Reverse</a:t>
            </a:r>
            <a:r>
              <a:rPr lang="zh-CN" altLang="zh-CN" sz="2000" dirty="0" smtClean="0"/>
              <a:t>按钮、</a:t>
            </a:r>
            <a:r>
              <a:rPr lang="en-US" altLang="zh-CN" sz="2000" dirty="0" smtClean="0"/>
              <a:t>Simulate </a:t>
            </a:r>
            <a:r>
              <a:rPr lang="en-US" altLang="zh-CN" sz="2000" dirty="0" err="1" smtClean="0"/>
              <a:t>param</a:t>
            </a:r>
            <a:r>
              <a:rPr lang="en-US" altLang="zh-CN" sz="2000" dirty="0" smtClean="0"/>
              <a:t>.</a:t>
            </a:r>
            <a:r>
              <a:rPr lang="zh-CN" altLang="zh-CN" sz="2000" dirty="0" smtClean="0"/>
              <a:t>按钮和接线端子指示窗（操作界面的右下角）组成。</a:t>
            </a:r>
            <a:endParaRPr lang="zh-CN" altLang="zh-CN" sz="2000" dirty="0" smtClean="0"/>
          </a:p>
          <a:p>
            <a:pPr marL="0" indent="0" algn="just">
              <a:buFont typeface="Wingdings 2" panose="05020102010507070707" pitchFamily="18" charset="2"/>
              <a:buNone/>
            </a:pPr>
            <a:endParaRPr lang="en-US" altLang="zh-CN" sz="20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18</a:t>
            </a:r>
            <a:r>
              <a:rPr lang="zh-CN" altLang="en-US" sz="1400" dirty="0" smtClean="0"/>
              <a:t>伏安特性测试仪面板</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29700" name="Picture 35" descr="3"/>
          <p:cNvPicPr>
            <a:picLocks noChangeAspect="1" noChangeArrowheads="1"/>
          </p:cNvPicPr>
          <p:nvPr/>
        </p:nvPicPr>
        <p:blipFill>
          <a:blip r:embed="rId1" cstate="print"/>
          <a:srcRect/>
          <a:stretch>
            <a:fillRect/>
          </a:stretch>
        </p:blipFill>
        <p:spPr bwMode="auto">
          <a:xfrm>
            <a:off x="2916238" y="4149725"/>
            <a:ext cx="2435225" cy="1477963"/>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0723"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en-US" altLang="zh-CN" sz="2400" dirty="0" smtClean="0"/>
              <a:t> </a:t>
            </a:r>
            <a:r>
              <a:rPr lang="en-US" altLang="zh-CN" sz="2400" dirty="0" smtClean="0"/>
              <a:t>Simulate Parameters</a:t>
            </a:r>
            <a:r>
              <a:rPr lang="zh-CN" altLang="en-US" sz="2400" dirty="0" smtClean="0"/>
              <a:t>用于</a:t>
            </a:r>
            <a:r>
              <a:rPr lang="zh-CN" altLang="zh-CN" sz="2400" dirty="0" smtClean="0"/>
              <a:t>伏安特性测试参数设置，单击该按钮，弹出</a:t>
            </a:r>
            <a:r>
              <a:rPr lang="en-US" altLang="zh-CN" sz="2400" dirty="0" smtClean="0"/>
              <a:t>Simulate Parameters</a:t>
            </a:r>
            <a:r>
              <a:rPr lang="zh-CN" altLang="zh-CN" sz="2400" dirty="0" smtClean="0"/>
              <a:t>对话框，如图</a:t>
            </a:r>
            <a:r>
              <a:rPr lang="en-US" altLang="zh-CN" sz="2400" dirty="0" smtClean="0"/>
              <a:t>19</a:t>
            </a:r>
            <a:r>
              <a:rPr lang="zh-CN" altLang="zh-CN" sz="2400" dirty="0" smtClean="0"/>
              <a:t>所示，</a:t>
            </a:r>
            <a:r>
              <a:rPr lang="en-US" altLang="zh-CN" sz="2400" dirty="0" smtClean="0"/>
              <a:t>Simulate Parameters</a:t>
            </a:r>
            <a:r>
              <a:rPr lang="zh-CN" altLang="zh-CN" sz="2400" dirty="0" smtClean="0"/>
              <a:t>对话框包括</a:t>
            </a:r>
            <a:r>
              <a:rPr lang="en-US" altLang="zh-CN" sz="2400" dirty="0" smtClean="0"/>
              <a:t>Source Name </a:t>
            </a:r>
            <a:r>
              <a:rPr lang="en-US" altLang="zh-CN" sz="2400" dirty="0" err="1" smtClean="0"/>
              <a:t>V_ce</a:t>
            </a:r>
            <a:r>
              <a:rPr lang="zh-CN" altLang="zh-CN" sz="2400" dirty="0" smtClean="0"/>
              <a:t>和</a:t>
            </a:r>
            <a:r>
              <a:rPr lang="en-US" altLang="zh-CN" sz="2400" dirty="0" smtClean="0"/>
              <a:t>Source Name </a:t>
            </a:r>
            <a:r>
              <a:rPr lang="en-US" altLang="zh-CN" sz="2400" dirty="0" err="1" smtClean="0"/>
              <a:t>I_b</a:t>
            </a:r>
            <a:r>
              <a:rPr lang="zh-CN" altLang="zh-CN" sz="2400" dirty="0" smtClean="0"/>
              <a:t>（对三极管可设置</a:t>
            </a:r>
            <a:r>
              <a:rPr lang="en-US" altLang="zh-CN" sz="2400" dirty="0" err="1" smtClean="0"/>
              <a:t>V_ce</a:t>
            </a:r>
            <a:r>
              <a:rPr lang="zh-CN" altLang="zh-CN" sz="2400" dirty="0" smtClean="0"/>
              <a:t>和</a:t>
            </a:r>
            <a:r>
              <a:rPr lang="en-US" altLang="zh-CN" sz="2400" dirty="0" err="1" smtClean="0"/>
              <a:t>I_b</a:t>
            </a:r>
            <a:r>
              <a:rPr lang="zh-CN" altLang="zh-CN" sz="2400" dirty="0" smtClean="0"/>
              <a:t>。其他类型晶体管，则设置其他电压。）。</a:t>
            </a:r>
            <a:endParaRPr lang="zh-CN" altLang="zh-CN" sz="2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19    Simulate Parameters</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30724" name="Picture 36" descr="3"/>
          <p:cNvPicPr>
            <a:picLocks noChangeAspect="1" noChangeArrowheads="1"/>
          </p:cNvPicPr>
          <p:nvPr/>
        </p:nvPicPr>
        <p:blipFill>
          <a:blip r:embed="rId1" cstate="print"/>
          <a:srcRect/>
          <a:stretch>
            <a:fillRect/>
          </a:stretch>
        </p:blipFill>
        <p:spPr bwMode="auto">
          <a:xfrm>
            <a:off x="2987675" y="3933825"/>
            <a:ext cx="2311400" cy="10826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1747"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r>
              <a:rPr lang="en-US" altLang="zh-CN" sz="2400" dirty="0" smtClean="0"/>
              <a:t>      </a:t>
            </a:r>
            <a:endParaRPr lang="en-US" altLang="zh-CN" sz="2400" dirty="0" smtClean="0"/>
          </a:p>
          <a:p>
            <a:pPr marL="0" indent="0">
              <a:buFont typeface="Wingdings 2" panose="05020102010507070707" pitchFamily="18" charset="2"/>
              <a:buNone/>
            </a:pPr>
            <a:r>
              <a:rPr lang="zh-CN" altLang="zh-CN" sz="2400" dirty="0" smtClean="0"/>
              <a:t>如</a:t>
            </a:r>
            <a:r>
              <a:rPr lang="zh-CN" altLang="zh-CN" sz="2400" dirty="0" smtClean="0"/>
              <a:t>图</a:t>
            </a:r>
            <a:r>
              <a:rPr lang="en-US" altLang="zh-CN" sz="2400" dirty="0" smtClean="0"/>
              <a:t>20</a:t>
            </a:r>
            <a:r>
              <a:rPr lang="zh-CN" altLang="zh-CN" sz="2400" dirty="0" smtClean="0"/>
              <a:t>所示，当在</a:t>
            </a:r>
            <a:r>
              <a:rPr lang="en-US" altLang="zh-CN" sz="2400" dirty="0" smtClean="0"/>
              <a:t>Components</a:t>
            </a:r>
            <a:r>
              <a:rPr lang="zh-CN" altLang="zh-CN" sz="2400" dirty="0" smtClean="0"/>
              <a:t>下拉列表框中选择了元器件以后，则在该指示窗显示对应元器件的管脚（如三极管的</a:t>
            </a:r>
            <a:r>
              <a:rPr lang="en-US" altLang="zh-CN" sz="2400" dirty="0" smtClean="0"/>
              <a:t>b</a:t>
            </a:r>
            <a:r>
              <a:rPr lang="zh-CN" altLang="zh-CN" sz="2400" i="1" dirty="0" smtClean="0"/>
              <a:t>、</a:t>
            </a:r>
            <a:r>
              <a:rPr lang="en-US" altLang="zh-CN" sz="2400" i="1" dirty="0" smtClean="0"/>
              <a:t>c</a:t>
            </a:r>
            <a:r>
              <a:rPr lang="zh-CN" altLang="zh-CN" sz="2400" dirty="0" smtClean="0"/>
              <a:t>和</a:t>
            </a:r>
            <a:r>
              <a:rPr lang="en-US" altLang="zh-CN" sz="2400" dirty="0" smtClean="0"/>
              <a:t>e</a:t>
            </a:r>
            <a:r>
              <a:rPr lang="zh-CN" altLang="zh-CN" sz="2400" dirty="0" smtClean="0"/>
              <a:t>），用来指示元器件和伏安特性测试仪的图标连接。</a:t>
            </a:r>
            <a:endParaRPr lang="zh-CN" altLang="zh-CN" sz="2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20 </a:t>
            </a:r>
            <a:r>
              <a:rPr lang="zh-CN" altLang="zh-CN" sz="1400" dirty="0" smtClean="0"/>
              <a:t>元器件的管脚</a:t>
            </a: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p:txBody>
      </p:sp>
      <p:pic>
        <p:nvPicPr>
          <p:cNvPr id="31748" name="图片 1"/>
          <p:cNvPicPr>
            <a:picLocks noChangeAspect="1" noChangeArrowheads="1"/>
          </p:cNvPicPr>
          <p:nvPr/>
        </p:nvPicPr>
        <p:blipFill>
          <a:blip r:embed="rId1" cstate="print"/>
          <a:srcRect/>
          <a:stretch>
            <a:fillRect/>
          </a:stretch>
        </p:blipFill>
        <p:spPr bwMode="auto">
          <a:xfrm>
            <a:off x="3492500" y="3789363"/>
            <a:ext cx="1155700" cy="468312"/>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2771"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12</a:t>
            </a:r>
            <a:r>
              <a:rPr lang="zh-CN" altLang="en-US" sz="2400" dirty="0" smtClean="0"/>
              <a:t>）</a:t>
            </a:r>
            <a:r>
              <a:rPr lang="zh-CN" altLang="zh-CN" sz="2400" dirty="0" smtClean="0"/>
              <a:t>失真分析仪（</a:t>
            </a:r>
            <a:r>
              <a:rPr lang="en-US" altLang="zh-CN" sz="2400" dirty="0" smtClean="0"/>
              <a:t>Distortion Analyzer</a:t>
            </a:r>
            <a:r>
              <a:rPr lang="zh-CN" altLang="zh-CN" sz="2400" dirty="0" smtClean="0"/>
              <a:t>）</a:t>
            </a:r>
            <a:endParaRPr lang="en-US" altLang="zh-CN" sz="2400" dirty="0" smtClean="0"/>
          </a:p>
          <a:p>
            <a:pPr marL="0" indent="0" algn="just">
              <a:buFont typeface="Wingdings 2" panose="05020102010507070707" pitchFamily="18" charset="2"/>
              <a:buNone/>
            </a:pPr>
            <a:r>
              <a:rPr lang="en-US" altLang="zh-CN" sz="2000" dirty="0" smtClean="0"/>
              <a:t>      </a:t>
            </a:r>
            <a:r>
              <a:rPr lang="zh-CN" altLang="zh-CN" sz="2000" dirty="0" smtClean="0"/>
              <a:t>失真分析仪可用于测量电路的信号失真度以及信噪比等参数，经常用于测量存在较小失真度的低频信号。失真分析仪提供的频率范围为</a:t>
            </a:r>
            <a:r>
              <a:rPr lang="en-US" altLang="zh-CN" sz="2000" dirty="0" smtClean="0"/>
              <a:t>20Hz</a:t>
            </a:r>
            <a:r>
              <a:rPr lang="zh-CN" altLang="zh-CN" sz="2000" dirty="0" smtClean="0"/>
              <a:t>～</a:t>
            </a:r>
            <a:r>
              <a:rPr lang="en-US" altLang="zh-CN" sz="2000" dirty="0" smtClean="0"/>
              <a:t>100kHz</a:t>
            </a:r>
            <a:r>
              <a:rPr lang="zh-CN" altLang="zh-CN" sz="2000" dirty="0" smtClean="0"/>
              <a:t>，共有</a:t>
            </a:r>
            <a:r>
              <a:rPr lang="en-US" altLang="zh-CN" sz="2000" dirty="0" smtClean="0"/>
              <a:t>1</a:t>
            </a:r>
            <a:r>
              <a:rPr lang="zh-CN" altLang="zh-CN" sz="2000" dirty="0" smtClean="0"/>
              <a:t>个接线端。失真分析仪内部参数设置面板如图</a:t>
            </a:r>
            <a:r>
              <a:rPr lang="en-US" altLang="zh-CN" sz="2000" dirty="0" smtClean="0"/>
              <a:t>21</a:t>
            </a:r>
            <a:r>
              <a:rPr lang="zh-CN" altLang="zh-CN" sz="2000" dirty="0" smtClean="0"/>
              <a:t>所示</a:t>
            </a:r>
            <a:r>
              <a:rPr lang="zh-CN" altLang="en-US" sz="2000" dirty="0" smtClean="0"/>
              <a:t>。</a:t>
            </a:r>
            <a:endParaRPr lang="en-US" altLang="zh-CN" sz="20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21</a:t>
            </a:r>
            <a:r>
              <a:rPr lang="zh-CN" altLang="en-US" sz="1400" dirty="0" smtClean="0"/>
              <a:t>失真分析仪面板</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32772" name="Picture 40" descr="3"/>
          <p:cNvPicPr>
            <a:picLocks noChangeAspect="1" noChangeArrowheads="1"/>
          </p:cNvPicPr>
          <p:nvPr/>
        </p:nvPicPr>
        <p:blipFill>
          <a:blip r:embed="rId1" cstate="print"/>
          <a:srcRect/>
          <a:stretch>
            <a:fillRect/>
          </a:stretch>
        </p:blipFill>
        <p:spPr bwMode="auto">
          <a:xfrm>
            <a:off x="3059113" y="3284538"/>
            <a:ext cx="1851025" cy="12731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3795"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zh-CN" altLang="zh-CN" sz="2400" dirty="0" smtClean="0"/>
              <a:t>单击</a:t>
            </a:r>
            <a:r>
              <a:rPr lang="en-US" altLang="zh-CN" sz="2400" dirty="0" smtClean="0"/>
              <a:t>Set</a:t>
            </a:r>
            <a:r>
              <a:rPr lang="zh-CN" altLang="zh-CN" sz="2400" dirty="0" smtClean="0"/>
              <a:t>按钮，弹出</a:t>
            </a:r>
            <a:r>
              <a:rPr lang="en-US" altLang="zh-CN" sz="2400" dirty="0" smtClean="0"/>
              <a:t>Settings</a:t>
            </a:r>
            <a:r>
              <a:rPr lang="zh-CN" altLang="zh-CN" sz="2400" dirty="0" smtClean="0"/>
              <a:t>对话框，如图</a:t>
            </a:r>
            <a:r>
              <a:rPr lang="en-US" altLang="zh-CN" sz="2400" dirty="0" smtClean="0"/>
              <a:t>22</a:t>
            </a:r>
            <a:r>
              <a:rPr lang="zh-CN" altLang="zh-CN" sz="2400" dirty="0" smtClean="0"/>
              <a:t>所示</a:t>
            </a:r>
            <a:r>
              <a:rPr lang="zh-CN" altLang="en-US" sz="2400" dirty="0" smtClean="0"/>
              <a:t>，</a:t>
            </a:r>
            <a:r>
              <a:rPr lang="en-US" altLang="zh-CN" sz="2400" dirty="0" smtClean="0"/>
              <a:t>Settings</a:t>
            </a:r>
            <a:r>
              <a:rPr lang="zh-CN" altLang="zh-CN" sz="2400" dirty="0" smtClean="0"/>
              <a:t>对话框有如下选项</a:t>
            </a:r>
            <a:r>
              <a:rPr lang="zh-CN" altLang="en-US" sz="2400" dirty="0" smtClean="0"/>
              <a:t>：</a:t>
            </a:r>
            <a:endParaRPr lang="zh-CN" altLang="zh-CN" sz="2400" dirty="0" smtClean="0"/>
          </a:p>
          <a:p>
            <a:pPr marL="0" indent="0" algn="just">
              <a:buFont typeface="Wingdings 2" panose="05020102010507070707" pitchFamily="18" charset="2"/>
              <a:buNone/>
            </a:pPr>
            <a:r>
              <a:rPr lang="en-US" altLang="zh-CN" sz="2400" dirty="0" smtClean="0"/>
              <a:t>      THD Definition</a:t>
            </a:r>
            <a:r>
              <a:rPr lang="zh-CN" altLang="zh-CN" sz="2400" dirty="0" smtClean="0"/>
              <a:t>：用来设置</a:t>
            </a:r>
            <a:r>
              <a:rPr lang="en-US" altLang="zh-CN" sz="2400" dirty="0" smtClean="0"/>
              <a:t>THD</a:t>
            </a:r>
            <a:r>
              <a:rPr lang="zh-CN" altLang="zh-CN" sz="2400" dirty="0" smtClean="0"/>
              <a:t>定义标准，可选择</a:t>
            </a:r>
            <a:r>
              <a:rPr lang="en-US" altLang="zh-CN" sz="2400" dirty="0" smtClean="0"/>
              <a:t>IEEE</a:t>
            </a:r>
            <a:r>
              <a:rPr lang="zh-CN" altLang="zh-CN" sz="2400" dirty="0" smtClean="0"/>
              <a:t>和</a:t>
            </a:r>
            <a:r>
              <a:rPr lang="en-US" altLang="zh-CN" sz="2400" dirty="0" smtClean="0"/>
              <a:t>ANSI/IEC</a:t>
            </a:r>
            <a:r>
              <a:rPr lang="zh-CN" altLang="zh-CN" sz="2400" dirty="0" smtClean="0"/>
              <a:t>标准。</a:t>
            </a:r>
            <a:endParaRPr lang="zh-CN" altLang="zh-CN" sz="2400" dirty="0" smtClean="0"/>
          </a:p>
          <a:p>
            <a:pPr marL="0" indent="0" algn="just">
              <a:buFont typeface="Wingdings 2" panose="05020102010507070707" pitchFamily="18" charset="2"/>
              <a:buNone/>
            </a:pPr>
            <a:r>
              <a:rPr lang="en-US" altLang="zh-CN" sz="2400" dirty="0" smtClean="0"/>
              <a:t>      Harmonic Num</a:t>
            </a:r>
            <a:r>
              <a:rPr lang="zh-CN" altLang="zh-CN" sz="2400" dirty="0" smtClean="0"/>
              <a:t>：设置谐波分析的次数。</a:t>
            </a:r>
            <a:endParaRPr lang="zh-CN" altLang="zh-CN" sz="2400" dirty="0" smtClean="0"/>
          </a:p>
          <a:p>
            <a:pPr marL="0" indent="0" algn="just">
              <a:buFont typeface="Wingdings 2" panose="05020102010507070707" pitchFamily="18" charset="2"/>
              <a:buNone/>
            </a:pPr>
            <a:r>
              <a:rPr lang="en-US" altLang="zh-CN" sz="2400" dirty="0" smtClean="0"/>
              <a:t>      FFT Points</a:t>
            </a:r>
            <a:r>
              <a:rPr lang="zh-CN" altLang="zh-CN" sz="2400" dirty="0" smtClean="0"/>
              <a:t>：设置谐波分析的取样点数。</a:t>
            </a:r>
            <a:endParaRPr lang="zh-CN" altLang="zh-CN" sz="2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22 Settings</a:t>
            </a:r>
            <a:r>
              <a:rPr lang="zh-CN" altLang="zh-CN" sz="1400" dirty="0" smtClean="0"/>
              <a:t>对话框</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33796" name="Picture 41" descr="3"/>
          <p:cNvPicPr>
            <a:picLocks noChangeAspect="1" noChangeArrowheads="1"/>
          </p:cNvPicPr>
          <p:nvPr/>
        </p:nvPicPr>
        <p:blipFill>
          <a:blip r:embed="rId1" cstate="print"/>
          <a:srcRect/>
          <a:stretch>
            <a:fillRect/>
          </a:stretch>
        </p:blipFill>
        <p:spPr bwMode="auto">
          <a:xfrm>
            <a:off x="3275856" y="4005064"/>
            <a:ext cx="1528763" cy="13176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4819"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13</a:t>
            </a:r>
            <a:r>
              <a:rPr lang="zh-CN" altLang="en-US" sz="2400" dirty="0" smtClean="0"/>
              <a:t>）</a:t>
            </a:r>
            <a:r>
              <a:rPr lang="zh-CN" altLang="zh-CN" sz="2400" dirty="0" smtClean="0"/>
              <a:t>频谱分析仪（</a:t>
            </a:r>
            <a:r>
              <a:rPr lang="en-US" altLang="zh-CN" sz="2400" dirty="0" smtClean="0"/>
              <a:t>Spectrum Analyzer</a:t>
            </a:r>
            <a:r>
              <a:rPr lang="zh-CN" altLang="zh-CN" sz="2400" dirty="0" smtClean="0"/>
              <a:t>）</a:t>
            </a:r>
            <a:endParaRPr lang="en-US" altLang="zh-CN" sz="2400" dirty="0" smtClean="0"/>
          </a:p>
          <a:p>
            <a:pPr marL="0" indent="0" algn="just">
              <a:buFont typeface="Wingdings 2" panose="05020102010507070707" pitchFamily="18" charset="2"/>
              <a:buNone/>
            </a:pPr>
            <a:r>
              <a:rPr lang="en-US" altLang="zh-CN" sz="2000" dirty="0" smtClean="0"/>
              <a:t>      </a:t>
            </a:r>
            <a:r>
              <a:rPr lang="zh-CN" altLang="zh-CN" sz="2000" dirty="0" smtClean="0"/>
              <a:t>频谱分析仪用来分析信号的频域特性，其频域分析范围的上限为</a:t>
            </a:r>
            <a:r>
              <a:rPr lang="en-US" altLang="zh-CN" sz="2000" dirty="0" smtClean="0"/>
              <a:t>4GHz</a:t>
            </a:r>
            <a:r>
              <a:rPr lang="zh-CN" altLang="zh-CN" sz="2000" dirty="0" smtClean="0"/>
              <a:t>。共有两个接线端，用于连接被测电路的被测端点和外部触发端。图</a:t>
            </a:r>
            <a:r>
              <a:rPr lang="en-US" altLang="zh-CN" sz="2000" dirty="0" smtClean="0"/>
              <a:t>23</a:t>
            </a:r>
            <a:r>
              <a:rPr lang="zh-CN" altLang="zh-CN" sz="2000" dirty="0" smtClean="0"/>
              <a:t>为频谱分析仪内部参数设置面板，左侧为图形显示窗，显示窗下侧为状态栏，显示光标指针处对应的频率和幅值。</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23</a:t>
            </a:r>
            <a:r>
              <a:rPr lang="zh-CN" altLang="zh-CN" sz="1400" dirty="0" smtClean="0"/>
              <a:t>频谱分析仪面板</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34820" name="Picture 46" descr="3"/>
          <p:cNvPicPr>
            <a:picLocks noChangeAspect="1" noChangeArrowheads="1"/>
          </p:cNvPicPr>
          <p:nvPr/>
        </p:nvPicPr>
        <p:blipFill>
          <a:blip r:embed="rId1" cstate="print"/>
          <a:srcRect/>
          <a:stretch>
            <a:fillRect/>
          </a:stretch>
        </p:blipFill>
        <p:spPr bwMode="auto">
          <a:xfrm>
            <a:off x="2627313" y="3284538"/>
            <a:ext cx="2933700" cy="13462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5843"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000" dirty="0" smtClean="0"/>
              <a:t>     </a:t>
            </a:r>
            <a:endParaRPr lang="en-US" altLang="zh-CN" sz="2000" dirty="0" smtClean="0"/>
          </a:p>
          <a:p>
            <a:pPr marL="0" indent="0" algn="just">
              <a:buFont typeface="Wingdings 2" panose="05020102010507070707" pitchFamily="18" charset="2"/>
              <a:buNone/>
            </a:pPr>
            <a:r>
              <a:rPr lang="zh-CN" altLang="zh-CN" sz="2000" dirty="0" smtClean="0"/>
              <a:t>单击</a:t>
            </a:r>
            <a:r>
              <a:rPr lang="en-US" altLang="zh-CN" sz="2000" dirty="0" smtClean="0"/>
              <a:t>Set…</a:t>
            </a:r>
            <a:r>
              <a:rPr lang="zh-CN" altLang="zh-CN" sz="2000" dirty="0" smtClean="0"/>
              <a:t>按钮，弹出</a:t>
            </a:r>
            <a:r>
              <a:rPr lang="en-US" altLang="zh-CN" sz="2000" dirty="0" smtClean="0"/>
              <a:t>Settings</a:t>
            </a:r>
            <a:r>
              <a:rPr lang="zh-CN" altLang="zh-CN" sz="2000" dirty="0" smtClean="0"/>
              <a:t>对话框，如图</a:t>
            </a:r>
            <a:r>
              <a:rPr lang="en-US" altLang="zh-CN" sz="2000" dirty="0" smtClean="0"/>
              <a:t>24</a:t>
            </a:r>
            <a:r>
              <a:rPr lang="zh-CN" altLang="zh-CN" sz="2000" dirty="0" smtClean="0"/>
              <a:t>所示。</a:t>
            </a:r>
            <a:endParaRPr lang="zh-CN" altLang="zh-CN" sz="2000" dirty="0" smtClean="0"/>
          </a:p>
          <a:p>
            <a:pPr marL="0" indent="0" algn="just">
              <a:buFont typeface="Wingdings 2" panose="05020102010507070707" pitchFamily="18" charset="2"/>
              <a:buNone/>
            </a:pPr>
            <a:r>
              <a:rPr lang="en-US" altLang="zh-CN" sz="2000" dirty="0" smtClean="0"/>
              <a:t>      Trigger source</a:t>
            </a:r>
            <a:r>
              <a:rPr lang="zh-CN" altLang="zh-CN" sz="2000" dirty="0" smtClean="0"/>
              <a:t>：设置触发源，有</a:t>
            </a:r>
            <a:r>
              <a:rPr lang="en-US" altLang="zh-CN" sz="2000" dirty="0" smtClean="0"/>
              <a:t>Internal</a:t>
            </a:r>
            <a:r>
              <a:rPr lang="zh-CN" altLang="zh-CN" sz="2000" dirty="0" smtClean="0"/>
              <a:t>（内部）和</a:t>
            </a:r>
            <a:r>
              <a:rPr lang="en-US" altLang="zh-CN" sz="2000" dirty="0" smtClean="0"/>
              <a:t>External</a:t>
            </a:r>
            <a:r>
              <a:rPr lang="zh-CN" altLang="zh-CN" sz="2000" dirty="0" smtClean="0"/>
              <a:t>（外部）两种触发源。</a:t>
            </a:r>
            <a:endParaRPr lang="zh-CN" altLang="zh-CN" sz="2000" dirty="0" smtClean="0"/>
          </a:p>
          <a:p>
            <a:pPr marL="0" indent="0" algn="just">
              <a:buFont typeface="Wingdings 2" panose="05020102010507070707" pitchFamily="18" charset="2"/>
              <a:buNone/>
            </a:pPr>
            <a:r>
              <a:rPr lang="en-US" altLang="zh-CN" sz="2000" dirty="0" smtClean="0"/>
              <a:t>      Trigger mode</a:t>
            </a:r>
            <a:r>
              <a:rPr lang="zh-CN" altLang="zh-CN" sz="2000" dirty="0" smtClean="0"/>
              <a:t>：设置触发模式，有</a:t>
            </a:r>
            <a:r>
              <a:rPr lang="en-US" altLang="zh-CN" sz="2000" dirty="0" smtClean="0"/>
              <a:t>Continuous</a:t>
            </a:r>
            <a:r>
              <a:rPr lang="zh-CN" altLang="zh-CN" sz="2000" dirty="0" smtClean="0"/>
              <a:t>（连续）和</a:t>
            </a:r>
            <a:r>
              <a:rPr lang="en-US" altLang="zh-CN" sz="2000" dirty="0" smtClean="0"/>
              <a:t>Single</a:t>
            </a:r>
            <a:r>
              <a:rPr lang="zh-CN" altLang="zh-CN" sz="2000" dirty="0" smtClean="0"/>
              <a:t>（单触发）两种模式。</a:t>
            </a:r>
            <a:endParaRPr lang="zh-CN" altLang="zh-CN" sz="2000" dirty="0" smtClean="0"/>
          </a:p>
          <a:p>
            <a:pPr marL="0" indent="0" algn="just">
              <a:buFont typeface="Wingdings 2" panose="05020102010507070707" pitchFamily="18" charset="2"/>
              <a:buNone/>
            </a:pPr>
            <a:r>
              <a:rPr lang="en-US" altLang="zh-CN" sz="2000" dirty="0" smtClean="0"/>
              <a:t>      Threshold </a:t>
            </a:r>
            <a:r>
              <a:rPr lang="en-US" altLang="zh-CN" sz="2000" dirty="0" err="1" smtClean="0"/>
              <a:t>volt.V</a:t>
            </a:r>
            <a:r>
              <a:rPr lang="zh-CN" altLang="zh-CN" sz="2000" dirty="0" smtClean="0"/>
              <a:t>：设置触发开启电压，大于此值触发采样。</a:t>
            </a:r>
            <a:endParaRPr lang="zh-CN" altLang="zh-CN" sz="2000" dirty="0" smtClean="0"/>
          </a:p>
          <a:p>
            <a:pPr marL="0" indent="0" algn="just">
              <a:buFont typeface="Wingdings 2" panose="05020102010507070707" pitchFamily="18" charset="2"/>
              <a:buNone/>
            </a:pPr>
            <a:r>
              <a:rPr lang="en-US" altLang="zh-CN" sz="2000" dirty="0" smtClean="0"/>
              <a:t>       FFT Points</a:t>
            </a:r>
            <a:r>
              <a:rPr lang="zh-CN" altLang="zh-CN" sz="2000" dirty="0" smtClean="0"/>
              <a:t>：设置傅里叶计算的采样点数，默认为</a:t>
            </a:r>
            <a:r>
              <a:rPr lang="en-US" altLang="zh-CN" sz="2000" dirty="0" smtClean="0"/>
              <a:t>1024</a:t>
            </a:r>
            <a:r>
              <a:rPr lang="zh-CN" altLang="zh-CN" sz="2000" dirty="0" smtClean="0"/>
              <a:t>点。</a:t>
            </a:r>
            <a:endParaRPr lang="zh-CN" altLang="zh-CN" sz="2000" dirty="0" smtClean="0"/>
          </a:p>
          <a:p>
            <a:pPr marL="0" indent="0" algn="ctr">
              <a:buFont typeface="Wingdings 2" panose="05020102010507070707" pitchFamily="18" charset="2"/>
              <a:buNone/>
            </a:pPr>
            <a:endParaRPr lang="en-US" altLang="zh-CN" sz="20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24 Settings</a:t>
            </a:r>
            <a:r>
              <a:rPr lang="zh-CN" altLang="zh-CN" sz="1400" dirty="0" smtClean="0"/>
              <a:t>对话框</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35844" name="Picture 47" descr="3"/>
          <p:cNvPicPr>
            <a:picLocks noChangeAspect="1" noChangeArrowheads="1"/>
          </p:cNvPicPr>
          <p:nvPr/>
        </p:nvPicPr>
        <p:blipFill>
          <a:blip r:embed="rId1" cstate="print"/>
          <a:srcRect/>
          <a:stretch>
            <a:fillRect/>
          </a:stretch>
        </p:blipFill>
        <p:spPr bwMode="auto">
          <a:xfrm>
            <a:off x="3348038" y="4221163"/>
            <a:ext cx="1536700" cy="15208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6867"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14</a:t>
            </a:r>
            <a:r>
              <a:rPr lang="zh-CN" altLang="en-US" sz="2400" dirty="0" smtClean="0"/>
              <a:t>）</a:t>
            </a:r>
            <a:r>
              <a:rPr lang="zh-CN" altLang="zh-CN" sz="2400" dirty="0" smtClean="0"/>
              <a:t> 网络分析仪（</a:t>
            </a:r>
            <a:r>
              <a:rPr lang="en-US" altLang="zh-CN" sz="2400" dirty="0" smtClean="0"/>
              <a:t>Network Analyzer</a:t>
            </a:r>
            <a:r>
              <a:rPr lang="zh-CN" altLang="zh-CN" sz="2400" dirty="0" smtClean="0"/>
              <a:t>）</a:t>
            </a:r>
            <a:r>
              <a:rPr lang="en-US" altLang="zh-CN" sz="2000" dirty="0" smtClean="0"/>
              <a:t>      </a:t>
            </a:r>
            <a:endParaRPr lang="en-US" altLang="zh-CN" sz="2000" dirty="0" smtClean="0"/>
          </a:p>
          <a:p>
            <a:pPr marL="0" indent="0" algn="just">
              <a:buFont typeface="Wingdings 2" panose="05020102010507070707" pitchFamily="18" charset="2"/>
              <a:buNone/>
            </a:pPr>
            <a:r>
              <a:rPr lang="en-US" altLang="zh-CN" sz="2000" dirty="0" smtClean="0"/>
              <a:t>      </a:t>
            </a:r>
            <a:r>
              <a:rPr lang="zh-CN" altLang="zh-CN" sz="2000" dirty="0" smtClean="0"/>
              <a:t>网络分析仪主要用来测量双端口网络的特性，如衰减器、放大器、混频器、功率分配器等。</a:t>
            </a:r>
            <a:r>
              <a:rPr lang="en-US" altLang="zh-CN" sz="2000" dirty="0" err="1" smtClean="0"/>
              <a:t>Multisim</a:t>
            </a:r>
            <a:r>
              <a:rPr lang="en-US" altLang="zh-CN" sz="2000" dirty="0" smtClean="0"/>
              <a:t> 12.0</a:t>
            </a:r>
            <a:r>
              <a:rPr lang="zh-CN" altLang="zh-CN" sz="2000" dirty="0" smtClean="0"/>
              <a:t>提供的网络分析仪可以测量电路的</a:t>
            </a:r>
            <a:r>
              <a:rPr lang="en-US" altLang="zh-CN" sz="2000" dirty="0" smtClean="0"/>
              <a:t>S</a:t>
            </a:r>
            <a:r>
              <a:rPr lang="zh-CN" altLang="zh-CN" sz="2000" dirty="0" smtClean="0"/>
              <a:t>参数、并计算出</a:t>
            </a:r>
            <a:r>
              <a:rPr lang="en-US" altLang="zh-CN" sz="2000" dirty="0" smtClean="0"/>
              <a:t>H</a:t>
            </a:r>
            <a:r>
              <a:rPr lang="zh-CN" altLang="zh-CN" sz="2000" dirty="0" smtClean="0"/>
              <a:t>、</a:t>
            </a:r>
            <a:r>
              <a:rPr lang="en-US" altLang="zh-CN" sz="2000" dirty="0" smtClean="0"/>
              <a:t>Y</a:t>
            </a:r>
            <a:r>
              <a:rPr lang="zh-CN" altLang="zh-CN" sz="2000" dirty="0" smtClean="0"/>
              <a:t>、</a:t>
            </a:r>
            <a:r>
              <a:rPr lang="en-US" altLang="zh-CN" sz="2000" dirty="0" smtClean="0"/>
              <a:t>Z</a:t>
            </a:r>
            <a:r>
              <a:rPr lang="zh-CN" altLang="zh-CN" sz="2000" dirty="0" smtClean="0"/>
              <a:t>参数。网络分析仪的图标如图</a:t>
            </a:r>
            <a:r>
              <a:rPr lang="en-US" altLang="zh-CN" sz="2000" dirty="0" smtClean="0"/>
              <a:t>25</a:t>
            </a:r>
            <a:r>
              <a:rPr lang="zh-CN" altLang="zh-CN" sz="2000" dirty="0" smtClean="0"/>
              <a:t>所示，共有两个接线端，用于连接被测电路的被测端点。对</a:t>
            </a:r>
            <a:r>
              <a:rPr lang="en-US" altLang="zh-CN" sz="2000" dirty="0" smtClean="0"/>
              <a:t>RF</a:t>
            </a:r>
            <a:r>
              <a:rPr lang="zh-CN" altLang="zh-CN" sz="2000" dirty="0" smtClean="0"/>
              <a:t>电路的功率增益、电压增益和输入</a:t>
            </a:r>
            <a:r>
              <a:rPr lang="en-US" altLang="zh-CN" sz="2000" dirty="0" smtClean="0"/>
              <a:t>/</a:t>
            </a:r>
            <a:r>
              <a:rPr lang="zh-CN" altLang="zh-CN" sz="2000" dirty="0" smtClean="0"/>
              <a:t>输出阻抗等参数进行分析。</a:t>
            </a:r>
            <a:endParaRPr lang="en-US" altLang="zh-CN" sz="1400" dirty="0" smtClean="0"/>
          </a:p>
          <a:p>
            <a:pPr marL="0" indent="0" algn="just">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25</a:t>
            </a:r>
            <a:r>
              <a:rPr lang="zh-CN" altLang="en-US" sz="1400" dirty="0" smtClean="0"/>
              <a:t>网络</a:t>
            </a:r>
            <a:r>
              <a:rPr lang="zh-CN" altLang="zh-CN" sz="1400" dirty="0" smtClean="0"/>
              <a:t>谱分析仪</a:t>
            </a:r>
            <a:endParaRPr lang="en-US" altLang="zh-CN" sz="1400" dirty="0" smtClean="0"/>
          </a:p>
          <a:p>
            <a:pPr marL="0" indent="0" algn="ctr">
              <a:buFont typeface="Wingdings 2" panose="05020102010507070707" pitchFamily="18" charset="2"/>
              <a:buNone/>
            </a:pPr>
            <a:endParaRPr lang="en-US" altLang="zh-CN" sz="1400" dirty="0" smtClean="0"/>
          </a:p>
        </p:txBody>
      </p:sp>
      <p:pic>
        <p:nvPicPr>
          <p:cNvPr id="36868" name="图片 1"/>
          <p:cNvPicPr>
            <a:picLocks noChangeAspect="1" noChangeArrowheads="1"/>
          </p:cNvPicPr>
          <p:nvPr/>
        </p:nvPicPr>
        <p:blipFill>
          <a:blip r:embed="rId1" cstate="print"/>
          <a:srcRect/>
          <a:stretch>
            <a:fillRect/>
          </a:stretch>
        </p:blipFill>
        <p:spPr bwMode="auto">
          <a:xfrm>
            <a:off x="3419475" y="4652963"/>
            <a:ext cx="1295400" cy="7969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37891"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en-US" altLang="zh-CN" sz="2400" dirty="0" smtClean="0"/>
              <a:t> </a:t>
            </a:r>
            <a:r>
              <a:rPr lang="zh-CN" altLang="zh-CN" sz="2400" dirty="0" smtClean="0"/>
              <a:t>网络分析仪的内部参数设置面板如图</a:t>
            </a:r>
            <a:r>
              <a:rPr lang="en-US" altLang="zh-CN" sz="2400" dirty="0" smtClean="0"/>
              <a:t>26</a:t>
            </a:r>
            <a:r>
              <a:rPr lang="zh-CN" altLang="zh-CN" sz="2400" dirty="0" smtClean="0"/>
              <a:t>所示，左侧为图形显示窗，用来显示图表、测量曲线以及标注电路信息的文字。</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26</a:t>
            </a:r>
            <a:r>
              <a:rPr lang="zh-CN" altLang="en-US" sz="1400" dirty="0" smtClean="0"/>
              <a:t>网络</a:t>
            </a:r>
            <a:r>
              <a:rPr lang="zh-CN" altLang="zh-CN" sz="1400" dirty="0" smtClean="0"/>
              <a:t>谱分析仪</a:t>
            </a:r>
            <a:r>
              <a:rPr lang="zh-CN" altLang="en-US" sz="1400" dirty="0" smtClean="0"/>
              <a:t>参数设置面板</a:t>
            </a:r>
            <a:endParaRPr lang="en-US" altLang="zh-CN" sz="1400" dirty="0" smtClean="0"/>
          </a:p>
          <a:p>
            <a:pPr marL="0" indent="0" algn="ctr">
              <a:buFont typeface="Wingdings 2" panose="05020102010507070707" pitchFamily="18" charset="2"/>
              <a:buNone/>
            </a:pPr>
            <a:r>
              <a:rPr lang="en-US" altLang="zh-CN" sz="1400" dirty="0" smtClean="0"/>
              <a:t> </a:t>
            </a:r>
            <a:endParaRPr lang="en-US" altLang="zh-CN" sz="1400" dirty="0" smtClean="0"/>
          </a:p>
        </p:txBody>
      </p:sp>
      <p:pic>
        <p:nvPicPr>
          <p:cNvPr id="37892" name="Picture 51" descr="3"/>
          <p:cNvPicPr>
            <a:picLocks noChangeAspect="1" noChangeArrowheads="1"/>
          </p:cNvPicPr>
          <p:nvPr/>
        </p:nvPicPr>
        <p:blipFill>
          <a:blip r:embed="rId1" cstate="print"/>
          <a:srcRect/>
          <a:stretch>
            <a:fillRect/>
          </a:stretch>
        </p:blipFill>
        <p:spPr bwMode="auto">
          <a:xfrm>
            <a:off x="2916238" y="2997200"/>
            <a:ext cx="2487612" cy="1719263"/>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8195"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defRPr/>
            </a:pPr>
            <a:endParaRPr lang="en-US" altLang="zh-CN" sz="2400" dirty="0" smtClean="0"/>
          </a:p>
          <a:p>
            <a:pPr marL="0" indent="0">
              <a:buFont typeface="Wingdings 2" panose="05020102010507070707" pitchFamily="18" charset="2"/>
              <a:buNone/>
              <a:defRPr/>
            </a:pPr>
            <a:r>
              <a:rPr lang="en-US" altLang="zh-CN" sz="2400" dirty="0" smtClean="0"/>
              <a:t>15</a:t>
            </a:r>
            <a:r>
              <a:rPr lang="zh-CN" altLang="en-US" sz="2400" dirty="0" smtClean="0"/>
              <a:t>）</a:t>
            </a:r>
            <a:r>
              <a:rPr lang="zh-CN" altLang="zh-CN" sz="2400" dirty="0"/>
              <a:t>仿真</a:t>
            </a:r>
            <a:r>
              <a:rPr lang="en-US" altLang="zh-CN" sz="2400" dirty="0"/>
              <a:t>Agilent</a:t>
            </a:r>
            <a:r>
              <a:rPr lang="zh-CN" altLang="zh-CN" sz="2400" dirty="0"/>
              <a:t>仪器</a:t>
            </a:r>
            <a:endParaRPr lang="en-US" altLang="zh-CN" sz="2000" dirty="0" smtClean="0"/>
          </a:p>
          <a:p>
            <a:pPr marL="0" indent="0" algn="just">
              <a:buFont typeface="Wingdings 2" panose="05020102010507070707" pitchFamily="18" charset="2"/>
              <a:buNone/>
              <a:defRPr/>
            </a:pPr>
            <a:r>
              <a:rPr lang="en-US" altLang="zh-CN" sz="2000" dirty="0" smtClean="0"/>
              <a:t>       </a:t>
            </a:r>
            <a:r>
              <a:rPr lang="zh-CN" altLang="zh-CN" sz="2000" dirty="0" smtClean="0"/>
              <a:t>仿真</a:t>
            </a:r>
            <a:r>
              <a:rPr lang="en-US" altLang="zh-CN" sz="2000" dirty="0"/>
              <a:t>Agilent</a:t>
            </a:r>
            <a:r>
              <a:rPr lang="zh-CN" altLang="zh-CN" sz="2000" dirty="0"/>
              <a:t>仪器有三种：</a:t>
            </a:r>
            <a:r>
              <a:rPr lang="en-US" altLang="zh-CN" sz="2000" dirty="0"/>
              <a:t>Agilent</a:t>
            </a:r>
            <a:r>
              <a:rPr lang="zh-CN" altLang="zh-CN" sz="2000" dirty="0"/>
              <a:t>信号发生器、</a:t>
            </a:r>
            <a:r>
              <a:rPr lang="en-US" altLang="zh-CN" sz="2000" dirty="0"/>
              <a:t>Agilent</a:t>
            </a:r>
            <a:r>
              <a:rPr lang="zh-CN" altLang="zh-CN" sz="2000" dirty="0"/>
              <a:t>万用表、</a:t>
            </a:r>
            <a:r>
              <a:rPr lang="en-US" altLang="zh-CN" sz="2000" dirty="0"/>
              <a:t>Agilent</a:t>
            </a:r>
            <a:r>
              <a:rPr lang="zh-CN" altLang="zh-CN" sz="2000" dirty="0"/>
              <a:t>示波器。这三种仪器与真实仪器的面板，按钮、旋钮操作方式完全相同，使用起来更加真实</a:t>
            </a:r>
            <a:r>
              <a:rPr lang="zh-CN" altLang="zh-CN" sz="2000" dirty="0" smtClean="0"/>
              <a:t>。</a:t>
            </a:r>
            <a:endParaRPr lang="en-US" altLang="zh-CN" sz="2000" dirty="0" smtClean="0"/>
          </a:p>
          <a:p>
            <a:pPr algn="just">
              <a:buFont typeface="Wingdings" panose="05000000000000000000" pitchFamily="2" charset="2"/>
              <a:buChar char="Ø"/>
              <a:defRPr/>
            </a:pPr>
            <a:r>
              <a:rPr lang="en-US" altLang="zh-CN" sz="1400" dirty="0"/>
              <a:t>Agilent</a:t>
            </a:r>
            <a:r>
              <a:rPr lang="zh-CN" altLang="zh-CN" sz="1400" dirty="0"/>
              <a:t>信号发生器的型号是</a:t>
            </a:r>
            <a:r>
              <a:rPr lang="en-US" altLang="zh-CN" sz="1400" dirty="0"/>
              <a:t>33120A</a:t>
            </a:r>
            <a:r>
              <a:rPr lang="zh-CN" altLang="zh-CN" sz="1400" dirty="0"/>
              <a:t>，其图标和面板如</a:t>
            </a:r>
            <a:r>
              <a:rPr lang="zh-CN" altLang="zh-CN" sz="1400" dirty="0" smtClean="0"/>
              <a:t>图</a:t>
            </a:r>
            <a:r>
              <a:rPr lang="en-US" altLang="zh-CN" sz="1400" dirty="0" smtClean="0"/>
              <a:t>27</a:t>
            </a:r>
            <a:r>
              <a:rPr lang="zh-CN" altLang="zh-CN" sz="1400" dirty="0" smtClean="0"/>
              <a:t>所</a:t>
            </a:r>
            <a:r>
              <a:rPr lang="zh-CN" altLang="zh-CN" sz="1400" dirty="0"/>
              <a:t>示，这是一个高性能</a:t>
            </a:r>
            <a:r>
              <a:rPr lang="en-US" altLang="zh-CN" sz="1400" dirty="0"/>
              <a:t>15 MHz</a:t>
            </a:r>
            <a:r>
              <a:rPr lang="zh-CN" altLang="zh-CN" sz="1400" dirty="0"/>
              <a:t>的综合信号发生器，不仅能产生一般的正弦波、方波、三角波和锯齿波，而且还能产生按指上升或下降的波形等一些特殊的波形，并且还可以由</a:t>
            </a:r>
            <a:r>
              <a:rPr lang="en-US" altLang="zh-CN" sz="1400" dirty="0"/>
              <a:t>8~256</a:t>
            </a:r>
            <a:r>
              <a:rPr lang="zh-CN" altLang="zh-CN" sz="1400" dirty="0"/>
              <a:t>点描述的任意波形。</a:t>
            </a:r>
            <a:r>
              <a:rPr lang="en-US" altLang="zh-CN" sz="1400" dirty="0"/>
              <a:t>Agilent</a:t>
            </a:r>
            <a:r>
              <a:rPr lang="zh-CN" altLang="zh-CN" sz="1400" dirty="0"/>
              <a:t>信号发生器有两个连接端，上方是信号输出端，下方是接地端。单击最左侧的电源按钮，即可按照要求输出信号。</a:t>
            </a:r>
            <a:endParaRPr lang="zh-CN" altLang="zh-CN" sz="1400" dirty="0"/>
          </a:p>
          <a:p>
            <a:pPr marL="0" indent="0" algn="just">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r>
              <a:rPr lang="zh-CN" altLang="en-US" sz="1400" dirty="0" smtClean="0"/>
              <a:t>图</a:t>
            </a:r>
            <a:r>
              <a:rPr lang="en-US" altLang="zh-CN" sz="1400" dirty="0" smtClean="0"/>
              <a:t>27</a:t>
            </a:r>
            <a:r>
              <a:rPr lang="en-US" altLang="zh-CN" sz="1400" dirty="0"/>
              <a:t>Agilent</a:t>
            </a:r>
            <a:r>
              <a:rPr lang="zh-CN" altLang="zh-CN" sz="1400" dirty="0"/>
              <a:t>信号发生器</a:t>
            </a: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p:txBody>
      </p:sp>
      <p:pic>
        <p:nvPicPr>
          <p:cNvPr id="38916" name="Picture 57" descr="3"/>
          <p:cNvPicPr>
            <a:picLocks noChangeAspect="1" noChangeArrowheads="1"/>
          </p:cNvPicPr>
          <p:nvPr/>
        </p:nvPicPr>
        <p:blipFill>
          <a:blip r:embed="rId1" cstate="print"/>
          <a:srcRect/>
          <a:stretch>
            <a:fillRect/>
          </a:stretch>
        </p:blipFill>
        <p:spPr bwMode="auto">
          <a:xfrm>
            <a:off x="2339975" y="4221163"/>
            <a:ext cx="3152775" cy="1169987"/>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8195" name="内容占位符 2"/>
          <p:cNvSpPr>
            <a:spLocks noGrp="1"/>
          </p:cNvSpPr>
          <p:nvPr>
            <p:ph idx="1"/>
          </p:nvPr>
        </p:nvSpPr>
        <p:spPr>
          <a:xfrm>
            <a:off x="457200" y="1000125"/>
            <a:ext cx="7239000" cy="5456238"/>
          </a:xfrm>
        </p:spPr>
        <p:txBody>
          <a:bodyPr/>
          <a:lstStyle/>
          <a:p>
            <a:pPr>
              <a:buFont typeface="Wingdings" panose="05000000000000000000" pitchFamily="2" charset="2"/>
              <a:buChar char="Ø"/>
              <a:defRPr/>
            </a:pPr>
            <a:endParaRPr lang="en-US" altLang="zh-CN" sz="1400" dirty="0" smtClean="0"/>
          </a:p>
          <a:p>
            <a:pPr>
              <a:buNone/>
              <a:defRPr/>
            </a:pPr>
            <a:r>
              <a:rPr lang="en-US" altLang="zh-CN" sz="1400" dirty="0" smtClean="0"/>
              <a:t> </a:t>
            </a:r>
            <a:r>
              <a:rPr lang="en-US" altLang="zh-CN" sz="1400" dirty="0" smtClean="0"/>
              <a:t>       Agilent</a:t>
            </a:r>
            <a:r>
              <a:rPr lang="zh-CN" altLang="zh-CN" sz="1400" dirty="0"/>
              <a:t>万用表的型号是</a:t>
            </a:r>
            <a:r>
              <a:rPr lang="en-US" altLang="zh-CN" sz="1400" dirty="0"/>
              <a:t>34401A</a:t>
            </a:r>
            <a:r>
              <a:rPr lang="zh-CN" altLang="zh-CN" sz="1400" dirty="0" smtClean="0"/>
              <a:t>，面</a:t>
            </a:r>
            <a:r>
              <a:rPr lang="zh-CN" altLang="zh-CN" sz="1400" dirty="0"/>
              <a:t>板如</a:t>
            </a:r>
            <a:r>
              <a:rPr lang="zh-CN" altLang="zh-CN" sz="1400" dirty="0" smtClean="0"/>
              <a:t>图</a:t>
            </a:r>
            <a:r>
              <a:rPr lang="en-US" altLang="zh-CN" sz="1400" dirty="0" smtClean="0"/>
              <a:t>28</a:t>
            </a:r>
            <a:r>
              <a:rPr lang="zh-CN" altLang="zh-CN" sz="1400" dirty="0" smtClean="0"/>
              <a:t>所</a:t>
            </a:r>
            <a:r>
              <a:rPr lang="zh-CN" altLang="zh-CN" sz="1400" dirty="0"/>
              <a:t>示，这是一个高性能</a:t>
            </a:r>
            <a:r>
              <a:rPr lang="en-US" altLang="zh-CN" sz="1400" dirty="0"/>
              <a:t>6</a:t>
            </a:r>
            <a:r>
              <a:rPr lang="zh-CN" altLang="zh-CN" sz="1400" dirty="0"/>
              <a:t>位半的数字万用表。</a:t>
            </a:r>
            <a:r>
              <a:rPr lang="en-US" altLang="zh-CN" sz="1400" dirty="0"/>
              <a:t>Agilent</a:t>
            </a:r>
            <a:r>
              <a:rPr lang="zh-CN" altLang="zh-CN" sz="1400" dirty="0"/>
              <a:t>万用表有五个连接端，单击最左侧的电源按钮，即可使用万用表，实现对各种电类参数的测量</a:t>
            </a:r>
            <a:r>
              <a:rPr lang="zh-CN" altLang="zh-CN" sz="1400" dirty="0" smtClean="0"/>
              <a:t>。</a:t>
            </a:r>
            <a:r>
              <a:rPr lang="en-US" altLang="zh-CN" sz="1400" dirty="0" smtClean="0"/>
              <a:t> Agilent</a:t>
            </a:r>
            <a:r>
              <a:rPr lang="zh-CN" altLang="zh-CN" sz="1400" dirty="0"/>
              <a:t>万用表有五个接线端中上侧的</a:t>
            </a:r>
            <a:r>
              <a:rPr lang="en-US" altLang="zh-CN" sz="1400" dirty="0"/>
              <a:t>4</a:t>
            </a:r>
            <a:r>
              <a:rPr lang="zh-CN" altLang="zh-CN" sz="1400" dirty="0"/>
              <a:t>个为两对测量输入端，左侧上下两个输入端（</a:t>
            </a:r>
            <a:r>
              <a:rPr lang="en-US" altLang="zh-CN" sz="1400" dirty="0" smtClean="0"/>
              <a:t>2  </a:t>
            </a:r>
            <a:r>
              <a:rPr lang="zh-CN" altLang="zh-CN" sz="1400" dirty="0" smtClean="0"/>
              <a:t>和</a:t>
            </a:r>
            <a:r>
              <a:rPr lang="en-US" altLang="zh-CN" sz="1400" dirty="0"/>
              <a:t>4</a:t>
            </a:r>
            <a:r>
              <a:rPr lang="zh-CN" altLang="zh-CN" sz="1400" dirty="0"/>
              <a:t>端口）红色为正极，黑为负极，最高电压范围为</a:t>
            </a:r>
            <a:r>
              <a:rPr lang="en-US" altLang="zh-CN" sz="1400" dirty="0"/>
              <a:t>1000V</a:t>
            </a:r>
            <a:r>
              <a:rPr lang="zh-CN" altLang="zh-CN" sz="1400" dirty="0"/>
              <a:t>；右侧上下两个输入端（</a:t>
            </a:r>
            <a:r>
              <a:rPr lang="en-US" altLang="zh-CN" sz="1400" dirty="0"/>
              <a:t>1</a:t>
            </a:r>
            <a:r>
              <a:rPr lang="zh-CN" altLang="zh-CN" sz="1400" dirty="0"/>
              <a:t>和</a:t>
            </a:r>
            <a:r>
              <a:rPr lang="en-US" altLang="zh-CN" sz="1400" dirty="0"/>
              <a:t>3</a:t>
            </a:r>
            <a:r>
              <a:rPr lang="zh-CN" altLang="zh-CN" sz="1400" dirty="0"/>
              <a:t>端口）最高电压范围为</a:t>
            </a:r>
            <a:r>
              <a:rPr lang="en-US" altLang="zh-CN" sz="1400" dirty="0"/>
              <a:t>200V</a:t>
            </a:r>
            <a:r>
              <a:rPr lang="zh-CN" altLang="zh-CN" sz="1400" dirty="0"/>
              <a:t>；最下面的一个端子（</a:t>
            </a:r>
            <a:r>
              <a:rPr lang="en-US" altLang="zh-CN" sz="1400" dirty="0"/>
              <a:t>5</a:t>
            </a:r>
            <a:r>
              <a:rPr lang="zh-CN" altLang="zh-CN" sz="1400" dirty="0"/>
              <a:t>端口）为电流测试输入端。</a:t>
            </a:r>
            <a:endParaRPr lang="zh-CN" altLang="zh-CN" sz="1400" dirty="0"/>
          </a:p>
          <a:p>
            <a:pPr marL="0" indent="0" algn="just">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r>
              <a:rPr lang="zh-CN" altLang="en-US" sz="1400" dirty="0" smtClean="0"/>
              <a:t>图</a:t>
            </a:r>
            <a:r>
              <a:rPr lang="en-US" altLang="zh-CN" sz="1400" dirty="0" smtClean="0"/>
              <a:t>28Agilent</a:t>
            </a:r>
            <a:r>
              <a:rPr lang="zh-CN" altLang="en-US" sz="1400" dirty="0" smtClean="0"/>
              <a:t>万用表</a:t>
            </a: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p:txBody>
      </p:sp>
      <p:pic>
        <p:nvPicPr>
          <p:cNvPr id="39940" name="Picture 59" descr="3"/>
          <p:cNvPicPr>
            <a:picLocks noChangeAspect="1" noChangeArrowheads="1"/>
          </p:cNvPicPr>
          <p:nvPr/>
        </p:nvPicPr>
        <p:blipFill>
          <a:blip r:embed="rId1" cstate="print"/>
          <a:srcRect/>
          <a:stretch>
            <a:fillRect/>
          </a:stretch>
        </p:blipFill>
        <p:spPr bwMode="auto">
          <a:xfrm>
            <a:off x="2555875" y="3716338"/>
            <a:ext cx="2998788" cy="13239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8195" name="内容占位符 2"/>
          <p:cNvSpPr>
            <a:spLocks noGrp="1"/>
          </p:cNvSpPr>
          <p:nvPr>
            <p:ph idx="1"/>
          </p:nvPr>
        </p:nvSpPr>
        <p:spPr>
          <a:xfrm>
            <a:off x="457200" y="1000125"/>
            <a:ext cx="7239000" cy="5456238"/>
          </a:xfrm>
        </p:spPr>
        <p:txBody>
          <a:bodyPr/>
          <a:lstStyle/>
          <a:p>
            <a:pPr>
              <a:buFont typeface="Wingdings" panose="05000000000000000000" pitchFamily="2" charset="2"/>
              <a:buChar char="Ø"/>
              <a:defRPr/>
            </a:pPr>
            <a:endParaRPr lang="en-US" altLang="zh-CN" sz="1400" dirty="0" smtClean="0"/>
          </a:p>
          <a:p>
            <a:pPr>
              <a:buNone/>
              <a:defRPr/>
            </a:pPr>
            <a:r>
              <a:rPr lang="en-US" altLang="zh-CN" sz="1400" dirty="0" smtClean="0"/>
              <a:t> </a:t>
            </a:r>
            <a:r>
              <a:rPr lang="en-US" altLang="zh-CN" sz="1400" dirty="0" smtClean="0"/>
              <a:t>       Agilent</a:t>
            </a:r>
            <a:r>
              <a:rPr lang="zh-CN" altLang="zh-CN" sz="1400" dirty="0"/>
              <a:t>示波器的型号是</a:t>
            </a:r>
            <a:r>
              <a:rPr lang="en-US" altLang="zh-CN" sz="1400" dirty="0"/>
              <a:t>54622D</a:t>
            </a:r>
            <a:r>
              <a:rPr lang="zh-CN" altLang="zh-CN" sz="1400" dirty="0" smtClean="0"/>
              <a:t>，面</a:t>
            </a:r>
            <a:r>
              <a:rPr lang="zh-CN" altLang="zh-CN" sz="1400" dirty="0"/>
              <a:t>板如</a:t>
            </a:r>
            <a:r>
              <a:rPr lang="zh-CN" altLang="zh-CN" sz="1400" dirty="0" smtClean="0"/>
              <a:t>图</a:t>
            </a:r>
            <a:r>
              <a:rPr lang="en-US" altLang="zh-CN" sz="1400" dirty="0" smtClean="0"/>
              <a:t>29</a:t>
            </a:r>
            <a:r>
              <a:rPr lang="zh-CN" altLang="zh-CN" sz="1400" dirty="0" smtClean="0"/>
              <a:t>所</a:t>
            </a:r>
            <a:r>
              <a:rPr lang="zh-CN" altLang="zh-CN" sz="1400" dirty="0"/>
              <a:t>示，这是一个</a:t>
            </a:r>
            <a:r>
              <a:rPr lang="en-US" altLang="zh-CN" sz="1400" dirty="0"/>
              <a:t>2</a:t>
            </a:r>
            <a:r>
              <a:rPr lang="zh-CN" altLang="zh-CN" sz="1400" dirty="0"/>
              <a:t>模拟通道、</a:t>
            </a:r>
            <a:r>
              <a:rPr lang="en-US" altLang="zh-CN" sz="1400" dirty="0"/>
              <a:t>16</a:t>
            </a:r>
            <a:r>
              <a:rPr lang="zh-CN" altLang="zh-CN" sz="1400" dirty="0"/>
              <a:t>个逻辑通道、</a:t>
            </a:r>
            <a:r>
              <a:rPr lang="en-US" altLang="zh-CN" sz="1400" dirty="0"/>
              <a:t>100-MHz</a:t>
            </a:r>
            <a:r>
              <a:rPr lang="zh-CN" altLang="zh-CN" sz="1400" dirty="0"/>
              <a:t>的宽带示波器。</a:t>
            </a:r>
            <a:r>
              <a:rPr lang="en-US" altLang="zh-CN" sz="1400" dirty="0"/>
              <a:t>Agilent</a:t>
            </a:r>
            <a:r>
              <a:rPr lang="zh-CN" altLang="zh-CN" sz="1400" dirty="0"/>
              <a:t>示波器下方的</a:t>
            </a:r>
            <a:r>
              <a:rPr lang="en-US" altLang="zh-CN" sz="1400" dirty="0"/>
              <a:t>18</a:t>
            </a:r>
            <a:r>
              <a:rPr lang="zh-CN" altLang="zh-CN" sz="1400" dirty="0"/>
              <a:t>个连接端是信号输入端，右侧是外接触发信号端、接地端。单击电源按钮，即可使用示波器，实现各种波形的测量</a:t>
            </a:r>
            <a:r>
              <a:rPr lang="zh-CN" altLang="zh-CN" sz="1400" dirty="0" smtClean="0"/>
              <a:t>。</a:t>
            </a:r>
            <a:r>
              <a:rPr lang="en-US" altLang="zh-CN" sz="1400" dirty="0"/>
              <a:t>Agilent</a:t>
            </a:r>
            <a:r>
              <a:rPr lang="zh-CN" altLang="zh-CN" sz="1400" dirty="0"/>
              <a:t>示波器有</a:t>
            </a:r>
            <a:r>
              <a:rPr lang="en-US" altLang="zh-CN" sz="1400" dirty="0"/>
              <a:t>21</a:t>
            </a:r>
            <a:r>
              <a:rPr lang="zh-CN" altLang="zh-CN" sz="1400" dirty="0"/>
              <a:t>个接线端，端口</a:t>
            </a:r>
            <a:r>
              <a:rPr lang="en-US" altLang="zh-CN" sz="1400" dirty="0"/>
              <a:t>1</a:t>
            </a:r>
            <a:r>
              <a:rPr lang="zh-CN" altLang="zh-CN" sz="1400" dirty="0"/>
              <a:t>和</a:t>
            </a:r>
            <a:r>
              <a:rPr lang="en-US" altLang="zh-CN" sz="1400" dirty="0"/>
              <a:t>2</a:t>
            </a:r>
            <a:r>
              <a:rPr lang="zh-CN" altLang="zh-CN" sz="1400" dirty="0"/>
              <a:t>为模拟信号输入端，端口</a:t>
            </a:r>
            <a:r>
              <a:rPr lang="en-US" altLang="zh-CN" sz="1400" dirty="0"/>
              <a:t>D0-</a:t>
            </a:r>
            <a:r>
              <a:rPr lang="zh-CN" altLang="zh-CN" sz="1400" dirty="0"/>
              <a:t>Ｄ</a:t>
            </a:r>
            <a:r>
              <a:rPr lang="en-US" altLang="zh-CN" sz="1400" dirty="0"/>
              <a:t>15</a:t>
            </a:r>
            <a:r>
              <a:rPr lang="zh-CN" altLang="zh-CN" sz="1400" dirty="0"/>
              <a:t>为数字信号输入端口，端口</a:t>
            </a:r>
            <a:r>
              <a:rPr lang="en-US" altLang="zh-CN" sz="1400" dirty="0"/>
              <a:t>3</a:t>
            </a:r>
            <a:r>
              <a:rPr lang="zh-CN" altLang="zh-CN" sz="1400" dirty="0"/>
              <a:t>为触发源，端口４为数字地，端口</a:t>
            </a:r>
            <a:r>
              <a:rPr lang="en-US" altLang="zh-CN" sz="1400" dirty="0"/>
              <a:t>5</a:t>
            </a:r>
            <a:r>
              <a:rPr lang="zh-CN" altLang="zh-CN" sz="1400" dirty="0"/>
              <a:t>为探针。</a:t>
            </a:r>
            <a:endParaRPr lang="zh-CN" altLang="zh-CN" sz="1400" dirty="0"/>
          </a:p>
          <a:p>
            <a:pPr marL="0" indent="0" algn="just">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r>
              <a:rPr lang="zh-CN" altLang="en-US" sz="1400" dirty="0" smtClean="0"/>
              <a:t>图</a:t>
            </a:r>
            <a:r>
              <a:rPr lang="en-US" altLang="zh-CN" sz="1400" dirty="0" smtClean="0"/>
              <a:t>29Agilent</a:t>
            </a:r>
            <a:r>
              <a:rPr lang="zh-CN" altLang="en-US" sz="1400" dirty="0" smtClean="0"/>
              <a:t>示波器</a:t>
            </a: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p:txBody>
      </p:sp>
      <p:pic>
        <p:nvPicPr>
          <p:cNvPr id="40964" name="Picture 63" descr="3"/>
          <p:cNvPicPr>
            <a:picLocks noChangeAspect="1" noChangeArrowheads="1"/>
          </p:cNvPicPr>
          <p:nvPr/>
        </p:nvPicPr>
        <p:blipFill>
          <a:blip r:embed="rId1" cstate="print"/>
          <a:srcRect/>
          <a:stretch>
            <a:fillRect/>
          </a:stretch>
        </p:blipFill>
        <p:spPr bwMode="auto">
          <a:xfrm>
            <a:off x="2916238" y="3933825"/>
            <a:ext cx="2692400" cy="13684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41987"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16</a:t>
            </a:r>
            <a:r>
              <a:rPr lang="zh-CN" altLang="en-US" sz="2400" dirty="0" smtClean="0"/>
              <a:t>）</a:t>
            </a:r>
            <a:r>
              <a:rPr lang="zh-CN" altLang="zh-CN" sz="2400" b="1" dirty="0" smtClean="0"/>
              <a:t>测量探针</a:t>
            </a:r>
            <a:endParaRPr lang="zh-CN" altLang="zh-CN" sz="2400" b="1" dirty="0" smtClean="0"/>
          </a:p>
          <a:p>
            <a:pPr marL="0" indent="0" algn="just">
              <a:buFont typeface="Wingdings 2" panose="05020102010507070707" pitchFamily="18" charset="2"/>
              <a:buNone/>
            </a:pPr>
            <a:r>
              <a:rPr lang="en-US" altLang="zh-CN" sz="2000" dirty="0" smtClean="0"/>
              <a:t>      </a:t>
            </a:r>
            <a:r>
              <a:rPr lang="zh-CN" altLang="zh-CN" sz="2000" dirty="0" smtClean="0"/>
              <a:t>测量探针是一种实时快速测量参数的虚拟仪器，它的使用可以分为静态探针和动态探针两种使用方法。</a:t>
            </a:r>
            <a:endParaRPr lang="zh-CN" altLang="zh-CN" sz="2000" dirty="0" smtClean="0"/>
          </a:p>
          <a:p>
            <a:pPr marL="0" indent="0" algn="just">
              <a:buFont typeface="Wingdings 2" panose="05020102010507070707" pitchFamily="18" charset="2"/>
              <a:buNone/>
            </a:pPr>
            <a:r>
              <a:rPr lang="en-US" altLang="zh-CN" sz="2000" dirty="0" smtClean="0"/>
              <a:t>      </a:t>
            </a:r>
            <a:r>
              <a:rPr lang="zh-CN" altLang="zh-CN" sz="2000" dirty="0" smtClean="0"/>
              <a:t>动态探针指的是在电路仿真的过程中，在仪表栏选择</a:t>
            </a:r>
            <a:r>
              <a:rPr lang="en-US" altLang="zh-CN" sz="2000" dirty="0" smtClean="0"/>
              <a:t>Measurement Probe</a:t>
            </a:r>
            <a:r>
              <a:rPr lang="zh-CN" altLang="zh-CN" sz="2000" dirty="0" smtClean="0"/>
              <a:t>，将探针放置在电路中导线的任意一点，黄色窗口可立即显示处此处电路的电压值，如图</a:t>
            </a:r>
            <a:r>
              <a:rPr lang="en-US" altLang="zh-CN" sz="2000" dirty="0" smtClean="0"/>
              <a:t>30</a:t>
            </a:r>
            <a:r>
              <a:rPr lang="zh-CN" altLang="zh-CN" sz="2000" dirty="0" smtClean="0"/>
              <a:t>所示。动态探针的属性可在</a:t>
            </a:r>
            <a:r>
              <a:rPr lang="en-US" altLang="zh-CN" sz="2000" dirty="0" smtClean="0"/>
              <a:t>Simulate</a:t>
            </a:r>
            <a:r>
              <a:rPr lang="zh-CN" altLang="zh-CN" sz="2000" dirty="0" smtClean="0"/>
              <a:t>→</a:t>
            </a:r>
            <a:r>
              <a:rPr lang="en-US" altLang="zh-CN" sz="2000" dirty="0" smtClean="0"/>
              <a:t>dynamic probe properties</a:t>
            </a:r>
            <a:r>
              <a:rPr lang="zh-CN" altLang="zh-CN" sz="2000" dirty="0" smtClean="0"/>
              <a:t>设置。</a:t>
            </a:r>
            <a:endParaRPr lang="zh-CN" altLang="zh-CN" sz="2000" dirty="0" smtClean="0"/>
          </a:p>
          <a:p>
            <a:pPr marL="0" indent="0" algn="just">
              <a:buFont typeface="Wingdings 2" panose="05020102010507070707" pitchFamily="18" charset="2"/>
              <a:buNone/>
            </a:pPr>
            <a:endParaRPr lang="en-US" altLang="zh-CN" sz="1400" dirty="0" smtClean="0"/>
          </a:p>
          <a:p>
            <a:pPr marL="0" indent="0" algn="just">
              <a:buFont typeface="Wingdings 2" panose="05020102010507070707" pitchFamily="18" charset="2"/>
              <a:buNone/>
            </a:pPr>
            <a:endParaRPr lang="en-US" altLang="zh-CN" sz="1400" dirty="0" smtClean="0"/>
          </a:p>
          <a:p>
            <a:pPr marL="0" indent="0" algn="just">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30</a:t>
            </a:r>
            <a:r>
              <a:rPr lang="zh-CN" altLang="zh-CN" sz="1400" dirty="0" smtClean="0"/>
              <a:t>动态探针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41988" name="图片 1"/>
          <p:cNvPicPr>
            <a:picLocks noChangeAspect="1" noChangeArrowheads="1"/>
          </p:cNvPicPr>
          <p:nvPr/>
        </p:nvPicPr>
        <p:blipFill>
          <a:blip r:embed="rId1" cstate="print"/>
          <a:srcRect/>
          <a:stretch>
            <a:fillRect/>
          </a:stretch>
        </p:blipFill>
        <p:spPr bwMode="auto">
          <a:xfrm>
            <a:off x="3608388" y="4797425"/>
            <a:ext cx="928687" cy="541338"/>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43011"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zh-CN" altLang="zh-CN" sz="2400" dirty="0" smtClean="0"/>
              <a:t>静态</a:t>
            </a:r>
            <a:r>
              <a:rPr lang="zh-CN" altLang="zh-CN" sz="2400" dirty="0" smtClean="0"/>
              <a:t>探针指，将探针拖至任意导线上，并将探针放置在导线上，探针下侧会弹出黄色的小窗口，如图</a:t>
            </a:r>
            <a:r>
              <a:rPr lang="en-US" altLang="zh-CN" sz="2400" dirty="0" smtClean="0"/>
              <a:t>31</a:t>
            </a:r>
            <a:r>
              <a:rPr lang="zh-CN" altLang="zh-CN" sz="2400" dirty="0" smtClean="0"/>
              <a:t>所示，即可读出探测值。测量探针的测量结果根据电路理论计算得出，不对电路产生任何影响。</a:t>
            </a:r>
            <a:endParaRPr lang="en-US" altLang="zh-CN" sz="1400" dirty="0" smtClean="0"/>
          </a:p>
          <a:p>
            <a:pPr marL="0" indent="0" algn="just">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31</a:t>
            </a:r>
            <a:r>
              <a:rPr lang="zh-CN" altLang="en-US" sz="1400" dirty="0" smtClean="0"/>
              <a:t>静</a:t>
            </a:r>
            <a:r>
              <a:rPr lang="zh-CN" altLang="zh-CN" sz="1400" dirty="0" smtClean="0"/>
              <a:t>态探针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43012" name="Picture 2"/>
          <p:cNvPicPr>
            <a:picLocks noChangeAspect="1" noChangeArrowheads="1"/>
          </p:cNvPicPr>
          <p:nvPr/>
        </p:nvPicPr>
        <p:blipFill>
          <a:blip r:embed="rId1" cstate="print"/>
          <a:srcRect/>
          <a:stretch>
            <a:fillRect/>
          </a:stretch>
        </p:blipFill>
        <p:spPr bwMode="auto">
          <a:xfrm>
            <a:off x="3635375" y="3430588"/>
            <a:ext cx="723900" cy="94297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44035"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zh-CN" altLang="zh-CN" sz="2400" dirty="0" smtClean="0"/>
              <a:t>双击</a:t>
            </a:r>
            <a:r>
              <a:rPr lang="zh-CN" altLang="zh-CN" sz="2400" dirty="0" smtClean="0"/>
              <a:t>探针可对探针属性参数进行修改，选择</a:t>
            </a:r>
            <a:r>
              <a:rPr lang="en-US" altLang="zh-CN" sz="2400" dirty="0" smtClean="0"/>
              <a:t>Display</a:t>
            </a:r>
            <a:r>
              <a:rPr lang="zh-CN" altLang="zh-CN" sz="2400" dirty="0" smtClean="0"/>
              <a:t>页，如图</a:t>
            </a:r>
            <a:r>
              <a:rPr lang="en-US" altLang="zh-CN" sz="2400" dirty="0" smtClean="0"/>
              <a:t>32</a:t>
            </a:r>
            <a:r>
              <a:rPr lang="zh-CN" altLang="zh-CN" sz="2400" dirty="0" smtClean="0"/>
              <a:t>所示，可用来设置背景和文本颜色以及信息显示框的大小。可选择</a:t>
            </a:r>
            <a:r>
              <a:rPr lang="en-US" altLang="zh-CN" sz="2400" dirty="0" smtClean="0"/>
              <a:t>Auto-Resize</a:t>
            </a:r>
            <a:r>
              <a:rPr lang="zh-CN" altLang="zh-CN" sz="2400" dirty="0" smtClean="0"/>
              <a:t>项，自动将信息框的大小调整到适合显示的所有内容大小。测量探针的属性页，通过修改</a:t>
            </a:r>
            <a:r>
              <a:rPr lang="en-US" altLang="zh-CN" sz="2400" dirty="0" smtClean="0"/>
              <a:t>Show</a:t>
            </a:r>
            <a:r>
              <a:rPr lang="zh-CN" altLang="zh-CN" sz="2400" dirty="0" smtClean="0"/>
              <a:t>下面的属性，可选择在探针显示的参数。</a:t>
            </a:r>
            <a:endParaRPr lang="zh-CN" altLang="zh-CN" sz="2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32display</a:t>
            </a:r>
            <a:r>
              <a:rPr lang="zh-CN" altLang="zh-CN" sz="1400" dirty="0" smtClean="0"/>
              <a:t>页</a:t>
            </a:r>
            <a:r>
              <a:rPr lang="en-US" altLang="zh-CN" sz="1400" dirty="0" smtClean="0"/>
              <a:t> </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44036" name="Picture 70" descr="3"/>
          <p:cNvPicPr>
            <a:picLocks noChangeAspect="1" noChangeArrowheads="1"/>
          </p:cNvPicPr>
          <p:nvPr/>
        </p:nvPicPr>
        <p:blipFill>
          <a:blip r:embed="rId1" cstate="print"/>
          <a:srcRect/>
          <a:stretch>
            <a:fillRect/>
          </a:stretch>
        </p:blipFill>
        <p:spPr bwMode="auto">
          <a:xfrm>
            <a:off x="3276600" y="3502025"/>
            <a:ext cx="1792288" cy="23114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45059" name="内容占位符 2"/>
          <p:cNvSpPr>
            <a:spLocks noGrp="1"/>
          </p:cNvSpPr>
          <p:nvPr>
            <p:ph idx="1"/>
          </p:nvPr>
        </p:nvSpPr>
        <p:spPr>
          <a:xfrm>
            <a:off x="457200" y="1000125"/>
            <a:ext cx="7239000" cy="5456238"/>
          </a:xfrm>
        </p:spPr>
        <p:txBody>
          <a:bodyPr/>
          <a:lstStyle/>
          <a:p>
            <a:pPr marL="0" indent="0" algn="just">
              <a:buFont typeface="Wingdings 2" panose="05020102010507070707" pitchFamily="18" charset="2"/>
              <a:buNone/>
            </a:pPr>
            <a:r>
              <a:rPr lang="en-US" altLang="zh-CN" sz="2400" dirty="0" smtClean="0"/>
              <a:t>       </a:t>
            </a:r>
            <a:endParaRPr lang="en-US" altLang="zh-CN" sz="2400" dirty="0" smtClean="0"/>
          </a:p>
          <a:p>
            <a:pPr marL="0" indent="0" algn="just">
              <a:buFont typeface="Wingdings 2" panose="05020102010507070707" pitchFamily="18" charset="2"/>
              <a:buNone/>
            </a:pPr>
            <a:r>
              <a:rPr lang="zh-CN" altLang="zh-CN" sz="2400" dirty="0" smtClean="0"/>
              <a:t>测量</a:t>
            </a:r>
            <a:r>
              <a:rPr lang="zh-CN" altLang="zh-CN" sz="2400" dirty="0" smtClean="0"/>
              <a:t>探针的属性页</a:t>
            </a:r>
            <a:r>
              <a:rPr lang="zh-CN" altLang="en-US" sz="2400" dirty="0" smtClean="0"/>
              <a:t>如图</a:t>
            </a:r>
            <a:r>
              <a:rPr lang="en-US" altLang="zh-CN" sz="2400" dirty="0" smtClean="0"/>
              <a:t>33</a:t>
            </a:r>
            <a:r>
              <a:rPr lang="zh-CN" altLang="zh-CN" sz="2400" dirty="0" smtClean="0"/>
              <a:t>，通过修改</a:t>
            </a:r>
            <a:r>
              <a:rPr lang="en-US" altLang="zh-CN" sz="2400" dirty="0" smtClean="0"/>
              <a:t>Show</a:t>
            </a:r>
            <a:r>
              <a:rPr lang="zh-CN" altLang="zh-CN" sz="2400" dirty="0" smtClean="0"/>
              <a:t>下面的属性，可选择在探针显示的参数。</a:t>
            </a:r>
            <a:endParaRPr lang="zh-CN" altLang="zh-CN" sz="2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r>
              <a:rPr lang="zh-CN" altLang="en-US" sz="1400" dirty="0" smtClean="0"/>
              <a:t>图</a:t>
            </a:r>
            <a:r>
              <a:rPr lang="en-US" altLang="zh-CN" sz="1400" dirty="0" smtClean="0"/>
              <a:t>33  </a:t>
            </a:r>
            <a:r>
              <a:rPr lang="zh-CN" altLang="zh-CN" sz="1400" dirty="0" smtClean="0"/>
              <a:t>测量探针属性</a:t>
            </a: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pic>
        <p:nvPicPr>
          <p:cNvPr id="45060" name="Picture 71" descr="3"/>
          <p:cNvPicPr>
            <a:picLocks noChangeAspect="1" noChangeArrowheads="1"/>
          </p:cNvPicPr>
          <p:nvPr/>
        </p:nvPicPr>
        <p:blipFill>
          <a:blip r:embed="rId1" cstate="print"/>
          <a:srcRect/>
          <a:stretch>
            <a:fillRect/>
          </a:stretch>
        </p:blipFill>
        <p:spPr bwMode="auto">
          <a:xfrm>
            <a:off x="3131840" y="2564904"/>
            <a:ext cx="1800225" cy="2311400"/>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46083"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pPr>
            <a:endParaRPr lang="en-US" altLang="zh-CN" sz="2400" dirty="0" smtClean="0"/>
          </a:p>
          <a:p>
            <a:pPr marL="0" indent="0">
              <a:buFont typeface="Wingdings 2" panose="05020102010507070707" pitchFamily="18" charset="2"/>
              <a:buNone/>
            </a:pPr>
            <a:r>
              <a:rPr lang="en-US" altLang="zh-CN" sz="2400" dirty="0" smtClean="0"/>
              <a:t>17</a:t>
            </a:r>
            <a:r>
              <a:rPr lang="zh-CN" altLang="en-US" sz="2400" dirty="0" smtClean="0"/>
              <a:t>）</a:t>
            </a:r>
            <a:r>
              <a:rPr lang="en-US" altLang="zh-CN" sz="2400" dirty="0" err="1" smtClean="0"/>
              <a:t>LabVIEW</a:t>
            </a:r>
            <a:r>
              <a:rPr lang="zh-CN" altLang="zh-CN" sz="2400" dirty="0" smtClean="0"/>
              <a:t>仪器</a:t>
            </a:r>
            <a:endParaRPr lang="en-US" altLang="zh-CN" sz="2400" dirty="0" smtClean="0"/>
          </a:p>
          <a:p>
            <a:pPr marL="0" indent="0" algn="just">
              <a:buFont typeface="Wingdings 2" panose="05020102010507070707" pitchFamily="18" charset="2"/>
              <a:buNone/>
            </a:pPr>
            <a:r>
              <a:rPr lang="en-US" altLang="zh-CN" sz="2000" dirty="0" smtClean="0"/>
              <a:t>       </a:t>
            </a:r>
            <a:r>
              <a:rPr lang="en-US" altLang="zh-CN" sz="2000" dirty="0" err="1" smtClean="0"/>
              <a:t>LabVIEW</a:t>
            </a:r>
            <a:r>
              <a:rPr lang="zh-CN" altLang="zh-CN" sz="2000" dirty="0" smtClean="0"/>
              <a:t>技术是一种图形化的编程语言和开发环境，使用这种语言编程可以从枯燥繁琐的程序代码中解放出来，绘制虚拟仪器流程图，可以利用</a:t>
            </a:r>
            <a:r>
              <a:rPr lang="en-US" altLang="zh-CN" sz="2000" dirty="0" err="1" smtClean="0"/>
              <a:t>Multisim</a:t>
            </a:r>
            <a:r>
              <a:rPr lang="en-US" altLang="zh-CN" sz="2000" dirty="0" smtClean="0"/>
              <a:t> 12.0</a:t>
            </a:r>
            <a:r>
              <a:rPr lang="zh-CN" altLang="zh-CN" sz="2000" dirty="0" smtClean="0"/>
              <a:t>中的虚拟采样仪器，也可以设计和自造虚拟仪器。</a:t>
            </a:r>
            <a:endParaRPr lang="zh-CN" altLang="zh-CN" sz="2000" dirty="0" smtClean="0"/>
          </a:p>
          <a:p>
            <a:pPr marL="0" indent="0" algn="just">
              <a:buFont typeface="Wingdings 2" panose="05020102010507070707" pitchFamily="18" charset="2"/>
              <a:buNone/>
            </a:pPr>
            <a:r>
              <a:rPr lang="en-US" altLang="zh-CN" sz="2000" dirty="0" smtClean="0"/>
              <a:t>       </a:t>
            </a:r>
            <a:r>
              <a:rPr lang="en-US" altLang="zh-CN" sz="2000" dirty="0" err="1" smtClean="0"/>
              <a:t>Multisim</a:t>
            </a:r>
            <a:r>
              <a:rPr lang="en-US" altLang="zh-CN" sz="2000" dirty="0" smtClean="0"/>
              <a:t> 12</a:t>
            </a:r>
            <a:r>
              <a:rPr lang="zh-CN" altLang="zh-CN" sz="2000" dirty="0" smtClean="0"/>
              <a:t>中有七种虚拟采样仪器，分别是</a:t>
            </a:r>
            <a:r>
              <a:rPr lang="en-US" altLang="zh-CN" sz="2000" dirty="0" smtClean="0"/>
              <a:t>BJT Analyzer</a:t>
            </a:r>
            <a:r>
              <a:rPr lang="zh-CN" altLang="zh-CN" sz="2000" dirty="0" smtClean="0"/>
              <a:t>（三极管特性分析仪）、</a:t>
            </a:r>
            <a:r>
              <a:rPr lang="en-US" altLang="zh-CN" sz="2000" dirty="0" smtClean="0"/>
              <a:t>Impedance Meter</a:t>
            </a:r>
            <a:r>
              <a:rPr lang="zh-CN" altLang="zh-CN" sz="2000" dirty="0" smtClean="0"/>
              <a:t>（阻抗计），</a:t>
            </a:r>
            <a:r>
              <a:rPr lang="en-US" altLang="zh-CN" sz="2000" dirty="0" smtClean="0"/>
              <a:t>Microphone</a:t>
            </a:r>
            <a:r>
              <a:rPr lang="zh-CN" altLang="zh-CN" sz="2000" dirty="0" smtClean="0"/>
              <a:t>（麦克风），</a:t>
            </a:r>
            <a:r>
              <a:rPr lang="en-US" altLang="zh-CN" sz="2000" dirty="0" smtClean="0"/>
              <a:t>Speaker</a:t>
            </a:r>
            <a:r>
              <a:rPr lang="zh-CN" altLang="zh-CN" sz="2000" dirty="0" smtClean="0"/>
              <a:t>（播放器），</a:t>
            </a:r>
            <a:r>
              <a:rPr lang="en-US" altLang="zh-CN" sz="2000" dirty="0" err="1" smtClean="0"/>
              <a:t>Sgnal</a:t>
            </a:r>
            <a:r>
              <a:rPr lang="en-US" altLang="zh-CN" sz="2000" dirty="0" smtClean="0"/>
              <a:t> </a:t>
            </a:r>
            <a:r>
              <a:rPr lang="en-US" altLang="zh-CN" sz="2000" dirty="0" err="1" smtClean="0"/>
              <a:t>Anatyzer</a:t>
            </a:r>
            <a:r>
              <a:rPr lang="zh-CN" altLang="zh-CN" sz="2000" dirty="0" smtClean="0"/>
              <a:t>（信号分析仪），</a:t>
            </a:r>
            <a:r>
              <a:rPr lang="en-US" altLang="zh-CN" sz="2000" dirty="0" err="1" smtClean="0"/>
              <a:t>Sgnal</a:t>
            </a:r>
            <a:r>
              <a:rPr lang="en-US" altLang="zh-CN" sz="2000" dirty="0" smtClean="0"/>
              <a:t> Generator </a:t>
            </a:r>
            <a:r>
              <a:rPr lang="zh-CN" altLang="zh-CN" sz="2000" dirty="0" smtClean="0"/>
              <a:t>（信号发生器），</a:t>
            </a:r>
            <a:r>
              <a:rPr lang="en-US" altLang="zh-CN" sz="2000" dirty="0" smtClean="0"/>
              <a:t>Streaming Signal Generator</a:t>
            </a:r>
            <a:r>
              <a:rPr lang="zh-CN" altLang="zh-CN" sz="2000" dirty="0" smtClean="0"/>
              <a:t>（流信号发生器）。</a:t>
            </a:r>
            <a:endParaRPr lang="zh-CN" altLang="zh-CN" sz="2000" dirty="0" smtClean="0"/>
          </a:p>
          <a:p>
            <a:pPr marL="0" indent="0" algn="just">
              <a:buFont typeface="Wingdings 2" panose="05020102010507070707" pitchFamily="18" charset="2"/>
              <a:buNone/>
            </a:pPr>
            <a:endParaRPr lang="en-US" altLang="zh-CN" sz="1400" dirty="0" smtClean="0"/>
          </a:p>
          <a:p>
            <a:pPr marL="0" indent="0" algn="just">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a:p>
            <a:pPr marL="0" indent="0" algn="ctr">
              <a:buFont typeface="Wingdings 2" panose="05020102010507070707" pitchFamily="18" charset="2"/>
              <a:buNone/>
            </a:pPr>
            <a:endParaRPr lang="en-US" altLang="zh-CN" sz="1400" dirty="0" smtClean="0"/>
          </a:p>
        </p:txBody>
      </p:sp>
    </p:spTree>
  </p:cSld>
  <p:clrMapOvr>
    <a:masterClrMapping/>
  </p:clrMapOvr>
  <p:transition spd="med"/>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675"/>
            <a:ext cx="7239000" cy="608013"/>
          </a:xfrm>
        </p:spPr>
        <p:txBody>
          <a:bodyPr>
            <a:normAutofit fontScale="90000"/>
          </a:bodyPr>
          <a:lstStyle/>
          <a:p>
            <a:pPr eaLnBrk="1" fontAlgn="auto" hangingPunct="1">
              <a:spcAft>
                <a:spcPts val="0"/>
              </a:spcAft>
              <a:defRPr/>
            </a:pPr>
            <a:br>
              <a:rPr lang="en-US" altLang="zh-CN" dirty="0"/>
            </a:br>
            <a:br>
              <a:rPr lang="zh-CN" altLang="zh-CN" dirty="0"/>
            </a:br>
            <a:r>
              <a:rPr lang="en-US" altLang="zh-CN" dirty="0" err="1"/>
              <a:t>Multisim</a:t>
            </a:r>
            <a:r>
              <a:rPr lang="en-US" altLang="zh-CN" dirty="0"/>
              <a:t> 12.0</a:t>
            </a:r>
            <a:r>
              <a:rPr lang="zh-CN" altLang="zh-CN" dirty="0"/>
              <a:t>常用虚拟仪器</a:t>
            </a:r>
            <a:endParaRPr lang="zh-CN" altLang="en-US" dirty="0"/>
          </a:p>
        </p:txBody>
      </p:sp>
      <p:sp>
        <p:nvSpPr>
          <p:cNvPr id="8195" name="内容占位符 2"/>
          <p:cNvSpPr>
            <a:spLocks noGrp="1"/>
          </p:cNvSpPr>
          <p:nvPr>
            <p:ph idx="1"/>
          </p:nvPr>
        </p:nvSpPr>
        <p:spPr>
          <a:xfrm>
            <a:off x="457200" y="1000125"/>
            <a:ext cx="7239000" cy="5456238"/>
          </a:xfrm>
        </p:spPr>
        <p:txBody>
          <a:bodyPr/>
          <a:lstStyle/>
          <a:p>
            <a:pPr marL="0" indent="0">
              <a:buFont typeface="Wingdings 2" panose="05020102010507070707" pitchFamily="18" charset="2"/>
              <a:buNone/>
              <a:defRPr/>
            </a:pPr>
            <a:endParaRPr lang="en-US" altLang="zh-CN" sz="2400" dirty="0" smtClean="0"/>
          </a:p>
          <a:p>
            <a:pPr marL="0" indent="0">
              <a:buFont typeface="Wingdings 2" panose="05020102010507070707" pitchFamily="18" charset="2"/>
              <a:buNone/>
              <a:defRPr/>
            </a:pPr>
            <a:r>
              <a:rPr lang="en-US" altLang="zh-CN" sz="2400" dirty="0" smtClean="0"/>
              <a:t>18</a:t>
            </a:r>
            <a:r>
              <a:rPr lang="zh-CN" altLang="en-US" sz="2400" dirty="0" smtClean="0"/>
              <a:t>）电流</a:t>
            </a:r>
            <a:r>
              <a:rPr lang="zh-CN" altLang="zh-CN" sz="2400" b="1" dirty="0" smtClean="0"/>
              <a:t>探</a:t>
            </a:r>
            <a:r>
              <a:rPr lang="zh-CN" altLang="en-US" sz="2400" b="1" dirty="0" smtClean="0"/>
              <a:t>头</a:t>
            </a:r>
            <a:r>
              <a:rPr lang="en-US" altLang="zh-CN" sz="2000" dirty="0" smtClean="0"/>
              <a:t>      </a:t>
            </a:r>
            <a:endParaRPr lang="en-US" altLang="zh-CN" sz="2000" dirty="0" smtClean="0"/>
          </a:p>
          <a:p>
            <a:pPr marL="0" indent="0">
              <a:buFont typeface="Wingdings 2" panose="05020102010507070707" pitchFamily="18" charset="2"/>
              <a:buNone/>
              <a:defRPr/>
            </a:pPr>
            <a:r>
              <a:rPr lang="en-US" altLang="zh-CN" sz="2000" dirty="0"/>
              <a:t> </a:t>
            </a:r>
            <a:r>
              <a:rPr lang="en-US" altLang="zh-CN" sz="2000" dirty="0" smtClean="0"/>
              <a:t>     </a:t>
            </a:r>
            <a:r>
              <a:rPr lang="zh-CN" altLang="zh-CN" sz="2000" dirty="0" smtClean="0"/>
              <a:t>电流探头</a:t>
            </a:r>
            <a:r>
              <a:rPr lang="zh-CN" altLang="zh-CN" sz="2000" dirty="0"/>
              <a:t>可将电路流过的电流转换为一个电压值输出，输出端可以和示波器相连，示波器上显示的波形与电流的波形等比例。电流和电压之间的比率设置如</a:t>
            </a:r>
            <a:r>
              <a:rPr lang="zh-CN" altLang="zh-CN" sz="2000" dirty="0" smtClean="0"/>
              <a:t>图</a:t>
            </a:r>
            <a:r>
              <a:rPr lang="en-US" altLang="zh-CN" sz="2000" dirty="0" smtClean="0"/>
              <a:t>34</a:t>
            </a:r>
            <a:r>
              <a:rPr lang="zh-CN" altLang="zh-CN" sz="2000" dirty="0" smtClean="0"/>
              <a:t>所</a:t>
            </a:r>
            <a:r>
              <a:rPr lang="zh-CN" altLang="zh-CN" sz="2000" dirty="0"/>
              <a:t>示。具体使用步骤如下。</a:t>
            </a:r>
            <a:endParaRPr lang="zh-CN" altLang="zh-CN" sz="2000" dirty="0"/>
          </a:p>
          <a:p>
            <a:pPr>
              <a:buFont typeface="Wingdings" panose="05000000000000000000" pitchFamily="2" charset="2"/>
              <a:buChar char="Ø"/>
              <a:defRPr/>
            </a:pPr>
            <a:r>
              <a:rPr lang="zh-CN" altLang="zh-CN" sz="2000" dirty="0" smtClean="0"/>
              <a:t>在</a:t>
            </a:r>
            <a:r>
              <a:rPr lang="zh-CN" altLang="zh-CN" sz="2000" dirty="0"/>
              <a:t>仪器工具栏中选择电流探针，并将电流探针放置在目标位置（注意不能放置在节点上）。</a:t>
            </a:r>
            <a:endParaRPr lang="zh-CN" altLang="zh-CN" sz="2000" dirty="0"/>
          </a:p>
          <a:p>
            <a:pPr>
              <a:buFont typeface="Wingdings" panose="05000000000000000000" pitchFamily="2" charset="2"/>
              <a:buChar char="Ø"/>
              <a:defRPr/>
            </a:pPr>
            <a:r>
              <a:rPr lang="zh-CN" altLang="zh-CN" sz="2000" dirty="0" smtClean="0"/>
              <a:t>放置</a:t>
            </a:r>
            <a:r>
              <a:rPr lang="zh-CN" altLang="zh-CN" sz="2000" dirty="0"/>
              <a:t>示波器在工作区中，并将电流探针的输出端口连接至示波器。</a:t>
            </a:r>
            <a:endParaRPr lang="zh-CN" altLang="zh-CN" sz="2000" dirty="0"/>
          </a:p>
          <a:p>
            <a:pPr marL="0" indent="0" algn="just">
              <a:buFont typeface="Wingdings 2" panose="05020102010507070707" pitchFamily="18" charset="2"/>
              <a:buNone/>
              <a:defRPr/>
            </a:pPr>
            <a:endParaRPr lang="en-US" altLang="zh-CN" sz="1400" dirty="0"/>
          </a:p>
          <a:p>
            <a:pPr marL="0" indent="0" algn="just">
              <a:buFont typeface="Wingdings 2" panose="05020102010507070707" pitchFamily="18" charset="2"/>
              <a:buNone/>
              <a:defRPr/>
            </a:pPr>
            <a:endParaRPr lang="en-US" altLang="zh-CN" sz="1400" dirty="0" smtClean="0"/>
          </a:p>
          <a:p>
            <a:pPr marL="0" indent="0" algn="just">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r>
              <a:rPr lang="zh-CN" altLang="en-US" sz="1400" dirty="0" smtClean="0"/>
              <a:t>图</a:t>
            </a:r>
            <a:r>
              <a:rPr lang="en-US" altLang="zh-CN" sz="1400" dirty="0" smtClean="0"/>
              <a:t>34</a:t>
            </a:r>
            <a:r>
              <a:rPr lang="zh-CN" altLang="zh-CN" sz="1400" dirty="0"/>
              <a:t>电流和电压之间的比率</a:t>
            </a:r>
            <a:endParaRPr lang="en-US" altLang="zh-CN" sz="1400" dirty="0" smtClean="0"/>
          </a:p>
          <a:p>
            <a:pPr marL="0" indent="0" algn="ctr">
              <a:buFont typeface="Wingdings 2" panose="05020102010507070707" pitchFamily="18" charset="2"/>
              <a:buNone/>
              <a:defRPr/>
            </a:pPr>
            <a:endParaRPr lang="en-US" altLang="zh-CN" sz="1400" dirty="0"/>
          </a:p>
          <a:p>
            <a:pPr marL="0" indent="0" algn="ctr">
              <a:buFont typeface="Wingdings 2" panose="05020102010507070707" pitchFamily="18" charset="2"/>
              <a:buNone/>
              <a:defRPr/>
            </a:pPr>
            <a:endParaRPr lang="en-US" altLang="zh-CN" sz="1400" dirty="0" smtClean="0"/>
          </a:p>
          <a:p>
            <a:pPr marL="0" indent="0" algn="ctr">
              <a:buFont typeface="Wingdings 2" panose="05020102010507070707" pitchFamily="18" charset="2"/>
              <a:buNone/>
              <a:defRPr/>
            </a:pPr>
            <a:endParaRPr lang="en-US" altLang="zh-CN" sz="1400" dirty="0"/>
          </a:p>
        </p:txBody>
      </p:sp>
      <p:pic>
        <p:nvPicPr>
          <p:cNvPr id="47108" name="Picture 73" descr="3"/>
          <p:cNvPicPr>
            <a:picLocks noChangeAspect="1" noChangeArrowheads="1"/>
          </p:cNvPicPr>
          <p:nvPr/>
        </p:nvPicPr>
        <p:blipFill>
          <a:blip r:embed="rId1" cstate="print"/>
          <a:srcRect/>
          <a:stretch>
            <a:fillRect/>
          </a:stretch>
        </p:blipFill>
        <p:spPr bwMode="auto">
          <a:xfrm>
            <a:off x="3132138" y="4821238"/>
            <a:ext cx="2041525" cy="644525"/>
          </a:xfrm>
          <a:prstGeom prst="rect">
            <a:avLst/>
          </a:prstGeom>
          <a:noFill/>
          <a:ln w="9525">
            <a:noFill/>
            <a:miter lim="800000"/>
            <a:headEnd/>
            <a:tailEnd/>
          </a:ln>
        </p:spPr>
      </p:pic>
    </p:spTree>
  </p:cSld>
  <p:clrMapOvr>
    <a:masterClrMapping/>
  </p:clrMapOvr>
  <p:transition spd="med"/>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zh-CN" altLang="en-US" dirty="0"/>
          </a:p>
        </p:txBody>
      </p:sp>
      <p:sp>
        <p:nvSpPr>
          <p:cNvPr id="5" name="标题 1"/>
          <p:cNvSpPr txBox="1"/>
          <p:nvPr/>
        </p:nvSpPr>
        <p:spPr bwMode="auto">
          <a:xfrm>
            <a:off x="611560" y="0"/>
            <a:ext cx="7932716" cy="648072"/>
          </a:xfrm>
          <a:prstGeom prst="rect">
            <a:avLst/>
          </a:prstGeom>
          <a:noFill/>
          <a:ln w="9525">
            <a:noFill/>
            <a:miter lim="800000"/>
          </a:ln>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0" cap="none" spc="0" normalizeH="0" baseline="0" noProof="0" dirty="0" smtClean="0">
                <a:ln>
                  <a:noFill/>
                </a:ln>
                <a:solidFill>
                  <a:schemeClr val="bg2"/>
                </a:solidFill>
                <a:effectLst/>
                <a:uLnTx/>
                <a:uFillTx/>
                <a:latin typeface="+mj-lt"/>
                <a:ea typeface="+mj-ea"/>
                <a:cs typeface="+mj-cs"/>
              </a:rPr>
              <a:t>第四节  </a:t>
            </a:r>
            <a:r>
              <a:rPr kumimoji="0" lang="en-US" altLang="zh-CN" sz="2800" b="1" i="0" u="none" strike="noStrike" kern="0" cap="none" spc="0" normalizeH="0" baseline="0" noProof="0" dirty="0" err="1" smtClean="0">
                <a:ln>
                  <a:noFill/>
                </a:ln>
                <a:solidFill>
                  <a:schemeClr val="bg2"/>
                </a:solidFill>
                <a:effectLst/>
                <a:uLnTx/>
                <a:uFillTx/>
                <a:latin typeface="+mj-lt"/>
                <a:ea typeface="+mj-ea"/>
                <a:cs typeface="+mj-cs"/>
              </a:rPr>
              <a:t>Multisim</a:t>
            </a:r>
            <a:r>
              <a:rPr kumimoji="0" lang="en-US" altLang="zh-CN" sz="2800" b="1" i="0" u="none" strike="noStrike" kern="0" cap="none" spc="0" normalizeH="0" baseline="0" noProof="0" dirty="0" smtClean="0">
                <a:ln>
                  <a:noFill/>
                </a:ln>
                <a:solidFill>
                  <a:schemeClr val="bg2"/>
                </a:solidFill>
                <a:effectLst/>
                <a:uLnTx/>
                <a:uFillTx/>
                <a:latin typeface="+mj-lt"/>
                <a:ea typeface="+mj-ea"/>
                <a:cs typeface="+mj-cs"/>
              </a:rPr>
              <a:t> l2</a:t>
            </a:r>
            <a:r>
              <a:rPr kumimoji="0" lang="zh-CN" altLang="zh-CN" sz="2800" b="1" i="0" u="none" strike="noStrike" kern="0" cap="none" spc="0" normalizeH="0" baseline="0" noProof="0" dirty="0" smtClean="0">
                <a:ln>
                  <a:noFill/>
                </a:ln>
                <a:solidFill>
                  <a:schemeClr val="bg2"/>
                </a:solidFill>
                <a:effectLst/>
                <a:uLnTx/>
                <a:uFillTx/>
                <a:latin typeface="+mj-lt"/>
                <a:ea typeface="+mj-ea"/>
                <a:cs typeface="+mj-cs"/>
              </a:rPr>
              <a:t>在模拟电路中的应用和仿真</a:t>
            </a:r>
            <a:endParaRPr kumimoji="0" lang="zh-CN" altLang="en-US" sz="2800" b="1" i="0" u="none" strike="noStrike" kern="0" cap="none" spc="0" normalizeH="0" baseline="0" noProof="0" dirty="0">
              <a:ln>
                <a:noFill/>
              </a:ln>
              <a:solidFill>
                <a:schemeClr val="bg2"/>
              </a:solidFill>
              <a:effectLst/>
              <a:uLnTx/>
              <a:uFillTx/>
              <a:latin typeface="+mj-lt"/>
              <a:ea typeface="+mj-ea"/>
              <a:cs typeface="+mj-cs"/>
            </a:endParaRPr>
          </a:p>
        </p:txBody>
      </p:sp>
      <p:grpSp>
        <p:nvGrpSpPr>
          <p:cNvPr id="7" name="组合 4"/>
          <p:cNvGrpSpPr/>
          <p:nvPr/>
        </p:nvGrpSpPr>
        <p:grpSpPr bwMode="auto">
          <a:xfrm>
            <a:off x="1403648" y="764704"/>
            <a:ext cx="4103688" cy="1117600"/>
            <a:chOff x="2267744" y="195486"/>
            <a:chExt cx="4104456" cy="1117366"/>
          </a:xfrm>
        </p:grpSpPr>
        <p:sp>
          <p:nvSpPr>
            <p:cNvPr id="8" name="椭圆 7"/>
            <p:cNvSpPr/>
            <p:nvPr/>
          </p:nvSpPr>
          <p:spPr>
            <a:xfrm>
              <a:off x="2267744" y="195486"/>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圆角矩形 8"/>
            <p:cNvSpPr/>
            <p:nvPr/>
          </p:nvSpPr>
          <p:spPr>
            <a:xfrm>
              <a:off x="2945734" y="474828"/>
              <a:ext cx="3426466"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椭圆 9"/>
            <p:cNvSpPr/>
            <p:nvPr/>
          </p:nvSpPr>
          <p:spPr>
            <a:xfrm>
              <a:off x="2347134" y="274844"/>
              <a:ext cx="957442"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1" name="组合 8"/>
          <p:cNvGrpSpPr/>
          <p:nvPr/>
        </p:nvGrpSpPr>
        <p:grpSpPr bwMode="auto">
          <a:xfrm>
            <a:off x="1835696" y="1772816"/>
            <a:ext cx="4103687" cy="1117600"/>
            <a:chOff x="2627784" y="1392664"/>
            <a:chExt cx="4104456" cy="1117366"/>
          </a:xfrm>
        </p:grpSpPr>
        <p:sp>
          <p:nvSpPr>
            <p:cNvPr id="12" name="椭圆 11"/>
            <p:cNvSpPr/>
            <p:nvPr/>
          </p:nvSpPr>
          <p:spPr>
            <a:xfrm>
              <a:off x="2627784" y="1392664"/>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圆角矩形 12"/>
            <p:cNvSpPr/>
            <p:nvPr/>
          </p:nvSpPr>
          <p:spPr>
            <a:xfrm>
              <a:off x="3305773" y="1672006"/>
              <a:ext cx="3426467"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 name="椭圆 13"/>
            <p:cNvSpPr/>
            <p:nvPr/>
          </p:nvSpPr>
          <p:spPr>
            <a:xfrm>
              <a:off x="2707174" y="1472022"/>
              <a:ext cx="957441"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5" name="组合 12"/>
          <p:cNvGrpSpPr/>
          <p:nvPr/>
        </p:nvGrpSpPr>
        <p:grpSpPr bwMode="auto">
          <a:xfrm>
            <a:off x="2195736" y="2780928"/>
            <a:ext cx="4103688" cy="1117600"/>
            <a:chOff x="2987824" y="2630625"/>
            <a:chExt cx="4104456" cy="1117366"/>
          </a:xfrm>
        </p:grpSpPr>
        <p:sp>
          <p:nvSpPr>
            <p:cNvPr id="16" name="椭圆 15"/>
            <p:cNvSpPr/>
            <p:nvPr/>
          </p:nvSpPr>
          <p:spPr>
            <a:xfrm>
              <a:off x="2987824" y="2630625"/>
              <a:ext cx="1117809"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7" name="圆角矩形 16"/>
            <p:cNvSpPr/>
            <p:nvPr/>
          </p:nvSpPr>
          <p:spPr>
            <a:xfrm>
              <a:off x="3665814" y="2909967"/>
              <a:ext cx="3426466"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椭圆 17"/>
            <p:cNvSpPr/>
            <p:nvPr/>
          </p:nvSpPr>
          <p:spPr>
            <a:xfrm>
              <a:off x="3067214" y="2709983"/>
              <a:ext cx="957442"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nvGrpSpPr>
          <p:cNvPr id="19" name="组合 16"/>
          <p:cNvGrpSpPr/>
          <p:nvPr/>
        </p:nvGrpSpPr>
        <p:grpSpPr bwMode="auto">
          <a:xfrm>
            <a:off x="2555776" y="3861048"/>
            <a:ext cx="4105275" cy="1117600"/>
            <a:chOff x="3347864" y="3827803"/>
            <a:chExt cx="4104456" cy="1117366"/>
          </a:xfrm>
        </p:grpSpPr>
        <p:sp>
          <p:nvSpPr>
            <p:cNvPr id="20" name="椭圆 19"/>
            <p:cNvSpPr/>
            <p:nvPr/>
          </p:nvSpPr>
          <p:spPr>
            <a:xfrm>
              <a:off x="3347864" y="3827803"/>
              <a:ext cx="1117377"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1" name="圆角矩形 20"/>
            <p:cNvSpPr/>
            <p:nvPr/>
          </p:nvSpPr>
          <p:spPr>
            <a:xfrm>
              <a:off x="4025592" y="4107145"/>
              <a:ext cx="3426728"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2" name="椭圆 21"/>
            <p:cNvSpPr/>
            <p:nvPr/>
          </p:nvSpPr>
          <p:spPr>
            <a:xfrm>
              <a:off x="3427223" y="3907161"/>
              <a:ext cx="958659"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23" name="TextBox 24"/>
          <p:cNvSpPr txBox="1">
            <a:spLocks noChangeArrowheads="1"/>
          </p:cNvSpPr>
          <p:nvPr/>
        </p:nvSpPr>
        <p:spPr bwMode="auto">
          <a:xfrm>
            <a:off x="1670348" y="1061567"/>
            <a:ext cx="584200"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01</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24" name="TextBox 25"/>
          <p:cNvSpPr txBox="1">
            <a:spLocks noChangeArrowheads="1"/>
          </p:cNvSpPr>
          <p:nvPr/>
        </p:nvSpPr>
        <p:spPr bwMode="auto">
          <a:xfrm>
            <a:off x="2100808" y="2069679"/>
            <a:ext cx="585788" cy="523875"/>
          </a:xfrm>
          <a:prstGeom prst="rect">
            <a:avLst/>
          </a:prstGeom>
          <a:noFill/>
          <a:ln w="9525">
            <a:noFill/>
            <a:miter lim="800000"/>
          </a:ln>
        </p:spPr>
        <p:txBody>
          <a:bodyPr wrap="none">
            <a:spAutoFit/>
          </a:bodyPr>
          <a:lstStyle/>
          <a:p>
            <a:r>
              <a:rPr lang="en-US" altLang="zh-CN" sz="2800" b="1" dirty="0">
                <a:solidFill>
                  <a:srgbClr val="FFC000"/>
                </a:solidFill>
                <a:latin typeface="Arial Unicode MS" panose="020B0604020202020204" charset="-122"/>
                <a:ea typeface="Arial Unicode MS" panose="020B0604020202020204" charset="-122"/>
                <a:cs typeface="Arial Unicode MS" panose="020B0604020202020204" charset="-122"/>
              </a:rPr>
              <a:t>02</a:t>
            </a:r>
            <a:endParaRPr lang="zh-CN" altLang="en-US" sz="2800" b="1" dirty="0">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25" name="TextBox 26"/>
          <p:cNvSpPr txBox="1">
            <a:spLocks noChangeArrowheads="1"/>
          </p:cNvSpPr>
          <p:nvPr/>
        </p:nvSpPr>
        <p:spPr bwMode="auto">
          <a:xfrm>
            <a:off x="2460849" y="3077791"/>
            <a:ext cx="585787"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03</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26" name="TextBox 27"/>
          <p:cNvSpPr txBox="1">
            <a:spLocks noChangeArrowheads="1"/>
          </p:cNvSpPr>
          <p:nvPr/>
        </p:nvSpPr>
        <p:spPr bwMode="auto">
          <a:xfrm>
            <a:off x="2822476" y="4157911"/>
            <a:ext cx="585788" cy="523875"/>
          </a:xfrm>
          <a:prstGeom prst="rect">
            <a:avLst/>
          </a:prstGeom>
          <a:noFill/>
          <a:ln w="9525">
            <a:noFill/>
            <a:miter lim="800000"/>
          </a:ln>
        </p:spPr>
        <p:txBody>
          <a:bodyPr wrap="none">
            <a:spAutoFit/>
          </a:bodyPr>
          <a:lstStyle/>
          <a:p>
            <a:r>
              <a:rPr lang="en-US" altLang="zh-CN" sz="2800" b="1">
                <a:solidFill>
                  <a:srgbClr val="FFC000"/>
                </a:solidFill>
                <a:latin typeface="Arial Unicode MS" panose="020B0604020202020204" charset="-122"/>
                <a:ea typeface="Arial Unicode MS" panose="020B0604020202020204" charset="-122"/>
                <a:cs typeface="Arial Unicode MS" panose="020B0604020202020204" charset="-122"/>
              </a:rPr>
              <a:t>04</a:t>
            </a:r>
            <a:endParaRPr lang="zh-CN" altLang="en-US" sz="2800" b="1">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27" name="矩形 2"/>
          <p:cNvSpPr>
            <a:spLocks noChangeArrowheads="1"/>
          </p:cNvSpPr>
          <p:nvPr/>
        </p:nvSpPr>
        <p:spPr bwMode="auto">
          <a:xfrm>
            <a:off x="2521248" y="1139354"/>
            <a:ext cx="3070071" cy="523220"/>
          </a:xfrm>
          <a:prstGeom prst="rect">
            <a:avLst/>
          </a:prstGeom>
          <a:noFill/>
          <a:ln w="9525">
            <a:noFill/>
            <a:miter lim="800000"/>
          </a:ln>
        </p:spPr>
        <p:txBody>
          <a:bodyPr wrap="none">
            <a:spAutoFit/>
          </a:bodyPr>
          <a:lstStyle/>
          <a:p>
            <a:r>
              <a:rPr lang="zh-CN" altLang="en-US" dirty="0" smtClean="0"/>
              <a:t>模拟运算电路</a:t>
            </a:r>
            <a:r>
              <a:rPr lang="en-US" altLang="zh-CN" dirty="0" err="1" smtClean="0"/>
              <a:t>仿真</a:t>
            </a:r>
            <a:endParaRPr lang="zh-CN" altLang="en-US" dirty="0"/>
          </a:p>
        </p:txBody>
      </p:sp>
      <p:sp>
        <p:nvSpPr>
          <p:cNvPr id="28" name="矩形 3"/>
          <p:cNvSpPr>
            <a:spLocks noChangeArrowheads="1"/>
          </p:cNvSpPr>
          <p:nvPr/>
        </p:nvSpPr>
        <p:spPr bwMode="auto">
          <a:xfrm>
            <a:off x="2953296" y="2147466"/>
            <a:ext cx="2709396" cy="523220"/>
          </a:xfrm>
          <a:prstGeom prst="rect">
            <a:avLst/>
          </a:prstGeom>
          <a:noFill/>
          <a:ln w="9525">
            <a:noFill/>
            <a:miter lim="800000"/>
          </a:ln>
        </p:spPr>
        <p:txBody>
          <a:bodyPr wrap="none">
            <a:spAutoFit/>
          </a:bodyPr>
          <a:lstStyle/>
          <a:p>
            <a:r>
              <a:rPr lang="zh-CN" altLang="en-US" dirty="0" smtClean="0"/>
              <a:t>电压比较器</a:t>
            </a:r>
            <a:r>
              <a:rPr lang="en-US" altLang="zh-CN" dirty="0" err="1" smtClean="0"/>
              <a:t>仿真</a:t>
            </a:r>
            <a:endParaRPr lang="zh-CN" altLang="en-US" dirty="0"/>
          </a:p>
        </p:txBody>
      </p:sp>
      <p:sp>
        <p:nvSpPr>
          <p:cNvPr id="29" name="矩形 4"/>
          <p:cNvSpPr>
            <a:spLocks noChangeArrowheads="1"/>
          </p:cNvSpPr>
          <p:nvPr/>
        </p:nvSpPr>
        <p:spPr bwMode="auto">
          <a:xfrm>
            <a:off x="3240311" y="3203203"/>
            <a:ext cx="3070071" cy="523220"/>
          </a:xfrm>
          <a:prstGeom prst="rect">
            <a:avLst/>
          </a:prstGeom>
          <a:noFill/>
          <a:ln w="9525">
            <a:noFill/>
            <a:miter lim="800000"/>
          </a:ln>
        </p:spPr>
        <p:txBody>
          <a:bodyPr wrap="none">
            <a:spAutoFit/>
          </a:bodyPr>
          <a:lstStyle/>
          <a:p>
            <a:r>
              <a:rPr lang="zh-CN" altLang="en-US" dirty="0" smtClean="0"/>
              <a:t>波形发生电路仿真</a:t>
            </a:r>
            <a:endParaRPr lang="zh-CN" altLang="en-US" dirty="0"/>
          </a:p>
        </p:txBody>
      </p:sp>
      <p:sp>
        <p:nvSpPr>
          <p:cNvPr id="30" name="矩形 8"/>
          <p:cNvSpPr>
            <a:spLocks noChangeArrowheads="1"/>
          </p:cNvSpPr>
          <p:nvPr/>
        </p:nvSpPr>
        <p:spPr bwMode="auto">
          <a:xfrm>
            <a:off x="3598764" y="4235698"/>
            <a:ext cx="2348720" cy="523220"/>
          </a:xfrm>
          <a:prstGeom prst="rect">
            <a:avLst/>
          </a:prstGeom>
          <a:noFill/>
          <a:ln w="9525">
            <a:noFill/>
            <a:miter lim="800000"/>
          </a:ln>
        </p:spPr>
        <p:txBody>
          <a:bodyPr wrap="none">
            <a:spAutoFit/>
          </a:bodyPr>
          <a:lstStyle/>
          <a:p>
            <a:r>
              <a:rPr lang="zh-CN" altLang="en-US" dirty="0" smtClean="0"/>
              <a:t>有源滤波电路</a:t>
            </a:r>
            <a:endParaRPr lang="zh-CN" altLang="en-US" dirty="0"/>
          </a:p>
        </p:txBody>
      </p:sp>
      <p:grpSp>
        <p:nvGrpSpPr>
          <p:cNvPr id="37" name="组合 16"/>
          <p:cNvGrpSpPr/>
          <p:nvPr/>
        </p:nvGrpSpPr>
        <p:grpSpPr bwMode="auto">
          <a:xfrm>
            <a:off x="2987824" y="4941168"/>
            <a:ext cx="4105275" cy="1117600"/>
            <a:chOff x="3347864" y="3827803"/>
            <a:chExt cx="4104456" cy="1117366"/>
          </a:xfrm>
        </p:grpSpPr>
        <p:sp>
          <p:nvSpPr>
            <p:cNvPr id="38" name="椭圆 37"/>
            <p:cNvSpPr/>
            <p:nvPr/>
          </p:nvSpPr>
          <p:spPr>
            <a:xfrm>
              <a:off x="3347864" y="3827803"/>
              <a:ext cx="1117377" cy="1117366"/>
            </a:xfrm>
            <a:prstGeom prst="ellipse">
              <a:avLst/>
            </a:prstGeom>
            <a:solidFill>
              <a:schemeClr val="accent6">
                <a:lumMod val="75000"/>
              </a:schemeClr>
            </a:solidFill>
            <a:ln w="6350">
              <a:solidFill>
                <a:schemeClr val="bg1"/>
              </a:solidFill>
            </a:ln>
            <a:effectLst>
              <a:outerShdw blurRad="228600" sx="115000" sy="115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9" name="圆角矩形 38"/>
            <p:cNvSpPr/>
            <p:nvPr/>
          </p:nvSpPr>
          <p:spPr>
            <a:xfrm>
              <a:off x="4025592" y="4107145"/>
              <a:ext cx="3426728" cy="558683"/>
            </a:xfrm>
            <a:prstGeom prst="roundRect">
              <a:avLst>
                <a:gd name="adj" fmla="val 50000"/>
              </a:avLst>
            </a:prstGeom>
            <a:solidFill>
              <a:schemeClr val="bg1"/>
            </a:solidFill>
            <a:ln w="31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0" name="椭圆 39"/>
            <p:cNvSpPr/>
            <p:nvPr/>
          </p:nvSpPr>
          <p:spPr>
            <a:xfrm>
              <a:off x="3427223" y="3907161"/>
              <a:ext cx="958659" cy="958649"/>
            </a:xfrm>
            <a:prstGeom prst="ellipse">
              <a:avLst/>
            </a:prstGeom>
            <a:solidFill>
              <a:schemeClr val="bg1"/>
            </a:solidFill>
            <a:ln w="3175">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41" name="TextBox 27"/>
          <p:cNvSpPr txBox="1">
            <a:spLocks noChangeArrowheads="1"/>
          </p:cNvSpPr>
          <p:nvPr/>
        </p:nvSpPr>
        <p:spPr bwMode="auto">
          <a:xfrm>
            <a:off x="3254524" y="5238031"/>
            <a:ext cx="585417" cy="523220"/>
          </a:xfrm>
          <a:prstGeom prst="rect">
            <a:avLst/>
          </a:prstGeom>
          <a:noFill/>
          <a:ln w="9525">
            <a:noFill/>
            <a:miter lim="800000"/>
          </a:ln>
        </p:spPr>
        <p:txBody>
          <a:bodyPr wrap="none">
            <a:spAutoFit/>
          </a:bodyPr>
          <a:lstStyle/>
          <a:p>
            <a:r>
              <a:rPr lang="en-US" altLang="zh-CN" sz="2800" b="1" dirty="0" smtClean="0">
                <a:solidFill>
                  <a:srgbClr val="FFC000"/>
                </a:solidFill>
                <a:latin typeface="Arial Unicode MS" panose="020B0604020202020204" charset="-122"/>
                <a:ea typeface="Arial Unicode MS" panose="020B0604020202020204" charset="-122"/>
                <a:cs typeface="Arial Unicode MS" panose="020B0604020202020204" charset="-122"/>
              </a:rPr>
              <a:t>05</a:t>
            </a:r>
            <a:endParaRPr lang="zh-CN" altLang="en-US" sz="2800" b="1" dirty="0">
              <a:solidFill>
                <a:srgbClr val="FFC000"/>
              </a:solidFill>
              <a:latin typeface="Arial Unicode MS" panose="020B0604020202020204" charset="-122"/>
              <a:ea typeface="Arial Unicode MS" panose="020B0604020202020204" charset="-122"/>
              <a:cs typeface="Arial Unicode MS" panose="020B0604020202020204" charset="-122"/>
            </a:endParaRPr>
          </a:p>
        </p:txBody>
      </p:sp>
      <p:sp>
        <p:nvSpPr>
          <p:cNvPr id="42" name="矩形 8"/>
          <p:cNvSpPr>
            <a:spLocks noChangeArrowheads="1"/>
          </p:cNvSpPr>
          <p:nvPr/>
        </p:nvSpPr>
        <p:spPr bwMode="auto">
          <a:xfrm>
            <a:off x="4030812" y="5315818"/>
            <a:ext cx="3070071" cy="523220"/>
          </a:xfrm>
          <a:prstGeom prst="rect">
            <a:avLst/>
          </a:prstGeom>
          <a:noFill/>
          <a:ln w="9525">
            <a:noFill/>
            <a:miter lim="800000"/>
          </a:ln>
        </p:spPr>
        <p:txBody>
          <a:bodyPr wrap="none">
            <a:spAutoFit/>
          </a:bodyPr>
          <a:lstStyle/>
          <a:p>
            <a:r>
              <a:rPr lang="zh-CN" altLang="en-US" dirty="0" smtClean="0"/>
              <a:t>直流稳压电源电路</a:t>
            </a:r>
            <a:endParaRPr lang="zh-CN" altLang="en-US" dirty="0"/>
          </a:p>
        </p:txBody>
      </p:sp>
    </p:spTree>
  </p:cSld>
  <p:clrMapOvr>
    <a:masterClrMapping/>
  </p:clrMapOvr>
  <p:transition spd="med"/>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8229600" cy="883741"/>
          </a:xfrm>
        </p:spPr>
        <p:txBody>
          <a:bodyPr/>
          <a:lstStyle/>
          <a:p>
            <a:r>
              <a:rPr lang="zh-CN" altLang="en-US" dirty="0" smtClean="0"/>
              <a:t>实验五</a:t>
            </a:r>
            <a:r>
              <a:rPr lang="zh-CN" altLang="en-US" dirty="0" smtClean="0">
                <a:solidFill>
                  <a:srgbClr val="993300"/>
                </a:solidFill>
              </a:rPr>
              <a:t> </a:t>
            </a:r>
            <a:r>
              <a:rPr lang="zh-CN" altLang="en-US" dirty="0" smtClean="0">
                <a:solidFill>
                  <a:srgbClr val="993300"/>
                </a:solidFill>
              </a:rPr>
              <a:t> 集成</a:t>
            </a:r>
            <a:r>
              <a:rPr lang="zh-CN" altLang="en-US" dirty="0" smtClean="0">
                <a:solidFill>
                  <a:srgbClr val="993300"/>
                </a:solidFill>
              </a:rPr>
              <a:t>运算放大器应用（</a:t>
            </a:r>
            <a:r>
              <a:rPr lang="en-US" altLang="zh-CN" dirty="0" smtClean="0">
                <a:solidFill>
                  <a:srgbClr val="993300"/>
                </a:solidFill>
              </a:rPr>
              <a:t>Ⅰ</a:t>
            </a:r>
            <a:r>
              <a:rPr lang="zh-CN" altLang="en-US" dirty="0" smtClean="0">
                <a:solidFill>
                  <a:srgbClr val="993300"/>
                </a:solidFill>
              </a:rPr>
              <a:t>）</a:t>
            </a:r>
            <a:br>
              <a:rPr lang="en-US" altLang="zh-CN" dirty="0" smtClean="0">
                <a:solidFill>
                  <a:srgbClr val="993300"/>
                </a:solidFill>
              </a:rPr>
            </a:br>
            <a:r>
              <a:rPr lang="en-US" altLang="zh-CN" dirty="0" smtClean="0">
                <a:solidFill>
                  <a:srgbClr val="993300"/>
                </a:solidFill>
              </a:rPr>
              <a:t> </a:t>
            </a:r>
            <a:r>
              <a:rPr lang="en-US" altLang="zh-CN" dirty="0" smtClean="0">
                <a:solidFill>
                  <a:srgbClr val="993300"/>
                </a:solidFill>
              </a:rPr>
              <a:t>                                   </a:t>
            </a:r>
            <a:r>
              <a:rPr lang="zh-CN" altLang="en-US" dirty="0" smtClean="0">
                <a:solidFill>
                  <a:srgbClr val="993300"/>
                </a:solidFill>
              </a:rPr>
              <a:t>──</a:t>
            </a:r>
            <a:r>
              <a:rPr lang="zh-CN" altLang="en-US" dirty="0" smtClean="0">
                <a:solidFill>
                  <a:srgbClr val="993300"/>
                </a:solidFill>
              </a:rPr>
              <a:t>模拟运算电路 </a:t>
            </a:r>
            <a:br>
              <a:rPr lang="zh-CN" altLang="en-US" dirty="0" smtClean="0">
                <a:solidFill>
                  <a:srgbClr val="993300"/>
                </a:solidFill>
              </a:rPr>
            </a:br>
            <a:endParaRPr lang="zh-CN" altLang="en-US" dirty="0"/>
          </a:p>
        </p:txBody>
      </p:sp>
      <p:sp>
        <p:nvSpPr>
          <p:cNvPr id="3" name="内容占位符 2"/>
          <p:cNvSpPr>
            <a:spLocks noGrp="1"/>
          </p:cNvSpPr>
          <p:nvPr>
            <p:ph idx="1"/>
          </p:nvPr>
        </p:nvSpPr>
        <p:spPr>
          <a:xfrm>
            <a:off x="457200" y="1196752"/>
            <a:ext cx="8362950" cy="5040536"/>
          </a:xfrm>
        </p:spPr>
        <p:txBody>
          <a:bodyPr/>
          <a:lstStyle/>
          <a:p>
            <a:pPr>
              <a:buNone/>
            </a:pPr>
            <a:r>
              <a:rPr lang="zh-CN" altLang="en-US" sz="3600" dirty="0" smtClean="0">
                <a:solidFill>
                  <a:srgbClr val="00B0F0"/>
                </a:solidFill>
              </a:rPr>
              <a:t>一、实验目的</a:t>
            </a:r>
            <a:endParaRPr lang="en-US" altLang="zh-CN" sz="3600" dirty="0" smtClean="0">
              <a:solidFill>
                <a:srgbClr val="00B0F0"/>
              </a:solidFill>
            </a:endParaRPr>
          </a:p>
          <a:p>
            <a:pPr eaLnBrk="1" hangingPunct="1">
              <a:buNone/>
              <a:tabLst>
                <a:tab pos="266700" algn="l"/>
              </a:tabLst>
            </a:pPr>
            <a:r>
              <a:rPr lang="en-US" altLang="zh-CN" dirty="0" smtClean="0"/>
              <a:t>    1</a:t>
            </a:r>
            <a:r>
              <a:rPr lang="zh-CN" altLang="en-US" dirty="0" smtClean="0"/>
              <a:t>．了解集成运算放大器的工作特点、性能参数，掌握理想集成运算放大器的特点。</a:t>
            </a:r>
            <a:endParaRPr lang="zh-CN" altLang="en-US" dirty="0" smtClean="0"/>
          </a:p>
          <a:p>
            <a:pPr eaLnBrk="1" hangingPunct="1">
              <a:buNone/>
              <a:tabLst>
                <a:tab pos="266700" algn="l"/>
              </a:tabLst>
            </a:pPr>
            <a:r>
              <a:rPr lang="en-US" altLang="zh-CN" dirty="0" smtClean="0"/>
              <a:t>    2</a:t>
            </a:r>
            <a:r>
              <a:rPr lang="zh-CN" altLang="en-US" dirty="0" smtClean="0"/>
              <a:t>．学习应用</a:t>
            </a:r>
            <a:r>
              <a:rPr lang="en-US" altLang="zh-CN" dirty="0" err="1" smtClean="0"/>
              <a:t>Multisim</a:t>
            </a:r>
            <a:r>
              <a:rPr lang="en-US" altLang="zh-CN" dirty="0" smtClean="0"/>
              <a:t> </a:t>
            </a:r>
            <a:r>
              <a:rPr lang="en-US" altLang="zh-CN" dirty="0" smtClean="0"/>
              <a:t>12</a:t>
            </a:r>
            <a:r>
              <a:rPr lang="zh-CN" altLang="en-US" dirty="0" smtClean="0"/>
              <a:t>仿真</a:t>
            </a:r>
            <a:r>
              <a:rPr lang="zh-CN" altLang="en-US" dirty="0" smtClean="0"/>
              <a:t>分析集成运算放大器组成比例、求和、微积分电路的特点及性能。</a:t>
            </a:r>
            <a:endParaRPr lang="zh-CN" altLang="en-US" dirty="0" smtClean="0"/>
          </a:p>
          <a:p>
            <a:pPr eaLnBrk="1" hangingPunct="1">
              <a:buNone/>
              <a:tabLst>
                <a:tab pos="266700" algn="l"/>
              </a:tabLst>
            </a:pPr>
            <a:r>
              <a:rPr lang="en-US" altLang="zh-CN" dirty="0" smtClean="0"/>
              <a:t>    3</a:t>
            </a:r>
            <a:r>
              <a:rPr lang="zh-CN" altLang="en-US" dirty="0" smtClean="0"/>
              <a:t>．了解平衡电阻的取值及作用。</a:t>
            </a:r>
            <a:endParaRPr lang="zh-CN" altLang="en-US" dirty="0" smtClean="0"/>
          </a:p>
          <a:p>
            <a:pPr eaLnBrk="1" hangingPunct="1">
              <a:buNone/>
              <a:tabLst>
                <a:tab pos="266700" algn="l"/>
              </a:tabLst>
            </a:pPr>
            <a:r>
              <a:rPr lang="en-US" altLang="zh-CN" dirty="0" smtClean="0"/>
              <a:t>    4</a:t>
            </a:r>
            <a:r>
              <a:rPr lang="zh-CN" altLang="en-US" dirty="0" smtClean="0"/>
              <a:t>．熟悉</a:t>
            </a:r>
            <a:r>
              <a:rPr lang="en-US" altLang="zh-CN" dirty="0" err="1" smtClean="0"/>
              <a:t>Multisim</a:t>
            </a:r>
            <a:r>
              <a:rPr lang="en-US" altLang="zh-CN" dirty="0" smtClean="0"/>
              <a:t> </a:t>
            </a:r>
            <a:r>
              <a:rPr lang="en-US" altLang="zh-CN" dirty="0" smtClean="0"/>
              <a:t>12</a:t>
            </a:r>
            <a:r>
              <a:rPr lang="zh-CN" altLang="en-US" dirty="0" smtClean="0"/>
              <a:t>软件</a:t>
            </a:r>
            <a:r>
              <a:rPr lang="zh-CN" altLang="en-US" dirty="0" smtClean="0"/>
              <a:t>的仿真使用。</a:t>
            </a:r>
            <a:endParaRPr lang="zh-CN" altLang="en-US" dirty="0"/>
          </a:p>
        </p:txBody>
      </p:sp>
      <p:sp>
        <p:nvSpPr>
          <p:cNvPr id="4" name="灯片编号占位符 3"/>
          <p:cNvSpPr>
            <a:spLocks noGrp="1"/>
          </p:cNvSpPr>
          <p:nvPr>
            <p:ph type="sldNum" sz="quarter" idx="11"/>
          </p:nvPr>
        </p:nvSpPr>
        <p:spPr/>
        <p:txBody>
          <a:bodyPr/>
          <a:lstStyle/>
          <a:p>
            <a:pPr>
              <a:defRPr/>
            </a:pPr>
            <a:fld id="{3AD074B8-6AC8-4797-A3E2-E89C69A4C924}" type="slidenum">
              <a:rPr lang="zh-CN" altLang="en-US" smtClean="0"/>
            </a:fld>
            <a:endParaRPr lang="en-US" altLang="zh-CN"/>
          </a:p>
        </p:txBody>
      </p:sp>
    </p:spTree>
  </p:cSld>
  <p:clrMapOvr>
    <a:masterClrMapping/>
  </p:clrMapOvr>
  <p:transition spd="med"/>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79488" y="620688"/>
            <a:ext cx="7793037" cy="873150"/>
          </a:xfrm>
        </p:spPr>
        <p:txBody>
          <a:bodyPr/>
          <a:lstStyle/>
          <a:p>
            <a:pPr eaLnBrk="1" hangingPunct="1"/>
            <a:br>
              <a:rPr lang="en-US" altLang="zh-CN" dirty="0" smtClean="0"/>
            </a:br>
            <a:r>
              <a:rPr lang="zh-CN" altLang="en-US" sz="3600" dirty="0" smtClean="0">
                <a:solidFill>
                  <a:srgbClr val="00B0F0"/>
                </a:solidFill>
                <a:latin typeface="+mn-lt"/>
                <a:ea typeface="+mn-ea"/>
                <a:cs typeface="+mn-cs"/>
              </a:rPr>
              <a:t>二、实验设备及材料</a:t>
            </a:r>
            <a:endParaRPr lang="zh-CN" altLang="en-US" sz="3600" dirty="0" smtClean="0">
              <a:solidFill>
                <a:srgbClr val="00B0F0"/>
              </a:solidFill>
              <a:latin typeface="+mn-lt"/>
              <a:ea typeface="+mn-ea"/>
              <a:cs typeface="+mn-cs"/>
            </a:endParaRPr>
          </a:p>
        </p:txBody>
      </p:sp>
      <p:sp>
        <p:nvSpPr>
          <p:cNvPr id="5123" name="Rectangle 4"/>
          <p:cNvSpPr>
            <a:spLocks noChangeArrowheads="1"/>
          </p:cNvSpPr>
          <p:nvPr/>
        </p:nvSpPr>
        <p:spPr bwMode="auto">
          <a:xfrm>
            <a:off x="1476375" y="2195194"/>
            <a:ext cx="4692650" cy="2245360"/>
          </a:xfrm>
          <a:prstGeom prst="rect">
            <a:avLst/>
          </a:prstGeom>
          <a:noFill/>
          <a:ln w="9525" algn="ctr">
            <a:noFill/>
            <a:miter lim="800000"/>
          </a:ln>
          <a:effectLst/>
        </p:spPr>
        <p:txBody>
          <a:bodyPr wrap="none" anchor="ctr">
            <a:spAutoFit/>
          </a:bodyPr>
          <a:lstStyle/>
          <a:p>
            <a:pPr marL="342900" indent="-342900" eaLnBrk="1" hangingPunct="1">
              <a:tabLst>
                <a:tab pos="266700" algn="l"/>
              </a:tabLst>
            </a:pPr>
            <a:r>
              <a:rPr lang="en-US" altLang="zh-CN" sz="2800" dirty="0"/>
              <a:t>1</a:t>
            </a:r>
            <a:r>
              <a:rPr lang="zh-CN" altLang="en-US" sz="2800" dirty="0"/>
              <a:t>．装有</a:t>
            </a:r>
            <a:r>
              <a:rPr lang="en-US" altLang="zh-CN" sz="2800" dirty="0" err="1"/>
              <a:t>Multisim</a:t>
            </a:r>
            <a:r>
              <a:rPr lang="en-US" altLang="zh-CN" sz="2800" dirty="0"/>
              <a:t> </a:t>
            </a:r>
            <a:r>
              <a:rPr lang="zh-CN" altLang="en-US" sz="2800" dirty="0" smtClean="0"/>
              <a:t>的</a:t>
            </a:r>
            <a:r>
              <a:rPr lang="zh-CN" altLang="en-US" sz="2800" dirty="0"/>
              <a:t>计算机。</a:t>
            </a:r>
            <a:endParaRPr lang="zh-CN" altLang="en-US" sz="2800" dirty="0"/>
          </a:p>
          <a:p>
            <a:pPr marL="342900" indent="-342900" eaLnBrk="1" hangingPunct="1">
              <a:tabLst>
                <a:tab pos="266700" algn="l"/>
              </a:tabLst>
            </a:pPr>
            <a:r>
              <a:rPr lang="en-US" altLang="zh-CN" sz="2800" dirty="0"/>
              <a:t>2</a:t>
            </a:r>
            <a:r>
              <a:rPr lang="zh-CN" altLang="en-US" sz="2800" dirty="0" smtClean="0"/>
              <a:t>．虚拟函数</a:t>
            </a:r>
            <a:r>
              <a:rPr lang="zh-CN" altLang="en-US" sz="2800" dirty="0"/>
              <a:t>信号发生器。</a:t>
            </a:r>
            <a:endParaRPr lang="zh-CN" altLang="en-US" sz="2800" dirty="0"/>
          </a:p>
          <a:p>
            <a:pPr marL="342900" indent="-342900" eaLnBrk="1" hangingPunct="1">
              <a:tabLst>
                <a:tab pos="266700" algn="l"/>
              </a:tabLst>
            </a:pPr>
            <a:r>
              <a:rPr lang="en-US" altLang="zh-CN" sz="2800" dirty="0"/>
              <a:t>3</a:t>
            </a:r>
            <a:r>
              <a:rPr lang="zh-CN" altLang="en-US" sz="2800" dirty="0" smtClean="0"/>
              <a:t>．虚拟双</a:t>
            </a:r>
            <a:r>
              <a:rPr lang="zh-CN" altLang="en-US" sz="2800" dirty="0"/>
              <a:t>通道示波器。</a:t>
            </a:r>
            <a:endParaRPr lang="zh-CN" altLang="en-US" sz="2800" dirty="0"/>
          </a:p>
          <a:p>
            <a:pPr marL="342900" indent="-342900" eaLnBrk="1" hangingPunct="1">
              <a:tabLst>
                <a:tab pos="266700" algn="l"/>
              </a:tabLst>
            </a:pPr>
            <a:r>
              <a:rPr lang="en-US" altLang="zh-CN" sz="2800" dirty="0"/>
              <a:t>4</a:t>
            </a:r>
            <a:r>
              <a:rPr lang="zh-CN" altLang="en-US" sz="2800" dirty="0" smtClean="0"/>
              <a:t>．虚拟数字</a:t>
            </a:r>
            <a:r>
              <a:rPr lang="zh-CN" altLang="en-US" sz="2800" dirty="0"/>
              <a:t>万用表。</a:t>
            </a:r>
            <a:endParaRPr lang="zh-CN" altLang="en-US" sz="2800" dirty="0"/>
          </a:p>
          <a:p>
            <a:pPr marL="342900" indent="-342900" eaLnBrk="1" hangingPunct="1">
              <a:tabLst>
                <a:tab pos="266700" algn="l"/>
              </a:tabLst>
            </a:pPr>
            <a:r>
              <a:rPr lang="en-US" altLang="zh-CN" sz="2800" dirty="0"/>
              <a:t>5</a:t>
            </a:r>
            <a:r>
              <a:rPr lang="zh-CN" altLang="en-US" sz="2800" dirty="0" smtClean="0"/>
              <a:t>．其他虚拟器件若干。</a:t>
            </a:r>
            <a:endParaRPr lang="zh-CN" altLang="en-US" sz="2800" dirty="0"/>
          </a:p>
        </p:txBody>
      </p:sp>
    </p:spTree>
  </p:cSld>
  <p:clrMapOvr>
    <a:masterClrMapping/>
  </p:clrMapOvr>
  <p:transition spd="med"/>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27113" y="692695"/>
            <a:ext cx="7793037" cy="772567"/>
          </a:xfrm>
        </p:spPr>
        <p:txBody>
          <a:bodyPr/>
          <a:lstStyle/>
          <a:p>
            <a:pPr eaLnBrk="1" hangingPunct="1"/>
            <a:r>
              <a:rPr lang="zh-CN" altLang="en-US" sz="3600" dirty="0" smtClean="0">
                <a:solidFill>
                  <a:srgbClr val="00B0F0"/>
                </a:solidFill>
                <a:latin typeface="+mn-lt"/>
                <a:ea typeface="+mn-ea"/>
                <a:cs typeface="+mn-cs"/>
              </a:rPr>
              <a:t>三、实验原理 </a:t>
            </a:r>
            <a:endParaRPr lang="zh-CN" altLang="en-US" sz="3600" dirty="0" smtClean="0">
              <a:solidFill>
                <a:srgbClr val="00B0F0"/>
              </a:solidFill>
              <a:latin typeface="+mn-lt"/>
              <a:ea typeface="+mn-ea"/>
              <a:cs typeface="+mn-cs"/>
            </a:endParaRPr>
          </a:p>
        </p:txBody>
      </p:sp>
      <p:sp>
        <p:nvSpPr>
          <p:cNvPr id="6148" name="Rectangle 7"/>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6149" name="Picture 6"/>
          <p:cNvPicPr>
            <a:picLocks noChangeAspect="1" noChangeArrowheads="1"/>
          </p:cNvPicPr>
          <p:nvPr/>
        </p:nvPicPr>
        <p:blipFill>
          <a:blip r:embed="rId1" cstate="print"/>
          <a:srcRect/>
          <a:stretch>
            <a:fillRect/>
          </a:stretch>
        </p:blipFill>
        <p:spPr bwMode="auto">
          <a:xfrm>
            <a:off x="1979613" y="2133600"/>
            <a:ext cx="4392612" cy="2112963"/>
          </a:xfrm>
          <a:prstGeom prst="rect">
            <a:avLst/>
          </a:prstGeom>
          <a:noFill/>
          <a:ln w="9525">
            <a:noFill/>
            <a:miter lim="800000"/>
            <a:headEnd/>
            <a:tailEnd/>
          </a:ln>
        </p:spPr>
      </p:pic>
      <p:sp>
        <p:nvSpPr>
          <p:cNvPr id="6150" name="Rectangle 8"/>
          <p:cNvSpPr>
            <a:spLocks noChangeArrowheads="1"/>
          </p:cNvSpPr>
          <p:nvPr/>
        </p:nvSpPr>
        <p:spPr bwMode="auto">
          <a:xfrm>
            <a:off x="2555875" y="4508500"/>
            <a:ext cx="3240088" cy="396875"/>
          </a:xfrm>
          <a:prstGeom prst="rect">
            <a:avLst/>
          </a:prstGeom>
          <a:noFill/>
          <a:ln w="9525" algn="ctr">
            <a:noFill/>
            <a:miter lim="800000"/>
          </a:ln>
          <a:effectLst/>
        </p:spPr>
        <p:txBody>
          <a:bodyPr anchor="ctr">
            <a:spAutoFit/>
          </a:bodyPr>
          <a:lstStyle/>
          <a:p>
            <a:pPr algn="ct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3-56 μA741</a:t>
            </a:r>
            <a:r>
              <a:rPr lang="zh-CN" altLang="en-US" sz="2000">
                <a:latin typeface="Times New Roman" panose="02020603050405020304" pitchFamily="18" charset="0"/>
                <a:cs typeface="Times New Roman" panose="02020603050405020304" pitchFamily="18" charset="0"/>
              </a:rPr>
              <a:t>引脚图</a:t>
            </a:r>
            <a:endParaRPr lang="zh-CN" altLang="en-US" sz="2000"/>
          </a:p>
        </p:txBody>
      </p:sp>
    </p:spTree>
  </p:cSld>
  <p:clrMapOvr>
    <a:masterClrMapping/>
  </p:clrMapOvr>
  <p:transition spd="med"/>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7173" name="Rectangle 9"/>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7174" name="Picture 8"/>
          <p:cNvPicPr>
            <a:picLocks noChangeAspect="1" noChangeArrowheads="1"/>
          </p:cNvPicPr>
          <p:nvPr/>
        </p:nvPicPr>
        <p:blipFill>
          <a:blip r:embed="rId1" cstate="print"/>
          <a:srcRect/>
          <a:stretch>
            <a:fillRect/>
          </a:stretch>
        </p:blipFill>
        <p:spPr bwMode="auto">
          <a:xfrm>
            <a:off x="971550" y="2205038"/>
            <a:ext cx="2447925" cy="2098675"/>
          </a:xfrm>
          <a:prstGeom prst="rect">
            <a:avLst/>
          </a:prstGeom>
          <a:noFill/>
          <a:ln w="9525">
            <a:noFill/>
            <a:miter lim="800000"/>
            <a:headEnd/>
            <a:tailEnd/>
          </a:ln>
        </p:spPr>
      </p:pic>
      <p:sp>
        <p:nvSpPr>
          <p:cNvPr id="7175" name="Rectangle 10"/>
          <p:cNvSpPr>
            <a:spLocks noChangeArrowheads="1"/>
          </p:cNvSpPr>
          <p:nvPr/>
        </p:nvSpPr>
        <p:spPr bwMode="auto">
          <a:xfrm>
            <a:off x="330200" y="4206875"/>
            <a:ext cx="3090863" cy="552450"/>
          </a:xfrm>
          <a:prstGeom prst="rect">
            <a:avLst/>
          </a:prstGeom>
          <a:noFill/>
          <a:ln w="9525" algn="ctr">
            <a:noFill/>
            <a:miter lim="800000"/>
          </a:ln>
          <a:effectLst/>
        </p:spPr>
        <p:txBody>
          <a:bodyPr wrap="none" anchor="ctr">
            <a:spAutoFit/>
          </a:bodyPr>
          <a:lstStyle/>
          <a:p>
            <a:pPr algn="ctr" eaLnBrk="1" hangingPunct="1"/>
            <a:r>
              <a:rPr lang="en-US" altLang="zh-CN" sz="1000">
                <a:latin typeface="Times New Roman" panose="02020603050405020304" pitchFamily="18" charset="0"/>
                <a:cs typeface="Times New Roman" panose="02020603050405020304" pitchFamily="18" charset="0"/>
              </a:rPr>
              <a:t> </a:t>
            </a:r>
            <a:endParaRPr lang="en-US" altLang="zh-CN" sz="800"/>
          </a:p>
          <a:p>
            <a:pPr algn="ctr"/>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3-57  </a:t>
            </a:r>
            <a:r>
              <a:rPr lang="zh-CN" altLang="en-US" sz="2000">
                <a:latin typeface="Times New Roman" panose="02020603050405020304" pitchFamily="18" charset="0"/>
                <a:cs typeface="Times New Roman" panose="02020603050405020304" pitchFamily="18" charset="0"/>
              </a:rPr>
              <a:t>反相比例运算电路</a:t>
            </a:r>
            <a:endParaRPr lang="zh-CN" altLang="en-US" sz="2000"/>
          </a:p>
        </p:txBody>
      </p:sp>
      <p:sp>
        <p:nvSpPr>
          <p:cNvPr id="7176" name="Rectangle 12"/>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7177" name="Object 11"/>
          <p:cNvGraphicFramePr>
            <a:graphicFrameLocks noChangeAspect="1"/>
          </p:cNvGraphicFramePr>
          <p:nvPr/>
        </p:nvGraphicFramePr>
        <p:xfrm>
          <a:off x="827088" y="4868863"/>
          <a:ext cx="2089150" cy="727075"/>
        </p:xfrm>
        <a:graphic>
          <a:graphicData uri="http://schemas.openxmlformats.org/presentationml/2006/ole">
            <mc:AlternateContent xmlns:mc="http://schemas.openxmlformats.org/markup-compatibility/2006">
              <mc:Choice xmlns:v="urn:schemas-microsoft-com:vml" Requires="v">
                <p:oleObj spid="_x0000_s5121" name="" r:id="rId2" imgW="25908000" imgH="9144000" progId="Equation.KSEE3">
                  <p:embed/>
                </p:oleObj>
              </mc:Choice>
              <mc:Fallback>
                <p:oleObj name="" r:id="rId2" imgW="25908000" imgH="9144000" progId="Equation.KSEE3">
                  <p:embed/>
                  <p:pic>
                    <p:nvPicPr>
                      <p:cNvPr id="0" name="Object 11"/>
                      <p:cNvPicPr>
                        <a:picLocks noChangeAspect="1"/>
                      </p:cNvPicPr>
                      <p:nvPr/>
                    </p:nvPicPr>
                    <p:blipFill>
                      <a:blip r:embed="rId3"/>
                      <a:stretch>
                        <a:fillRect/>
                      </a:stretch>
                    </p:blipFill>
                    <p:spPr>
                      <a:xfrm>
                        <a:off x="827088" y="4868863"/>
                        <a:ext cx="2089150" cy="727075"/>
                      </a:xfrm>
                      <a:prstGeom prst="rect">
                        <a:avLst/>
                      </a:prstGeom>
                      <a:noFill/>
                      <a:ln w="9525">
                        <a:noFill/>
                      </a:ln>
                    </p:spPr>
                  </p:pic>
                </p:oleObj>
              </mc:Fallback>
            </mc:AlternateContent>
          </a:graphicData>
        </a:graphic>
      </p:graphicFrame>
      <p:pic>
        <p:nvPicPr>
          <p:cNvPr id="7178" name="Picture 14"/>
          <p:cNvPicPr>
            <a:picLocks noChangeAspect="1" noChangeArrowheads="1"/>
          </p:cNvPicPr>
          <p:nvPr/>
        </p:nvPicPr>
        <p:blipFill>
          <a:blip r:embed="rId4" cstate="print"/>
          <a:srcRect/>
          <a:stretch>
            <a:fillRect/>
          </a:stretch>
        </p:blipFill>
        <p:spPr bwMode="auto">
          <a:xfrm>
            <a:off x="3708400" y="2420938"/>
            <a:ext cx="2879725" cy="1773237"/>
          </a:xfrm>
          <a:prstGeom prst="rect">
            <a:avLst/>
          </a:prstGeom>
          <a:noFill/>
          <a:ln w="9525">
            <a:noFill/>
            <a:miter lim="800000"/>
            <a:headEnd/>
            <a:tailEnd/>
          </a:ln>
        </p:spPr>
      </p:pic>
      <p:pic>
        <p:nvPicPr>
          <p:cNvPr id="7179" name="Picture 13"/>
          <p:cNvPicPr>
            <a:picLocks noChangeAspect="1" noChangeArrowheads="1"/>
          </p:cNvPicPr>
          <p:nvPr/>
        </p:nvPicPr>
        <p:blipFill>
          <a:blip r:embed="rId5" cstate="print"/>
          <a:srcRect/>
          <a:stretch>
            <a:fillRect/>
          </a:stretch>
        </p:blipFill>
        <p:spPr bwMode="auto">
          <a:xfrm>
            <a:off x="6623050" y="2636838"/>
            <a:ext cx="2520950" cy="1470025"/>
          </a:xfrm>
          <a:prstGeom prst="rect">
            <a:avLst/>
          </a:prstGeom>
          <a:noFill/>
          <a:ln w="9525">
            <a:noFill/>
            <a:miter lim="800000"/>
            <a:headEnd/>
            <a:tailEnd/>
          </a:ln>
        </p:spPr>
      </p:pic>
      <p:sp>
        <p:nvSpPr>
          <p:cNvPr id="7180" name="Rectangle 15"/>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7181" name="Rectangle 16"/>
          <p:cNvSpPr>
            <a:spLocks noChangeArrowheads="1"/>
          </p:cNvSpPr>
          <p:nvPr/>
        </p:nvSpPr>
        <p:spPr bwMode="auto">
          <a:xfrm>
            <a:off x="4210050" y="3376613"/>
            <a:ext cx="723900" cy="244475"/>
          </a:xfrm>
          <a:prstGeom prst="rect">
            <a:avLst/>
          </a:prstGeom>
          <a:noFill/>
          <a:ln w="9525" algn="ctr">
            <a:noFill/>
            <a:miter lim="800000"/>
          </a:ln>
          <a:effectLst/>
        </p:spPr>
        <p:txBody>
          <a:bodyPr wrap="none" anchor="ctr">
            <a:spAutoFit/>
          </a:bodyPr>
          <a:lstStyle/>
          <a:p>
            <a:pPr algn="ctr" eaLnBrk="1" hangingPunct="1"/>
            <a:r>
              <a:rPr lang="en-US" altLang="zh-CN" sz="1000">
                <a:latin typeface="Times New Roman" panose="02020603050405020304" pitchFamily="18" charset="0"/>
                <a:cs typeface="Times New Roman" panose="02020603050405020304" pitchFamily="18" charset="0"/>
              </a:rPr>
              <a:t>                 </a:t>
            </a:r>
            <a:endParaRPr lang="en-US" altLang="zh-CN"/>
          </a:p>
        </p:txBody>
      </p:sp>
      <p:sp>
        <p:nvSpPr>
          <p:cNvPr id="7182" name="Rectangle 17"/>
          <p:cNvSpPr>
            <a:spLocks noChangeArrowheads="1"/>
          </p:cNvSpPr>
          <p:nvPr/>
        </p:nvSpPr>
        <p:spPr bwMode="auto">
          <a:xfrm>
            <a:off x="3708400" y="4394200"/>
            <a:ext cx="5045075" cy="336550"/>
          </a:xfrm>
          <a:prstGeom prst="rect">
            <a:avLst/>
          </a:prstGeom>
          <a:noFill/>
          <a:ln w="9525" algn="ctr">
            <a:noFill/>
            <a:miter lim="800000"/>
          </a:ln>
          <a:effectLst/>
        </p:spPr>
        <p:txBody>
          <a:bodyPr wrap="none" anchor="ctr">
            <a:spAutoFit/>
          </a:bodyPr>
          <a:lstStyle/>
          <a:p>
            <a:pPr algn="just" eaLnBrk="1" hangingPunct="1"/>
            <a:r>
              <a:rPr lang="zh-CN" altLang="en-US" sz="1600">
                <a:latin typeface="Times New Roman" panose="02020603050405020304" pitchFamily="18" charset="0"/>
                <a:cs typeface="Times New Roman" panose="02020603050405020304" pitchFamily="18" charset="0"/>
              </a:rPr>
              <a:t>图</a:t>
            </a:r>
            <a:r>
              <a:rPr lang="en-US" altLang="zh-CN" sz="1600">
                <a:latin typeface="Times New Roman" panose="02020603050405020304" pitchFamily="18" charset="0"/>
                <a:cs typeface="Times New Roman" panose="02020603050405020304" pitchFamily="18" charset="0"/>
              </a:rPr>
              <a:t>3-58  </a:t>
            </a:r>
            <a:r>
              <a:rPr lang="zh-CN" altLang="en-US" sz="1600">
                <a:latin typeface="Times New Roman" panose="02020603050405020304" pitchFamily="18" charset="0"/>
                <a:cs typeface="Times New Roman" panose="02020603050405020304" pitchFamily="18" charset="0"/>
              </a:rPr>
              <a:t>同相比例运算电路         图</a:t>
            </a:r>
            <a:r>
              <a:rPr lang="en-US" altLang="zh-CN" sz="1600">
                <a:latin typeface="Times New Roman" panose="02020603050405020304" pitchFamily="18" charset="0"/>
                <a:cs typeface="Times New Roman" panose="02020603050405020304" pitchFamily="18" charset="0"/>
              </a:rPr>
              <a:t>3-59  </a:t>
            </a:r>
            <a:r>
              <a:rPr lang="zh-CN" altLang="en-US" sz="1600">
                <a:latin typeface="Times New Roman" panose="02020603050405020304" pitchFamily="18" charset="0"/>
                <a:cs typeface="Times New Roman" panose="02020603050405020304" pitchFamily="18" charset="0"/>
              </a:rPr>
              <a:t>同相电压跟随器</a:t>
            </a:r>
            <a:endParaRPr lang="zh-CN" altLang="en-US" sz="1600"/>
          </a:p>
        </p:txBody>
      </p:sp>
      <p:graphicFrame>
        <p:nvGraphicFramePr>
          <p:cNvPr id="7183" name="Object 19"/>
          <p:cNvGraphicFramePr>
            <a:graphicFrameLocks noChangeAspect="1"/>
          </p:cNvGraphicFramePr>
          <p:nvPr/>
        </p:nvGraphicFramePr>
        <p:xfrm>
          <a:off x="4067175" y="4868863"/>
          <a:ext cx="1655763" cy="836612"/>
        </p:xfrm>
        <a:graphic>
          <a:graphicData uri="http://schemas.openxmlformats.org/presentationml/2006/ole">
            <mc:AlternateContent xmlns:mc="http://schemas.openxmlformats.org/markup-compatibility/2006">
              <mc:Choice xmlns:v="urn:schemas-microsoft-com:vml" Requires="v">
                <p:oleObj spid="_x0000_s5122" name="" r:id="rId6" imgW="20726400" imgH="10363200" progId="Equation.KSEE3">
                  <p:embed/>
                </p:oleObj>
              </mc:Choice>
              <mc:Fallback>
                <p:oleObj name="" r:id="rId6" imgW="20726400" imgH="10363200" progId="Equation.KSEE3">
                  <p:embed/>
                  <p:pic>
                    <p:nvPicPr>
                      <p:cNvPr id="0" name="Object 19"/>
                      <p:cNvPicPr>
                        <a:picLocks noChangeAspect="1"/>
                      </p:cNvPicPr>
                      <p:nvPr/>
                    </p:nvPicPr>
                    <p:blipFill>
                      <a:blip r:embed="rId7"/>
                      <a:stretch>
                        <a:fillRect/>
                      </a:stretch>
                    </p:blipFill>
                    <p:spPr>
                      <a:xfrm>
                        <a:off x="4067175" y="4868863"/>
                        <a:ext cx="1655763" cy="836612"/>
                      </a:xfrm>
                      <a:prstGeom prst="rect">
                        <a:avLst/>
                      </a:prstGeom>
                      <a:noFill/>
                      <a:ln w="9525">
                        <a:noFill/>
                      </a:ln>
                    </p:spPr>
                  </p:pic>
                </p:oleObj>
              </mc:Fallback>
            </mc:AlternateContent>
          </a:graphicData>
        </a:graphic>
      </p:graphicFrame>
      <p:sp>
        <p:nvSpPr>
          <p:cNvPr id="7184" name="Rectangle 20"/>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7185" name="Rectangle 21"/>
          <p:cNvSpPr>
            <a:spLocks noChangeArrowheads="1"/>
          </p:cNvSpPr>
          <p:nvPr/>
        </p:nvSpPr>
        <p:spPr bwMode="auto">
          <a:xfrm>
            <a:off x="0" y="3194050"/>
            <a:ext cx="771525" cy="244475"/>
          </a:xfrm>
          <a:prstGeom prst="rect">
            <a:avLst/>
          </a:prstGeom>
          <a:noFill/>
          <a:ln w="9525" algn="ctr">
            <a:noFill/>
            <a:miter lim="800000"/>
          </a:ln>
          <a:effectLst/>
        </p:spPr>
        <p:txBody>
          <a:bodyPr wrap="none" anchor="ctr">
            <a:spAutoFit/>
          </a:bodyPr>
          <a:lstStyle/>
          <a:p>
            <a:pPr eaLnBrk="1" fontAlgn="ctr" hangingPunct="1"/>
            <a:r>
              <a:rPr lang="en-US" altLang="zh-CN" sz="1000">
                <a:solidFill>
                  <a:srgbClr val="FF0000"/>
                </a:solidFill>
                <a:latin typeface="Times New Roman" panose="02020603050405020304" pitchFamily="18" charset="0"/>
                <a:cs typeface="Times New Roman" panose="02020603050405020304" pitchFamily="18" charset="0"/>
              </a:rPr>
              <a:t>          </a:t>
            </a:r>
            <a:endParaRPr lang="en-US" altLang="zh-CN"/>
          </a:p>
        </p:txBody>
      </p:sp>
      <p:sp>
        <p:nvSpPr>
          <p:cNvPr id="7186" name="Rectangle 22"/>
          <p:cNvSpPr>
            <a:spLocks noChangeArrowheads="1"/>
          </p:cNvSpPr>
          <p:nvPr/>
        </p:nvSpPr>
        <p:spPr bwMode="auto">
          <a:xfrm>
            <a:off x="0" y="3895725"/>
            <a:ext cx="485775" cy="244475"/>
          </a:xfrm>
          <a:prstGeom prst="rect">
            <a:avLst/>
          </a:prstGeom>
          <a:noFill/>
          <a:ln w="9525" algn="ctr">
            <a:noFill/>
            <a:miter lim="800000"/>
          </a:ln>
          <a:effectLst/>
        </p:spPr>
        <p:txBody>
          <a:bodyPr wrap="none" anchor="ctr">
            <a:spAutoFit/>
          </a:bodyPr>
          <a:lstStyle/>
          <a:p>
            <a:pPr eaLnBrk="1" fontAlgn="ctr" hangingPunct="1"/>
            <a:r>
              <a:rPr lang="en-US" altLang="zh-CN" sz="1000">
                <a:solidFill>
                  <a:srgbClr val="FF0000"/>
                </a:solidFill>
                <a:latin typeface="Times New Roman" panose="02020603050405020304" pitchFamily="18" charset="0"/>
                <a:cs typeface="Times New Roman" panose="02020603050405020304" pitchFamily="18" charset="0"/>
              </a:rPr>
              <a:t> </a:t>
            </a:r>
            <a:endParaRPr lang="en-US" altLang="zh-CN"/>
          </a:p>
        </p:txBody>
      </p:sp>
      <p:sp>
        <p:nvSpPr>
          <p:cNvPr id="7187" name="Rectangle 23"/>
          <p:cNvSpPr>
            <a:spLocks noChangeArrowheads="1"/>
          </p:cNvSpPr>
          <p:nvPr/>
        </p:nvSpPr>
        <p:spPr bwMode="auto">
          <a:xfrm>
            <a:off x="6877050" y="5138738"/>
            <a:ext cx="1366838" cy="396875"/>
          </a:xfrm>
          <a:prstGeom prst="rect">
            <a:avLst/>
          </a:prstGeom>
          <a:noFill/>
          <a:ln w="9525" algn="ctr">
            <a:noFill/>
            <a:miter lim="800000"/>
          </a:ln>
          <a:effectLst/>
        </p:spPr>
        <p:txBody>
          <a:bodyPr anchor="ctr">
            <a:spAutoFit/>
          </a:bodyPr>
          <a:lstStyle/>
          <a:p>
            <a:pPr eaLnBrk="1" hangingPunct="1"/>
            <a:r>
              <a:rPr lang="en-US" altLang="zh-CN" sz="2000" i="1"/>
              <a:t>u</a:t>
            </a:r>
            <a:r>
              <a:rPr lang="en-US" altLang="zh-CN" sz="2000"/>
              <a:t>o=</a:t>
            </a:r>
            <a:r>
              <a:rPr lang="en-US" altLang="zh-CN" sz="2000" i="1"/>
              <a:t>u</a:t>
            </a:r>
            <a:r>
              <a:rPr lang="en-US" altLang="zh-CN" sz="2000"/>
              <a:t>i </a:t>
            </a:r>
            <a:endParaRPr lang="en-US" altLang="zh-CN" sz="2000"/>
          </a:p>
        </p:txBody>
      </p:sp>
      <p:sp>
        <p:nvSpPr>
          <p:cNvPr id="20" name="标题 19"/>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7"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8" name="Rectangle 9"/>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9" name="Rectangle 13"/>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200" name="Rectangle 17"/>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201" name="Rectangle 22"/>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8202" name="Picture 21"/>
          <p:cNvPicPr>
            <a:picLocks noChangeAspect="1" noChangeArrowheads="1"/>
          </p:cNvPicPr>
          <p:nvPr/>
        </p:nvPicPr>
        <p:blipFill>
          <a:blip r:embed="rId1" cstate="print"/>
          <a:srcRect/>
          <a:stretch>
            <a:fillRect/>
          </a:stretch>
        </p:blipFill>
        <p:spPr bwMode="auto">
          <a:xfrm>
            <a:off x="539750" y="2060575"/>
            <a:ext cx="3600450" cy="2838450"/>
          </a:xfrm>
          <a:prstGeom prst="rect">
            <a:avLst/>
          </a:prstGeom>
          <a:noFill/>
          <a:ln w="9525">
            <a:noFill/>
            <a:miter lim="800000"/>
            <a:headEnd/>
            <a:tailEnd/>
          </a:ln>
        </p:spPr>
      </p:pic>
      <p:sp>
        <p:nvSpPr>
          <p:cNvPr id="8203" name="Rectangle 23"/>
          <p:cNvSpPr>
            <a:spLocks noChangeArrowheads="1"/>
          </p:cNvSpPr>
          <p:nvPr/>
        </p:nvSpPr>
        <p:spPr bwMode="auto">
          <a:xfrm>
            <a:off x="763588" y="4941888"/>
            <a:ext cx="3062287" cy="396875"/>
          </a:xfrm>
          <a:prstGeom prst="rect">
            <a:avLst/>
          </a:prstGeom>
          <a:noFill/>
          <a:ln w="9525" algn="ctr">
            <a:noFill/>
            <a:miter lim="800000"/>
          </a:ln>
          <a:effectLst/>
        </p:spPr>
        <p:txBody>
          <a:bodyPr wrap="none" anchor="ctr">
            <a:spAutoFit/>
          </a:bodyPr>
          <a:lstStyle/>
          <a:p>
            <a:pPr algn="ct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3-60  </a:t>
            </a:r>
            <a:r>
              <a:rPr lang="zh-CN" altLang="en-US" sz="2000">
                <a:latin typeface="Times New Roman" panose="02020603050405020304" pitchFamily="18" charset="0"/>
                <a:cs typeface="Times New Roman" panose="02020603050405020304" pitchFamily="18" charset="0"/>
              </a:rPr>
              <a:t>差动比例运算电路</a:t>
            </a:r>
            <a:endParaRPr lang="zh-CN" altLang="en-US" sz="2000"/>
          </a:p>
        </p:txBody>
      </p:sp>
      <p:sp>
        <p:nvSpPr>
          <p:cNvPr id="8204" name="Rectangle 35"/>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8205" name="Object 34"/>
          <p:cNvGraphicFramePr>
            <a:graphicFrameLocks noChangeAspect="1"/>
          </p:cNvGraphicFramePr>
          <p:nvPr/>
        </p:nvGraphicFramePr>
        <p:xfrm>
          <a:off x="827088" y="5445125"/>
          <a:ext cx="3457575" cy="782638"/>
        </p:xfrm>
        <a:graphic>
          <a:graphicData uri="http://schemas.openxmlformats.org/presentationml/2006/ole">
            <mc:AlternateContent xmlns:mc="http://schemas.openxmlformats.org/markup-compatibility/2006">
              <mc:Choice xmlns:v="urn:schemas-microsoft-com:vml" Requires="v">
                <p:oleObj spid="_x0000_s6145" name="" r:id="rId2" imgW="40538400" imgH="9144000" progId="Equation.KSEE3">
                  <p:embed/>
                </p:oleObj>
              </mc:Choice>
              <mc:Fallback>
                <p:oleObj name="" r:id="rId2" imgW="40538400" imgH="9144000" progId="Equation.KSEE3">
                  <p:embed/>
                  <p:pic>
                    <p:nvPicPr>
                      <p:cNvPr id="0" name="Object 34"/>
                      <p:cNvPicPr>
                        <a:picLocks noChangeAspect="1"/>
                      </p:cNvPicPr>
                      <p:nvPr/>
                    </p:nvPicPr>
                    <p:blipFill>
                      <a:blip r:embed="rId3"/>
                      <a:stretch>
                        <a:fillRect/>
                      </a:stretch>
                    </p:blipFill>
                    <p:spPr>
                      <a:xfrm>
                        <a:off x="827088" y="5445125"/>
                        <a:ext cx="3457575" cy="782638"/>
                      </a:xfrm>
                      <a:prstGeom prst="rect">
                        <a:avLst/>
                      </a:prstGeom>
                      <a:noFill/>
                      <a:ln w="9525">
                        <a:noFill/>
                      </a:ln>
                    </p:spPr>
                  </p:pic>
                </p:oleObj>
              </mc:Fallback>
            </mc:AlternateContent>
          </a:graphicData>
        </a:graphic>
      </p:graphicFrame>
      <p:sp>
        <p:nvSpPr>
          <p:cNvPr id="8206" name="Rectangle 37"/>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8207" name="Picture 36"/>
          <p:cNvPicPr>
            <a:picLocks noChangeAspect="1" noChangeArrowheads="1"/>
          </p:cNvPicPr>
          <p:nvPr/>
        </p:nvPicPr>
        <p:blipFill>
          <a:blip r:embed="rId4" cstate="print"/>
          <a:srcRect/>
          <a:stretch>
            <a:fillRect/>
          </a:stretch>
        </p:blipFill>
        <p:spPr bwMode="auto">
          <a:xfrm>
            <a:off x="4572000" y="2060575"/>
            <a:ext cx="4105275" cy="2794000"/>
          </a:xfrm>
          <a:prstGeom prst="rect">
            <a:avLst/>
          </a:prstGeom>
          <a:noFill/>
          <a:ln w="9525">
            <a:noFill/>
            <a:miter lim="800000"/>
            <a:headEnd/>
            <a:tailEnd/>
          </a:ln>
        </p:spPr>
      </p:pic>
      <p:sp>
        <p:nvSpPr>
          <p:cNvPr id="8208" name="Rectangle 38"/>
          <p:cNvSpPr>
            <a:spLocks noChangeArrowheads="1"/>
          </p:cNvSpPr>
          <p:nvPr/>
        </p:nvSpPr>
        <p:spPr bwMode="auto">
          <a:xfrm>
            <a:off x="5208588" y="4940300"/>
            <a:ext cx="2576512" cy="400050"/>
          </a:xfrm>
          <a:prstGeom prst="rect">
            <a:avLst/>
          </a:prstGeom>
          <a:noFill/>
          <a:ln w="9525" algn="ctr">
            <a:noFill/>
            <a:miter lim="800000"/>
          </a:ln>
          <a:effectLst/>
        </p:spPr>
        <p:txBody>
          <a:bodyPr wrap="none" anchor="ctr">
            <a:spAutoFit/>
          </a:bodyPr>
          <a:lstStyle/>
          <a:p>
            <a:pPr algn="ct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3-61  </a:t>
            </a:r>
            <a:r>
              <a:rPr lang="zh-CN" altLang="en-US" sz="2000">
                <a:latin typeface="Times New Roman" panose="02020603050405020304" pitchFamily="18" charset="0"/>
                <a:cs typeface="Times New Roman" panose="02020603050405020304" pitchFamily="18" charset="0"/>
              </a:rPr>
              <a:t>反相求和电路</a:t>
            </a:r>
            <a:endParaRPr lang="zh-CN" altLang="en-US" sz="2000"/>
          </a:p>
        </p:txBody>
      </p:sp>
      <p:sp>
        <p:nvSpPr>
          <p:cNvPr id="8209" name="Rectangle 40"/>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8210" name="Object 39"/>
          <p:cNvGraphicFramePr>
            <a:graphicFrameLocks noChangeAspect="1"/>
          </p:cNvGraphicFramePr>
          <p:nvPr/>
        </p:nvGraphicFramePr>
        <p:xfrm>
          <a:off x="5364163" y="5589588"/>
          <a:ext cx="3167062" cy="792162"/>
        </p:xfrm>
        <a:graphic>
          <a:graphicData uri="http://schemas.openxmlformats.org/presentationml/2006/ole">
            <mc:AlternateContent xmlns:mc="http://schemas.openxmlformats.org/markup-compatibility/2006">
              <mc:Choice xmlns:v="urn:schemas-microsoft-com:vml" Requires="v">
                <p:oleObj spid="_x0000_s6146" name="" r:id="rId5" imgW="41452800" imgH="10363200" progId="Equation.KSEE3">
                  <p:embed/>
                </p:oleObj>
              </mc:Choice>
              <mc:Fallback>
                <p:oleObj name="" r:id="rId5" imgW="41452800" imgH="10363200" progId="Equation.KSEE3">
                  <p:embed/>
                  <p:pic>
                    <p:nvPicPr>
                      <p:cNvPr id="0" name="Object 39"/>
                      <p:cNvPicPr>
                        <a:picLocks noChangeAspect="1"/>
                      </p:cNvPicPr>
                      <p:nvPr/>
                    </p:nvPicPr>
                    <p:blipFill>
                      <a:blip r:embed="rId6"/>
                      <a:stretch>
                        <a:fillRect/>
                      </a:stretch>
                    </p:blipFill>
                    <p:spPr>
                      <a:xfrm>
                        <a:off x="5364163" y="5589588"/>
                        <a:ext cx="3167062" cy="792162"/>
                      </a:xfrm>
                      <a:prstGeom prst="rect">
                        <a:avLst/>
                      </a:prstGeom>
                      <a:noFill/>
                      <a:ln w="9525">
                        <a:noFill/>
                      </a:ln>
                    </p:spPr>
                  </p:pic>
                </p:oleObj>
              </mc:Fallback>
            </mc:AlternateContent>
          </a:graphicData>
        </a:graphic>
      </p:graphicFrame>
      <p:sp>
        <p:nvSpPr>
          <p:cNvPr id="19" name="标题 18"/>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1"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2"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3"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4"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5"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6" name="Rectangle 13"/>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7" name="Rectangle 15"/>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8" name="Rectangle 18"/>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9229" name="Rectangle 21"/>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9230" name="Picture 20"/>
          <p:cNvPicPr>
            <a:picLocks noChangeAspect="1" noChangeArrowheads="1"/>
          </p:cNvPicPr>
          <p:nvPr/>
        </p:nvPicPr>
        <p:blipFill>
          <a:blip r:embed="rId1" cstate="print"/>
          <a:srcRect/>
          <a:stretch>
            <a:fillRect/>
          </a:stretch>
        </p:blipFill>
        <p:spPr bwMode="auto">
          <a:xfrm>
            <a:off x="395536" y="1556792"/>
            <a:ext cx="3384550" cy="1708150"/>
          </a:xfrm>
          <a:prstGeom prst="rect">
            <a:avLst/>
          </a:prstGeom>
          <a:noFill/>
          <a:ln w="9525">
            <a:noFill/>
            <a:miter lim="800000"/>
            <a:headEnd/>
            <a:tailEnd/>
          </a:ln>
        </p:spPr>
      </p:pic>
      <p:sp>
        <p:nvSpPr>
          <p:cNvPr id="9231" name="Rectangle 22"/>
          <p:cNvSpPr>
            <a:spLocks noChangeArrowheads="1"/>
          </p:cNvSpPr>
          <p:nvPr/>
        </p:nvSpPr>
        <p:spPr bwMode="auto">
          <a:xfrm>
            <a:off x="539552" y="3645024"/>
            <a:ext cx="3311525" cy="396875"/>
          </a:xfrm>
          <a:prstGeom prst="rect">
            <a:avLst/>
          </a:prstGeom>
          <a:noFill/>
          <a:ln w="9525" algn="ctr">
            <a:noFill/>
            <a:miter lim="800000"/>
          </a:ln>
          <a:effectLst/>
        </p:spPr>
        <p:txBody>
          <a:bodyPr anchor="ctr">
            <a:spAutoFit/>
          </a:bodyPr>
          <a:lstStyle/>
          <a:p>
            <a:pPr algn="ctr" eaLnBrk="1" hangingPunct="1"/>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3-62  </a:t>
            </a:r>
            <a:r>
              <a:rPr lang="zh-CN" altLang="en-US" sz="2000" dirty="0">
                <a:latin typeface="Times New Roman" panose="02020603050405020304" pitchFamily="18" charset="0"/>
                <a:cs typeface="Times New Roman" panose="02020603050405020304" pitchFamily="18" charset="0"/>
              </a:rPr>
              <a:t>同相求和电路</a:t>
            </a:r>
            <a:endParaRPr lang="zh-CN" altLang="en-US" sz="2000" dirty="0"/>
          </a:p>
        </p:txBody>
      </p:sp>
      <p:sp>
        <p:nvSpPr>
          <p:cNvPr id="9232" name="Rectangle 24"/>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9233" name="Picture 23"/>
          <p:cNvPicPr>
            <a:picLocks noChangeAspect="1" noChangeArrowheads="1"/>
          </p:cNvPicPr>
          <p:nvPr/>
        </p:nvPicPr>
        <p:blipFill>
          <a:blip r:embed="rId2" cstate="print"/>
          <a:srcRect/>
          <a:stretch>
            <a:fillRect/>
          </a:stretch>
        </p:blipFill>
        <p:spPr bwMode="auto">
          <a:xfrm>
            <a:off x="5076056" y="1340768"/>
            <a:ext cx="3455987" cy="2133600"/>
          </a:xfrm>
          <a:prstGeom prst="rect">
            <a:avLst/>
          </a:prstGeom>
          <a:noFill/>
          <a:ln w="9525">
            <a:noFill/>
            <a:miter lim="800000"/>
            <a:headEnd/>
            <a:tailEnd/>
          </a:ln>
        </p:spPr>
      </p:pic>
      <p:sp>
        <p:nvSpPr>
          <p:cNvPr id="9234" name="Rectangle 25"/>
          <p:cNvSpPr>
            <a:spLocks noChangeArrowheads="1"/>
          </p:cNvSpPr>
          <p:nvPr/>
        </p:nvSpPr>
        <p:spPr bwMode="auto">
          <a:xfrm>
            <a:off x="5868144" y="3645024"/>
            <a:ext cx="2065337" cy="400050"/>
          </a:xfrm>
          <a:prstGeom prst="rect">
            <a:avLst/>
          </a:prstGeom>
          <a:noFill/>
          <a:ln w="9525" algn="ctr">
            <a:noFill/>
            <a:miter lim="800000"/>
          </a:ln>
          <a:effectLst/>
        </p:spPr>
        <p:txBody>
          <a:bodyPr wrap="none" anchor="ctr">
            <a:spAutoFit/>
          </a:bodyPr>
          <a:lstStyle/>
          <a:p>
            <a:pPr algn="ctr" eaLnBrk="1" hangingPunct="1"/>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3-63  </a:t>
            </a:r>
            <a:r>
              <a:rPr lang="zh-CN" altLang="en-US" sz="2000" dirty="0">
                <a:latin typeface="Times New Roman" panose="02020603050405020304" pitchFamily="18" charset="0"/>
                <a:cs typeface="Times New Roman" panose="02020603050405020304" pitchFamily="18" charset="0"/>
              </a:rPr>
              <a:t>和差电路</a:t>
            </a:r>
            <a:endParaRPr lang="zh-CN" altLang="en-US" sz="2000" dirty="0"/>
          </a:p>
        </p:txBody>
      </p:sp>
      <p:sp>
        <p:nvSpPr>
          <p:cNvPr id="9235" name="Rectangle 2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9236" name="Object 26"/>
          <p:cNvGraphicFramePr>
            <a:graphicFrameLocks noChangeAspect="1"/>
          </p:cNvGraphicFramePr>
          <p:nvPr/>
        </p:nvGraphicFramePr>
        <p:xfrm>
          <a:off x="1691680" y="4725144"/>
          <a:ext cx="6481762" cy="758825"/>
        </p:xfrm>
        <a:graphic>
          <a:graphicData uri="http://schemas.openxmlformats.org/presentationml/2006/ole">
            <mc:AlternateContent xmlns:mc="http://schemas.openxmlformats.org/markup-compatibility/2006">
              <mc:Choice xmlns:v="urn:schemas-microsoft-com:vml" Requires="v">
                <p:oleObj spid="_x0000_s7169" name="" r:id="rId3" imgW="87782400" imgH="10363200" progId="Equation.KSEE3">
                  <p:embed/>
                </p:oleObj>
              </mc:Choice>
              <mc:Fallback>
                <p:oleObj name="" r:id="rId3" imgW="87782400" imgH="10363200" progId="Equation.KSEE3">
                  <p:embed/>
                  <p:pic>
                    <p:nvPicPr>
                      <p:cNvPr id="0" name="Object 26"/>
                      <p:cNvPicPr>
                        <a:picLocks noChangeAspect="1"/>
                      </p:cNvPicPr>
                      <p:nvPr/>
                    </p:nvPicPr>
                    <p:blipFill>
                      <a:blip r:embed="rId4"/>
                      <a:stretch>
                        <a:fillRect/>
                      </a:stretch>
                    </p:blipFill>
                    <p:spPr>
                      <a:xfrm>
                        <a:off x="1691680" y="4725144"/>
                        <a:ext cx="6481762" cy="758825"/>
                      </a:xfrm>
                      <a:prstGeom prst="rect">
                        <a:avLst/>
                      </a:prstGeom>
                      <a:noFill/>
                      <a:ln w="9525">
                        <a:noFill/>
                      </a:ln>
                    </p:spPr>
                  </p:pic>
                </p:oleObj>
              </mc:Fallback>
            </mc:AlternateContent>
          </a:graphicData>
        </a:graphic>
      </p:graphicFrame>
      <p:sp>
        <p:nvSpPr>
          <p:cNvPr id="9237" name="Rectangle 29"/>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9238" name="Object 28"/>
          <p:cNvGraphicFramePr>
            <a:graphicFrameLocks noChangeAspect="1"/>
          </p:cNvGraphicFramePr>
          <p:nvPr/>
        </p:nvGraphicFramePr>
        <p:xfrm>
          <a:off x="1691680" y="5733256"/>
          <a:ext cx="6192837" cy="577850"/>
        </p:xfrm>
        <a:graphic>
          <a:graphicData uri="http://schemas.openxmlformats.org/presentationml/2006/ole">
            <mc:AlternateContent xmlns:mc="http://schemas.openxmlformats.org/markup-compatibility/2006">
              <mc:Choice xmlns:v="urn:schemas-microsoft-com:vml" Requires="v">
                <p:oleObj spid="_x0000_s7170" name="" r:id="rId5" imgW="110032800" imgH="10363200" progId="Equation.KSEE3">
                  <p:embed/>
                </p:oleObj>
              </mc:Choice>
              <mc:Fallback>
                <p:oleObj name="" r:id="rId5" imgW="110032800" imgH="10363200" progId="Equation.KSEE3">
                  <p:embed/>
                  <p:pic>
                    <p:nvPicPr>
                      <p:cNvPr id="0" name="Object 28"/>
                      <p:cNvPicPr>
                        <a:picLocks noChangeAspect="1"/>
                      </p:cNvPicPr>
                      <p:nvPr/>
                    </p:nvPicPr>
                    <p:blipFill>
                      <a:blip r:embed="rId6"/>
                      <a:stretch>
                        <a:fillRect/>
                      </a:stretch>
                    </p:blipFill>
                    <p:spPr>
                      <a:xfrm>
                        <a:off x="1691680" y="5733256"/>
                        <a:ext cx="6192837" cy="577850"/>
                      </a:xfrm>
                      <a:prstGeom prst="rect">
                        <a:avLst/>
                      </a:prstGeom>
                      <a:noFill/>
                      <a:ln w="9525">
                        <a:noFill/>
                      </a:ln>
                    </p:spPr>
                  </p:pic>
                </p:oleObj>
              </mc:Fallback>
            </mc:AlternateContent>
          </a:graphicData>
        </a:graphic>
      </p:graphicFrame>
      <p:sp>
        <p:nvSpPr>
          <p:cNvPr id="9239" name="Text Box 30"/>
          <p:cNvSpPr txBox="1">
            <a:spLocks noChangeArrowheads="1"/>
          </p:cNvSpPr>
          <p:nvPr/>
        </p:nvSpPr>
        <p:spPr bwMode="auto">
          <a:xfrm>
            <a:off x="179512" y="4581128"/>
            <a:ext cx="1116013" cy="366712"/>
          </a:xfrm>
          <a:prstGeom prst="rect">
            <a:avLst/>
          </a:prstGeom>
          <a:noFill/>
          <a:ln w="9525" algn="ctr">
            <a:noFill/>
            <a:miter lim="800000"/>
          </a:ln>
          <a:effectLst/>
        </p:spPr>
        <p:txBody>
          <a:bodyPr>
            <a:spAutoFit/>
          </a:bodyPr>
          <a:lstStyle/>
          <a:p>
            <a:pPr eaLnBrk="1" hangingPunct="1"/>
            <a:r>
              <a:rPr lang="zh-CN" altLang="en-US" dirty="0"/>
              <a:t>同相求和</a:t>
            </a:r>
            <a:endParaRPr lang="zh-CN" altLang="en-US" dirty="0"/>
          </a:p>
        </p:txBody>
      </p:sp>
      <p:sp>
        <p:nvSpPr>
          <p:cNvPr id="9240" name="Rectangle 31"/>
          <p:cNvSpPr>
            <a:spLocks noChangeArrowheads="1"/>
          </p:cNvSpPr>
          <p:nvPr/>
        </p:nvSpPr>
        <p:spPr bwMode="auto">
          <a:xfrm>
            <a:off x="251520" y="5733256"/>
            <a:ext cx="936104" cy="523220"/>
          </a:xfrm>
          <a:prstGeom prst="rect">
            <a:avLst/>
          </a:prstGeom>
          <a:noFill/>
          <a:ln w="9525" algn="ctr">
            <a:noFill/>
            <a:miter lim="800000"/>
          </a:ln>
          <a:effectLst/>
        </p:spPr>
        <p:txBody>
          <a:bodyPr wrap="square">
            <a:spAutoFit/>
          </a:bodyPr>
          <a:lstStyle/>
          <a:p>
            <a:pPr eaLnBrk="1" hangingPunct="1"/>
            <a:r>
              <a:rPr lang="zh-CN" altLang="en-US" dirty="0"/>
              <a:t>和差</a:t>
            </a:r>
            <a:endParaRPr lang="zh-CN" altLang="en-US" dirty="0"/>
          </a:p>
        </p:txBody>
      </p:sp>
      <p:sp>
        <p:nvSpPr>
          <p:cNvPr id="25" name="标题 24"/>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5"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6"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7"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8"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9"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0"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1"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2"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3"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4" name="Rectangle 17"/>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5" name="Rectangle 20"/>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6" name="Rectangle 22"/>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57" name="Rectangle 27"/>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0258" name="Picture 26"/>
          <p:cNvPicPr>
            <a:picLocks noChangeAspect="1" noChangeArrowheads="1"/>
          </p:cNvPicPr>
          <p:nvPr/>
        </p:nvPicPr>
        <p:blipFill>
          <a:blip r:embed="rId1" cstate="print"/>
          <a:srcRect/>
          <a:stretch>
            <a:fillRect/>
          </a:stretch>
        </p:blipFill>
        <p:spPr bwMode="auto">
          <a:xfrm>
            <a:off x="899592" y="1340768"/>
            <a:ext cx="3024188" cy="2268537"/>
          </a:xfrm>
          <a:prstGeom prst="rect">
            <a:avLst/>
          </a:prstGeom>
          <a:noFill/>
          <a:ln w="9525">
            <a:noFill/>
            <a:miter lim="800000"/>
            <a:headEnd/>
            <a:tailEnd/>
          </a:ln>
        </p:spPr>
      </p:pic>
      <p:sp>
        <p:nvSpPr>
          <p:cNvPr id="10259" name="Rectangle 28"/>
          <p:cNvSpPr>
            <a:spLocks noChangeArrowheads="1"/>
          </p:cNvSpPr>
          <p:nvPr/>
        </p:nvSpPr>
        <p:spPr bwMode="auto">
          <a:xfrm>
            <a:off x="1115616" y="3861048"/>
            <a:ext cx="2576513" cy="400050"/>
          </a:xfrm>
          <a:prstGeom prst="rect">
            <a:avLst/>
          </a:prstGeom>
          <a:noFill/>
          <a:ln w="9525" algn="ctr">
            <a:noFill/>
            <a:miter lim="800000"/>
          </a:ln>
          <a:effectLst/>
        </p:spPr>
        <p:txBody>
          <a:bodyPr wrap="none" anchor="ctr">
            <a:spAutoFit/>
          </a:bodyPr>
          <a:lstStyle/>
          <a:p>
            <a:pPr algn="ctr" eaLnBrk="1" hangingPunct="1"/>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3-64  </a:t>
            </a:r>
            <a:r>
              <a:rPr lang="zh-CN" altLang="en-US" sz="2000" dirty="0">
                <a:latin typeface="Times New Roman" panose="02020603050405020304" pitchFamily="18" charset="0"/>
                <a:cs typeface="Times New Roman" panose="02020603050405020304" pitchFamily="18" charset="0"/>
              </a:rPr>
              <a:t>反相积分电路</a:t>
            </a:r>
            <a:endParaRPr lang="zh-CN" altLang="en-US" sz="2000" dirty="0"/>
          </a:p>
        </p:txBody>
      </p:sp>
      <p:sp>
        <p:nvSpPr>
          <p:cNvPr id="10260" name="Rectangle 30"/>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10261" name="Object 29"/>
          <p:cNvGraphicFramePr>
            <a:graphicFrameLocks noChangeAspect="1"/>
          </p:cNvGraphicFramePr>
          <p:nvPr/>
        </p:nvGraphicFramePr>
        <p:xfrm>
          <a:off x="1547664" y="4653136"/>
          <a:ext cx="1728788" cy="681037"/>
        </p:xfrm>
        <a:graphic>
          <a:graphicData uri="http://schemas.openxmlformats.org/presentationml/2006/ole">
            <mc:AlternateContent xmlns:mc="http://schemas.openxmlformats.org/markup-compatibility/2006">
              <mc:Choice xmlns:v="urn:schemas-microsoft-com:vml" Requires="v">
                <p:oleObj spid="_x0000_s8193" name="" r:id="rId2" imgW="21640800" imgH="8534400" progId="Equation.KSEE3">
                  <p:embed/>
                </p:oleObj>
              </mc:Choice>
              <mc:Fallback>
                <p:oleObj name="" r:id="rId2" imgW="21640800" imgH="8534400" progId="Equation.KSEE3">
                  <p:embed/>
                  <p:pic>
                    <p:nvPicPr>
                      <p:cNvPr id="0" name="Object 29"/>
                      <p:cNvPicPr>
                        <a:picLocks noChangeAspect="1"/>
                      </p:cNvPicPr>
                      <p:nvPr/>
                    </p:nvPicPr>
                    <p:blipFill>
                      <a:blip r:embed="rId3"/>
                      <a:stretch>
                        <a:fillRect/>
                      </a:stretch>
                    </p:blipFill>
                    <p:spPr>
                      <a:xfrm>
                        <a:off x="1547664" y="4653136"/>
                        <a:ext cx="1728788" cy="681037"/>
                      </a:xfrm>
                      <a:prstGeom prst="rect">
                        <a:avLst/>
                      </a:prstGeom>
                      <a:noFill/>
                      <a:ln w="9525">
                        <a:noFill/>
                      </a:ln>
                    </p:spPr>
                  </p:pic>
                </p:oleObj>
              </mc:Fallback>
            </mc:AlternateContent>
          </a:graphicData>
        </a:graphic>
      </p:graphicFrame>
      <p:sp>
        <p:nvSpPr>
          <p:cNvPr id="10262" name="Rectangle 32"/>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0263" name="Picture 31"/>
          <p:cNvPicPr>
            <a:picLocks noChangeAspect="1" noChangeArrowheads="1"/>
          </p:cNvPicPr>
          <p:nvPr/>
        </p:nvPicPr>
        <p:blipFill>
          <a:blip r:embed="rId4" cstate="print"/>
          <a:srcRect/>
          <a:stretch>
            <a:fillRect/>
          </a:stretch>
        </p:blipFill>
        <p:spPr bwMode="auto">
          <a:xfrm>
            <a:off x="4860032" y="1196752"/>
            <a:ext cx="2808288" cy="2413000"/>
          </a:xfrm>
          <a:prstGeom prst="rect">
            <a:avLst/>
          </a:prstGeom>
          <a:noFill/>
          <a:ln w="9525">
            <a:noFill/>
            <a:miter lim="800000"/>
            <a:headEnd/>
            <a:tailEnd/>
          </a:ln>
        </p:spPr>
      </p:pic>
      <p:sp>
        <p:nvSpPr>
          <p:cNvPr id="10264" name="Rectangle 33"/>
          <p:cNvSpPr>
            <a:spLocks noChangeArrowheads="1"/>
          </p:cNvSpPr>
          <p:nvPr/>
        </p:nvSpPr>
        <p:spPr bwMode="auto">
          <a:xfrm>
            <a:off x="5004048" y="3717032"/>
            <a:ext cx="2576512" cy="400050"/>
          </a:xfrm>
          <a:prstGeom prst="rect">
            <a:avLst/>
          </a:prstGeom>
          <a:noFill/>
          <a:ln w="9525" algn="ctr">
            <a:noFill/>
            <a:miter lim="800000"/>
          </a:ln>
          <a:effectLst/>
        </p:spPr>
        <p:txBody>
          <a:bodyPr wrap="none" anchor="ctr">
            <a:spAutoFit/>
          </a:bodyPr>
          <a:lstStyle/>
          <a:p>
            <a:pPr algn="ctr" eaLnBrk="1" hangingPunct="1"/>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3-65  </a:t>
            </a:r>
            <a:r>
              <a:rPr lang="zh-CN" altLang="en-US" sz="2000" dirty="0">
                <a:latin typeface="Times New Roman" panose="02020603050405020304" pitchFamily="18" charset="0"/>
                <a:cs typeface="Times New Roman" panose="02020603050405020304" pitchFamily="18" charset="0"/>
              </a:rPr>
              <a:t>反相微分电路</a:t>
            </a:r>
            <a:endParaRPr lang="zh-CN" altLang="en-US" sz="2000" dirty="0"/>
          </a:p>
        </p:txBody>
      </p:sp>
      <p:sp>
        <p:nvSpPr>
          <p:cNvPr id="10265" name="Rectangle 35"/>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graphicFrame>
        <p:nvGraphicFramePr>
          <p:cNvPr id="10266" name="Object 34"/>
          <p:cNvGraphicFramePr>
            <a:graphicFrameLocks noChangeAspect="1"/>
          </p:cNvGraphicFramePr>
          <p:nvPr/>
        </p:nvGraphicFramePr>
        <p:xfrm>
          <a:off x="5292080" y="4581128"/>
          <a:ext cx="2017712" cy="920750"/>
        </p:xfrm>
        <a:graphic>
          <a:graphicData uri="http://schemas.openxmlformats.org/presentationml/2006/ole">
            <mc:AlternateContent xmlns:mc="http://schemas.openxmlformats.org/markup-compatibility/2006">
              <mc:Choice xmlns:v="urn:schemas-microsoft-com:vml" Requires="v">
                <p:oleObj spid="_x0000_s8194" name="" r:id="rId5" imgW="18592800" imgH="8534400" progId="Equation.KSEE3">
                  <p:embed/>
                </p:oleObj>
              </mc:Choice>
              <mc:Fallback>
                <p:oleObj name="" r:id="rId5" imgW="18592800" imgH="8534400" progId="Equation.KSEE3">
                  <p:embed/>
                  <p:pic>
                    <p:nvPicPr>
                      <p:cNvPr id="0" name="Object 34"/>
                      <p:cNvPicPr>
                        <a:picLocks noChangeAspect="1"/>
                      </p:cNvPicPr>
                      <p:nvPr/>
                    </p:nvPicPr>
                    <p:blipFill>
                      <a:blip r:embed="rId6"/>
                      <a:stretch>
                        <a:fillRect/>
                      </a:stretch>
                    </p:blipFill>
                    <p:spPr>
                      <a:xfrm>
                        <a:off x="5292080" y="4581128"/>
                        <a:ext cx="2017712" cy="920750"/>
                      </a:xfrm>
                      <a:prstGeom prst="rect">
                        <a:avLst/>
                      </a:prstGeom>
                      <a:noFill/>
                      <a:ln w="9525">
                        <a:noFill/>
                      </a:ln>
                    </p:spPr>
                  </p:pic>
                </p:oleObj>
              </mc:Fallback>
            </mc:AlternateContent>
          </a:graphicData>
        </a:graphic>
      </p:graphicFrame>
      <p:sp>
        <p:nvSpPr>
          <p:cNvPr id="27" name="标题 26"/>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67544" y="476671"/>
            <a:ext cx="8354194" cy="931441"/>
          </a:xfrm>
        </p:spPr>
        <p:txBody>
          <a:bodyPr/>
          <a:lstStyle/>
          <a:p>
            <a:pPr eaLnBrk="1" hangingPunct="1"/>
            <a:r>
              <a:rPr lang="zh-CN" altLang="en-US" sz="3600" dirty="0" smtClean="0">
                <a:solidFill>
                  <a:srgbClr val="00B0F0"/>
                </a:solidFill>
                <a:latin typeface="+mn-lt"/>
                <a:ea typeface="+mn-ea"/>
                <a:cs typeface="+mn-cs"/>
              </a:rPr>
              <a:t>四、计算机仿真实验内容 </a:t>
            </a:r>
            <a:endParaRPr lang="zh-CN" altLang="en-US" sz="3600" dirty="0" smtClean="0">
              <a:solidFill>
                <a:srgbClr val="00B0F0"/>
              </a:solidFill>
              <a:latin typeface="+mn-lt"/>
              <a:ea typeface="+mn-ea"/>
              <a:cs typeface="+mn-cs"/>
            </a:endParaRPr>
          </a:p>
        </p:txBody>
      </p:sp>
      <p:sp>
        <p:nvSpPr>
          <p:cNvPr id="11268"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69"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0"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1"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2"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3"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4"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5"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6"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7"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8"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79"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80"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81"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82"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83" name="Rectangle 23"/>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84" name="Rectangle 26"/>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1285" name="Rectangle 29"/>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1286" name="图片 172"/>
          <p:cNvPicPr>
            <a:picLocks noChangeAspect="1" noChangeArrowheads="1"/>
          </p:cNvPicPr>
          <p:nvPr/>
        </p:nvPicPr>
        <p:blipFill>
          <a:blip r:embed="rId1" cstate="print"/>
          <a:srcRect/>
          <a:stretch>
            <a:fillRect/>
          </a:stretch>
        </p:blipFill>
        <p:spPr bwMode="auto">
          <a:xfrm>
            <a:off x="179388" y="2205038"/>
            <a:ext cx="4248150" cy="2757487"/>
          </a:xfrm>
          <a:prstGeom prst="rect">
            <a:avLst/>
          </a:prstGeom>
          <a:noFill/>
          <a:ln w="9525">
            <a:noFill/>
            <a:miter lim="800000"/>
            <a:headEnd/>
            <a:tailEnd/>
          </a:ln>
        </p:spPr>
      </p:pic>
      <p:sp>
        <p:nvSpPr>
          <p:cNvPr id="11287" name="Rectangle 30"/>
          <p:cNvSpPr>
            <a:spLocks noChangeArrowheads="1"/>
          </p:cNvSpPr>
          <p:nvPr/>
        </p:nvSpPr>
        <p:spPr bwMode="auto">
          <a:xfrm>
            <a:off x="323528" y="5013176"/>
            <a:ext cx="3090863" cy="400050"/>
          </a:xfrm>
          <a:prstGeom prst="rect">
            <a:avLst/>
          </a:prstGeom>
          <a:noFill/>
          <a:ln w="9525" algn="ctr">
            <a:noFill/>
            <a:miter lim="800000"/>
          </a:ln>
          <a:effectLst/>
        </p:spPr>
        <p:txBody>
          <a:bodyPr wrap="none" anchor="ctr">
            <a:spAutoFit/>
          </a:bodyPr>
          <a:lstStyle/>
          <a:p>
            <a:pPr algn="ctr" eaLnBrk="1" hangingPunct="1"/>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3-66  </a:t>
            </a:r>
            <a:r>
              <a:rPr lang="zh-CN" altLang="en-US" sz="2000" dirty="0">
                <a:latin typeface="Times New Roman" panose="02020603050405020304" pitchFamily="18" charset="0"/>
                <a:cs typeface="Times New Roman" panose="02020603050405020304" pitchFamily="18" charset="0"/>
              </a:rPr>
              <a:t>反相比例运算电路</a:t>
            </a:r>
            <a:endParaRPr lang="zh-CN" altLang="en-US" sz="2000" dirty="0"/>
          </a:p>
        </p:txBody>
      </p:sp>
      <p:sp>
        <p:nvSpPr>
          <p:cNvPr id="11288" name="Rectangle 32"/>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1289" name="图片 128"/>
          <p:cNvPicPr>
            <a:picLocks noChangeAspect="1" noChangeArrowheads="1"/>
          </p:cNvPicPr>
          <p:nvPr/>
        </p:nvPicPr>
        <p:blipFill>
          <a:blip r:embed="rId2" cstate="print"/>
          <a:srcRect/>
          <a:stretch>
            <a:fillRect/>
          </a:stretch>
        </p:blipFill>
        <p:spPr bwMode="auto">
          <a:xfrm>
            <a:off x="4572000" y="2060575"/>
            <a:ext cx="4392613" cy="3525838"/>
          </a:xfrm>
          <a:prstGeom prst="rect">
            <a:avLst/>
          </a:prstGeom>
          <a:noFill/>
          <a:ln w="9525">
            <a:noFill/>
            <a:miter lim="800000"/>
            <a:headEnd/>
            <a:tailEnd/>
          </a:ln>
        </p:spPr>
      </p:pic>
      <p:sp>
        <p:nvSpPr>
          <p:cNvPr id="11290" name="Rectangle 33"/>
          <p:cNvSpPr>
            <a:spLocks noChangeArrowheads="1"/>
          </p:cNvSpPr>
          <p:nvPr/>
        </p:nvSpPr>
        <p:spPr bwMode="auto">
          <a:xfrm>
            <a:off x="3727450" y="5659438"/>
            <a:ext cx="5399088" cy="400050"/>
          </a:xfrm>
          <a:prstGeom prst="rect">
            <a:avLst/>
          </a:prstGeom>
          <a:noFill/>
          <a:ln w="9525" algn="ctr">
            <a:noFill/>
            <a:miter lim="800000"/>
          </a:ln>
          <a:effectLst/>
        </p:spPr>
        <p:txBody>
          <a:bodyPr wrap="none" anchor="ctr">
            <a:spAutoFit/>
          </a:bodyPr>
          <a:lstStyle/>
          <a:p>
            <a:pPr algn="ct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3-67  </a:t>
            </a:r>
            <a:r>
              <a:rPr lang="zh-CN" altLang="en-US" sz="2000">
                <a:latin typeface="Times New Roman" panose="02020603050405020304" pitchFamily="18" charset="0"/>
                <a:cs typeface="Times New Roman" panose="02020603050405020304" pitchFamily="18" charset="0"/>
              </a:rPr>
              <a:t>反相比例运算电路输入、输出波形对比</a:t>
            </a:r>
            <a:endParaRPr lang="zh-CN" altLang="en-US" sz="2000"/>
          </a:p>
        </p:txBody>
      </p:sp>
    </p:spTree>
  </p:cSld>
  <p:clrMapOvr>
    <a:masterClrMapping/>
  </p:clrMapOvr>
  <p:transition spd="med"/>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3"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4"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5"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6"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7"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8"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9"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0"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1"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2"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3"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4"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5"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6" name="Rectangle 19"/>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7" name="Rectangle 20"/>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8"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09" name="Rectangle 22"/>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10" name="Rectangle 25"/>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311" name="Rectangle 29"/>
          <p:cNvSpPr>
            <a:spLocks noChangeArrowheads="1"/>
          </p:cNvSpPr>
          <p:nvPr/>
        </p:nvSpPr>
        <p:spPr bwMode="auto">
          <a:xfrm>
            <a:off x="0" y="24717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2312" name="图片 174"/>
          <p:cNvPicPr>
            <a:picLocks noChangeAspect="1" noChangeArrowheads="1"/>
          </p:cNvPicPr>
          <p:nvPr/>
        </p:nvPicPr>
        <p:blipFill>
          <a:blip r:embed="rId1" cstate="print"/>
          <a:srcRect/>
          <a:stretch>
            <a:fillRect/>
          </a:stretch>
        </p:blipFill>
        <p:spPr bwMode="auto">
          <a:xfrm>
            <a:off x="179388" y="2492375"/>
            <a:ext cx="4176712" cy="2863850"/>
          </a:xfrm>
          <a:prstGeom prst="rect">
            <a:avLst/>
          </a:prstGeom>
          <a:noFill/>
          <a:ln w="9525">
            <a:noFill/>
            <a:miter lim="800000"/>
            <a:headEnd/>
            <a:tailEnd/>
          </a:ln>
        </p:spPr>
      </p:pic>
      <p:sp>
        <p:nvSpPr>
          <p:cNvPr id="12313" name="Rectangle 30"/>
          <p:cNvSpPr>
            <a:spLocks noChangeArrowheads="1"/>
          </p:cNvSpPr>
          <p:nvPr/>
        </p:nvSpPr>
        <p:spPr bwMode="auto">
          <a:xfrm>
            <a:off x="277813" y="5588000"/>
            <a:ext cx="3090862" cy="400050"/>
          </a:xfrm>
          <a:prstGeom prst="rect">
            <a:avLst/>
          </a:prstGeom>
          <a:noFill/>
          <a:ln w="9525" algn="ctr">
            <a:noFill/>
            <a:miter lim="800000"/>
          </a:ln>
          <a:effectLst/>
        </p:spPr>
        <p:txBody>
          <a:bodyPr wrap="none" anchor="ctr">
            <a:spAutoFit/>
          </a:bodyPr>
          <a:lstStyle/>
          <a:p>
            <a:pPr algn="ct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3-69  </a:t>
            </a:r>
            <a:r>
              <a:rPr lang="zh-CN" altLang="en-US" sz="2000">
                <a:latin typeface="Times New Roman" panose="02020603050405020304" pitchFamily="18" charset="0"/>
                <a:cs typeface="Times New Roman" panose="02020603050405020304" pitchFamily="18" charset="0"/>
              </a:rPr>
              <a:t>同相比例运算电路</a:t>
            </a:r>
            <a:endParaRPr lang="zh-CN" altLang="en-US" sz="2000"/>
          </a:p>
        </p:txBody>
      </p:sp>
      <p:sp>
        <p:nvSpPr>
          <p:cNvPr id="12314" name="Rectangle 32"/>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2315" name="图片 131"/>
          <p:cNvPicPr>
            <a:picLocks noChangeAspect="1" noChangeArrowheads="1"/>
          </p:cNvPicPr>
          <p:nvPr/>
        </p:nvPicPr>
        <p:blipFill>
          <a:blip r:embed="rId2" cstate="print"/>
          <a:srcRect/>
          <a:stretch>
            <a:fillRect/>
          </a:stretch>
        </p:blipFill>
        <p:spPr bwMode="auto">
          <a:xfrm>
            <a:off x="4572000" y="2133600"/>
            <a:ext cx="4176713" cy="3341688"/>
          </a:xfrm>
          <a:prstGeom prst="rect">
            <a:avLst/>
          </a:prstGeom>
          <a:noFill/>
          <a:ln w="9525">
            <a:noFill/>
            <a:miter lim="800000"/>
            <a:headEnd/>
            <a:tailEnd/>
          </a:ln>
        </p:spPr>
      </p:pic>
      <p:sp>
        <p:nvSpPr>
          <p:cNvPr id="12316" name="Rectangle 33"/>
          <p:cNvSpPr>
            <a:spLocks noChangeArrowheads="1"/>
          </p:cNvSpPr>
          <p:nvPr/>
        </p:nvSpPr>
        <p:spPr bwMode="auto">
          <a:xfrm>
            <a:off x="3727450" y="5732463"/>
            <a:ext cx="5399088" cy="400050"/>
          </a:xfrm>
          <a:prstGeom prst="rect">
            <a:avLst/>
          </a:prstGeom>
          <a:noFill/>
          <a:ln w="9525" algn="ctr">
            <a:noFill/>
            <a:miter lim="800000"/>
          </a:ln>
          <a:effectLst/>
        </p:spPr>
        <p:txBody>
          <a:bodyPr wrap="none" anchor="ctr">
            <a:spAutoFit/>
          </a:bodyPr>
          <a:lstStyle/>
          <a:p>
            <a:pPr algn="ct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3-70  </a:t>
            </a:r>
            <a:r>
              <a:rPr lang="zh-CN" altLang="en-US" sz="2000">
                <a:latin typeface="Times New Roman" panose="02020603050405020304" pitchFamily="18" charset="0"/>
                <a:cs typeface="Times New Roman" panose="02020603050405020304" pitchFamily="18" charset="0"/>
              </a:rPr>
              <a:t>同相比例运算电路输入、输出波形对比</a:t>
            </a:r>
            <a:endParaRPr lang="zh-CN" altLang="en-US" sz="2000"/>
          </a:p>
        </p:txBody>
      </p:sp>
      <p:sp>
        <p:nvSpPr>
          <p:cNvPr id="29" name="标题 28"/>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17"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18"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19"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0"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1"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2"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3"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4"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5"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6"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7"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8"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29"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0" name="Rectangle 19"/>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1" name="Rectangle 20"/>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2"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3" name="Rectangle 22"/>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4" name="Rectangle 23"/>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5" name="Rectangle 24"/>
          <p:cNvSpPr>
            <a:spLocks noChangeArrowheads="1"/>
          </p:cNvSpPr>
          <p:nvPr/>
        </p:nvSpPr>
        <p:spPr bwMode="auto">
          <a:xfrm>
            <a:off x="0" y="24717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6" name="Rectangle 27"/>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3337" name="图片 122"/>
          <p:cNvPicPr>
            <a:picLocks noChangeAspect="1" noChangeArrowheads="1"/>
          </p:cNvPicPr>
          <p:nvPr/>
        </p:nvPicPr>
        <p:blipFill>
          <a:blip r:embed="rId1" cstate="print"/>
          <a:srcRect/>
          <a:stretch>
            <a:fillRect/>
          </a:stretch>
        </p:blipFill>
        <p:spPr bwMode="auto">
          <a:xfrm>
            <a:off x="0" y="2205038"/>
            <a:ext cx="4248150" cy="2851150"/>
          </a:xfrm>
          <a:prstGeom prst="rect">
            <a:avLst/>
          </a:prstGeom>
          <a:noFill/>
          <a:ln w="9525">
            <a:noFill/>
            <a:miter lim="800000"/>
            <a:headEnd/>
            <a:tailEnd/>
          </a:ln>
        </p:spPr>
      </p:pic>
      <p:sp>
        <p:nvSpPr>
          <p:cNvPr id="13338" name="Rectangle 32"/>
          <p:cNvSpPr>
            <a:spLocks noChangeArrowheads="1"/>
          </p:cNvSpPr>
          <p:nvPr/>
        </p:nvSpPr>
        <p:spPr bwMode="auto">
          <a:xfrm>
            <a:off x="0" y="17129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3339" name="Rectangle 33"/>
          <p:cNvSpPr>
            <a:spLocks noChangeArrowheads="1"/>
          </p:cNvSpPr>
          <p:nvPr/>
        </p:nvSpPr>
        <p:spPr bwMode="auto">
          <a:xfrm>
            <a:off x="4337050" y="3640138"/>
            <a:ext cx="469900" cy="244475"/>
          </a:xfrm>
          <a:prstGeom prst="rect">
            <a:avLst/>
          </a:prstGeom>
          <a:noFill/>
          <a:ln w="9525" algn="ctr">
            <a:noFill/>
            <a:miter lim="800000"/>
          </a:ln>
          <a:effectLst/>
        </p:spPr>
        <p:txBody>
          <a:bodyPr wrap="none" anchor="ctr">
            <a:spAutoFit/>
          </a:bodyPr>
          <a:lstStyle/>
          <a:p>
            <a:pPr algn="ctr" eaLnBrk="1" hangingPunct="1"/>
            <a:r>
              <a:rPr lang="en-US" altLang="zh-CN" sz="1000">
                <a:latin typeface="Times New Roman" panose="02020603050405020304" pitchFamily="18" charset="0"/>
                <a:cs typeface="Times New Roman" panose="02020603050405020304" pitchFamily="18" charset="0"/>
              </a:rPr>
              <a:t>         </a:t>
            </a:r>
            <a:endParaRPr lang="en-US" altLang="zh-CN"/>
          </a:p>
        </p:txBody>
      </p:sp>
      <p:sp>
        <p:nvSpPr>
          <p:cNvPr id="13340" name="Rectangle 34"/>
          <p:cNvSpPr>
            <a:spLocks noChangeArrowheads="1"/>
          </p:cNvSpPr>
          <p:nvPr/>
        </p:nvSpPr>
        <p:spPr bwMode="auto">
          <a:xfrm>
            <a:off x="1042988" y="5222875"/>
            <a:ext cx="3122612" cy="400050"/>
          </a:xfrm>
          <a:prstGeom prst="rect">
            <a:avLst/>
          </a:prstGeom>
          <a:noFill/>
          <a:ln w="9525" algn="ctr">
            <a:noFill/>
            <a:miter lim="800000"/>
          </a:ln>
          <a:effectLst/>
        </p:spPr>
        <p:txBody>
          <a:bodyPr wrap="none" anchor="ctr">
            <a:spAutoFit/>
          </a:bodyPr>
          <a:lstStyle/>
          <a:p>
            <a:pPr eaLnBrk="1" hangingPunct="1"/>
            <a:r>
              <a:rPr lang="zh-CN" altLang="en-US" sz="2000">
                <a:latin typeface="Times New Roman" panose="02020603050405020304" pitchFamily="18" charset="0"/>
                <a:cs typeface="Times New Roman" panose="02020603050405020304" pitchFamily="18" charset="0"/>
              </a:rPr>
              <a:t>图</a:t>
            </a:r>
            <a:r>
              <a:rPr lang="en-US" altLang="zh-CN" sz="2000">
                <a:latin typeface="Times New Roman" panose="02020603050405020304" pitchFamily="18" charset="0"/>
                <a:cs typeface="Times New Roman" panose="02020603050405020304" pitchFamily="18" charset="0"/>
              </a:rPr>
              <a:t>3-72  </a:t>
            </a:r>
            <a:r>
              <a:rPr lang="zh-CN" altLang="en-US" sz="2000">
                <a:latin typeface="Times New Roman" panose="02020603050405020304" pitchFamily="18" charset="0"/>
                <a:cs typeface="Times New Roman" panose="02020603050405020304" pitchFamily="18" charset="0"/>
              </a:rPr>
              <a:t>差动比例运算电路</a:t>
            </a:r>
            <a:r>
              <a:rPr lang="zh-CN" altLang="en-US" sz="1000">
                <a:latin typeface="Times New Roman" panose="02020603050405020304" pitchFamily="18" charset="0"/>
                <a:cs typeface="Times New Roman" panose="02020603050405020304" pitchFamily="18" charset="0"/>
              </a:rPr>
              <a:t> </a:t>
            </a:r>
            <a:endParaRPr lang="zh-CN" altLang="en-US"/>
          </a:p>
        </p:txBody>
      </p:sp>
      <p:sp>
        <p:nvSpPr>
          <p:cNvPr id="13341" name="Rectangle 36"/>
          <p:cNvSpPr>
            <a:spLocks noChangeArrowheads="1"/>
          </p:cNvSpPr>
          <p:nvPr/>
        </p:nvSpPr>
        <p:spPr bwMode="auto">
          <a:xfrm>
            <a:off x="0" y="1987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3342" name="图片 123"/>
          <p:cNvPicPr>
            <a:picLocks noChangeAspect="1" noChangeArrowheads="1"/>
          </p:cNvPicPr>
          <p:nvPr/>
        </p:nvPicPr>
        <p:blipFill>
          <a:blip r:embed="rId2" cstate="print"/>
          <a:srcRect/>
          <a:stretch>
            <a:fillRect/>
          </a:stretch>
        </p:blipFill>
        <p:spPr bwMode="auto">
          <a:xfrm>
            <a:off x="4643438" y="2420938"/>
            <a:ext cx="4249737" cy="2713037"/>
          </a:xfrm>
          <a:prstGeom prst="rect">
            <a:avLst/>
          </a:prstGeom>
          <a:noFill/>
          <a:ln w="9525">
            <a:noFill/>
            <a:miter lim="800000"/>
            <a:headEnd/>
            <a:tailEnd/>
          </a:ln>
        </p:spPr>
      </p:pic>
      <p:sp>
        <p:nvSpPr>
          <p:cNvPr id="13343" name="Rectangle 37"/>
          <p:cNvSpPr>
            <a:spLocks noChangeArrowheads="1"/>
          </p:cNvSpPr>
          <p:nvPr/>
        </p:nvSpPr>
        <p:spPr bwMode="auto">
          <a:xfrm>
            <a:off x="5108575" y="5222875"/>
            <a:ext cx="2622550" cy="400050"/>
          </a:xfrm>
          <a:prstGeom prst="rect">
            <a:avLst/>
          </a:prstGeom>
          <a:noFill/>
          <a:ln w="9525" algn="ctr">
            <a:noFill/>
            <a:miter lim="800000"/>
          </a:ln>
          <a:effectLst/>
        </p:spPr>
        <p:txBody>
          <a:bodyPr wrap="none" anchor="ctr">
            <a:spAutoFit/>
          </a:bodyPr>
          <a:lstStyle/>
          <a:p>
            <a:pPr algn="ctr" eaLnBrk="1" hangingPunct="1"/>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3-74 </a:t>
            </a:r>
            <a:r>
              <a:rPr lang="zh-CN" altLang="en-US" sz="2000">
                <a:latin typeface="Times New Roman" panose="02020603050405020304" pitchFamily="18" charset="0"/>
                <a:cs typeface="Times New Roman" panose="02020603050405020304" pitchFamily="18" charset="0"/>
              </a:rPr>
              <a:t>反相求和电路</a:t>
            </a:r>
            <a:endParaRPr lang="zh-CN" altLang="en-US" sz="2000"/>
          </a:p>
        </p:txBody>
      </p:sp>
      <p:sp>
        <p:nvSpPr>
          <p:cNvPr id="32" name="标题 31"/>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1"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2"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3"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4"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5"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6"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7"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8"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9"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0"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1"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2"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3"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4" name="Rectangle 19"/>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5" name="Rectangle 20"/>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6"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7" name="Rectangle 22"/>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8" name="Rectangle 23"/>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9" name="Rectangle 24"/>
          <p:cNvSpPr>
            <a:spLocks noChangeArrowheads="1"/>
          </p:cNvSpPr>
          <p:nvPr/>
        </p:nvSpPr>
        <p:spPr bwMode="auto">
          <a:xfrm>
            <a:off x="0" y="24717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60" name="Rectangle 25"/>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61" name="Rectangle 27"/>
          <p:cNvSpPr>
            <a:spLocks noChangeArrowheads="1"/>
          </p:cNvSpPr>
          <p:nvPr/>
        </p:nvSpPr>
        <p:spPr bwMode="auto">
          <a:xfrm>
            <a:off x="0" y="17129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62" name="Rectangle 28"/>
          <p:cNvSpPr>
            <a:spLocks noChangeArrowheads="1"/>
          </p:cNvSpPr>
          <p:nvPr/>
        </p:nvSpPr>
        <p:spPr bwMode="auto">
          <a:xfrm>
            <a:off x="4337050" y="3640138"/>
            <a:ext cx="469900" cy="244475"/>
          </a:xfrm>
          <a:prstGeom prst="rect">
            <a:avLst/>
          </a:prstGeom>
          <a:noFill/>
          <a:ln w="9525" algn="ctr">
            <a:noFill/>
            <a:miter lim="800000"/>
          </a:ln>
          <a:effectLst/>
        </p:spPr>
        <p:txBody>
          <a:bodyPr wrap="none" anchor="ctr">
            <a:spAutoFit/>
          </a:bodyPr>
          <a:lstStyle/>
          <a:p>
            <a:pPr algn="ctr" eaLnBrk="1" hangingPunct="1"/>
            <a:r>
              <a:rPr lang="en-US" altLang="zh-CN" sz="1000">
                <a:latin typeface="Times New Roman" panose="02020603050405020304" pitchFamily="18" charset="0"/>
                <a:cs typeface="Times New Roman" panose="02020603050405020304" pitchFamily="18" charset="0"/>
              </a:rPr>
              <a:t>         </a:t>
            </a:r>
            <a:endParaRPr lang="en-US" altLang="zh-CN"/>
          </a:p>
        </p:txBody>
      </p:sp>
      <p:sp>
        <p:nvSpPr>
          <p:cNvPr id="14363" name="Rectangle 30"/>
          <p:cNvSpPr>
            <a:spLocks noChangeArrowheads="1"/>
          </p:cNvSpPr>
          <p:nvPr/>
        </p:nvSpPr>
        <p:spPr bwMode="auto">
          <a:xfrm>
            <a:off x="0" y="1987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64" name="Rectangle 34"/>
          <p:cNvSpPr>
            <a:spLocks noChangeArrowheads="1"/>
          </p:cNvSpPr>
          <p:nvPr/>
        </p:nvSpPr>
        <p:spPr bwMode="auto">
          <a:xfrm>
            <a:off x="0" y="194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4365" name="图片 124"/>
          <p:cNvPicPr>
            <a:picLocks noChangeAspect="1" noChangeArrowheads="1"/>
          </p:cNvPicPr>
          <p:nvPr/>
        </p:nvPicPr>
        <p:blipFill>
          <a:blip r:embed="rId1" cstate="print"/>
          <a:srcRect/>
          <a:stretch>
            <a:fillRect/>
          </a:stretch>
        </p:blipFill>
        <p:spPr bwMode="auto">
          <a:xfrm>
            <a:off x="250825" y="2133600"/>
            <a:ext cx="4249738" cy="3198813"/>
          </a:xfrm>
          <a:prstGeom prst="rect">
            <a:avLst/>
          </a:prstGeom>
          <a:noFill/>
          <a:ln w="9525">
            <a:noFill/>
            <a:miter lim="800000"/>
            <a:headEnd/>
            <a:tailEnd/>
          </a:ln>
        </p:spPr>
      </p:pic>
      <p:sp>
        <p:nvSpPr>
          <p:cNvPr id="14366" name="Rectangle 35"/>
          <p:cNvSpPr>
            <a:spLocks noChangeArrowheads="1"/>
          </p:cNvSpPr>
          <p:nvPr/>
        </p:nvSpPr>
        <p:spPr bwMode="auto">
          <a:xfrm>
            <a:off x="671513" y="5514975"/>
            <a:ext cx="2622550" cy="400050"/>
          </a:xfrm>
          <a:prstGeom prst="rect">
            <a:avLst/>
          </a:prstGeom>
          <a:noFill/>
          <a:ln w="9525" algn="ctr">
            <a:noFill/>
            <a:miter lim="800000"/>
          </a:ln>
          <a:effectLst/>
        </p:spPr>
        <p:txBody>
          <a:bodyPr wrap="none" anchor="ctr">
            <a:spAutoFit/>
          </a:bodyPr>
          <a:lstStyle/>
          <a:p>
            <a:pPr algn="ctr" eaLnBrk="1" hangingPunct="1"/>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3-75 </a:t>
            </a:r>
            <a:r>
              <a:rPr lang="zh-CN" altLang="en-US" sz="2000">
                <a:latin typeface="Times New Roman" panose="02020603050405020304" pitchFamily="18" charset="0"/>
                <a:cs typeface="Times New Roman" panose="02020603050405020304" pitchFamily="18" charset="0"/>
              </a:rPr>
              <a:t>同相求和电路</a:t>
            </a:r>
            <a:endParaRPr lang="zh-CN" altLang="en-US" sz="2000"/>
          </a:p>
        </p:txBody>
      </p:sp>
      <p:sp>
        <p:nvSpPr>
          <p:cNvPr id="14367" name="Rectangle 37"/>
          <p:cNvSpPr>
            <a:spLocks noChangeArrowheads="1"/>
          </p:cNvSpPr>
          <p:nvPr/>
        </p:nvSpPr>
        <p:spPr bwMode="auto">
          <a:xfrm>
            <a:off x="0" y="20732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4368" name="图片 125"/>
          <p:cNvPicPr>
            <a:picLocks noChangeAspect="1" noChangeArrowheads="1"/>
          </p:cNvPicPr>
          <p:nvPr/>
        </p:nvPicPr>
        <p:blipFill>
          <a:blip r:embed="rId2" cstate="print"/>
          <a:srcRect/>
          <a:stretch>
            <a:fillRect/>
          </a:stretch>
        </p:blipFill>
        <p:spPr bwMode="auto">
          <a:xfrm>
            <a:off x="4751388" y="2859088"/>
            <a:ext cx="3981450" cy="2466975"/>
          </a:xfrm>
          <a:prstGeom prst="rect">
            <a:avLst/>
          </a:prstGeom>
          <a:noFill/>
          <a:ln w="9525">
            <a:noFill/>
            <a:miter lim="800000"/>
            <a:headEnd/>
            <a:tailEnd/>
          </a:ln>
        </p:spPr>
      </p:pic>
      <p:sp>
        <p:nvSpPr>
          <p:cNvPr id="14369" name="Rectangle 38"/>
          <p:cNvSpPr>
            <a:spLocks noChangeArrowheads="1"/>
          </p:cNvSpPr>
          <p:nvPr/>
        </p:nvSpPr>
        <p:spPr bwMode="auto">
          <a:xfrm>
            <a:off x="5822950" y="5429250"/>
            <a:ext cx="2108200" cy="400050"/>
          </a:xfrm>
          <a:prstGeom prst="rect">
            <a:avLst/>
          </a:prstGeom>
          <a:noFill/>
          <a:ln w="9525" algn="ctr">
            <a:noFill/>
            <a:miter lim="800000"/>
          </a:ln>
          <a:effectLst/>
        </p:spPr>
        <p:txBody>
          <a:bodyPr wrap="none" anchor="ctr">
            <a:spAutoFit/>
          </a:bodyPr>
          <a:lstStyle/>
          <a:p>
            <a:pPr algn="ctr" eaLnBrk="1" hangingPunct="1"/>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3-76 </a:t>
            </a:r>
            <a:r>
              <a:rPr lang="zh-CN" altLang="en-US" sz="2000">
                <a:latin typeface="Times New Roman" panose="02020603050405020304" pitchFamily="18" charset="0"/>
                <a:cs typeface="Times New Roman" panose="02020603050405020304" pitchFamily="18" charset="0"/>
              </a:rPr>
              <a:t>和差电路</a:t>
            </a:r>
            <a:endParaRPr lang="zh-CN" altLang="en-US" sz="2000"/>
          </a:p>
        </p:txBody>
      </p:sp>
    </p:spTree>
  </p:cSld>
  <p:clrMapOvr>
    <a:masterClrMapping/>
  </p:clrMapOvr>
  <p:transition spd="med"/>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65"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66"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67"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68"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69"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0"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1"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2"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3"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4"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5"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6"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7"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8" name="Rectangle 19"/>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79" name="Rectangle 20"/>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0"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1" name="Rectangle 22"/>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2" name="Rectangle 23"/>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3" name="Rectangle 24"/>
          <p:cNvSpPr>
            <a:spLocks noChangeArrowheads="1"/>
          </p:cNvSpPr>
          <p:nvPr/>
        </p:nvSpPr>
        <p:spPr bwMode="auto">
          <a:xfrm>
            <a:off x="0" y="24717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4" name="Rectangle 25"/>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5" name="Rectangle 26"/>
          <p:cNvSpPr>
            <a:spLocks noChangeArrowheads="1"/>
          </p:cNvSpPr>
          <p:nvPr/>
        </p:nvSpPr>
        <p:spPr bwMode="auto">
          <a:xfrm>
            <a:off x="0" y="17129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6" name="Rectangle 28"/>
          <p:cNvSpPr>
            <a:spLocks noChangeArrowheads="1"/>
          </p:cNvSpPr>
          <p:nvPr/>
        </p:nvSpPr>
        <p:spPr bwMode="auto">
          <a:xfrm>
            <a:off x="0" y="1987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7" name="Rectangle 29"/>
          <p:cNvSpPr>
            <a:spLocks noChangeArrowheads="1"/>
          </p:cNvSpPr>
          <p:nvPr/>
        </p:nvSpPr>
        <p:spPr bwMode="auto">
          <a:xfrm>
            <a:off x="0" y="194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8" name="Rectangle 32"/>
          <p:cNvSpPr>
            <a:spLocks noChangeArrowheads="1"/>
          </p:cNvSpPr>
          <p:nvPr/>
        </p:nvSpPr>
        <p:spPr bwMode="auto">
          <a:xfrm>
            <a:off x="0" y="20732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89" name="Rectangle 36"/>
          <p:cNvSpPr>
            <a:spLocks noChangeArrowheads="1"/>
          </p:cNvSpPr>
          <p:nvPr/>
        </p:nvSpPr>
        <p:spPr bwMode="auto">
          <a:xfrm>
            <a:off x="0" y="18161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5390" name="图片 183"/>
          <p:cNvPicPr>
            <a:picLocks noChangeAspect="1" noChangeArrowheads="1"/>
          </p:cNvPicPr>
          <p:nvPr/>
        </p:nvPicPr>
        <p:blipFill>
          <a:blip r:embed="rId1" cstate="print"/>
          <a:srcRect/>
          <a:stretch>
            <a:fillRect/>
          </a:stretch>
        </p:blipFill>
        <p:spPr bwMode="auto">
          <a:xfrm>
            <a:off x="179388" y="2060575"/>
            <a:ext cx="4991100" cy="2981325"/>
          </a:xfrm>
          <a:prstGeom prst="rect">
            <a:avLst/>
          </a:prstGeom>
          <a:noFill/>
          <a:ln w="9525">
            <a:noFill/>
            <a:miter lim="800000"/>
            <a:headEnd/>
            <a:tailEnd/>
          </a:ln>
        </p:spPr>
      </p:pic>
      <p:sp>
        <p:nvSpPr>
          <p:cNvPr id="15391" name="Rectangle 37"/>
          <p:cNvSpPr>
            <a:spLocks noChangeArrowheads="1"/>
          </p:cNvSpPr>
          <p:nvPr/>
        </p:nvSpPr>
        <p:spPr bwMode="auto">
          <a:xfrm>
            <a:off x="671513" y="5443538"/>
            <a:ext cx="2622550" cy="400050"/>
          </a:xfrm>
          <a:prstGeom prst="rect">
            <a:avLst/>
          </a:prstGeom>
          <a:noFill/>
          <a:ln w="9525" algn="ctr">
            <a:noFill/>
            <a:miter lim="800000"/>
          </a:ln>
          <a:effectLst/>
        </p:spPr>
        <p:txBody>
          <a:bodyPr wrap="none" anchor="ctr">
            <a:spAutoFit/>
          </a:bodyPr>
          <a:lstStyle/>
          <a:p>
            <a:pPr algn="ctr" eaLnBrk="1" hangingPunct="1"/>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3-77 </a:t>
            </a:r>
            <a:r>
              <a:rPr lang="zh-CN" altLang="en-US" sz="2000">
                <a:latin typeface="Times New Roman" panose="02020603050405020304" pitchFamily="18" charset="0"/>
                <a:cs typeface="Times New Roman" panose="02020603050405020304" pitchFamily="18" charset="0"/>
              </a:rPr>
              <a:t>反相积分电路</a:t>
            </a:r>
            <a:endParaRPr lang="zh-CN" altLang="en-US" sz="2000"/>
          </a:p>
        </p:txBody>
      </p:sp>
      <p:pic>
        <p:nvPicPr>
          <p:cNvPr id="15392" name="图片 188"/>
          <p:cNvPicPr>
            <a:picLocks noChangeAspect="1" noChangeArrowheads="1"/>
          </p:cNvPicPr>
          <p:nvPr/>
        </p:nvPicPr>
        <p:blipFill>
          <a:blip r:embed="rId2" cstate="print"/>
          <a:srcRect/>
          <a:stretch>
            <a:fillRect/>
          </a:stretch>
        </p:blipFill>
        <p:spPr bwMode="auto">
          <a:xfrm>
            <a:off x="5651500" y="1844675"/>
            <a:ext cx="2305050" cy="1854200"/>
          </a:xfrm>
          <a:prstGeom prst="rect">
            <a:avLst/>
          </a:prstGeom>
          <a:noFill/>
          <a:ln w="9525">
            <a:noFill/>
            <a:miter lim="800000"/>
            <a:headEnd/>
            <a:tailEnd/>
          </a:ln>
        </p:spPr>
      </p:pic>
      <p:pic>
        <p:nvPicPr>
          <p:cNvPr id="15393" name="图片 190"/>
          <p:cNvPicPr>
            <a:picLocks noChangeAspect="1" noChangeArrowheads="1"/>
          </p:cNvPicPr>
          <p:nvPr/>
        </p:nvPicPr>
        <p:blipFill>
          <a:blip r:embed="rId3" cstate="print"/>
          <a:srcRect/>
          <a:stretch>
            <a:fillRect/>
          </a:stretch>
        </p:blipFill>
        <p:spPr bwMode="auto">
          <a:xfrm>
            <a:off x="5508625" y="3933825"/>
            <a:ext cx="2438400" cy="1962150"/>
          </a:xfrm>
          <a:prstGeom prst="rect">
            <a:avLst/>
          </a:prstGeom>
          <a:noFill/>
          <a:ln w="9525">
            <a:noFill/>
            <a:miter lim="800000"/>
            <a:headEnd/>
            <a:tailEnd/>
          </a:ln>
        </p:spPr>
      </p:pic>
      <p:sp>
        <p:nvSpPr>
          <p:cNvPr id="15394" name="Rectangle 40"/>
          <p:cNvSpPr>
            <a:spLocks noChangeArrowheads="1"/>
          </p:cNvSpPr>
          <p:nvPr/>
        </p:nvSpPr>
        <p:spPr bwMode="auto">
          <a:xfrm>
            <a:off x="0" y="11461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5395" name="Rectangle 41"/>
          <p:cNvSpPr>
            <a:spLocks noChangeArrowheads="1"/>
          </p:cNvSpPr>
          <p:nvPr/>
        </p:nvSpPr>
        <p:spPr bwMode="auto">
          <a:xfrm>
            <a:off x="0" y="3108325"/>
            <a:ext cx="279400" cy="244475"/>
          </a:xfrm>
          <a:prstGeom prst="rect">
            <a:avLst/>
          </a:prstGeom>
          <a:noFill/>
          <a:ln w="9525" algn="ctr">
            <a:noFill/>
            <a:miter lim="800000"/>
          </a:ln>
          <a:effectLst/>
        </p:spPr>
        <p:txBody>
          <a:bodyPr wrap="none" anchor="ctr">
            <a:spAutoFit/>
          </a:bodyPr>
          <a:lstStyle/>
          <a:p>
            <a:pPr eaLnBrk="1" hangingPunct="1"/>
            <a:r>
              <a:rPr lang="en-US" altLang="zh-CN" sz="1000">
                <a:latin typeface="Times New Roman" panose="02020603050405020304" pitchFamily="18" charset="0"/>
                <a:cs typeface="Times New Roman" panose="02020603050405020304" pitchFamily="18" charset="0"/>
              </a:rPr>
              <a:t>   </a:t>
            </a:r>
            <a:endParaRPr lang="en-US" altLang="zh-CN"/>
          </a:p>
        </p:txBody>
      </p:sp>
      <p:sp>
        <p:nvSpPr>
          <p:cNvPr id="15396" name="Rectangle 42"/>
          <p:cNvSpPr>
            <a:spLocks noChangeArrowheads="1"/>
          </p:cNvSpPr>
          <p:nvPr/>
        </p:nvSpPr>
        <p:spPr bwMode="auto">
          <a:xfrm>
            <a:off x="5003800" y="5873750"/>
            <a:ext cx="3455988" cy="523875"/>
          </a:xfrm>
          <a:prstGeom prst="rect">
            <a:avLst/>
          </a:prstGeom>
          <a:noFill/>
          <a:ln w="9525" algn="ctr">
            <a:noFill/>
            <a:miter lim="800000"/>
          </a:ln>
          <a:effectLst/>
        </p:spPr>
        <p:txBody>
          <a:bodyPr anchor="ctr">
            <a:spAutoFit/>
          </a:bodyPr>
          <a:lstStyle/>
          <a:p>
            <a:pPr eaLnBrk="1" hangingPunct="1"/>
            <a:r>
              <a:rPr lang="en-US" altLang="zh-CN" sz="1000">
                <a:latin typeface="宋体" panose="02010600030101010101" pitchFamily="2" charset="-122"/>
                <a:cs typeface="Times New Roman" panose="02020603050405020304" pitchFamily="18" charset="0"/>
              </a:rPr>
              <a:t>                          </a:t>
            </a:r>
            <a:r>
              <a:rPr lang="zh-CN" altLang="en-US" sz="1400">
                <a:latin typeface="宋体" panose="02010600030101010101" pitchFamily="2" charset="-122"/>
                <a:cs typeface="Times New Roman" panose="02020603050405020304" pitchFamily="18" charset="0"/>
              </a:rPr>
              <a:t>（</a:t>
            </a:r>
            <a:r>
              <a:rPr lang="en-US" altLang="zh-CN" sz="1400">
                <a:latin typeface="宋体" panose="02010600030101010101" pitchFamily="2" charset="-122"/>
                <a:cs typeface="Times New Roman" panose="02020603050405020304" pitchFamily="18" charset="0"/>
              </a:rPr>
              <a:t>b</a:t>
            </a:r>
            <a:r>
              <a:rPr lang="zh-CN" altLang="en-US" sz="1400">
                <a:latin typeface="宋体" panose="02010600030101010101" pitchFamily="2" charset="-122"/>
                <a:cs typeface="Times New Roman" panose="02020603050405020304" pitchFamily="18" charset="0"/>
              </a:rPr>
              <a:t>）</a:t>
            </a:r>
            <a:endParaRPr lang="zh-CN" altLang="en-US" sz="1400"/>
          </a:p>
          <a:p>
            <a:pPr eaLnBrk="1" hangingPunct="1"/>
            <a:r>
              <a:rPr lang="zh-CN" altLang="en-US" sz="1400">
                <a:latin typeface="宋体" panose="02010600030101010101" pitchFamily="2" charset="-122"/>
                <a:cs typeface="Times New Roman" panose="02020603050405020304" pitchFamily="18" charset="0"/>
              </a:rPr>
              <a:t>图</a:t>
            </a:r>
            <a:r>
              <a:rPr lang="en-US" altLang="zh-CN" sz="1400">
                <a:latin typeface="宋体" panose="02010600030101010101" pitchFamily="2" charset="-122"/>
                <a:cs typeface="Times New Roman" panose="02020603050405020304" pitchFamily="18" charset="0"/>
              </a:rPr>
              <a:t>3-78 </a:t>
            </a:r>
            <a:r>
              <a:rPr lang="zh-CN" altLang="en-US" sz="1400">
                <a:latin typeface="Times New Roman" panose="02020603050405020304" pitchFamily="18" charset="0"/>
                <a:cs typeface="Times New Roman" panose="02020603050405020304" pitchFamily="18" charset="0"/>
              </a:rPr>
              <a:t>反相积分电路输入、输出波形</a:t>
            </a:r>
            <a:endParaRPr lang="zh-CN" altLang="en-US" sz="1400"/>
          </a:p>
        </p:txBody>
      </p:sp>
      <p:sp>
        <p:nvSpPr>
          <p:cNvPr id="15397" name="Rectangle 43"/>
          <p:cNvSpPr>
            <a:spLocks noChangeArrowheads="1"/>
          </p:cNvSpPr>
          <p:nvPr/>
        </p:nvSpPr>
        <p:spPr bwMode="auto">
          <a:xfrm>
            <a:off x="6227763" y="3644900"/>
            <a:ext cx="1079500" cy="304800"/>
          </a:xfrm>
          <a:prstGeom prst="rect">
            <a:avLst/>
          </a:prstGeom>
          <a:noFill/>
          <a:ln w="9525" algn="ctr">
            <a:noFill/>
            <a:miter lim="800000"/>
          </a:ln>
          <a:effectLst/>
        </p:spPr>
        <p:txBody>
          <a:bodyPr>
            <a:spAutoFit/>
          </a:bodyPr>
          <a:lstStyle/>
          <a:p>
            <a:pPr eaLnBrk="1" hangingPunct="1"/>
            <a:r>
              <a:rPr lang="zh-CN" altLang="en-US" sz="1400"/>
              <a:t>（</a:t>
            </a:r>
            <a:r>
              <a:rPr lang="en-US" altLang="zh-CN" sz="1400"/>
              <a:t>a</a:t>
            </a:r>
            <a:r>
              <a:rPr lang="zh-CN" altLang="en-US" sz="1400"/>
              <a:t>）</a:t>
            </a:r>
            <a:endParaRPr lang="zh-CN" altLang="en-US" sz="1400"/>
          </a:p>
        </p:txBody>
      </p:sp>
      <p:sp>
        <p:nvSpPr>
          <p:cNvPr id="38" name="标题 37"/>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89"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0"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1"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2"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3"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4"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5"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6"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7"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8"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9"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0"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1"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2" name="Rectangle 19"/>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3" name="Rectangle 20"/>
          <p:cNvSpPr>
            <a:spLocks noChangeArrowheads="1"/>
          </p:cNvSpPr>
          <p:nvPr/>
        </p:nvSpPr>
        <p:spPr bwMode="auto">
          <a:xfrm>
            <a:off x="0" y="2647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4"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5" name="Rectangle 22"/>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6" name="Rectangle 23"/>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7" name="Rectangle 24"/>
          <p:cNvSpPr>
            <a:spLocks noChangeArrowheads="1"/>
          </p:cNvSpPr>
          <p:nvPr/>
        </p:nvSpPr>
        <p:spPr bwMode="auto">
          <a:xfrm>
            <a:off x="0" y="24717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8" name="Rectangle 25"/>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9" name="Rectangle 26"/>
          <p:cNvSpPr>
            <a:spLocks noChangeArrowheads="1"/>
          </p:cNvSpPr>
          <p:nvPr/>
        </p:nvSpPr>
        <p:spPr bwMode="auto">
          <a:xfrm>
            <a:off x="0" y="17129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10" name="Rectangle 27"/>
          <p:cNvSpPr>
            <a:spLocks noChangeArrowheads="1"/>
          </p:cNvSpPr>
          <p:nvPr/>
        </p:nvSpPr>
        <p:spPr bwMode="auto">
          <a:xfrm>
            <a:off x="0" y="1987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11" name="Rectangle 28"/>
          <p:cNvSpPr>
            <a:spLocks noChangeArrowheads="1"/>
          </p:cNvSpPr>
          <p:nvPr/>
        </p:nvSpPr>
        <p:spPr bwMode="auto">
          <a:xfrm>
            <a:off x="0" y="194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12" name="Rectangle 29"/>
          <p:cNvSpPr>
            <a:spLocks noChangeArrowheads="1"/>
          </p:cNvSpPr>
          <p:nvPr/>
        </p:nvSpPr>
        <p:spPr bwMode="auto">
          <a:xfrm>
            <a:off x="0" y="20732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13" name="Rectangle 30"/>
          <p:cNvSpPr>
            <a:spLocks noChangeArrowheads="1"/>
          </p:cNvSpPr>
          <p:nvPr/>
        </p:nvSpPr>
        <p:spPr bwMode="auto">
          <a:xfrm>
            <a:off x="0" y="18161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14" name="Rectangle 35"/>
          <p:cNvSpPr>
            <a:spLocks noChangeArrowheads="1"/>
          </p:cNvSpPr>
          <p:nvPr/>
        </p:nvSpPr>
        <p:spPr bwMode="auto">
          <a:xfrm>
            <a:off x="0" y="11461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15" name="Rectangle 36"/>
          <p:cNvSpPr>
            <a:spLocks noChangeArrowheads="1"/>
          </p:cNvSpPr>
          <p:nvPr/>
        </p:nvSpPr>
        <p:spPr bwMode="auto">
          <a:xfrm>
            <a:off x="0" y="3108325"/>
            <a:ext cx="279400" cy="244475"/>
          </a:xfrm>
          <a:prstGeom prst="rect">
            <a:avLst/>
          </a:prstGeom>
          <a:noFill/>
          <a:ln w="9525" algn="ctr">
            <a:noFill/>
            <a:miter lim="800000"/>
          </a:ln>
          <a:effectLst/>
        </p:spPr>
        <p:txBody>
          <a:bodyPr wrap="none" anchor="ctr">
            <a:spAutoFit/>
          </a:bodyPr>
          <a:lstStyle/>
          <a:p>
            <a:pPr eaLnBrk="1" hangingPunct="1"/>
            <a:r>
              <a:rPr lang="en-US" altLang="zh-CN" sz="1000">
                <a:latin typeface="Times New Roman" panose="02020603050405020304" pitchFamily="18" charset="0"/>
                <a:cs typeface="Times New Roman" panose="02020603050405020304" pitchFamily="18" charset="0"/>
              </a:rPr>
              <a:t>   </a:t>
            </a:r>
            <a:endParaRPr lang="en-US" altLang="zh-CN"/>
          </a:p>
        </p:txBody>
      </p:sp>
      <p:sp>
        <p:nvSpPr>
          <p:cNvPr id="16416" name="Rectangle 40"/>
          <p:cNvSpPr>
            <a:spLocks noChangeArrowheads="1"/>
          </p:cNvSpPr>
          <p:nvPr/>
        </p:nvSpPr>
        <p:spPr bwMode="auto">
          <a:xfrm>
            <a:off x="0" y="22637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6417" name="图片 186"/>
          <p:cNvPicPr>
            <a:picLocks noChangeAspect="1" noChangeArrowheads="1"/>
          </p:cNvPicPr>
          <p:nvPr/>
        </p:nvPicPr>
        <p:blipFill>
          <a:blip r:embed="rId1" cstate="print"/>
          <a:srcRect/>
          <a:stretch>
            <a:fillRect/>
          </a:stretch>
        </p:blipFill>
        <p:spPr bwMode="auto">
          <a:xfrm>
            <a:off x="179388" y="2276475"/>
            <a:ext cx="4321175" cy="1870075"/>
          </a:xfrm>
          <a:prstGeom prst="rect">
            <a:avLst/>
          </a:prstGeom>
          <a:noFill/>
          <a:ln w="9525">
            <a:noFill/>
            <a:miter lim="800000"/>
            <a:headEnd/>
            <a:tailEnd/>
          </a:ln>
        </p:spPr>
      </p:pic>
      <p:sp>
        <p:nvSpPr>
          <p:cNvPr id="16418" name="Rectangle 41"/>
          <p:cNvSpPr>
            <a:spLocks noChangeArrowheads="1"/>
          </p:cNvSpPr>
          <p:nvPr/>
        </p:nvSpPr>
        <p:spPr bwMode="auto">
          <a:xfrm>
            <a:off x="244475" y="5151438"/>
            <a:ext cx="2492375" cy="400050"/>
          </a:xfrm>
          <a:prstGeom prst="rect">
            <a:avLst/>
          </a:prstGeom>
          <a:noFill/>
          <a:ln w="9525" algn="ctr">
            <a:noFill/>
            <a:miter lim="800000"/>
          </a:ln>
          <a:effectLst/>
        </p:spPr>
        <p:txBody>
          <a:bodyPr wrap="none" anchor="ctr">
            <a:spAutoFit/>
          </a:bodyPr>
          <a:lstStyle/>
          <a:p>
            <a:pPr algn="ctr" eaLnBrk="1" hangingPunct="1"/>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3-79</a:t>
            </a:r>
            <a:r>
              <a:rPr lang="zh-CN" altLang="en-US" sz="2000">
                <a:latin typeface="Times New Roman" panose="02020603050405020304" pitchFamily="18" charset="0"/>
                <a:cs typeface="Times New Roman" panose="02020603050405020304" pitchFamily="18" charset="0"/>
              </a:rPr>
              <a:t>反相微分电路</a:t>
            </a:r>
            <a:endParaRPr lang="zh-CN" altLang="en-US" sz="2000"/>
          </a:p>
        </p:txBody>
      </p:sp>
      <p:sp>
        <p:nvSpPr>
          <p:cNvPr id="16419" name="Rectangle 43"/>
          <p:cNvSpPr>
            <a:spLocks noChangeArrowheads="1"/>
          </p:cNvSpPr>
          <p:nvPr/>
        </p:nvSpPr>
        <p:spPr bwMode="auto">
          <a:xfrm>
            <a:off x="0" y="11731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6420" name="图片 187"/>
          <p:cNvPicPr>
            <a:picLocks noChangeAspect="1" noChangeArrowheads="1"/>
          </p:cNvPicPr>
          <p:nvPr/>
        </p:nvPicPr>
        <p:blipFill>
          <a:blip r:embed="rId2" cstate="print"/>
          <a:srcRect/>
          <a:stretch>
            <a:fillRect/>
          </a:stretch>
        </p:blipFill>
        <p:spPr bwMode="auto">
          <a:xfrm>
            <a:off x="4859338" y="2133600"/>
            <a:ext cx="3816350" cy="3063875"/>
          </a:xfrm>
          <a:prstGeom prst="rect">
            <a:avLst/>
          </a:prstGeom>
          <a:noFill/>
          <a:ln w="9525">
            <a:noFill/>
            <a:miter lim="800000"/>
            <a:headEnd/>
            <a:tailEnd/>
          </a:ln>
        </p:spPr>
      </p:pic>
      <p:sp>
        <p:nvSpPr>
          <p:cNvPr id="16421" name="Rectangle 44"/>
          <p:cNvSpPr>
            <a:spLocks noChangeArrowheads="1"/>
          </p:cNvSpPr>
          <p:nvPr/>
        </p:nvSpPr>
        <p:spPr bwMode="auto">
          <a:xfrm>
            <a:off x="4356100" y="5516563"/>
            <a:ext cx="4375150" cy="396875"/>
          </a:xfrm>
          <a:prstGeom prst="rect">
            <a:avLst/>
          </a:prstGeom>
          <a:noFill/>
          <a:ln w="9525" algn="ctr">
            <a:noFill/>
            <a:miter lim="800000"/>
          </a:ln>
          <a:effectLst/>
        </p:spPr>
        <p:txBody>
          <a:bodyPr wrap="none" anchor="ctr">
            <a:spAutoFit/>
          </a:bodyPr>
          <a:lstStyle/>
          <a:p>
            <a:pPr algn="ctr" eaLnBrk="1" hangingPunct="1"/>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3-80 </a:t>
            </a:r>
            <a:r>
              <a:rPr lang="zh-CN" altLang="en-US" sz="2000">
                <a:latin typeface="Times New Roman" panose="02020603050405020304" pitchFamily="18" charset="0"/>
                <a:cs typeface="Times New Roman" panose="02020603050405020304" pitchFamily="18" charset="0"/>
              </a:rPr>
              <a:t>反相微分电路输入、输出波形</a:t>
            </a:r>
            <a:endParaRPr lang="zh-CN" altLang="en-US" sz="2000"/>
          </a:p>
        </p:txBody>
      </p:sp>
    </p:spTree>
  </p:cSld>
  <p:clrMapOvr>
    <a:masterClrMapping/>
  </p:clrMapOvr>
  <p:transition spd="med"/>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11561" y="620688"/>
            <a:ext cx="8233990" cy="874737"/>
          </a:xfrm>
        </p:spPr>
        <p:txBody>
          <a:bodyPr/>
          <a:lstStyle/>
          <a:p>
            <a:pPr eaLnBrk="1" hangingPunct="1"/>
            <a:r>
              <a:rPr lang="zh-CN" altLang="en-US" b="1" dirty="0" smtClean="0"/>
              <a:t>五、</a:t>
            </a:r>
            <a:r>
              <a:rPr lang="zh-CN" altLang="en-US" b="1" dirty="0" smtClean="0"/>
              <a:t>实验操作内容</a:t>
            </a:r>
            <a:endParaRPr lang="zh-CN" altLang="en-US" b="1" dirty="0" smtClean="0"/>
          </a:p>
        </p:txBody>
      </p:sp>
      <p:sp>
        <p:nvSpPr>
          <p:cNvPr id="17412" name="Rectangle 5"/>
          <p:cNvSpPr>
            <a:spLocks noChangeArrowheads="1"/>
          </p:cNvSpPr>
          <p:nvPr/>
        </p:nvSpPr>
        <p:spPr bwMode="auto">
          <a:xfrm>
            <a:off x="0" y="2846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3" name="Rectangle 6"/>
          <p:cNvSpPr>
            <a:spLocks noChangeArrowheads="1"/>
          </p:cNvSpPr>
          <p:nvPr/>
        </p:nvSpPr>
        <p:spPr bwMode="auto">
          <a:xfrm>
            <a:off x="0" y="2503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4" name="Rectangle 7"/>
          <p:cNvSpPr>
            <a:spLocks noChangeArrowheads="1"/>
          </p:cNvSpPr>
          <p:nvPr/>
        </p:nvSpPr>
        <p:spPr bwMode="auto">
          <a:xfrm>
            <a:off x="0" y="3243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5" name="Rectangle 8"/>
          <p:cNvSpPr>
            <a:spLocks noChangeArrowheads="1"/>
          </p:cNvSpPr>
          <p:nvPr/>
        </p:nvSpPr>
        <p:spPr bwMode="auto">
          <a:xfrm>
            <a:off x="0" y="22685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6" name="Rectangle 9"/>
          <p:cNvSpPr>
            <a:spLocks noChangeArrowheads="1"/>
          </p:cNvSpPr>
          <p:nvPr/>
        </p:nvSpPr>
        <p:spPr bwMode="auto">
          <a:xfrm>
            <a:off x="0" y="27193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7" name="Rectangle 10"/>
          <p:cNvSpPr>
            <a:spLocks noChangeArrowheads="1"/>
          </p:cNvSpPr>
          <p:nvPr/>
        </p:nvSpPr>
        <p:spPr bwMode="auto">
          <a:xfrm>
            <a:off x="0" y="26574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8" name="Rectangle 11"/>
          <p:cNvSpPr>
            <a:spLocks noChangeArrowheads="1"/>
          </p:cNvSpPr>
          <p:nvPr/>
        </p:nvSpPr>
        <p:spPr bwMode="auto">
          <a:xfrm>
            <a:off x="0" y="32385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19" name="Rectangle 12"/>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0" name="Rectangle 13"/>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1" name="Rectangle 14"/>
          <p:cNvSpPr>
            <a:spLocks noChangeArrowheads="1"/>
          </p:cNvSpPr>
          <p:nvPr/>
        </p:nvSpPr>
        <p:spPr bwMode="auto">
          <a:xfrm>
            <a:off x="0" y="28194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2" name="Rectangle 15"/>
          <p:cNvSpPr>
            <a:spLocks noChangeArrowheads="1"/>
          </p:cNvSpPr>
          <p:nvPr/>
        </p:nvSpPr>
        <p:spPr bwMode="auto">
          <a:xfrm>
            <a:off x="0" y="27384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3" name="Rectangle 16"/>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4" name="Rectangle 17"/>
          <p:cNvSpPr>
            <a:spLocks noChangeArrowheads="1"/>
          </p:cNvSpPr>
          <p:nvPr/>
        </p:nvSpPr>
        <p:spPr bwMode="auto">
          <a:xfrm>
            <a:off x="0" y="321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5" name="Rectangle 18"/>
          <p:cNvSpPr>
            <a:spLocks noChangeArrowheads="1"/>
          </p:cNvSpPr>
          <p:nvPr/>
        </p:nvSpPr>
        <p:spPr bwMode="auto">
          <a:xfrm>
            <a:off x="0" y="26860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6" name="Rectangle 19"/>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8" name="Rectangle 21"/>
          <p:cNvSpPr>
            <a:spLocks noChangeArrowheads="1"/>
          </p:cNvSpPr>
          <p:nvPr/>
        </p:nvSpPr>
        <p:spPr bwMode="auto">
          <a:xfrm>
            <a:off x="0" y="32527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29" name="Rectangle 22"/>
          <p:cNvSpPr>
            <a:spLocks noChangeArrowheads="1"/>
          </p:cNvSpPr>
          <p:nvPr/>
        </p:nvSpPr>
        <p:spPr bwMode="auto">
          <a:xfrm>
            <a:off x="0" y="2371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0" name="Rectangle 23"/>
          <p:cNvSpPr>
            <a:spLocks noChangeArrowheads="1"/>
          </p:cNvSpPr>
          <p:nvPr/>
        </p:nvSpPr>
        <p:spPr bwMode="auto">
          <a:xfrm>
            <a:off x="0" y="1995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1" name="Rectangle 24"/>
          <p:cNvSpPr>
            <a:spLocks noChangeArrowheads="1"/>
          </p:cNvSpPr>
          <p:nvPr/>
        </p:nvSpPr>
        <p:spPr bwMode="auto">
          <a:xfrm>
            <a:off x="0" y="24717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2" name="Rectangle 25"/>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3" name="Rectangle 26"/>
          <p:cNvSpPr>
            <a:spLocks noChangeArrowheads="1"/>
          </p:cNvSpPr>
          <p:nvPr/>
        </p:nvSpPr>
        <p:spPr bwMode="auto">
          <a:xfrm>
            <a:off x="0" y="17129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4" name="Rectangle 27"/>
          <p:cNvSpPr>
            <a:spLocks noChangeArrowheads="1"/>
          </p:cNvSpPr>
          <p:nvPr/>
        </p:nvSpPr>
        <p:spPr bwMode="auto">
          <a:xfrm>
            <a:off x="0" y="1987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5" name="Rectangle 28"/>
          <p:cNvSpPr>
            <a:spLocks noChangeArrowheads="1"/>
          </p:cNvSpPr>
          <p:nvPr/>
        </p:nvSpPr>
        <p:spPr bwMode="auto">
          <a:xfrm>
            <a:off x="0" y="19446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6" name="Rectangle 29"/>
          <p:cNvSpPr>
            <a:spLocks noChangeArrowheads="1"/>
          </p:cNvSpPr>
          <p:nvPr/>
        </p:nvSpPr>
        <p:spPr bwMode="auto">
          <a:xfrm>
            <a:off x="0" y="20732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7" name="Rectangle 30"/>
          <p:cNvSpPr>
            <a:spLocks noChangeArrowheads="1"/>
          </p:cNvSpPr>
          <p:nvPr/>
        </p:nvSpPr>
        <p:spPr bwMode="auto">
          <a:xfrm>
            <a:off x="0" y="18161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8" name="Rectangle 31"/>
          <p:cNvSpPr>
            <a:spLocks noChangeArrowheads="1"/>
          </p:cNvSpPr>
          <p:nvPr/>
        </p:nvSpPr>
        <p:spPr bwMode="auto">
          <a:xfrm>
            <a:off x="0" y="11461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39" name="Rectangle 33"/>
          <p:cNvSpPr>
            <a:spLocks noChangeArrowheads="1"/>
          </p:cNvSpPr>
          <p:nvPr/>
        </p:nvSpPr>
        <p:spPr bwMode="auto">
          <a:xfrm>
            <a:off x="0" y="22637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40" name="Rectangle 36"/>
          <p:cNvSpPr>
            <a:spLocks noChangeArrowheads="1"/>
          </p:cNvSpPr>
          <p:nvPr/>
        </p:nvSpPr>
        <p:spPr bwMode="auto">
          <a:xfrm>
            <a:off x="0" y="11731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7441" name="Rectangle 39"/>
          <p:cNvSpPr>
            <a:spLocks noChangeArrowheads="1"/>
          </p:cNvSpPr>
          <p:nvPr/>
        </p:nvSpPr>
        <p:spPr bwMode="auto">
          <a:xfrm>
            <a:off x="1776730" y="3325495"/>
            <a:ext cx="5498465" cy="2491740"/>
          </a:xfrm>
          <a:prstGeom prst="rect">
            <a:avLst/>
          </a:prstGeom>
          <a:noFill/>
          <a:ln w="9525" algn="ctr">
            <a:noFill/>
            <a:miter lim="800000"/>
          </a:ln>
          <a:effectLst/>
        </p:spPr>
        <p:txBody>
          <a:bodyPr wrap="square" anchor="ctr">
            <a:spAutoFit/>
          </a:bodyPr>
          <a:lstStyle/>
          <a:p>
            <a:pPr marL="342900" indent="-342900" eaLnBrk="1" hangingPunct="1">
              <a:buFontTx/>
              <a:buAutoNum type="arabicPeriod"/>
            </a:pPr>
            <a:r>
              <a:rPr lang="zh-CN" altLang="en-US" sz="2800" dirty="0" smtClean="0"/>
              <a:t>同相比例运算</a:t>
            </a:r>
            <a:r>
              <a:rPr lang="zh-CN" altLang="en-US" sz="2800" dirty="0"/>
              <a:t>电路</a:t>
            </a:r>
            <a:r>
              <a:rPr lang="en-US" altLang="zh-CN" sz="1600" dirty="0"/>
              <a:t>(</a:t>
            </a:r>
            <a:r>
              <a:rPr lang="zh-CN" altLang="en-US" sz="1600" dirty="0"/>
              <a:t>按照实验四测量数据）</a:t>
            </a:r>
            <a:endParaRPr lang="zh-CN" altLang="en-US" sz="2800" dirty="0"/>
          </a:p>
          <a:p>
            <a:pPr marL="342900" indent="-342900" eaLnBrk="1" hangingPunct="1">
              <a:buFontTx/>
              <a:buAutoNum type="arabicPeriod"/>
            </a:pPr>
            <a:r>
              <a:rPr lang="zh-CN" altLang="en-US" dirty="0" smtClean="0">
                <a:sym typeface="+mn-ea"/>
              </a:rPr>
              <a:t>反相比例运算</a:t>
            </a:r>
            <a:r>
              <a:rPr lang="zh-CN" altLang="en-US" dirty="0">
                <a:sym typeface="+mn-ea"/>
              </a:rPr>
              <a:t>电路</a:t>
            </a:r>
            <a:r>
              <a:rPr lang="en-US" altLang="zh-CN" sz="1600" dirty="0">
                <a:sym typeface="+mn-ea"/>
              </a:rPr>
              <a:t>(</a:t>
            </a:r>
            <a:r>
              <a:rPr lang="zh-CN" altLang="en-US" sz="1600" dirty="0">
                <a:sym typeface="+mn-ea"/>
              </a:rPr>
              <a:t>按照实验四测量数据）</a:t>
            </a:r>
            <a:endParaRPr lang="zh-CN" altLang="en-US" dirty="0"/>
          </a:p>
          <a:p>
            <a:pPr marL="342900" indent="-342900" eaLnBrk="1" hangingPunct="1">
              <a:buFontTx/>
              <a:buAutoNum type="arabicPeriod"/>
            </a:pPr>
            <a:r>
              <a:rPr lang="zh-CN" altLang="en-US" dirty="0">
                <a:sym typeface="+mn-ea"/>
              </a:rPr>
              <a:t>积分运算电路</a:t>
            </a:r>
            <a:r>
              <a:rPr lang="en-US" altLang="zh-CN" sz="1600" dirty="0">
                <a:sym typeface="+mn-ea"/>
              </a:rPr>
              <a:t>(</a:t>
            </a:r>
            <a:r>
              <a:rPr lang="zh-CN" altLang="en-US" sz="1600" dirty="0">
                <a:sym typeface="+mn-ea"/>
              </a:rPr>
              <a:t>按照实验四测量数据）</a:t>
            </a:r>
            <a:endParaRPr lang="zh-CN" altLang="en-US" sz="2800" dirty="0"/>
          </a:p>
          <a:p>
            <a:pPr marL="342900" indent="-342900" eaLnBrk="1" hangingPunct="1">
              <a:buFontTx/>
              <a:buAutoNum type="arabicPeriod"/>
            </a:pPr>
            <a:r>
              <a:rPr lang="zh-CN" altLang="en-US" sz="2800" dirty="0"/>
              <a:t>反相加法运算电路</a:t>
            </a:r>
            <a:r>
              <a:rPr lang="zh-CN" altLang="en-US" sz="1600" dirty="0"/>
              <a:t>（测试</a:t>
            </a:r>
            <a:r>
              <a:rPr lang="en-US" altLang="zh-CN" sz="1600" dirty="0"/>
              <a:t>4</a:t>
            </a:r>
            <a:r>
              <a:rPr lang="zh-CN" altLang="en-US" sz="1600" dirty="0"/>
              <a:t>到</a:t>
            </a:r>
            <a:r>
              <a:rPr lang="en-US" altLang="zh-CN" sz="1600" dirty="0"/>
              <a:t>5</a:t>
            </a:r>
            <a:r>
              <a:rPr lang="zh-CN" altLang="en-US" sz="1600" dirty="0"/>
              <a:t>组数据）</a:t>
            </a:r>
            <a:endParaRPr lang="zh-CN" altLang="en-US" sz="2800" dirty="0"/>
          </a:p>
          <a:p>
            <a:pPr marL="342900" indent="-342900" eaLnBrk="1" hangingPunct="1">
              <a:buFontTx/>
              <a:buAutoNum type="arabicPeriod"/>
            </a:pPr>
            <a:r>
              <a:rPr lang="zh-CN" altLang="en-US" sz="2800" dirty="0"/>
              <a:t>和差运算电路</a:t>
            </a:r>
            <a:r>
              <a:rPr lang="zh-CN" altLang="en-US" sz="1600" dirty="0">
                <a:sym typeface="+mn-ea"/>
              </a:rPr>
              <a:t>（测试</a:t>
            </a:r>
            <a:r>
              <a:rPr lang="en-US" altLang="zh-CN" sz="1600" dirty="0">
                <a:sym typeface="+mn-ea"/>
              </a:rPr>
              <a:t>4</a:t>
            </a:r>
            <a:r>
              <a:rPr lang="zh-CN" altLang="en-US" sz="1600" dirty="0">
                <a:sym typeface="+mn-ea"/>
              </a:rPr>
              <a:t>到</a:t>
            </a:r>
            <a:r>
              <a:rPr lang="en-US" altLang="zh-CN" sz="1600" dirty="0">
                <a:sym typeface="+mn-ea"/>
              </a:rPr>
              <a:t>5</a:t>
            </a:r>
            <a:r>
              <a:rPr lang="zh-CN" altLang="en-US" sz="1600" dirty="0">
                <a:sym typeface="+mn-ea"/>
              </a:rPr>
              <a:t>组数据）</a:t>
            </a:r>
            <a:endParaRPr lang="zh-CN" altLang="en-US" sz="1600" dirty="0"/>
          </a:p>
          <a:p>
            <a:pPr marL="342900" indent="-342900" eaLnBrk="1" hangingPunct="1">
              <a:buFontTx/>
              <a:buAutoNum type="arabicPeriod"/>
            </a:pPr>
            <a:endParaRPr lang="zh-CN" altLang="en-US" sz="1600" dirty="0"/>
          </a:p>
        </p:txBody>
      </p:sp>
      <p:sp>
        <p:nvSpPr>
          <p:cNvPr id="35" name="TextBox 34"/>
          <p:cNvSpPr txBox="1"/>
          <p:nvPr/>
        </p:nvSpPr>
        <p:spPr>
          <a:xfrm>
            <a:off x="612140" y="1412875"/>
            <a:ext cx="7488555" cy="1812290"/>
          </a:xfrm>
          <a:prstGeom prst="rect">
            <a:avLst/>
          </a:prstGeom>
          <a:noFill/>
        </p:spPr>
        <p:txBody>
          <a:bodyPr wrap="square" rtlCol="0">
            <a:noAutofit/>
          </a:bodyPr>
          <a:lstStyle/>
          <a:p>
            <a:r>
              <a:rPr lang="zh-CN" altLang="en-US" dirty="0" smtClean="0"/>
              <a:t>    要求完成以上运算电路中</a:t>
            </a:r>
            <a:r>
              <a:rPr lang="zh-CN" altLang="en-US" dirty="0" smtClean="0">
                <a:solidFill>
                  <a:srgbClr val="FF0000"/>
                </a:solidFill>
              </a:rPr>
              <a:t>至少</a:t>
            </a:r>
            <a:r>
              <a:rPr lang="en-US" altLang="zh-CN" dirty="0" smtClean="0">
                <a:solidFill>
                  <a:srgbClr val="FF0000"/>
                </a:solidFill>
              </a:rPr>
              <a:t>4</a:t>
            </a:r>
            <a:r>
              <a:rPr lang="zh-CN" altLang="en-US" dirty="0" smtClean="0">
                <a:solidFill>
                  <a:srgbClr val="FF0000"/>
                </a:solidFill>
              </a:rPr>
              <a:t>种</a:t>
            </a:r>
            <a:r>
              <a:rPr lang="zh-CN" altLang="en-US" dirty="0" smtClean="0"/>
              <a:t>电路的仿真及结果分析。</a:t>
            </a:r>
            <a:endParaRPr lang="en-US" altLang="zh-CN" dirty="0" smtClean="0"/>
          </a:p>
          <a:p>
            <a:r>
              <a:rPr lang="en-US" altLang="zh-CN" dirty="0"/>
              <a:t> </a:t>
            </a:r>
            <a:r>
              <a:rPr lang="en-US" altLang="zh-CN" dirty="0" smtClean="0"/>
              <a:t>   </a:t>
            </a:r>
            <a:r>
              <a:rPr lang="zh-CN" altLang="en-US" dirty="0" smtClean="0"/>
              <a:t>建议内容：</a:t>
            </a:r>
            <a:endParaRPr lang="en-US" altLang="zh-CN" dirty="0" smtClean="0"/>
          </a:p>
          <a:p>
            <a:r>
              <a:rPr lang="en-US" altLang="zh-CN" dirty="0"/>
              <a:t> </a:t>
            </a:r>
            <a:r>
              <a:rPr lang="en-US" altLang="zh-CN" dirty="0" smtClean="0"/>
              <a:t>   </a:t>
            </a:r>
            <a:endParaRPr lang="en-US" altLang="zh-CN" dirty="0" smtClean="0"/>
          </a:p>
          <a:p>
            <a:endParaRPr lang="zh-CN" altLang="en-US" dirty="0"/>
          </a:p>
        </p:txBody>
      </p:sp>
    </p:spTree>
  </p:cSld>
  <p:clrMapOvr>
    <a:masterClrMapping/>
  </p:clrMapOvr>
  <p:transition spd="med"/>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8229600" cy="883741"/>
          </a:xfrm>
        </p:spPr>
        <p:txBody>
          <a:bodyPr/>
          <a:lstStyle/>
          <a:p>
            <a:r>
              <a:rPr lang="zh-CN" altLang="en-US" dirty="0" smtClean="0"/>
              <a:t>实验六</a:t>
            </a:r>
            <a:r>
              <a:rPr lang="zh-CN" altLang="en-US" dirty="0" smtClean="0">
                <a:solidFill>
                  <a:srgbClr val="993300"/>
                </a:solidFill>
              </a:rPr>
              <a:t>  集成</a:t>
            </a:r>
            <a:r>
              <a:rPr lang="zh-CN" altLang="en-US" dirty="0" smtClean="0">
                <a:solidFill>
                  <a:srgbClr val="993300"/>
                </a:solidFill>
              </a:rPr>
              <a:t>运算放大器应用</a:t>
            </a:r>
            <a:r>
              <a:rPr lang="zh-CN" altLang="en-US" dirty="0" smtClean="0">
                <a:solidFill>
                  <a:srgbClr val="993300"/>
                </a:solidFill>
              </a:rPr>
              <a:t>（</a:t>
            </a:r>
            <a:r>
              <a:rPr lang="en-US" altLang="zh-CN" dirty="0" smtClean="0">
                <a:solidFill>
                  <a:srgbClr val="993300"/>
                </a:solidFill>
              </a:rPr>
              <a:t>II</a:t>
            </a:r>
            <a:r>
              <a:rPr lang="zh-CN" altLang="en-US" dirty="0" smtClean="0">
                <a:solidFill>
                  <a:srgbClr val="993300"/>
                </a:solidFill>
              </a:rPr>
              <a:t>）</a:t>
            </a:r>
            <a:br>
              <a:rPr lang="en-US" altLang="zh-CN" dirty="0" smtClean="0">
                <a:solidFill>
                  <a:srgbClr val="993300"/>
                </a:solidFill>
              </a:rPr>
            </a:br>
            <a:r>
              <a:rPr lang="en-US" altLang="zh-CN" dirty="0" smtClean="0">
                <a:solidFill>
                  <a:srgbClr val="993300"/>
                </a:solidFill>
              </a:rPr>
              <a:t> </a:t>
            </a:r>
            <a:r>
              <a:rPr lang="en-US" altLang="zh-CN" dirty="0" smtClean="0">
                <a:solidFill>
                  <a:srgbClr val="993300"/>
                </a:solidFill>
              </a:rPr>
              <a:t>                                   </a:t>
            </a:r>
            <a:r>
              <a:rPr lang="zh-CN" altLang="en-US" dirty="0" smtClean="0">
                <a:solidFill>
                  <a:srgbClr val="993300"/>
                </a:solidFill>
              </a:rPr>
              <a:t>──有源滤波器电路 </a:t>
            </a:r>
            <a:br>
              <a:rPr lang="zh-CN" altLang="en-US" dirty="0" smtClean="0">
                <a:solidFill>
                  <a:srgbClr val="993300"/>
                </a:solidFill>
              </a:rPr>
            </a:br>
            <a:endParaRPr lang="zh-CN" altLang="en-US" dirty="0"/>
          </a:p>
        </p:txBody>
      </p:sp>
      <p:sp>
        <p:nvSpPr>
          <p:cNvPr id="3" name="内容占位符 2"/>
          <p:cNvSpPr>
            <a:spLocks noGrp="1"/>
          </p:cNvSpPr>
          <p:nvPr>
            <p:ph idx="1"/>
          </p:nvPr>
        </p:nvSpPr>
        <p:spPr>
          <a:xfrm>
            <a:off x="457200" y="1196752"/>
            <a:ext cx="8362950" cy="5040536"/>
          </a:xfrm>
        </p:spPr>
        <p:txBody>
          <a:bodyPr/>
          <a:lstStyle/>
          <a:p>
            <a:pPr>
              <a:buNone/>
            </a:pPr>
            <a:r>
              <a:rPr lang="zh-CN" altLang="en-US" sz="3600" dirty="0" smtClean="0">
                <a:solidFill>
                  <a:srgbClr val="00B0F0"/>
                </a:solidFill>
              </a:rPr>
              <a:t>一、实验目的</a:t>
            </a:r>
            <a:endParaRPr lang="en-US" altLang="zh-CN" sz="3600" dirty="0" smtClean="0">
              <a:solidFill>
                <a:srgbClr val="00B0F0"/>
              </a:solidFill>
            </a:endParaRPr>
          </a:p>
        </p:txBody>
      </p:sp>
      <p:sp>
        <p:nvSpPr>
          <p:cNvPr id="4" name="灯片编号占位符 3"/>
          <p:cNvSpPr>
            <a:spLocks noGrp="1"/>
          </p:cNvSpPr>
          <p:nvPr>
            <p:ph type="sldNum" sz="quarter" idx="11"/>
          </p:nvPr>
        </p:nvSpPr>
        <p:spPr/>
        <p:txBody>
          <a:bodyPr/>
          <a:lstStyle/>
          <a:p>
            <a:pPr>
              <a:defRPr/>
            </a:pPr>
            <a:fld id="{3AD074B8-6AC8-4797-A3E2-E89C69A4C924}" type="slidenum">
              <a:rPr lang="zh-CN" altLang="en-US" smtClean="0"/>
            </a:fld>
            <a:endParaRPr lang="en-US" altLang="zh-CN"/>
          </a:p>
        </p:txBody>
      </p:sp>
      <p:sp>
        <p:nvSpPr>
          <p:cNvPr id="6" name="Rectangle 15"/>
          <p:cNvSpPr>
            <a:spLocks noChangeArrowheads="1"/>
          </p:cNvSpPr>
          <p:nvPr/>
        </p:nvSpPr>
        <p:spPr bwMode="auto">
          <a:xfrm>
            <a:off x="539552" y="2132856"/>
            <a:ext cx="8216900" cy="2678112"/>
          </a:xfrm>
          <a:prstGeom prst="rect">
            <a:avLst/>
          </a:prstGeom>
          <a:noFill/>
          <a:ln w="9525" algn="ctr">
            <a:noFill/>
            <a:miter lim="800000"/>
          </a:ln>
          <a:effectLst/>
        </p:spPr>
        <p:txBody>
          <a:bodyPr anchor="ctr">
            <a:spAutoFit/>
          </a:bodyPr>
          <a:lstStyle/>
          <a:p>
            <a:pPr eaLnBrk="1" hangingPunct="1"/>
            <a:r>
              <a:rPr lang="en-US" altLang="zh-CN" sz="2400" dirty="0"/>
              <a:t>1. </a:t>
            </a:r>
            <a:r>
              <a:rPr lang="zh-CN" altLang="en-US" sz="2400" dirty="0"/>
              <a:t>学会利用</a:t>
            </a:r>
            <a:r>
              <a:rPr lang="en-US" altLang="zh-CN" sz="2400" dirty="0" err="1"/>
              <a:t>Multisim</a:t>
            </a:r>
            <a:r>
              <a:rPr lang="en-US" altLang="zh-CN" sz="2400" dirty="0"/>
              <a:t> </a:t>
            </a:r>
            <a:r>
              <a:rPr lang="en-US" altLang="zh-CN" sz="2400" dirty="0" smtClean="0"/>
              <a:t>12</a:t>
            </a:r>
            <a:r>
              <a:rPr lang="zh-CN" altLang="en-US" sz="2400" dirty="0" smtClean="0"/>
              <a:t>仿真</a:t>
            </a:r>
            <a:r>
              <a:rPr lang="zh-CN" altLang="en-US" sz="2400" dirty="0"/>
              <a:t>分析由运算放大器组成的</a:t>
            </a:r>
            <a:r>
              <a:rPr lang="en-US" altLang="zh-CN" sz="2400" dirty="0"/>
              <a:t>RC</a:t>
            </a:r>
            <a:r>
              <a:rPr lang="zh-CN" altLang="en-US" sz="2400" dirty="0"/>
              <a:t>有源滤波器。</a:t>
            </a:r>
            <a:endParaRPr lang="zh-CN" altLang="en-US" sz="2400" dirty="0"/>
          </a:p>
          <a:p>
            <a:pPr eaLnBrk="1" hangingPunct="1"/>
            <a:r>
              <a:rPr lang="en-US" altLang="zh-CN" sz="2400" dirty="0"/>
              <a:t>2. </a:t>
            </a:r>
            <a:r>
              <a:rPr lang="zh-CN" altLang="en-US" sz="2400" dirty="0"/>
              <a:t>掌握由运算放大器组成的</a:t>
            </a:r>
            <a:r>
              <a:rPr lang="en-US" altLang="zh-CN" sz="2400" dirty="0"/>
              <a:t>RC</a:t>
            </a:r>
            <a:r>
              <a:rPr lang="zh-CN" altLang="en-US" sz="2400" dirty="0"/>
              <a:t>有源滤波器的工作原理、电路结构和基本性能。</a:t>
            </a:r>
            <a:endParaRPr lang="zh-CN" altLang="en-US" sz="2400" dirty="0"/>
          </a:p>
          <a:p>
            <a:pPr eaLnBrk="1" hangingPunct="1"/>
            <a:r>
              <a:rPr lang="en-US" altLang="zh-CN" sz="2400" dirty="0"/>
              <a:t>3. </a:t>
            </a:r>
            <a:r>
              <a:rPr lang="zh-CN" altLang="en-US" sz="2400" dirty="0"/>
              <a:t>学会运用理论知识计算满足一定设计要求的元件参数。</a:t>
            </a:r>
            <a:endParaRPr lang="zh-CN" altLang="en-US" sz="2400" dirty="0"/>
          </a:p>
          <a:p>
            <a:pPr eaLnBrk="1" hangingPunct="1"/>
            <a:r>
              <a:rPr lang="en-US" altLang="zh-CN" sz="2400" dirty="0"/>
              <a:t>4. </a:t>
            </a:r>
            <a:r>
              <a:rPr lang="zh-CN" altLang="en-US" sz="2400" dirty="0"/>
              <a:t>掌握有源滤波器基本参数的测量方法。</a:t>
            </a:r>
            <a:endParaRPr lang="zh-CN" altLang="en-US" sz="2400" dirty="0"/>
          </a:p>
          <a:p>
            <a:pPr eaLnBrk="1" hangingPunct="1"/>
            <a:r>
              <a:rPr lang="en-US" altLang="zh-CN" sz="2400" dirty="0"/>
              <a:t>5. </a:t>
            </a:r>
            <a:r>
              <a:rPr lang="zh-CN" altLang="en-US" sz="2400" dirty="0"/>
              <a:t>熟悉应用</a:t>
            </a:r>
            <a:r>
              <a:rPr lang="en-US" altLang="zh-CN" sz="2400" dirty="0" err="1"/>
              <a:t>Multisim</a:t>
            </a:r>
            <a:r>
              <a:rPr lang="en-US" altLang="zh-CN" sz="2400" dirty="0"/>
              <a:t> </a:t>
            </a:r>
            <a:r>
              <a:rPr lang="en-US" altLang="zh-CN" sz="2400" dirty="0" smtClean="0"/>
              <a:t>12</a:t>
            </a:r>
            <a:r>
              <a:rPr lang="zh-CN" altLang="en-US" sz="2400" dirty="0" smtClean="0"/>
              <a:t>软件</a:t>
            </a:r>
            <a:r>
              <a:rPr lang="zh-CN" altLang="en-US" sz="2400" dirty="0"/>
              <a:t>高级分析功能的使用方法。</a:t>
            </a:r>
            <a:endParaRPr lang="zh-CN" altLang="en-US" sz="2400" dirty="0"/>
          </a:p>
        </p:txBody>
      </p:sp>
    </p:spTree>
  </p:cSld>
  <p:clrMapOvr>
    <a:masterClrMapping/>
  </p:clrMapOvr>
  <p:transition spd="med"/>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67544" y="548680"/>
            <a:ext cx="7793037" cy="873150"/>
          </a:xfrm>
        </p:spPr>
        <p:txBody>
          <a:bodyPr/>
          <a:lstStyle/>
          <a:p>
            <a:pPr eaLnBrk="1" hangingPunct="1"/>
            <a:br>
              <a:rPr lang="en-US" altLang="zh-CN" dirty="0" smtClean="0"/>
            </a:br>
            <a:r>
              <a:rPr lang="zh-CN" altLang="en-US" sz="3600" dirty="0" smtClean="0">
                <a:solidFill>
                  <a:srgbClr val="00B0F0"/>
                </a:solidFill>
                <a:latin typeface="+mn-lt"/>
                <a:ea typeface="+mn-ea"/>
                <a:cs typeface="+mn-cs"/>
              </a:rPr>
              <a:t>二、实验设备及材料</a:t>
            </a:r>
            <a:endParaRPr lang="zh-CN" altLang="en-US" sz="3600" dirty="0" smtClean="0">
              <a:solidFill>
                <a:srgbClr val="00B0F0"/>
              </a:solidFill>
              <a:latin typeface="+mn-lt"/>
              <a:ea typeface="+mn-ea"/>
              <a:cs typeface="+mn-cs"/>
            </a:endParaRPr>
          </a:p>
        </p:txBody>
      </p:sp>
      <p:sp>
        <p:nvSpPr>
          <p:cNvPr id="5123" name="Rectangle 4"/>
          <p:cNvSpPr>
            <a:spLocks noChangeArrowheads="1"/>
          </p:cNvSpPr>
          <p:nvPr/>
        </p:nvSpPr>
        <p:spPr bwMode="auto">
          <a:xfrm>
            <a:off x="1476375" y="2194490"/>
            <a:ext cx="5094664" cy="2246769"/>
          </a:xfrm>
          <a:prstGeom prst="rect">
            <a:avLst/>
          </a:prstGeom>
          <a:noFill/>
          <a:ln w="9525" algn="ctr">
            <a:noFill/>
            <a:miter lim="800000"/>
          </a:ln>
          <a:effectLst/>
        </p:spPr>
        <p:txBody>
          <a:bodyPr wrap="none" anchor="ctr">
            <a:spAutoFit/>
          </a:bodyPr>
          <a:lstStyle/>
          <a:p>
            <a:pPr marL="342900" indent="-342900" eaLnBrk="1" hangingPunct="1">
              <a:tabLst>
                <a:tab pos="266700" algn="l"/>
              </a:tabLst>
            </a:pPr>
            <a:r>
              <a:rPr lang="en-US" altLang="zh-CN" sz="2800" dirty="0"/>
              <a:t>1</a:t>
            </a:r>
            <a:r>
              <a:rPr lang="zh-CN" altLang="en-US" sz="2800" dirty="0"/>
              <a:t>．装有</a:t>
            </a:r>
            <a:r>
              <a:rPr lang="en-US" altLang="zh-CN" sz="2800" dirty="0" err="1"/>
              <a:t>Multisim</a:t>
            </a:r>
            <a:r>
              <a:rPr lang="en-US" altLang="zh-CN" sz="2800" dirty="0"/>
              <a:t> </a:t>
            </a:r>
            <a:r>
              <a:rPr lang="en-US" altLang="zh-CN" sz="2800" dirty="0" smtClean="0"/>
              <a:t>12</a:t>
            </a:r>
            <a:r>
              <a:rPr lang="zh-CN" altLang="en-US" sz="2800" dirty="0" smtClean="0"/>
              <a:t>的</a:t>
            </a:r>
            <a:r>
              <a:rPr lang="zh-CN" altLang="en-US" sz="2800" dirty="0"/>
              <a:t>计算机。</a:t>
            </a:r>
            <a:endParaRPr lang="zh-CN" altLang="en-US" sz="2800" dirty="0"/>
          </a:p>
          <a:p>
            <a:pPr marL="342900" indent="-342900" eaLnBrk="1" hangingPunct="1">
              <a:tabLst>
                <a:tab pos="266700" algn="l"/>
              </a:tabLst>
            </a:pPr>
            <a:r>
              <a:rPr lang="en-US" altLang="zh-CN" sz="2800" dirty="0"/>
              <a:t>2</a:t>
            </a:r>
            <a:r>
              <a:rPr lang="zh-CN" altLang="en-US" sz="2800" dirty="0" smtClean="0"/>
              <a:t>．虚拟函数</a:t>
            </a:r>
            <a:r>
              <a:rPr lang="zh-CN" altLang="en-US" sz="2800" dirty="0"/>
              <a:t>信号发生器。</a:t>
            </a:r>
            <a:endParaRPr lang="zh-CN" altLang="en-US" sz="2800" dirty="0"/>
          </a:p>
          <a:p>
            <a:pPr marL="342900" indent="-342900" eaLnBrk="1" hangingPunct="1">
              <a:tabLst>
                <a:tab pos="266700" algn="l"/>
              </a:tabLst>
            </a:pPr>
            <a:r>
              <a:rPr lang="en-US" altLang="zh-CN" sz="2800" dirty="0"/>
              <a:t>3</a:t>
            </a:r>
            <a:r>
              <a:rPr lang="zh-CN" altLang="en-US" sz="2800" dirty="0" smtClean="0"/>
              <a:t>．虚拟双</a:t>
            </a:r>
            <a:r>
              <a:rPr lang="zh-CN" altLang="en-US" sz="2800" dirty="0"/>
              <a:t>通道示波器。</a:t>
            </a:r>
            <a:endParaRPr lang="zh-CN" altLang="en-US" sz="2800" dirty="0"/>
          </a:p>
          <a:p>
            <a:pPr marL="342900" indent="-342900" eaLnBrk="1" hangingPunct="1">
              <a:tabLst>
                <a:tab pos="266700" algn="l"/>
              </a:tabLst>
            </a:pPr>
            <a:r>
              <a:rPr lang="en-US" altLang="zh-CN" sz="2800" dirty="0"/>
              <a:t>4</a:t>
            </a:r>
            <a:r>
              <a:rPr lang="zh-CN" altLang="en-US" sz="2800" dirty="0" smtClean="0"/>
              <a:t>．虚拟数字</a:t>
            </a:r>
            <a:r>
              <a:rPr lang="zh-CN" altLang="en-US" sz="2800" dirty="0"/>
              <a:t>万用表。</a:t>
            </a:r>
            <a:endParaRPr lang="zh-CN" altLang="en-US" sz="2800" dirty="0"/>
          </a:p>
          <a:p>
            <a:pPr marL="342900" indent="-342900" eaLnBrk="1" hangingPunct="1">
              <a:tabLst>
                <a:tab pos="266700" algn="l"/>
              </a:tabLst>
            </a:pPr>
            <a:r>
              <a:rPr lang="en-US" altLang="zh-CN" sz="2800" dirty="0"/>
              <a:t>5</a:t>
            </a:r>
            <a:r>
              <a:rPr lang="zh-CN" altLang="en-US" sz="2800" dirty="0" smtClean="0"/>
              <a:t>．其他虚拟器件若干。</a:t>
            </a:r>
            <a:endParaRPr lang="zh-CN" altLang="en-US" sz="2800" dirty="0"/>
          </a:p>
        </p:txBody>
      </p:sp>
    </p:spTree>
  </p:cSld>
  <p:clrMapOvr>
    <a:masterClrMapping/>
  </p:clrMapOvr>
  <p:transition spd="med"/>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95536" y="692696"/>
            <a:ext cx="8229600" cy="523875"/>
          </a:xfrm>
        </p:spPr>
        <p:txBody>
          <a:bodyPr/>
          <a:lstStyle/>
          <a:p>
            <a:pPr eaLnBrk="1" hangingPunct="1"/>
            <a:r>
              <a:rPr lang="zh-CN" altLang="en-US" sz="3600" dirty="0" smtClean="0">
                <a:solidFill>
                  <a:srgbClr val="00B0F0"/>
                </a:solidFill>
                <a:latin typeface="+mn-lt"/>
                <a:ea typeface="+mn-ea"/>
                <a:cs typeface="+mn-cs"/>
              </a:rPr>
              <a:t>三、实验原理</a:t>
            </a:r>
            <a:endParaRPr lang="zh-CN" altLang="en-US" sz="3600" dirty="0" smtClean="0">
              <a:solidFill>
                <a:srgbClr val="00B0F0"/>
              </a:solidFill>
              <a:latin typeface="+mn-lt"/>
              <a:ea typeface="+mn-ea"/>
              <a:cs typeface="+mn-cs"/>
            </a:endParaRPr>
          </a:p>
        </p:txBody>
      </p:sp>
      <p:sp>
        <p:nvSpPr>
          <p:cNvPr id="8195" name="Rectangle 4"/>
          <p:cNvSpPr>
            <a:spLocks noChangeArrowheads="1"/>
          </p:cNvSpPr>
          <p:nvPr/>
        </p:nvSpPr>
        <p:spPr bwMode="auto">
          <a:xfrm>
            <a:off x="0" y="21717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6" name="Rectangle 13"/>
          <p:cNvSpPr>
            <a:spLocks noChangeArrowheads="1"/>
          </p:cNvSpPr>
          <p:nvPr/>
        </p:nvSpPr>
        <p:spPr bwMode="auto">
          <a:xfrm>
            <a:off x="0" y="1216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7" name="Rectangle 19"/>
          <p:cNvSpPr>
            <a:spLocks noChangeArrowheads="1"/>
          </p:cNvSpPr>
          <p:nvPr/>
        </p:nvSpPr>
        <p:spPr bwMode="auto">
          <a:xfrm>
            <a:off x="0" y="27432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8" name="Rectangle 466"/>
          <p:cNvSpPr>
            <a:spLocks noChangeArrowheads="1"/>
          </p:cNvSpPr>
          <p:nvPr/>
        </p:nvSpPr>
        <p:spPr bwMode="auto">
          <a:xfrm>
            <a:off x="0" y="26812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199" name="Rectangle 471"/>
          <p:cNvSpPr>
            <a:spLocks noChangeArrowheads="1"/>
          </p:cNvSpPr>
          <p:nvPr/>
        </p:nvSpPr>
        <p:spPr bwMode="auto">
          <a:xfrm>
            <a:off x="0" y="2117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8200" name="Rectangle 474"/>
          <p:cNvSpPr>
            <a:spLocks noChangeArrowheads="1"/>
          </p:cNvSpPr>
          <p:nvPr/>
        </p:nvSpPr>
        <p:spPr bwMode="auto">
          <a:xfrm>
            <a:off x="0" y="2481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8201" name="Picture 473"/>
          <p:cNvPicPr>
            <a:picLocks noChangeAspect="1" noChangeArrowheads="1"/>
          </p:cNvPicPr>
          <p:nvPr/>
        </p:nvPicPr>
        <p:blipFill>
          <a:blip r:embed="rId1" cstate="print"/>
          <a:srcRect t="2335" b="1945"/>
          <a:stretch>
            <a:fillRect/>
          </a:stretch>
        </p:blipFill>
        <p:spPr bwMode="auto">
          <a:xfrm>
            <a:off x="323850" y="2133600"/>
            <a:ext cx="4448175" cy="1562100"/>
          </a:xfrm>
          <a:prstGeom prst="rect">
            <a:avLst/>
          </a:prstGeom>
          <a:noFill/>
          <a:ln w="9525">
            <a:noFill/>
            <a:miter lim="800000"/>
            <a:headEnd/>
            <a:tailEnd/>
          </a:ln>
        </p:spPr>
      </p:pic>
      <p:sp>
        <p:nvSpPr>
          <p:cNvPr id="8202" name="Rectangle 475"/>
          <p:cNvSpPr>
            <a:spLocks noChangeArrowheads="1"/>
          </p:cNvSpPr>
          <p:nvPr/>
        </p:nvSpPr>
        <p:spPr bwMode="auto">
          <a:xfrm>
            <a:off x="1123950" y="3786188"/>
            <a:ext cx="2393950" cy="523875"/>
          </a:xfrm>
          <a:prstGeom prst="rect">
            <a:avLst/>
          </a:prstGeom>
          <a:noFill/>
          <a:ln w="9525" algn="ctr">
            <a:noFill/>
            <a:miter lim="800000"/>
          </a:ln>
          <a:effectLst/>
        </p:spPr>
        <p:txBody>
          <a:bodyPr wrap="none" anchor="ctr">
            <a:spAutoFit/>
          </a:bodyPr>
          <a:lstStyle/>
          <a:p>
            <a:pPr indent="269875" algn="ctr" eaLnBrk="1" hangingPunct="1"/>
            <a:r>
              <a:rPr lang="zh-CN" altLang="en-US" sz="1400">
                <a:latin typeface="Times New Roman" panose="02020603050405020304" pitchFamily="18" charset="0"/>
                <a:cs typeface="Times New Roman" panose="02020603050405020304" pitchFamily="18" charset="0"/>
              </a:rPr>
              <a:t>图</a:t>
            </a:r>
            <a:r>
              <a:rPr lang="en-US" altLang="zh-CN" sz="1400">
                <a:latin typeface="Times New Roman" panose="02020603050405020304" pitchFamily="18" charset="0"/>
                <a:cs typeface="Times New Roman" panose="02020603050405020304" pitchFamily="18" charset="0"/>
              </a:rPr>
              <a:t>3-110  </a:t>
            </a:r>
            <a:r>
              <a:rPr lang="zh-CN" altLang="en-US" sz="1400">
                <a:latin typeface="Times New Roman" panose="02020603050405020304" pitchFamily="18" charset="0"/>
                <a:cs typeface="Times New Roman" panose="02020603050405020304" pitchFamily="18" charset="0"/>
              </a:rPr>
              <a:t>二阶低通滤波器</a:t>
            </a:r>
            <a:endParaRPr lang="zh-CN" altLang="en-US" sz="1400"/>
          </a:p>
          <a:p>
            <a:pPr indent="269875" algn="ctr"/>
            <a:r>
              <a:rPr lang="en-US" altLang="zh-CN" sz="1400">
                <a:latin typeface="Times New Roman" panose="02020603050405020304" pitchFamily="18" charset="0"/>
                <a:cs typeface="Times New Roman" panose="02020603050405020304" pitchFamily="18" charset="0"/>
              </a:rPr>
              <a:t>a) </a:t>
            </a:r>
            <a:r>
              <a:rPr lang="zh-CN" altLang="en-US" sz="1400">
                <a:latin typeface="Times New Roman" panose="02020603050405020304" pitchFamily="18" charset="0"/>
                <a:cs typeface="Times New Roman" panose="02020603050405020304" pitchFamily="18" charset="0"/>
              </a:rPr>
              <a:t>电路图  </a:t>
            </a:r>
            <a:r>
              <a:rPr lang="en-US" altLang="zh-CN" sz="1400">
                <a:latin typeface="Times New Roman" panose="02020603050405020304" pitchFamily="18" charset="0"/>
                <a:cs typeface="Times New Roman" panose="02020603050405020304" pitchFamily="18" charset="0"/>
              </a:rPr>
              <a:t>b) </a:t>
            </a:r>
            <a:r>
              <a:rPr lang="zh-CN" altLang="en-US" sz="1400">
                <a:latin typeface="Times New Roman" panose="02020603050405020304" pitchFamily="18" charset="0"/>
                <a:cs typeface="Times New Roman" panose="02020603050405020304" pitchFamily="18" charset="0"/>
              </a:rPr>
              <a:t>幅频特性</a:t>
            </a:r>
            <a:endParaRPr lang="zh-CN" altLang="en-US" sz="1400"/>
          </a:p>
        </p:txBody>
      </p:sp>
      <p:pic>
        <p:nvPicPr>
          <p:cNvPr id="8203" name="Picture 476"/>
          <p:cNvPicPr>
            <a:picLocks noChangeAspect="1" noChangeArrowheads="1"/>
          </p:cNvPicPr>
          <p:nvPr/>
        </p:nvPicPr>
        <p:blipFill>
          <a:blip r:embed="rId2" cstate="print"/>
          <a:srcRect/>
          <a:stretch>
            <a:fillRect/>
          </a:stretch>
        </p:blipFill>
        <p:spPr bwMode="auto">
          <a:xfrm>
            <a:off x="539750" y="4508500"/>
            <a:ext cx="2881313" cy="1898650"/>
          </a:xfrm>
          <a:prstGeom prst="rect">
            <a:avLst/>
          </a:prstGeom>
          <a:noFill/>
          <a:ln w="9525" algn="ctr">
            <a:noFill/>
            <a:miter lim="800000"/>
            <a:headEnd/>
            <a:tailEnd/>
          </a:ln>
          <a:effectLst/>
        </p:spPr>
      </p:pic>
      <p:sp>
        <p:nvSpPr>
          <p:cNvPr id="8204" name="Rectangle 479"/>
          <p:cNvSpPr>
            <a:spLocks noChangeArrowheads="1"/>
          </p:cNvSpPr>
          <p:nvPr/>
        </p:nvSpPr>
        <p:spPr bwMode="auto">
          <a:xfrm>
            <a:off x="0" y="23764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8205" name="Picture 478"/>
          <p:cNvPicPr>
            <a:picLocks noChangeAspect="1" noChangeArrowheads="1"/>
          </p:cNvPicPr>
          <p:nvPr/>
        </p:nvPicPr>
        <p:blipFill>
          <a:blip r:embed="rId3" cstate="print"/>
          <a:srcRect/>
          <a:stretch>
            <a:fillRect/>
          </a:stretch>
        </p:blipFill>
        <p:spPr bwMode="auto">
          <a:xfrm>
            <a:off x="4859338" y="1989138"/>
            <a:ext cx="4057650" cy="1695450"/>
          </a:xfrm>
          <a:prstGeom prst="rect">
            <a:avLst/>
          </a:prstGeom>
          <a:noFill/>
          <a:ln w="9525">
            <a:noFill/>
            <a:miter lim="800000"/>
            <a:headEnd/>
            <a:tailEnd/>
          </a:ln>
        </p:spPr>
      </p:pic>
      <p:sp>
        <p:nvSpPr>
          <p:cNvPr id="8206" name="Rectangle 480"/>
          <p:cNvSpPr>
            <a:spLocks noChangeArrowheads="1"/>
          </p:cNvSpPr>
          <p:nvPr/>
        </p:nvSpPr>
        <p:spPr bwMode="auto">
          <a:xfrm>
            <a:off x="5746750" y="3695700"/>
            <a:ext cx="2387600" cy="523875"/>
          </a:xfrm>
          <a:prstGeom prst="rect">
            <a:avLst/>
          </a:prstGeom>
          <a:noFill/>
          <a:ln w="9525" algn="ctr">
            <a:noFill/>
            <a:miter lim="800000"/>
          </a:ln>
          <a:effectLst/>
        </p:spPr>
        <p:txBody>
          <a:bodyPr wrap="none" anchor="ctr">
            <a:spAutoFit/>
          </a:bodyPr>
          <a:lstStyle/>
          <a:p>
            <a:pPr indent="269875" algn="ctr" eaLnBrk="1" hangingPunct="1"/>
            <a:r>
              <a:rPr lang="zh-CN" altLang="en-US" sz="1400">
                <a:latin typeface="Times New Roman" panose="02020603050405020304" pitchFamily="18" charset="0"/>
                <a:cs typeface="Times New Roman" panose="02020603050405020304" pitchFamily="18" charset="0"/>
              </a:rPr>
              <a:t>图</a:t>
            </a:r>
            <a:r>
              <a:rPr lang="en-US" altLang="zh-CN" sz="1400">
                <a:latin typeface="Times New Roman" panose="02020603050405020304" pitchFamily="18" charset="0"/>
                <a:cs typeface="Times New Roman" panose="02020603050405020304" pitchFamily="18" charset="0"/>
              </a:rPr>
              <a:t>3-111  </a:t>
            </a:r>
            <a:r>
              <a:rPr lang="zh-CN" altLang="en-US" sz="1400">
                <a:latin typeface="Times New Roman" panose="02020603050405020304" pitchFamily="18" charset="0"/>
                <a:cs typeface="Times New Roman" panose="02020603050405020304" pitchFamily="18" charset="0"/>
              </a:rPr>
              <a:t>二阶高通滤波器</a:t>
            </a:r>
            <a:endParaRPr lang="zh-CN" altLang="en-US" sz="1400"/>
          </a:p>
          <a:p>
            <a:pPr indent="269875" algn="ctr"/>
            <a:r>
              <a:rPr lang="en-US" altLang="zh-CN" sz="1400">
                <a:latin typeface="Times New Roman" panose="02020603050405020304" pitchFamily="18" charset="0"/>
                <a:cs typeface="Times New Roman" panose="02020603050405020304" pitchFamily="18" charset="0"/>
              </a:rPr>
              <a:t>a) </a:t>
            </a:r>
            <a:r>
              <a:rPr lang="zh-CN" altLang="en-US" sz="1400">
                <a:latin typeface="Times New Roman" panose="02020603050405020304" pitchFamily="18" charset="0"/>
                <a:cs typeface="Times New Roman" panose="02020603050405020304" pitchFamily="18" charset="0"/>
              </a:rPr>
              <a:t>电路图  </a:t>
            </a:r>
            <a:r>
              <a:rPr lang="en-US" altLang="zh-CN" sz="1400">
                <a:latin typeface="Times New Roman" panose="02020603050405020304" pitchFamily="18" charset="0"/>
                <a:cs typeface="Times New Roman" panose="02020603050405020304" pitchFamily="18" charset="0"/>
              </a:rPr>
              <a:t>b) </a:t>
            </a:r>
            <a:r>
              <a:rPr lang="zh-CN" altLang="en-US" sz="1400">
                <a:latin typeface="Times New Roman" panose="02020603050405020304" pitchFamily="18" charset="0"/>
                <a:cs typeface="Times New Roman" panose="02020603050405020304" pitchFamily="18" charset="0"/>
              </a:rPr>
              <a:t>幅频特性</a:t>
            </a:r>
            <a:endParaRPr lang="zh-CN" altLang="en-US" sz="1400"/>
          </a:p>
        </p:txBody>
      </p:sp>
      <p:pic>
        <p:nvPicPr>
          <p:cNvPr id="8207" name="Picture 481"/>
          <p:cNvPicPr>
            <a:picLocks noChangeAspect="1" noChangeArrowheads="1"/>
          </p:cNvPicPr>
          <p:nvPr/>
        </p:nvPicPr>
        <p:blipFill>
          <a:blip r:embed="rId4" cstate="print"/>
          <a:srcRect/>
          <a:stretch>
            <a:fillRect/>
          </a:stretch>
        </p:blipFill>
        <p:spPr bwMode="auto">
          <a:xfrm>
            <a:off x="5580063" y="4508500"/>
            <a:ext cx="2881312" cy="1898650"/>
          </a:xfrm>
          <a:prstGeom prst="rect">
            <a:avLst/>
          </a:prstGeom>
          <a:noFill/>
          <a:ln w="9525" algn="ctr">
            <a:noFill/>
            <a:miter lim="800000"/>
            <a:headEnd/>
            <a:tailEnd/>
          </a:ln>
          <a:effectLst/>
        </p:spPr>
      </p:pic>
      <p:sp>
        <p:nvSpPr>
          <p:cNvPr id="8208" name="Line 482"/>
          <p:cNvSpPr>
            <a:spLocks noChangeShapeType="1"/>
          </p:cNvSpPr>
          <p:nvPr/>
        </p:nvSpPr>
        <p:spPr bwMode="auto">
          <a:xfrm>
            <a:off x="4787900" y="1773238"/>
            <a:ext cx="0" cy="4751387"/>
          </a:xfrm>
          <a:prstGeom prst="line">
            <a:avLst/>
          </a:prstGeom>
          <a:noFill/>
          <a:ln w="9525">
            <a:solidFill>
              <a:srgbClr val="008000"/>
            </a:solidFill>
            <a:round/>
          </a:ln>
          <a:effectLst/>
        </p:spPr>
        <p:txBody>
          <a:bodyPr>
            <a:spAutoFit/>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05"/>
                                        </p:tgtEl>
                                        <p:attrNameLst>
                                          <p:attrName>style.visibility</p:attrName>
                                        </p:attrNameLst>
                                      </p:cBhvr>
                                      <p:to>
                                        <p:strVal val="visible"/>
                                      </p:to>
                                    </p:set>
                                    <p:animEffect transition="in" filter="fade">
                                      <p:cBhvr>
                                        <p:cTn id="7" dur="500"/>
                                        <p:tgtEl>
                                          <p:spTgt spid="82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206"/>
                                        </p:tgtEl>
                                        <p:attrNameLst>
                                          <p:attrName>style.visibility</p:attrName>
                                        </p:attrNameLst>
                                      </p:cBhvr>
                                      <p:to>
                                        <p:strVal val="visible"/>
                                      </p:to>
                                    </p:set>
                                    <p:animEffect transition="in" filter="fade">
                                      <p:cBhvr>
                                        <p:cTn id="10" dur="500"/>
                                        <p:tgtEl>
                                          <p:spTgt spid="8206"/>
                                        </p:tgtEl>
                                      </p:cBhvr>
                                    </p:animEffect>
                                  </p:childTnLst>
                                </p:cTn>
                              </p:par>
                              <p:par>
                                <p:cTn id="11" presetID="10" presetClass="entr" presetSubtype="0" fill="hold" nodeType="withEffect">
                                  <p:stCondLst>
                                    <p:cond delay="0"/>
                                  </p:stCondLst>
                                  <p:childTnLst>
                                    <p:set>
                                      <p:cBhvr>
                                        <p:cTn id="12" dur="1" fill="hold">
                                          <p:stCondLst>
                                            <p:cond delay="0"/>
                                          </p:stCondLst>
                                        </p:cTn>
                                        <p:tgtEl>
                                          <p:spTgt spid="8207"/>
                                        </p:tgtEl>
                                        <p:attrNameLst>
                                          <p:attrName>style.visibility</p:attrName>
                                        </p:attrNameLst>
                                      </p:cBhvr>
                                      <p:to>
                                        <p:strVal val="visible"/>
                                      </p:to>
                                    </p:set>
                                    <p:animEffect transition="in" filter="fade">
                                      <p:cBhvr>
                                        <p:cTn id="13" dur="500"/>
                                        <p:tgtEl>
                                          <p:spTgt spid="8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7"/>
          <p:cNvSpPr>
            <a:spLocks noChangeArrowheads="1"/>
          </p:cNvSpPr>
          <p:nvPr/>
        </p:nvSpPr>
        <p:spPr bwMode="auto">
          <a:xfrm>
            <a:off x="0" y="1216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4" name="Rectangle 9"/>
          <p:cNvSpPr>
            <a:spLocks noChangeArrowheads="1"/>
          </p:cNvSpPr>
          <p:nvPr/>
        </p:nvSpPr>
        <p:spPr bwMode="auto">
          <a:xfrm>
            <a:off x="0" y="27432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5" name="Rectangle 277"/>
          <p:cNvSpPr>
            <a:spLocks noChangeArrowheads="1"/>
          </p:cNvSpPr>
          <p:nvPr/>
        </p:nvSpPr>
        <p:spPr bwMode="auto">
          <a:xfrm>
            <a:off x="0" y="27241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6" name="Rectangle 411"/>
          <p:cNvSpPr>
            <a:spLocks noChangeArrowheads="1"/>
          </p:cNvSpPr>
          <p:nvPr/>
        </p:nvSpPr>
        <p:spPr bwMode="auto">
          <a:xfrm>
            <a:off x="0" y="21320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0247" name="Rectangle 415"/>
          <p:cNvSpPr>
            <a:spLocks noChangeArrowheads="1"/>
          </p:cNvSpPr>
          <p:nvPr/>
        </p:nvSpPr>
        <p:spPr bwMode="auto">
          <a:xfrm>
            <a:off x="0" y="24749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0248" name="Picture 414"/>
          <p:cNvPicPr>
            <a:picLocks noChangeAspect="1" noChangeArrowheads="1"/>
          </p:cNvPicPr>
          <p:nvPr/>
        </p:nvPicPr>
        <p:blipFill>
          <a:blip r:embed="rId1" cstate="print"/>
          <a:srcRect/>
          <a:stretch>
            <a:fillRect/>
          </a:stretch>
        </p:blipFill>
        <p:spPr bwMode="auto">
          <a:xfrm>
            <a:off x="179512" y="1484784"/>
            <a:ext cx="4176712" cy="1560513"/>
          </a:xfrm>
          <a:prstGeom prst="rect">
            <a:avLst/>
          </a:prstGeom>
          <a:noFill/>
          <a:ln w="9525">
            <a:noFill/>
            <a:miter lim="800000"/>
            <a:headEnd/>
            <a:tailEnd/>
          </a:ln>
        </p:spPr>
      </p:pic>
      <p:sp>
        <p:nvSpPr>
          <p:cNvPr id="20489" name="Rectangle 416"/>
          <p:cNvSpPr>
            <a:spLocks noChangeArrowheads="1"/>
          </p:cNvSpPr>
          <p:nvPr/>
        </p:nvSpPr>
        <p:spPr bwMode="auto">
          <a:xfrm>
            <a:off x="899592" y="3284984"/>
            <a:ext cx="2432050" cy="523875"/>
          </a:xfrm>
          <a:prstGeom prst="rect">
            <a:avLst/>
          </a:prstGeom>
          <a:noFill/>
          <a:ln>
            <a:noFill/>
          </a:ln>
          <a:effectLst/>
        </p:spPr>
        <p:txBody>
          <a:bodyPr wrap="none" anchor="ctr">
            <a:spAutoFit/>
          </a:bodyPr>
          <a:lstStyle>
            <a:lvl1pPr indent="269875">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defRPr/>
            </a:pPr>
            <a:r>
              <a:rPr lang="zh-CN" altLang="en-US" sz="1400" dirty="0">
                <a:latin typeface="Times New Roman" panose="02020603050405020304" pitchFamily="18" charset="0"/>
                <a:cs typeface="Times New Roman" panose="02020603050405020304" pitchFamily="18" charset="0"/>
              </a:rPr>
              <a:t>图</a:t>
            </a:r>
            <a:r>
              <a:rPr lang="en-US" altLang="zh-CN" sz="1400" kern="100" dirty="0">
                <a:latin typeface="宋体" panose="02010600030101010101" pitchFamily="2" charset="-122"/>
                <a:cs typeface="Times New Roman" panose="02020603050405020304" pitchFamily="18" charset="0"/>
              </a:rPr>
              <a:t>3-112</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二阶带通滤波器</a:t>
            </a:r>
            <a:endParaRPr lang="zh-CN" altLang="en-US" sz="1400" dirty="0">
              <a:latin typeface="Arial" panose="020B0604020202020204" pitchFamily="34" charset="0"/>
            </a:endParaRPr>
          </a:p>
          <a:p>
            <a:pPr algn="ctr">
              <a:spcBef>
                <a:spcPct val="0"/>
              </a:spcBef>
              <a:buClrTx/>
              <a:buSzTx/>
              <a:buFontTx/>
              <a:buNone/>
              <a:defRPr/>
            </a:pPr>
            <a:r>
              <a:rPr lang="en-US" altLang="zh-CN" sz="1400" dirty="0">
                <a:latin typeface="Times New Roman" panose="02020603050405020304" pitchFamily="18" charset="0"/>
                <a:cs typeface="Times New Roman" panose="02020603050405020304" pitchFamily="18" charset="0"/>
              </a:rPr>
              <a:t>a) </a:t>
            </a:r>
            <a:r>
              <a:rPr lang="zh-CN" altLang="en-US" sz="1400" dirty="0">
                <a:latin typeface="Times New Roman" panose="02020603050405020304" pitchFamily="18" charset="0"/>
                <a:cs typeface="Times New Roman" panose="02020603050405020304" pitchFamily="18" charset="0"/>
              </a:rPr>
              <a:t>电路图  </a:t>
            </a:r>
            <a:r>
              <a:rPr lang="en-US" altLang="zh-CN" sz="1400" dirty="0">
                <a:latin typeface="Times New Roman" panose="02020603050405020304" pitchFamily="18" charset="0"/>
                <a:cs typeface="Times New Roman" panose="02020603050405020304" pitchFamily="18" charset="0"/>
              </a:rPr>
              <a:t>b) </a:t>
            </a:r>
            <a:r>
              <a:rPr lang="zh-CN" altLang="en-US" sz="1400" dirty="0">
                <a:latin typeface="Times New Roman" panose="02020603050405020304" pitchFamily="18" charset="0"/>
                <a:cs typeface="Times New Roman" panose="02020603050405020304" pitchFamily="18" charset="0"/>
              </a:rPr>
              <a:t>幅频特性</a:t>
            </a:r>
            <a:endParaRPr lang="zh-CN" altLang="en-US" sz="1400" dirty="0">
              <a:latin typeface="Arial" panose="020B0604020202020204" pitchFamily="34" charset="0"/>
            </a:endParaRPr>
          </a:p>
        </p:txBody>
      </p:sp>
      <p:pic>
        <p:nvPicPr>
          <p:cNvPr id="10250" name="Picture 417"/>
          <p:cNvPicPr>
            <a:picLocks noChangeAspect="1" noChangeArrowheads="1"/>
          </p:cNvPicPr>
          <p:nvPr/>
        </p:nvPicPr>
        <p:blipFill>
          <a:blip r:embed="rId2" cstate="print"/>
          <a:srcRect/>
          <a:stretch>
            <a:fillRect/>
          </a:stretch>
        </p:blipFill>
        <p:spPr bwMode="auto">
          <a:xfrm>
            <a:off x="395536" y="4077072"/>
            <a:ext cx="3638550" cy="1781175"/>
          </a:xfrm>
          <a:prstGeom prst="rect">
            <a:avLst/>
          </a:prstGeom>
          <a:noFill/>
          <a:ln w="9525" algn="ctr">
            <a:noFill/>
            <a:miter lim="800000"/>
            <a:headEnd/>
            <a:tailEnd/>
          </a:ln>
          <a:effectLst/>
        </p:spPr>
      </p:pic>
      <p:sp>
        <p:nvSpPr>
          <p:cNvPr id="10251" name="Rectangle 419"/>
          <p:cNvSpPr>
            <a:spLocks noChangeArrowheads="1"/>
          </p:cNvSpPr>
          <p:nvPr/>
        </p:nvSpPr>
        <p:spPr bwMode="auto">
          <a:xfrm>
            <a:off x="0" y="23844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0252" name="Picture 418"/>
          <p:cNvPicPr>
            <a:picLocks noChangeAspect="1" noChangeArrowheads="1"/>
          </p:cNvPicPr>
          <p:nvPr/>
        </p:nvPicPr>
        <p:blipFill>
          <a:blip r:embed="rId3" cstate="print"/>
          <a:srcRect/>
          <a:stretch>
            <a:fillRect/>
          </a:stretch>
        </p:blipFill>
        <p:spPr bwMode="auto">
          <a:xfrm>
            <a:off x="4644008" y="1340768"/>
            <a:ext cx="4249737" cy="1812925"/>
          </a:xfrm>
          <a:prstGeom prst="rect">
            <a:avLst/>
          </a:prstGeom>
          <a:noFill/>
          <a:ln w="9525">
            <a:noFill/>
            <a:miter lim="800000"/>
            <a:headEnd/>
            <a:tailEnd/>
          </a:ln>
        </p:spPr>
      </p:pic>
      <p:sp>
        <p:nvSpPr>
          <p:cNvPr id="10253" name="Rectangle 420"/>
          <p:cNvSpPr>
            <a:spLocks noChangeArrowheads="1"/>
          </p:cNvSpPr>
          <p:nvPr/>
        </p:nvSpPr>
        <p:spPr bwMode="auto">
          <a:xfrm>
            <a:off x="5724128" y="3284984"/>
            <a:ext cx="2425700" cy="523875"/>
          </a:xfrm>
          <a:prstGeom prst="rect">
            <a:avLst/>
          </a:prstGeom>
          <a:noFill/>
          <a:ln w="9525" algn="ctr">
            <a:noFill/>
            <a:miter lim="800000"/>
          </a:ln>
          <a:effectLst/>
        </p:spPr>
        <p:txBody>
          <a:bodyPr wrap="none" anchor="ctr">
            <a:spAutoFit/>
          </a:bodyPr>
          <a:lstStyle/>
          <a:p>
            <a:pPr indent="269875" algn="ctr" eaLnBrk="1" hangingPunct="1"/>
            <a:r>
              <a:rPr lang="zh-CN" altLang="en-US" sz="1400" dirty="0">
                <a:latin typeface="Times New Roman" panose="02020603050405020304" pitchFamily="18" charset="0"/>
                <a:cs typeface="Times New Roman" panose="02020603050405020304" pitchFamily="18" charset="0"/>
              </a:rPr>
              <a:t>图</a:t>
            </a:r>
            <a:r>
              <a:rPr lang="en-US" altLang="zh-CN" sz="1400" dirty="0">
                <a:latin typeface="Times New Roman" panose="02020603050405020304" pitchFamily="18" charset="0"/>
                <a:cs typeface="Times New Roman" panose="02020603050405020304" pitchFamily="18" charset="0"/>
              </a:rPr>
              <a:t>3</a:t>
            </a:r>
            <a:r>
              <a:rPr lang="en-US" altLang="zh-CN" sz="1400" dirty="0">
                <a:latin typeface="宋体" panose="02010600030101010101" pitchFamily="2" charset="-122"/>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113  </a:t>
            </a:r>
            <a:r>
              <a:rPr lang="zh-CN" altLang="en-US" sz="1400" dirty="0">
                <a:latin typeface="Times New Roman" panose="02020603050405020304" pitchFamily="18" charset="0"/>
                <a:cs typeface="Times New Roman" panose="02020603050405020304" pitchFamily="18" charset="0"/>
              </a:rPr>
              <a:t>二阶带阻滤波器</a:t>
            </a:r>
            <a:endParaRPr lang="zh-CN" altLang="en-US" sz="1400" dirty="0"/>
          </a:p>
          <a:p>
            <a:pPr indent="269875" algn="ctr"/>
            <a:r>
              <a:rPr lang="en-US" altLang="zh-CN" sz="1400" dirty="0">
                <a:latin typeface="Times New Roman" panose="02020603050405020304" pitchFamily="18" charset="0"/>
                <a:cs typeface="Times New Roman" panose="02020603050405020304" pitchFamily="18" charset="0"/>
              </a:rPr>
              <a:t>a) </a:t>
            </a:r>
            <a:r>
              <a:rPr lang="zh-CN" altLang="en-US" sz="1400" dirty="0">
                <a:latin typeface="Times New Roman" panose="02020603050405020304" pitchFamily="18" charset="0"/>
                <a:cs typeface="Times New Roman" panose="02020603050405020304" pitchFamily="18" charset="0"/>
              </a:rPr>
              <a:t>电路图  </a:t>
            </a:r>
            <a:r>
              <a:rPr lang="en-US" altLang="zh-CN" sz="1400" dirty="0">
                <a:latin typeface="Times New Roman" panose="02020603050405020304" pitchFamily="18" charset="0"/>
                <a:cs typeface="Times New Roman" panose="02020603050405020304" pitchFamily="18" charset="0"/>
              </a:rPr>
              <a:t>b) </a:t>
            </a:r>
            <a:r>
              <a:rPr lang="zh-CN" altLang="en-US" sz="1400" dirty="0">
                <a:latin typeface="Times New Roman" panose="02020603050405020304" pitchFamily="18" charset="0"/>
                <a:cs typeface="Times New Roman" panose="02020603050405020304" pitchFamily="18" charset="0"/>
              </a:rPr>
              <a:t>幅频特性</a:t>
            </a:r>
            <a:endParaRPr lang="zh-CN" altLang="en-US" sz="1400" dirty="0"/>
          </a:p>
        </p:txBody>
      </p:sp>
      <p:pic>
        <p:nvPicPr>
          <p:cNvPr id="10254" name="Picture 421"/>
          <p:cNvPicPr>
            <a:picLocks noChangeAspect="1" noChangeArrowheads="1"/>
          </p:cNvPicPr>
          <p:nvPr/>
        </p:nvPicPr>
        <p:blipFill>
          <a:blip r:embed="rId4" cstate="print"/>
          <a:srcRect/>
          <a:stretch>
            <a:fillRect/>
          </a:stretch>
        </p:blipFill>
        <p:spPr bwMode="auto">
          <a:xfrm>
            <a:off x="4788024" y="3933056"/>
            <a:ext cx="4176713" cy="1779588"/>
          </a:xfrm>
          <a:prstGeom prst="rect">
            <a:avLst/>
          </a:prstGeom>
          <a:noFill/>
          <a:ln w="9525" algn="ctr">
            <a:noFill/>
            <a:miter lim="800000"/>
            <a:headEnd/>
            <a:tailEnd/>
          </a:ln>
          <a:effectLst/>
        </p:spPr>
      </p:pic>
      <p:sp>
        <p:nvSpPr>
          <p:cNvPr id="10255" name="Line 422"/>
          <p:cNvSpPr>
            <a:spLocks noChangeShapeType="1"/>
          </p:cNvSpPr>
          <p:nvPr/>
        </p:nvSpPr>
        <p:spPr bwMode="auto">
          <a:xfrm>
            <a:off x="4500563" y="1773238"/>
            <a:ext cx="0" cy="4679950"/>
          </a:xfrm>
          <a:prstGeom prst="line">
            <a:avLst/>
          </a:prstGeom>
          <a:noFill/>
          <a:ln w="9525">
            <a:solidFill>
              <a:srgbClr val="008000"/>
            </a:solidFill>
            <a:round/>
          </a:ln>
          <a:effectLst/>
        </p:spPr>
        <p:txBody>
          <a:bodyPr>
            <a:spAutoFit/>
          </a:bodyPr>
          <a:lstStyle/>
          <a:p>
            <a:endParaRPr lang="zh-CN" altLang="en-US"/>
          </a:p>
        </p:txBody>
      </p:sp>
      <p:sp>
        <p:nvSpPr>
          <p:cNvPr id="17" name="标题 16"/>
          <p:cNvSpPr>
            <a:spLocks noGrp="1"/>
          </p:cNvSpPr>
          <p:nvPr>
            <p:ph type="title"/>
          </p:nvPr>
        </p:nvSpPr>
        <p:spPr/>
        <p:txBody>
          <a:bodyPr/>
          <a:lstStyle/>
          <a:p>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52"/>
                                        </p:tgtEl>
                                        <p:attrNameLst>
                                          <p:attrName>style.visibility</p:attrName>
                                        </p:attrNameLst>
                                      </p:cBhvr>
                                      <p:to>
                                        <p:strVal val="visible"/>
                                      </p:to>
                                    </p:set>
                                    <p:animEffect transition="in" filter="fade">
                                      <p:cBhvr>
                                        <p:cTn id="7" dur="500"/>
                                        <p:tgtEl>
                                          <p:spTgt spid="102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53"/>
                                        </p:tgtEl>
                                        <p:attrNameLst>
                                          <p:attrName>style.visibility</p:attrName>
                                        </p:attrNameLst>
                                      </p:cBhvr>
                                      <p:to>
                                        <p:strVal val="visible"/>
                                      </p:to>
                                    </p:set>
                                    <p:animEffect transition="in" filter="fade">
                                      <p:cBhvr>
                                        <p:cTn id="10" dur="500"/>
                                        <p:tgtEl>
                                          <p:spTgt spid="10253"/>
                                        </p:tgtEl>
                                      </p:cBhvr>
                                    </p:animEffect>
                                  </p:childTnLst>
                                </p:cTn>
                              </p:par>
                              <p:par>
                                <p:cTn id="11" presetID="10" presetClass="entr" presetSubtype="0" fill="hold" nodeType="withEffect">
                                  <p:stCondLst>
                                    <p:cond delay="0"/>
                                  </p:stCondLst>
                                  <p:childTnLst>
                                    <p:set>
                                      <p:cBhvr>
                                        <p:cTn id="12" dur="1" fill="hold">
                                          <p:stCondLst>
                                            <p:cond delay="0"/>
                                          </p:stCondLst>
                                        </p:cTn>
                                        <p:tgtEl>
                                          <p:spTgt spid="10254"/>
                                        </p:tgtEl>
                                        <p:attrNameLst>
                                          <p:attrName>style.visibility</p:attrName>
                                        </p:attrNameLst>
                                      </p:cBhvr>
                                      <p:to>
                                        <p:strVal val="visible"/>
                                      </p:to>
                                    </p:set>
                                    <p:animEffect transition="in" filter="fade">
                                      <p:cBhvr>
                                        <p:cTn id="13" dur="500"/>
                                        <p:tgtEl>
                                          <p:spTgt spid="10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pPr>
              <a:defRPr/>
            </a:pPr>
            <a:fld id="{3AD074B8-6AC8-4797-A3E2-E89C69A4C924}" type="slidenum">
              <a:rPr lang="zh-CN" altLang="en-US"/>
            </a:fld>
            <a:endParaRPr lang="en-US" altLang="zh-CN"/>
          </a:p>
        </p:txBody>
      </p:sp>
      <p:graphicFrame>
        <p:nvGraphicFramePr>
          <p:cNvPr id="9" name="内容占位符 8"/>
          <p:cNvGraphicFramePr>
            <a:graphicFrameLocks noChangeAspect="1"/>
          </p:cNvGraphicFramePr>
          <p:nvPr>
            <p:ph idx="1"/>
          </p:nvPr>
        </p:nvGraphicFramePr>
        <p:xfrm>
          <a:off x="1120140" y="1002665"/>
          <a:ext cx="6642100" cy="4968240"/>
        </p:xfrm>
        <a:graphic>
          <a:graphicData uri="http://schemas.openxmlformats.org/presentationml/2006/ole">
            <mc:AlternateContent xmlns:mc="http://schemas.openxmlformats.org/markup-compatibility/2006">
              <mc:Choice xmlns:v="urn:schemas-microsoft-com:vml" Requires="v">
                <p:oleObj spid="_x0000_s10" name="" r:id="rId1" imgW="5362575" imgH="4276725" progId="Paint.Picture">
                  <p:embed/>
                </p:oleObj>
              </mc:Choice>
              <mc:Fallback>
                <p:oleObj name="" r:id="rId1" imgW="5362575" imgH="4276725" progId="Paint.Picture">
                  <p:embed/>
                  <p:pic>
                    <p:nvPicPr>
                      <p:cNvPr id="0" name="图片 9"/>
                      <p:cNvPicPr/>
                      <p:nvPr/>
                    </p:nvPicPr>
                    <p:blipFill>
                      <a:blip r:embed="rId2"/>
                      <a:stretch>
                        <a:fillRect/>
                      </a:stretch>
                    </p:blipFill>
                    <p:spPr>
                      <a:xfrm>
                        <a:off x="1120140" y="1002665"/>
                        <a:ext cx="6642100" cy="4968240"/>
                      </a:xfrm>
                      <a:prstGeom prst="rect">
                        <a:avLst/>
                      </a:prstGeom>
                    </p:spPr>
                  </p:pic>
                </p:oleObj>
              </mc:Fallback>
            </mc:AlternateContent>
          </a:graphicData>
        </a:graphic>
      </p:graphicFrame>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pPr>
              <a:defRPr/>
            </a:pPr>
            <a:fld id="{3AD074B8-6AC8-4797-A3E2-E89C69A4C924}" type="slidenum">
              <a:rPr lang="zh-CN" altLang="en-US"/>
            </a:fld>
            <a:endParaRPr lang="en-US" altLang="zh-CN"/>
          </a:p>
        </p:txBody>
      </p:sp>
      <p:graphicFrame>
        <p:nvGraphicFramePr>
          <p:cNvPr id="5" name="内容占位符 4"/>
          <p:cNvGraphicFramePr>
            <a:graphicFrameLocks noChangeAspect="1"/>
          </p:cNvGraphicFramePr>
          <p:nvPr>
            <p:ph idx="1"/>
          </p:nvPr>
        </p:nvGraphicFramePr>
        <p:xfrm>
          <a:off x="957580" y="1280795"/>
          <a:ext cx="7265035" cy="4382770"/>
        </p:xfrm>
        <a:graphic>
          <a:graphicData uri="http://schemas.openxmlformats.org/presentationml/2006/ole">
            <mc:AlternateContent xmlns:mc="http://schemas.openxmlformats.org/markup-compatibility/2006">
              <mc:Choice xmlns:v="urn:schemas-microsoft-com:vml" Requires="v">
                <p:oleObj spid="_x0000_s6" name="" r:id="rId1" imgW="5353050" imgH="3228975" progId="Paint.Picture">
                  <p:embed/>
                </p:oleObj>
              </mc:Choice>
              <mc:Fallback>
                <p:oleObj name="" r:id="rId1" imgW="5353050" imgH="3228975" progId="Paint.Picture">
                  <p:embed/>
                  <p:pic>
                    <p:nvPicPr>
                      <p:cNvPr id="0" name="图片 5"/>
                      <p:cNvPicPr/>
                      <p:nvPr/>
                    </p:nvPicPr>
                    <p:blipFill>
                      <a:blip r:embed="rId2"/>
                      <a:stretch>
                        <a:fillRect/>
                      </a:stretch>
                    </p:blipFill>
                    <p:spPr>
                      <a:xfrm>
                        <a:off x="957580" y="1280795"/>
                        <a:ext cx="7265035" cy="4382770"/>
                      </a:xfrm>
                      <a:prstGeom prst="rect">
                        <a:avLst/>
                      </a:prstGeom>
                    </p:spPr>
                  </p:pic>
                </p:oleObj>
              </mc:Fallback>
            </mc:AlternateContent>
          </a:graphicData>
        </a:graphic>
      </p:graphicFrame>
    </p:spTree>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23528" y="620688"/>
            <a:ext cx="8229600" cy="523875"/>
          </a:xfrm>
        </p:spPr>
        <p:txBody>
          <a:bodyPr/>
          <a:lstStyle/>
          <a:p>
            <a:pPr eaLnBrk="1" hangingPunct="1"/>
            <a:r>
              <a:rPr lang="zh-CN" altLang="en-US" sz="3600" dirty="0" smtClean="0">
                <a:solidFill>
                  <a:srgbClr val="00B0F0"/>
                </a:solidFill>
                <a:latin typeface="+mn-lt"/>
                <a:ea typeface="+mn-ea"/>
                <a:cs typeface="+mn-cs"/>
              </a:rPr>
              <a:t>四、仿真实验内容</a:t>
            </a:r>
            <a:endParaRPr lang="zh-CN" altLang="en-US" sz="3600" dirty="0" smtClean="0">
              <a:solidFill>
                <a:srgbClr val="00B0F0"/>
              </a:solidFill>
              <a:latin typeface="+mn-lt"/>
              <a:ea typeface="+mn-ea"/>
              <a:cs typeface="+mn-cs"/>
            </a:endParaRPr>
          </a:p>
        </p:txBody>
      </p:sp>
      <p:sp>
        <p:nvSpPr>
          <p:cNvPr id="12291" name="Rectangle 4"/>
          <p:cNvSpPr>
            <a:spLocks noChangeArrowheads="1"/>
          </p:cNvSpPr>
          <p:nvPr/>
        </p:nvSpPr>
        <p:spPr bwMode="auto">
          <a:xfrm>
            <a:off x="179388" y="24209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2" name="Rectangle 7"/>
          <p:cNvSpPr>
            <a:spLocks noChangeArrowheads="1"/>
          </p:cNvSpPr>
          <p:nvPr/>
        </p:nvSpPr>
        <p:spPr bwMode="auto">
          <a:xfrm>
            <a:off x="0" y="1216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3" name="Rectangle 16"/>
          <p:cNvSpPr>
            <a:spLocks noChangeArrowheads="1"/>
          </p:cNvSpPr>
          <p:nvPr/>
        </p:nvSpPr>
        <p:spPr bwMode="auto">
          <a:xfrm>
            <a:off x="0" y="1724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4" name="Rectangle 19"/>
          <p:cNvSpPr>
            <a:spLocks noChangeArrowheads="1"/>
          </p:cNvSpPr>
          <p:nvPr/>
        </p:nvSpPr>
        <p:spPr bwMode="auto">
          <a:xfrm>
            <a:off x="0" y="1885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5" name="Rectangle 22"/>
          <p:cNvSpPr>
            <a:spLocks noChangeArrowheads="1"/>
          </p:cNvSpPr>
          <p:nvPr/>
        </p:nvSpPr>
        <p:spPr bwMode="auto">
          <a:xfrm>
            <a:off x="0" y="15303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6" name="Rectangle 27"/>
          <p:cNvSpPr>
            <a:spLocks noChangeArrowheads="1"/>
          </p:cNvSpPr>
          <p:nvPr/>
        </p:nvSpPr>
        <p:spPr bwMode="auto">
          <a:xfrm>
            <a:off x="0" y="17383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7" name="Rectangle 30"/>
          <p:cNvSpPr>
            <a:spLocks noChangeArrowheads="1"/>
          </p:cNvSpPr>
          <p:nvPr/>
        </p:nvSpPr>
        <p:spPr bwMode="auto">
          <a:xfrm>
            <a:off x="0" y="17351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8" name="Rectangle 71"/>
          <p:cNvSpPr>
            <a:spLocks noChangeArrowheads="1"/>
          </p:cNvSpPr>
          <p:nvPr/>
        </p:nvSpPr>
        <p:spPr bwMode="auto">
          <a:xfrm>
            <a:off x="0" y="93027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2299" name="Rectangle 75"/>
          <p:cNvSpPr>
            <a:spLocks noChangeArrowheads="1"/>
          </p:cNvSpPr>
          <p:nvPr/>
        </p:nvSpPr>
        <p:spPr bwMode="auto">
          <a:xfrm>
            <a:off x="0" y="20780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2300" name="图片 136"/>
          <p:cNvPicPr>
            <a:picLocks noChangeAspect="1" noChangeArrowheads="1"/>
          </p:cNvPicPr>
          <p:nvPr/>
        </p:nvPicPr>
        <p:blipFill>
          <a:blip r:embed="rId1" cstate="print"/>
          <a:srcRect/>
          <a:stretch>
            <a:fillRect/>
          </a:stretch>
        </p:blipFill>
        <p:spPr bwMode="auto">
          <a:xfrm>
            <a:off x="293688" y="1770063"/>
            <a:ext cx="4636183" cy="2162993"/>
          </a:xfrm>
          <a:prstGeom prst="rect">
            <a:avLst/>
          </a:prstGeom>
          <a:noFill/>
          <a:ln w="9525">
            <a:noFill/>
            <a:miter lim="800000"/>
            <a:headEnd/>
            <a:tailEnd/>
          </a:ln>
        </p:spPr>
      </p:pic>
      <p:sp>
        <p:nvSpPr>
          <p:cNvPr id="12301" name="Rectangle 76"/>
          <p:cNvSpPr>
            <a:spLocks noChangeArrowheads="1"/>
          </p:cNvSpPr>
          <p:nvPr/>
        </p:nvSpPr>
        <p:spPr bwMode="auto">
          <a:xfrm>
            <a:off x="755650" y="4202113"/>
            <a:ext cx="2795588" cy="307975"/>
          </a:xfrm>
          <a:prstGeom prst="rect">
            <a:avLst/>
          </a:prstGeom>
          <a:noFill/>
          <a:ln w="9525" algn="ctr">
            <a:noFill/>
            <a:miter lim="800000"/>
          </a:ln>
          <a:effectLst/>
        </p:spPr>
        <p:txBody>
          <a:bodyPr wrap="none" anchor="ctr">
            <a:spAutoFit/>
          </a:bodyPr>
          <a:lstStyle/>
          <a:p>
            <a:pPr eaLnBrk="1" hangingPunct="1"/>
            <a:r>
              <a:rPr lang="zh-CN" altLang="en-US" sz="1400">
                <a:latin typeface="Times New Roman" panose="02020603050405020304" pitchFamily="18" charset="0"/>
                <a:cs typeface="Times New Roman" panose="02020603050405020304" pitchFamily="18" charset="0"/>
              </a:rPr>
              <a:t>图</a:t>
            </a:r>
            <a:r>
              <a:rPr lang="en-US" altLang="zh-CN" sz="1400">
                <a:latin typeface="Times New Roman" panose="02020603050405020304" pitchFamily="18" charset="0"/>
                <a:cs typeface="Times New Roman" panose="02020603050405020304" pitchFamily="18" charset="0"/>
              </a:rPr>
              <a:t>3-114 </a:t>
            </a:r>
            <a:r>
              <a:rPr lang="zh-CN" altLang="en-US" sz="1400">
                <a:latin typeface="Times New Roman" panose="02020603050405020304" pitchFamily="18" charset="0"/>
                <a:cs typeface="Times New Roman" panose="02020603050405020304" pitchFamily="18" charset="0"/>
              </a:rPr>
              <a:t>二阶低通滤波器仿真电路</a:t>
            </a:r>
            <a:endParaRPr lang="zh-CN" altLang="en-US" sz="1400"/>
          </a:p>
        </p:txBody>
      </p:sp>
      <p:sp>
        <p:nvSpPr>
          <p:cNvPr id="12302" name="Rectangle 78"/>
          <p:cNvSpPr>
            <a:spLocks noChangeArrowheads="1"/>
          </p:cNvSpPr>
          <p:nvPr/>
        </p:nvSpPr>
        <p:spPr bwMode="auto">
          <a:xfrm>
            <a:off x="0" y="11874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272461" name="图片 135"/>
          <p:cNvPicPr>
            <a:picLocks noChangeAspect="1" noChangeArrowheads="1"/>
          </p:cNvPicPr>
          <p:nvPr/>
        </p:nvPicPr>
        <p:blipFill>
          <a:blip r:embed="rId2" cstate="print"/>
          <a:srcRect/>
          <a:stretch>
            <a:fillRect/>
          </a:stretch>
        </p:blipFill>
        <p:spPr bwMode="auto">
          <a:xfrm>
            <a:off x="5076056" y="2852936"/>
            <a:ext cx="3376065" cy="2717031"/>
          </a:xfrm>
          <a:prstGeom prst="rect">
            <a:avLst/>
          </a:prstGeom>
          <a:noFill/>
          <a:ln w="9525">
            <a:noFill/>
            <a:miter lim="800000"/>
            <a:headEnd/>
            <a:tailEnd/>
          </a:ln>
        </p:spPr>
      </p:pic>
      <p:sp>
        <p:nvSpPr>
          <p:cNvPr id="272463" name="Rectangle 79"/>
          <p:cNvSpPr>
            <a:spLocks noChangeArrowheads="1"/>
          </p:cNvSpPr>
          <p:nvPr/>
        </p:nvSpPr>
        <p:spPr bwMode="auto">
          <a:xfrm>
            <a:off x="4905375" y="5918200"/>
            <a:ext cx="3335338" cy="307975"/>
          </a:xfrm>
          <a:prstGeom prst="rect">
            <a:avLst/>
          </a:prstGeom>
          <a:noFill/>
          <a:ln w="9525" algn="ctr">
            <a:noFill/>
            <a:miter lim="800000"/>
          </a:ln>
          <a:effectLst/>
        </p:spPr>
        <p:txBody>
          <a:bodyPr wrap="none" anchor="ctr">
            <a:spAutoFit/>
          </a:bodyPr>
          <a:lstStyle/>
          <a:p>
            <a:pPr algn="ctr" eaLnBrk="1" hangingPunct="1"/>
            <a:r>
              <a:rPr lang="zh-CN" altLang="en-US" sz="1400" dirty="0">
                <a:latin typeface="Times New Roman" panose="02020603050405020304" pitchFamily="18" charset="0"/>
                <a:cs typeface="Times New Roman" panose="02020603050405020304" pitchFamily="18" charset="0"/>
              </a:rPr>
              <a:t>图</a:t>
            </a:r>
            <a:r>
              <a:rPr lang="en-US" altLang="zh-CN" sz="1400" dirty="0">
                <a:latin typeface="Times New Roman" panose="02020603050405020304" pitchFamily="18" charset="0"/>
                <a:cs typeface="Times New Roman" panose="02020603050405020304" pitchFamily="18" charset="0"/>
              </a:rPr>
              <a:t>3-115 </a:t>
            </a:r>
            <a:r>
              <a:rPr lang="zh-CN" altLang="en-US" sz="1400" dirty="0">
                <a:latin typeface="Times New Roman" panose="02020603050405020304" pitchFamily="18" charset="0"/>
                <a:cs typeface="Times New Roman" panose="02020603050405020304" pitchFamily="18" charset="0"/>
              </a:rPr>
              <a:t>二阶低通滤波器输入、输出波形</a:t>
            </a:r>
            <a:endParaRPr lang="zh-CN" altLang="en-US" sz="1400" dirty="0"/>
          </a:p>
        </p:txBody>
      </p:sp>
      <p:sp>
        <p:nvSpPr>
          <p:cNvPr id="12305" name="Rectangle 84"/>
          <p:cNvSpPr>
            <a:spLocks noChangeArrowheads="1"/>
          </p:cNvSpPr>
          <p:nvPr/>
        </p:nvSpPr>
        <p:spPr bwMode="auto">
          <a:xfrm>
            <a:off x="0" y="22161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272467" name="图片 137"/>
          <p:cNvPicPr>
            <a:picLocks noChangeAspect="1" noChangeArrowheads="1"/>
          </p:cNvPicPr>
          <p:nvPr/>
        </p:nvPicPr>
        <p:blipFill>
          <a:blip r:embed="rId3" cstate="print"/>
          <a:srcRect/>
          <a:stretch>
            <a:fillRect/>
          </a:stretch>
        </p:blipFill>
        <p:spPr bwMode="auto">
          <a:xfrm>
            <a:off x="539552" y="4653136"/>
            <a:ext cx="2968716" cy="1245121"/>
          </a:xfrm>
          <a:prstGeom prst="rect">
            <a:avLst/>
          </a:prstGeom>
          <a:noFill/>
          <a:ln w="9525">
            <a:noFill/>
            <a:miter lim="800000"/>
            <a:headEnd/>
            <a:tailEnd/>
          </a:ln>
        </p:spPr>
      </p:pic>
      <p:sp>
        <p:nvSpPr>
          <p:cNvPr id="272469" name="Rectangle 85"/>
          <p:cNvSpPr>
            <a:spLocks noChangeArrowheads="1"/>
          </p:cNvSpPr>
          <p:nvPr/>
        </p:nvSpPr>
        <p:spPr bwMode="auto">
          <a:xfrm>
            <a:off x="531813" y="6032500"/>
            <a:ext cx="3019425" cy="307975"/>
          </a:xfrm>
          <a:prstGeom prst="rect">
            <a:avLst/>
          </a:prstGeom>
          <a:noFill/>
          <a:ln w="9525" algn="ctr">
            <a:noFill/>
            <a:miter lim="800000"/>
          </a:ln>
          <a:effectLst/>
        </p:spPr>
        <p:txBody>
          <a:bodyPr wrap="none" anchor="ctr">
            <a:spAutoFit/>
          </a:bodyPr>
          <a:lstStyle/>
          <a:p>
            <a:pPr algn="ctr" eaLnBrk="1" hangingPunct="1"/>
            <a:r>
              <a:rPr lang="en-US" altLang="zh-CN" sz="1400">
                <a:latin typeface="Times New Roman" panose="02020603050405020304" pitchFamily="18" charset="0"/>
                <a:cs typeface="Times New Roman" panose="02020603050405020304" pitchFamily="18" charset="0"/>
              </a:rPr>
              <a:t> </a:t>
            </a:r>
            <a:r>
              <a:rPr lang="zh-CN" altLang="en-US" sz="1400">
                <a:latin typeface="Times New Roman" panose="02020603050405020304" pitchFamily="18" charset="0"/>
                <a:cs typeface="Times New Roman" panose="02020603050405020304" pitchFamily="18" charset="0"/>
              </a:rPr>
              <a:t>图</a:t>
            </a:r>
            <a:r>
              <a:rPr lang="en-US" altLang="zh-CN" sz="1400">
                <a:latin typeface="Times New Roman" panose="02020603050405020304" pitchFamily="18" charset="0"/>
                <a:cs typeface="Times New Roman" panose="02020603050405020304" pitchFamily="18" charset="0"/>
              </a:rPr>
              <a:t>3-116 </a:t>
            </a:r>
            <a:r>
              <a:rPr lang="zh-CN" altLang="en-US" sz="1400">
                <a:latin typeface="Times New Roman" panose="02020603050405020304" pitchFamily="18" charset="0"/>
                <a:cs typeface="Times New Roman" panose="02020603050405020304" pitchFamily="18" charset="0"/>
              </a:rPr>
              <a:t>二阶低通滤波器的幅频特性</a:t>
            </a:r>
            <a:endParaRPr lang="zh-CN" altLang="en-US" sz="1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2463"/>
                                        </p:tgtEl>
                                        <p:attrNameLst>
                                          <p:attrName>style.visibility</p:attrName>
                                        </p:attrNameLst>
                                      </p:cBhvr>
                                      <p:to>
                                        <p:strVal val="visible"/>
                                      </p:to>
                                    </p:set>
                                    <p:animEffect transition="in" filter="blinds(horizontal)">
                                      <p:cBhvr>
                                        <p:cTn id="7" dur="500"/>
                                        <p:tgtEl>
                                          <p:spTgt spid="272463"/>
                                        </p:tgtEl>
                                      </p:cBhvr>
                                    </p:animEffect>
                                  </p:childTnLst>
                                </p:cTn>
                              </p:par>
                              <p:par>
                                <p:cTn id="8" presetID="3" presetClass="entr" presetSubtype="10" fill="hold" nodeType="withEffect">
                                  <p:stCondLst>
                                    <p:cond delay="0"/>
                                  </p:stCondLst>
                                  <p:childTnLst>
                                    <p:set>
                                      <p:cBhvr>
                                        <p:cTn id="9" dur="1" fill="hold">
                                          <p:stCondLst>
                                            <p:cond delay="0"/>
                                          </p:stCondLst>
                                        </p:cTn>
                                        <p:tgtEl>
                                          <p:spTgt spid="272461"/>
                                        </p:tgtEl>
                                        <p:attrNameLst>
                                          <p:attrName>style.visibility</p:attrName>
                                        </p:attrNameLst>
                                      </p:cBhvr>
                                      <p:to>
                                        <p:strVal val="visible"/>
                                      </p:to>
                                    </p:set>
                                    <p:animEffect transition="in" filter="blinds(horizontal)">
                                      <p:cBhvr>
                                        <p:cTn id="10" dur="500"/>
                                        <p:tgtEl>
                                          <p:spTgt spid="27246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72469"/>
                                        </p:tgtEl>
                                        <p:attrNameLst>
                                          <p:attrName>style.visibility</p:attrName>
                                        </p:attrNameLst>
                                      </p:cBhvr>
                                      <p:to>
                                        <p:strVal val="visible"/>
                                      </p:to>
                                    </p:set>
                                    <p:animEffect transition="in" filter="blinds(horizontal)">
                                      <p:cBhvr>
                                        <p:cTn id="15" dur="500"/>
                                        <p:tgtEl>
                                          <p:spTgt spid="272469"/>
                                        </p:tgtEl>
                                      </p:cBhvr>
                                    </p:animEffect>
                                  </p:childTnLst>
                                </p:cTn>
                              </p:par>
                              <p:par>
                                <p:cTn id="16" presetID="3" presetClass="entr" presetSubtype="10" fill="hold" nodeType="withEffect">
                                  <p:stCondLst>
                                    <p:cond delay="0"/>
                                  </p:stCondLst>
                                  <p:childTnLst>
                                    <p:set>
                                      <p:cBhvr>
                                        <p:cTn id="17" dur="1" fill="hold">
                                          <p:stCondLst>
                                            <p:cond delay="0"/>
                                          </p:stCondLst>
                                        </p:cTn>
                                        <p:tgtEl>
                                          <p:spTgt spid="272467"/>
                                        </p:tgtEl>
                                        <p:attrNameLst>
                                          <p:attrName>style.visibility</p:attrName>
                                        </p:attrNameLst>
                                      </p:cBhvr>
                                      <p:to>
                                        <p:strVal val="visible"/>
                                      </p:to>
                                    </p:set>
                                    <p:animEffect transition="in" filter="blinds(horizontal)">
                                      <p:cBhvr>
                                        <p:cTn id="18" dur="500"/>
                                        <p:tgtEl>
                                          <p:spTgt spid="27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463" grpId="0"/>
      <p:bldP spid="272469"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pPr>
              <a:defRPr/>
            </a:pPr>
            <a:fld id="{3AD074B8-6AC8-4797-A3E2-E89C69A4C924}" type="slidenum">
              <a:rPr lang="zh-CN" altLang="en-US"/>
            </a:fld>
            <a:endParaRPr lang="en-US" altLang="zh-CN"/>
          </a:p>
        </p:txBody>
      </p:sp>
      <p:graphicFrame>
        <p:nvGraphicFramePr>
          <p:cNvPr id="5" name="内容占位符 4"/>
          <p:cNvGraphicFramePr>
            <a:graphicFrameLocks noChangeAspect="1"/>
          </p:cNvGraphicFramePr>
          <p:nvPr>
            <p:ph idx="1"/>
          </p:nvPr>
        </p:nvGraphicFramePr>
        <p:xfrm>
          <a:off x="1323975" y="1679575"/>
          <a:ext cx="6496050" cy="1476375"/>
        </p:xfrm>
        <a:graphic>
          <a:graphicData uri="http://schemas.openxmlformats.org/presentationml/2006/ole">
            <mc:AlternateContent xmlns:mc="http://schemas.openxmlformats.org/markup-compatibility/2006">
              <mc:Choice xmlns:v="urn:schemas-microsoft-com:vml" Requires="v">
                <p:oleObj spid="_x0000_s6" name="" r:id="rId1" imgW="6496050" imgH="1047750" progId="Paint.Picture">
                  <p:embed/>
                </p:oleObj>
              </mc:Choice>
              <mc:Fallback>
                <p:oleObj name="" r:id="rId1" imgW="6496050" imgH="1047750" progId="Paint.Picture">
                  <p:embed/>
                  <p:pic>
                    <p:nvPicPr>
                      <p:cNvPr id="0" name="图片 5"/>
                      <p:cNvPicPr/>
                      <p:nvPr/>
                    </p:nvPicPr>
                    <p:blipFill>
                      <a:blip r:embed="rId2"/>
                      <a:stretch>
                        <a:fillRect/>
                      </a:stretch>
                    </p:blipFill>
                    <p:spPr>
                      <a:xfrm>
                        <a:off x="1323975" y="1679575"/>
                        <a:ext cx="6496050" cy="1476375"/>
                      </a:xfrm>
                      <a:prstGeom prst="rect">
                        <a:avLst/>
                      </a:prstGeom>
                    </p:spPr>
                  </p:pic>
                </p:oleObj>
              </mc:Fallback>
            </mc:AlternateContent>
          </a:graphicData>
        </a:graphic>
      </p:graphicFrame>
      <p:sp>
        <p:nvSpPr>
          <p:cNvPr id="7" name="文本框 6"/>
          <p:cNvSpPr txBox="1"/>
          <p:nvPr/>
        </p:nvSpPr>
        <p:spPr>
          <a:xfrm>
            <a:off x="1391920" y="3571240"/>
            <a:ext cx="6341110" cy="2245360"/>
          </a:xfrm>
          <a:prstGeom prst="rect">
            <a:avLst/>
          </a:prstGeom>
          <a:noFill/>
        </p:spPr>
        <p:txBody>
          <a:bodyPr wrap="square" rtlCol="0">
            <a:spAutoFit/>
          </a:bodyPr>
          <a:p>
            <a:r>
              <a:rPr lang="en-US" altLang="zh-CN">
                <a:solidFill>
                  <a:srgbClr val="FF0000"/>
                </a:solidFill>
              </a:rPr>
              <a:t> </a:t>
            </a:r>
            <a:r>
              <a:rPr lang="zh-CN" altLang="en-US">
                <a:solidFill>
                  <a:schemeClr val="bg2">
                    <a:lumMod val="60000"/>
                    <a:lumOff val="40000"/>
                  </a:schemeClr>
                </a:solidFill>
              </a:rPr>
              <a:t>计算：</a:t>
            </a:r>
            <a:r>
              <a:rPr lang="en-US" altLang="zh-CN">
                <a:solidFill>
                  <a:schemeClr val="bg2">
                    <a:lumMod val="60000"/>
                    <a:lumOff val="40000"/>
                  </a:schemeClr>
                </a:solidFill>
                <a:sym typeface="+mn-ea"/>
              </a:rPr>
              <a:t>f</a:t>
            </a:r>
            <a:r>
              <a:rPr lang="en-US" altLang="zh-CN" baseline="-25000">
                <a:solidFill>
                  <a:schemeClr val="bg2">
                    <a:lumMod val="60000"/>
                    <a:lumOff val="40000"/>
                  </a:schemeClr>
                </a:solidFill>
                <a:uFillTx/>
                <a:sym typeface="+mn-ea"/>
              </a:rPr>
              <a:t>0</a:t>
            </a:r>
            <a:r>
              <a:rPr lang="zh-CN" altLang="en-US">
                <a:solidFill>
                  <a:schemeClr val="bg2">
                    <a:lumMod val="60000"/>
                    <a:lumOff val="40000"/>
                  </a:schemeClr>
                </a:solidFill>
                <a:sym typeface="+mn-ea"/>
              </a:rPr>
              <a:t>及</a:t>
            </a:r>
            <a:r>
              <a:rPr lang="en-US" altLang="zh-CN">
                <a:solidFill>
                  <a:schemeClr val="bg2">
                    <a:lumMod val="60000"/>
                    <a:lumOff val="40000"/>
                  </a:schemeClr>
                </a:solidFill>
                <a:sym typeface="+mn-ea"/>
              </a:rPr>
              <a:t>Q</a:t>
            </a:r>
            <a:endParaRPr lang="en-US" altLang="zh-CN" baseline="-25000">
              <a:solidFill>
                <a:srgbClr val="FF0000"/>
              </a:solidFill>
              <a:uFillTx/>
            </a:endParaRPr>
          </a:p>
          <a:p>
            <a:endParaRPr lang="zh-CN" altLang="en-US">
              <a:solidFill>
                <a:srgbClr val="FF0000"/>
              </a:solidFill>
            </a:endParaRPr>
          </a:p>
          <a:p>
            <a:r>
              <a:rPr lang="zh-CN" altLang="en-US">
                <a:solidFill>
                  <a:srgbClr val="FF0000"/>
                </a:solidFill>
              </a:rPr>
              <a:t>并对频谱仪的频谱进行截图，并说明频谱曲线进行分析</a:t>
            </a:r>
            <a:r>
              <a:rPr lang="zh-CN" altLang="en-US">
                <a:solidFill>
                  <a:srgbClr val="FF0000"/>
                </a:solidFill>
              </a:rPr>
              <a:t>。</a:t>
            </a:r>
            <a:endParaRPr lang="zh-CN" altLang="en-US">
              <a:solidFill>
                <a:srgbClr val="FF0000"/>
              </a:solidFill>
            </a:endParaRPr>
          </a:p>
          <a:p>
            <a:r>
              <a:rPr lang="en-US" altLang="zh-CN">
                <a:solidFill>
                  <a:srgbClr val="FF0000"/>
                </a:solidFill>
              </a:rPr>
              <a:t>             </a:t>
            </a:r>
            <a:endParaRPr lang="en-US" altLang="zh-CN" baseline="-25000">
              <a:solidFill>
                <a:srgbClr val="FF0000"/>
              </a:solidFill>
              <a:uFillTx/>
            </a:endParaRPr>
          </a:p>
        </p:txBody>
      </p:sp>
    </p:spTree>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3"/>
          <p:cNvSpPr>
            <a:spLocks noChangeArrowheads="1"/>
          </p:cNvSpPr>
          <p:nvPr/>
        </p:nvSpPr>
        <p:spPr bwMode="auto">
          <a:xfrm>
            <a:off x="179388" y="24209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0" name="Rectangle 6"/>
          <p:cNvSpPr>
            <a:spLocks noChangeArrowheads="1"/>
          </p:cNvSpPr>
          <p:nvPr/>
        </p:nvSpPr>
        <p:spPr bwMode="auto">
          <a:xfrm>
            <a:off x="0" y="22479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1" name="Rectangle 7"/>
          <p:cNvSpPr>
            <a:spLocks noChangeArrowheads="1"/>
          </p:cNvSpPr>
          <p:nvPr/>
        </p:nvSpPr>
        <p:spPr bwMode="auto">
          <a:xfrm>
            <a:off x="0" y="1990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2" name="Rectangle 8"/>
          <p:cNvSpPr>
            <a:spLocks noChangeArrowheads="1"/>
          </p:cNvSpPr>
          <p:nvPr/>
        </p:nvSpPr>
        <p:spPr bwMode="auto">
          <a:xfrm>
            <a:off x="0" y="1724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3" name="Rectangle 9"/>
          <p:cNvSpPr>
            <a:spLocks noChangeArrowheads="1"/>
          </p:cNvSpPr>
          <p:nvPr/>
        </p:nvSpPr>
        <p:spPr bwMode="auto">
          <a:xfrm>
            <a:off x="0" y="1885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4" name="Rectangle 10"/>
          <p:cNvSpPr>
            <a:spLocks noChangeArrowheads="1"/>
          </p:cNvSpPr>
          <p:nvPr/>
        </p:nvSpPr>
        <p:spPr bwMode="auto">
          <a:xfrm>
            <a:off x="0" y="15303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5" name="Rectangle 11"/>
          <p:cNvSpPr>
            <a:spLocks noChangeArrowheads="1"/>
          </p:cNvSpPr>
          <p:nvPr/>
        </p:nvSpPr>
        <p:spPr bwMode="auto">
          <a:xfrm>
            <a:off x="0" y="32718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6" name="Rectangle 12"/>
          <p:cNvSpPr>
            <a:spLocks noChangeArrowheads="1"/>
          </p:cNvSpPr>
          <p:nvPr/>
        </p:nvSpPr>
        <p:spPr bwMode="auto">
          <a:xfrm>
            <a:off x="0" y="17383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7" name="Rectangle 13"/>
          <p:cNvSpPr>
            <a:spLocks noChangeArrowheads="1"/>
          </p:cNvSpPr>
          <p:nvPr/>
        </p:nvSpPr>
        <p:spPr bwMode="auto">
          <a:xfrm>
            <a:off x="0" y="17351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8" name="Rectangle 15"/>
          <p:cNvSpPr>
            <a:spLocks noChangeArrowheads="1"/>
          </p:cNvSpPr>
          <p:nvPr/>
        </p:nvSpPr>
        <p:spPr bwMode="auto">
          <a:xfrm>
            <a:off x="0" y="21304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49" name="Rectangle 16"/>
          <p:cNvSpPr>
            <a:spLocks noChangeArrowheads="1"/>
          </p:cNvSpPr>
          <p:nvPr/>
        </p:nvSpPr>
        <p:spPr bwMode="auto">
          <a:xfrm>
            <a:off x="0" y="23066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0" name="Rectangle 17"/>
          <p:cNvSpPr>
            <a:spLocks noChangeArrowheads="1"/>
          </p:cNvSpPr>
          <p:nvPr/>
        </p:nvSpPr>
        <p:spPr bwMode="auto">
          <a:xfrm>
            <a:off x="0" y="23066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1" name="Rectangle 18"/>
          <p:cNvSpPr>
            <a:spLocks noChangeArrowheads="1"/>
          </p:cNvSpPr>
          <p:nvPr/>
        </p:nvSpPr>
        <p:spPr bwMode="auto">
          <a:xfrm>
            <a:off x="0" y="20970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2" name="Rectangle 23"/>
          <p:cNvSpPr>
            <a:spLocks noChangeArrowheads="1"/>
          </p:cNvSpPr>
          <p:nvPr/>
        </p:nvSpPr>
        <p:spPr bwMode="auto">
          <a:xfrm>
            <a:off x="0" y="2495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3" name="Rectangle 35"/>
          <p:cNvSpPr>
            <a:spLocks noChangeArrowheads="1"/>
          </p:cNvSpPr>
          <p:nvPr/>
        </p:nvSpPr>
        <p:spPr bwMode="auto">
          <a:xfrm>
            <a:off x="0" y="35893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4" name="Rectangle 36"/>
          <p:cNvSpPr>
            <a:spLocks noChangeArrowheads="1"/>
          </p:cNvSpPr>
          <p:nvPr/>
        </p:nvSpPr>
        <p:spPr bwMode="auto">
          <a:xfrm>
            <a:off x="0" y="3751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5" name="Rectangle 42"/>
          <p:cNvSpPr>
            <a:spLocks noChangeArrowheads="1"/>
          </p:cNvSpPr>
          <p:nvPr/>
        </p:nvSpPr>
        <p:spPr bwMode="auto">
          <a:xfrm>
            <a:off x="0" y="5349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56" name="Rectangle 46"/>
          <p:cNvSpPr>
            <a:spLocks noChangeArrowheads="1"/>
          </p:cNvSpPr>
          <p:nvPr/>
        </p:nvSpPr>
        <p:spPr bwMode="auto">
          <a:xfrm>
            <a:off x="0" y="20780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4357" name="图片 137"/>
          <p:cNvPicPr>
            <a:picLocks noChangeAspect="1" noChangeArrowheads="1"/>
          </p:cNvPicPr>
          <p:nvPr/>
        </p:nvPicPr>
        <p:blipFill>
          <a:blip r:embed="rId1" cstate="print"/>
          <a:srcRect/>
          <a:stretch>
            <a:fillRect/>
          </a:stretch>
        </p:blipFill>
        <p:spPr bwMode="auto">
          <a:xfrm>
            <a:off x="395288" y="1817688"/>
            <a:ext cx="7507287" cy="3503612"/>
          </a:xfrm>
          <a:prstGeom prst="rect">
            <a:avLst/>
          </a:prstGeom>
          <a:noFill/>
          <a:ln w="9525">
            <a:noFill/>
            <a:miter lim="800000"/>
            <a:headEnd/>
            <a:tailEnd/>
          </a:ln>
        </p:spPr>
      </p:pic>
      <p:sp>
        <p:nvSpPr>
          <p:cNvPr id="293935" name="Rectangle 47"/>
          <p:cNvSpPr>
            <a:spLocks noChangeArrowheads="1"/>
          </p:cNvSpPr>
          <p:nvPr/>
        </p:nvSpPr>
        <p:spPr bwMode="auto">
          <a:xfrm>
            <a:off x="1692275" y="5510213"/>
            <a:ext cx="5497513" cy="522287"/>
          </a:xfrm>
          <a:prstGeom prst="rect">
            <a:avLst/>
          </a:prstGeom>
          <a:noFill/>
          <a:ln w="9525" algn="ctr">
            <a:noFill/>
            <a:miter lim="800000"/>
          </a:ln>
          <a:effectLst/>
        </p:spPr>
        <p:txBody>
          <a:bodyPr wrap="none" anchor="ctr">
            <a:spAutoFit/>
          </a:bodyPr>
          <a:lstStyle/>
          <a:p>
            <a:pPr eaLnBrk="1" hangingPunct="1"/>
            <a:r>
              <a:rPr lang="zh-CN" altLang="en-US" sz="2800">
                <a:latin typeface="Times New Roman" panose="02020603050405020304" pitchFamily="18" charset="0"/>
                <a:cs typeface="Times New Roman" panose="02020603050405020304" pitchFamily="18" charset="0"/>
              </a:rPr>
              <a:t>图</a:t>
            </a:r>
            <a:r>
              <a:rPr lang="en-US" altLang="zh-CN" sz="2800">
                <a:latin typeface="Times New Roman" panose="02020603050405020304" pitchFamily="18" charset="0"/>
                <a:cs typeface="Times New Roman" panose="02020603050405020304" pitchFamily="18" charset="0"/>
              </a:rPr>
              <a:t>3-118 </a:t>
            </a:r>
            <a:r>
              <a:rPr lang="zh-CN" altLang="en-US" sz="2800">
                <a:latin typeface="Times New Roman" panose="02020603050405020304" pitchFamily="18" charset="0"/>
                <a:cs typeface="Times New Roman" panose="02020603050405020304" pitchFamily="18" charset="0"/>
              </a:rPr>
              <a:t>二阶高通滤波器仿真电路</a:t>
            </a:r>
            <a:endParaRPr lang="zh-CN" altLang="en-US" sz="2800"/>
          </a:p>
        </p:txBody>
      </p:sp>
      <p:sp>
        <p:nvSpPr>
          <p:cNvPr id="14359" name="Rectangle 49"/>
          <p:cNvSpPr>
            <a:spLocks noChangeArrowheads="1"/>
          </p:cNvSpPr>
          <p:nvPr/>
        </p:nvSpPr>
        <p:spPr bwMode="auto">
          <a:xfrm>
            <a:off x="0" y="20304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4360" name="Rectangle 52"/>
          <p:cNvSpPr>
            <a:spLocks noChangeArrowheads="1"/>
          </p:cNvSpPr>
          <p:nvPr/>
        </p:nvSpPr>
        <p:spPr bwMode="auto">
          <a:xfrm>
            <a:off x="0" y="1978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Tree>
  </p:cSld>
  <p:clrMapOvr>
    <a:masterClrMapping/>
  </p:clrMapOvr>
  <p:transition/>
  <p:timing>
    <p:tnLst>
      <p:par>
        <p:cTn id="1" dur="indefinite" restart="never" nodeType="tmRoot"/>
      </p:par>
    </p:tnLst>
    <p:bldLst>
      <p:bldP spid="29393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pPr>
              <a:defRPr/>
            </a:pPr>
            <a:fld id="{3AD074B8-6AC8-4797-A3E2-E89C69A4C924}" type="slidenum">
              <a:rPr lang="zh-CN" altLang="en-US"/>
            </a:fld>
            <a:endParaRPr lang="en-US" altLang="zh-CN"/>
          </a:p>
        </p:txBody>
      </p:sp>
      <p:graphicFrame>
        <p:nvGraphicFramePr>
          <p:cNvPr id="5" name="内容占位符 4"/>
          <p:cNvGraphicFramePr>
            <a:graphicFrameLocks noChangeAspect="1"/>
          </p:cNvGraphicFramePr>
          <p:nvPr>
            <p:ph idx="1"/>
          </p:nvPr>
        </p:nvGraphicFramePr>
        <p:xfrm>
          <a:off x="1295400" y="1733550"/>
          <a:ext cx="6553200" cy="1556385"/>
        </p:xfrm>
        <a:graphic>
          <a:graphicData uri="http://schemas.openxmlformats.org/presentationml/2006/ole">
            <mc:AlternateContent xmlns:mc="http://schemas.openxmlformats.org/markup-compatibility/2006">
              <mc:Choice xmlns:v="urn:schemas-microsoft-com:vml" Requires="v">
                <p:oleObj spid="_x0000_s6" name="" r:id="rId1" imgW="6553200" imgH="1200150" progId="Paint.Picture">
                  <p:embed/>
                </p:oleObj>
              </mc:Choice>
              <mc:Fallback>
                <p:oleObj name="" r:id="rId1" imgW="6553200" imgH="1200150" progId="Paint.Picture">
                  <p:embed/>
                  <p:pic>
                    <p:nvPicPr>
                      <p:cNvPr id="0" name="图片 5"/>
                      <p:cNvPicPr/>
                      <p:nvPr/>
                    </p:nvPicPr>
                    <p:blipFill>
                      <a:blip r:embed="rId2"/>
                      <a:stretch>
                        <a:fillRect/>
                      </a:stretch>
                    </p:blipFill>
                    <p:spPr>
                      <a:xfrm>
                        <a:off x="1295400" y="1733550"/>
                        <a:ext cx="6553200" cy="1556385"/>
                      </a:xfrm>
                      <a:prstGeom prst="rect">
                        <a:avLst/>
                      </a:prstGeom>
                    </p:spPr>
                  </p:pic>
                </p:oleObj>
              </mc:Fallback>
            </mc:AlternateContent>
          </a:graphicData>
        </a:graphic>
      </p:graphicFrame>
      <p:sp>
        <p:nvSpPr>
          <p:cNvPr id="7" name="文本框 6"/>
          <p:cNvSpPr txBox="1"/>
          <p:nvPr/>
        </p:nvSpPr>
        <p:spPr>
          <a:xfrm>
            <a:off x="1391920" y="3571240"/>
            <a:ext cx="6341110" cy="1383665"/>
          </a:xfrm>
          <a:prstGeom prst="rect">
            <a:avLst/>
          </a:prstGeom>
          <a:noFill/>
        </p:spPr>
        <p:txBody>
          <a:bodyPr wrap="square" rtlCol="0">
            <a:spAutoFit/>
          </a:bodyPr>
          <a:p>
            <a:r>
              <a:rPr lang="zh-CN" altLang="en-US">
                <a:solidFill>
                  <a:schemeClr val="bg2">
                    <a:lumMod val="60000"/>
                    <a:lumOff val="40000"/>
                  </a:schemeClr>
                </a:solidFill>
                <a:sym typeface="+mn-ea"/>
              </a:rPr>
              <a:t>计算：</a:t>
            </a:r>
            <a:r>
              <a:rPr lang="en-US" altLang="zh-CN">
                <a:solidFill>
                  <a:schemeClr val="bg2">
                    <a:lumMod val="60000"/>
                    <a:lumOff val="40000"/>
                  </a:schemeClr>
                </a:solidFill>
                <a:sym typeface="+mn-ea"/>
              </a:rPr>
              <a:t>f</a:t>
            </a:r>
            <a:r>
              <a:rPr lang="en-US" altLang="zh-CN" baseline="-25000">
                <a:solidFill>
                  <a:schemeClr val="bg2">
                    <a:lumMod val="60000"/>
                    <a:lumOff val="40000"/>
                  </a:schemeClr>
                </a:solidFill>
                <a:uFillTx/>
                <a:sym typeface="+mn-ea"/>
              </a:rPr>
              <a:t>0</a:t>
            </a:r>
            <a:r>
              <a:rPr lang="zh-CN" altLang="en-US">
                <a:solidFill>
                  <a:schemeClr val="bg2">
                    <a:lumMod val="60000"/>
                    <a:lumOff val="40000"/>
                  </a:schemeClr>
                </a:solidFill>
                <a:sym typeface="+mn-ea"/>
              </a:rPr>
              <a:t>及</a:t>
            </a:r>
            <a:r>
              <a:rPr lang="en-US" altLang="zh-CN">
                <a:solidFill>
                  <a:schemeClr val="bg2">
                    <a:lumMod val="60000"/>
                    <a:lumOff val="40000"/>
                  </a:schemeClr>
                </a:solidFill>
                <a:sym typeface="+mn-ea"/>
              </a:rPr>
              <a:t>Q</a:t>
            </a:r>
            <a:endParaRPr lang="en-US" altLang="zh-CN">
              <a:solidFill>
                <a:schemeClr val="bg2">
                  <a:lumMod val="60000"/>
                  <a:lumOff val="40000"/>
                </a:schemeClr>
              </a:solidFill>
              <a:sym typeface="+mn-ea"/>
            </a:endParaRPr>
          </a:p>
          <a:p>
            <a:r>
              <a:rPr lang="zh-CN" altLang="en-US">
                <a:solidFill>
                  <a:srgbClr val="FF0000"/>
                </a:solidFill>
              </a:rPr>
              <a:t>对频谱仪的频谱进行截图，并分析</a:t>
            </a:r>
            <a:r>
              <a:rPr lang="zh-CN" altLang="en-US">
                <a:solidFill>
                  <a:srgbClr val="FF0000"/>
                </a:solidFill>
              </a:rPr>
              <a:t>频谱曲线。</a:t>
            </a:r>
            <a:endParaRPr lang="zh-CN" altLang="en-US">
              <a:solidFill>
                <a:srgbClr val="FF0000"/>
              </a:solidFill>
            </a:endParaRPr>
          </a:p>
        </p:txBody>
      </p:sp>
    </p:spTree>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3"/>
          <p:cNvSpPr>
            <a:spLocks noChangeArrowheads="1"/>
          </p:cNvSpPr>
          <p:nvPr/>
        </p:nvSpPr>
        <p:spPr bwMode="auto">
          <a:xfrm>
            <a:off x="179388" y="24209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88" name="Rectangle 6"/>
          <p:cNvSpPr>
            <a:spLocks noChangeArrowheads="1"/>
          </p:cNvSpPr>
          <p:nvPr/>
        </p:nvSpPr>
        <p:spPr bwMode="auto">
          <a:xfrm>
            <a:off x="0" y="22479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89" name="Rectangle 7"/>
          <p:cNvSpPr>
            <a:spLocks noChangeArrowheads="1"/>
          </p:cNvSpPr>
          <p:nvPr/>
        </p:nvSpPr>
        <p:spPr bwMode="auto">
          <a:xfrm>
            <a:off x="0" y="1990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0" name="Rectangle 8"/>
          <p:cNvSpPr>
            <a:spLocks noChangeArrowheads="1"/>
          </p:cNvSpPr>
          <p:nvPr/>
        </p:nvSpPr>
        <p:spPr bwMode="auto">
          <a:xfrm>
            <a:off x="0" y="1724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1" name="Rectangle 9"/>
          <p:cNvSpPr>
            <a:spLocks noChangeArrowheads="1"/>
          </p:cNvSpPr>
          <p:nvPr/>
        </p:nvSpPr>
        <p:spPr bwMode="auto">
          <a:xfrm>
            <a:off x="0" y="1885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2" name="Rectangle 10"/>
          <p:cNvSpPr>
            <a:spLocks noChangeArrowheads="1"/>
          </p:cNvSpPr>
          <p:nvPr/>
        </p:nvSpPr>
        <p:spPr bwMode="auto">
          <a:xfrm>
            <a:off x="0" y="15303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3" name="Rectangle 11"/>
          <p:cNvSpPr>
            <a:spLocks noChangeArrowheads="1"/>
          </p:cNvSpPr>
          <p:nvPr/>
        </p:nvSpPr>
        <p:spPr bwMode="auto">
          <a:xfrm>
            <a:off x="0" y="32718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4" name="Rectangle 12"/>
          <p:cNvSpPr>
            <a:spLocks noChangeArrowheads="1"/>
          </p:cNvSpPr>
          <p:nvPr/>
        </p:nvSpPr>
        <p:spPr bwMode="auto">
          <a:xfrm>
            <a:off x="0" y="17383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5" name="Rectangle 13"/>
          <p:cNvSpPr>
            <a:spLocks noChangeArrowheads="1"/>
          </p:cNvSpPr>
          <p:nvPr/>
        </p:nvSpPr>
        <p:spPr bwMode="auto">
          <a:xfrm>
            <a:off x="0" y="17351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6" name="Rectangle 15"/>
          <p:cNvSpPr>
            <a:spLocks noChangeArrowheads="1"/>
          </p:cNvSpPr>
          <p:nvPr/>
        </p:nvSpPr>
        <p:spPr bwMode="auto">
          <a:xfrm>
            <a:off x="0" y="21304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7" name="Rectangle 16"/>
          <p:cNvSpPr>
            <a:spLocks noChangeArrowheads="1"/>
          </p:cNvSpPr>
          <p:nvPr/>
        </p:nvSpPr>
        <p:spPr bwMode="auto">
          <a:xfrm>
            <a:off x="0" y="23066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8" name="Rectangle 17"/>
          <p:cNvSpPr>
            <a:spLocks noChangeArrowheads="1"/>
          </p:cNvSpPr>
          <p:nvPr/>
        </p:nvSpPr>
        <p:spPr bwMode="auto">
          <a:xfrm>
            <a:off x="0" y="23066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399" name="Rectangle 18"/>
          <p:cNvSpPr>
            <a:spLocks noChangeArrowheads="1"/>
          </p:cNvSpPr>
          <p:nvPr/>
        </p:nvSpPr>
        <p:spPr bwMode="auto">
          <a:xfrm>
            <a:off x="0" y="20970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0" name="Rectangle 23"/>
          <p:cNvSpPr>
            <a:spLocks noChangeArrowheads="1"/>
          </p:cNvSpPr>
          <p:nvPr/>
        </p:nvSpPr>
        <p:spPr bwMode="auto">
          <a:xfrm>
            <a:off x="0" y="2495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1" name="Rectangle 35"/>
          <p:cNvSpPr>
            <a:spLocks noChangeArrowheads="1"/>
          </p:cNvSpPr>
          <p:nvPr/>
        </p:nvSpPr>
        <p:spPr bwMode="auto">
          <a:xfrm>
            <a:off x="0" y="35893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2" name="Rectangle 36"/>
          <p:cNvSpPr>
            <a:spLocks noChangeArrowheads="1"/>
          </p:cNvSpPr>
          <p:nvPr/>
        </p:nvSpPr>
        <p:spPr bwMode="auto">
          <a:xfrm>
            <a:off x="0" y="3751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3" name="Rectangle 42"/>
          <p:cNvSpPr>
            <a:spLocks noChangeArrowheads="1"/>
          </p:cNvSpPr>
          <p:nvPr/>
        </p:nvSpPr>
        <p:spPr bwMode="auto">
          <a:xfrm>
            <a:off x="0" y="5349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4" name="Rectangle 46"/>
          <p:cNvSpPr>
            <a:spLocks noChangeArrowheads="1"/>
          </p:cNvSpPr>
          <p:nvPr/>
        </p:nvSpPr>
        <p:spPr bwMode="auto">
          <a:xfrm>
            <a:off x="0" y="20780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6405" name="Rectangle 49"/>
          <p:cNvSpPr>
            <a:spLocks noChangeArrowheads="1"/>
          </p:cNvSpPr>
          <p:nvPr/>
        </p:nvSpPr>
        <p:spPr bwMode="auto">
          <a:xfrm>
            <a:off x="0" y="20304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6406" name="图片 138"/>
          <p:cNvPicPr>
            <a:picLocks noChangeAspect="1" noChangeArrowheads="1"/>
          </p:cNvPicPr>
          <p:nvPr/>
        </p:nvPicPr>
        <p:blipFill>
          <a:blip r:embed="rId1" cstate="print"/>
          <a:srcRect/>
          <a:stretch>
            <a:fillRect/>
          </a:stretch>
        </p:blipFill>
        <p:spPr bwMode="auto">
          <a:xfrm>
            <a:off x="611188" y="1751013"/>
            <a:ext cx="7394575" cy="3576637"/>
          </a:xfrm>
          <a:prstGeom prst="rect">
            <a:avLst/>
          </a:prstGeom>
          <a:noFill/>
          <a:ln w="9525">
            <a:noFill/>
            <a:miter lim="800000"/>
            <a:headEnd/>
            <a:tailEnd/>
          </a:ln>
        </p:spPr>
      </p:pic>
      <p:sp>
        <p:nvSpPr>
          <p:cNvPr id="293938" name="Rectangle 50"/>
          <p:cNvSpPr>
            <a:spLocks noChangeArrowheads="1"/>
          </p:cNvSpPr>
          <p:nvPr/>
        </p:nvSpPr>
        <p:spPr bwMode="auto">
          <a:xfrm>
            <a:off x="971550" y="5516563"/>
            <a:ext cx="5673725" cy="461962"/>
          </a:xfrm>
          <a:prstGeom prst="rect">
            <a:avLst/>
          </a:prstGeom>
          <a:noFill/>
          <a:ln w="9525" algn="ctr">
            <a:noFill/>
            <a:miter lim="800000"/>
          </a:ln>
          <a:effectLst/>
        </p:spPr>
        <p:txBody>
          <a:bodyPr wrap="none" anchor="ctr">
            <a:spAutoFit/>
          </a:bodyPr>
          <a:lstStyle/>
          <a:p>
            <a:pPr eaLnBrk="1" hangingPunct="1"/>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图</a:t>
            </a:r>
            <a:r>
              <a:rPr lang="en-US" altLang="zh-CN" sz="2400">
                <a:latin typeface="Times New Roman" panose="02020603050405020304" pitchFamily="18" charset="0"/>
                <a:cs typeface="Times New Roman" panose="02020603050405020304" pitchFamily="18" charset="0"/>
              </a:rPr>
              <a:t>3-122 </a:t>
            </a:r>
            <a:r>
              <a:rPr lang="zh-CN" altLang="en-US" sz="2400">
                <a:latin typeface="Times New Roman" panose="02020603050405020304" pitchFamily="18" charset="0"/>
                <a:cs typeface="Times New Roman" panose="02020603050405020304" pitchFamily="18" charset="0"/>
              </a:rPr>
              <a:t>二阶带通滤波器仿真电路</a:t>
            </a:r>
            <a:endParaRPr lang="zh-CN" altLang="en-US" sz="2400"/>
          </a:p>
        </p:txBody>
      </p:sp>
      <p:sp>
        <p:nvSpPr>
          <p:cNvPr id="16408" name="Rectangle 52"/>
          <p:cNvSpPr>
            <a:spLocks noChangeArrowheads="1"/>
          </p:cNvSpPr>
          <p:nvPr/>
        </p:nvSpPr>
        <p:spPr bwMode="auto">
          <a:xfrm>
            <a:off x="0" y="1978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Tree>
  </p:cSld>
  <p:clrMapOvr>
    <a:masterClrMapping/>
  </p:clrMapOvr>
  <p:transition/>
  <p:timing>
    <p:tnLst>
      <p:par>
        <p:cTn id="1" dur="indefinite" restart="never" nodeType="tmRoot"/>
      </p:par>
    </p:tnLst>
    <p:bldLst>
      <p:bldP spid="293938" grpId="0"/>
      <p:bldP spid="293938" grpId="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pPr>
              <a:defRPr/>
            </a:pPr>
            <a:fld id="{3AD074B8-6AC8-4797-A3E2-E89C69A4C924}" type="slidenum">
              <a:rPr lang="zh-CN" altLang="en-US"/>
            </a:fld>
            <a:endParaRPr lang="en-US" altLang="zh-CN"/>
          </a:p>
        </p:txBody>
      </p:sp>
      <p:sp>
        <p:nvSpPr>
          <p:cNvPr id="7" name="文本框 6"/>
          <p:cNvSpPr txBox="1"/>
          <p:nvPr/>
        </p:nvSpPr>
        <p:spPr>
          <a:xfrm>
            <a:off x="1290955" y="3163570"/>
            <a:ext cx="6491605" cy="1383665"/>
          </a:xfrm>
          <a:prstGeom prst="rect">
            <a:avLst/>
          </a:prstGeom>
          <a:noFill/>
        </p:spPr>
        <p:txBody>
          <a:bodyPr wrap="square" rtlCol="0" anchor="t">
            <a:spAutoFit/>
          </a:bodyPr>
          <a:p>
            <a:r>
              <a:rPr lang="zh-CN" altLang="en-US">
                <a:solidFill>
                  <a:schemeClr val="bg2">
                    <a:lumMod val="60000"/>
                    <a:lumOff val="40000"/>
                  </a:schemeClr>
                </a:solidFill>
                <a:sym typeface="+mn-ea"/>
              </a:rPr>
              <a:t>计算：</a:t>
            </a:r>
            <a:r>
              <a:rPr lang="en-US" altLang="zh-CN">
                <a:solidFill>
                  <a:schemeClr val="bg2">
                    <a:lumMod val="60000"/>
                    <a:lumOff val="40000"/>
                  </a:schemeClr>
                </a:solidFill>
                <a:sym typeface="+mn-ea"/>
              </a:rPr>
              <a:t>f</a:t>
            </a:r>
            <a:r>
              <a:rPr lang="en-US" altLang="zh-CN" baseline="-25000">
                <a:solidFill>
                  <a:schemeClr val="bg2">
                    <a:lumMod val="60000"/>
                    <a:lumOff val="40000"/>
                  </a:schemeClr>
                </a:solidFill>
                <a:uFillTx/>
                <a:sym typeface="+mn-ea"/>
              </a:rPr>
              <a:t>0</a:t>
            </a:r>
            <a:r>
              <a:rPr lang="zh-CN" altLang="en-US" baseline="-25000">
                <a:solidFill>
                  <a:schemeClr val="bg2">
                    <a:lumMod val="60000"/>
                    <a:lumOff val="40000"/>
                  </a:schemeClr>
                </a:solidFill>
                <a:uFillTx/>
                <a:sym typeface="+mn-ea"/>
              </a:rPr>
              <a:t>、</a:t>
            </a:r>
            <a:r>
              <a:rPr lang="en-US" altLang="zh-CN">
                <a:solidFill>
                  <a:schemeClr val="bg2">
                    <a:lumMod val="60000"/>
                    <a:lumOff val="40000"/>
                  </a:schemeClr>
                </a:solidFill>
                <a:sym typeface="+mn-ea"/>
              </a:rPr>
              <a:t>Q</a:t>
            </a:r>
            <a:r>
              <a:rPr lang="zh-CN" altLang="en-US">
                <a:solidFill>
                  <a:schemeClr val="bg2">
                    <a:lumMod val="60000"/>
                    <a:lumOff val="40000"/>
                  </a:schemeClr>
                </a:solidFill>
                <a:sym typeface="+mn-ea"/>
              </a:rPr>
              <a:t>、通带</a:t>
            </a:r>
            <a:r>
              <a:rPr lang="zh-CN" altLang="en-US">
                <a:solidFill>
                  <a:schemeClr val="bg2">
                    <a:lumMod val="60000"/>
                    <a:lumOff val="40000"/>
                  </a:schemeClr>
                </a:solidFill>
                <a:sym typeface="+mn-ea"/>
              </a:rPr>
              <a:t>带宽</a:t>
            </a:r>
            <a:r>
              <a:rPr lang="en-US" altLang="zh-CN">
                <a:solidFill>
                  <a:schemeClr val="bg2">
                    <a:lumMod val="60000"/>
                    <a:lumOff val="40000"/>
                  </a:schemeClr>
                </a:solidFill>
                <a:sym typeface="+mn-ea"/>
              </a:rPr>
              <a:t>B</a:t>
            </a:r>
            <a:endParaRPr lang="en-US" altLang="zh-CN">
              <a:solidFill>
                <a:schemeClr val="bg2">
                  <a:lumMod val="60000"/>
                  <a:lumOff val="40000"/>
                </a:schemeClr>
              </a:solidFill>
              <a:sym typeface="+mn-ea"/>
            </a:endParaRPr>
          </a:p>
          <a:p>
            <a:r>
              <a:rPr lang="zh-CN" altLang="en-US">
                <a:solidFill>
                  <a:srgbClr val="FF0000"/>
                </a:solidFill>
                <a:sym typeface="+mn-ea"/>
              </a:rPr>
              <a:t>对频谱仪的频谱进行截图，并分析频谱曲线。</a:t>
            </a:r>
            <a:endParaRPr lang="zh-CN" altLang="en-US"/>
          </a:p>
        </p:txBody>
      </p:sp>
      <p:graphicFrame>
        <p:nvGraphicFramePr>
          <p:cNvPr id="12" name="内容占位符 11"/>
          <p:cNvGraphicFramePr>
            <a:graphicFrameLocks noChangeAspect="1"/>
          </p:cNvGraphicFramePr>
          <p:nvPr>
            <p:ph idx="1"/>
          </p:nvPr>
        </p:nvGraphicFramePr>
        <p:xfrm>
          <a:off x="1290955" y="1151890"/>
          <a:ext cx="6572250" cy="1428750"/>
        </p:xfrm>
        <a:graphic>
          <a:graphicData uri="http://schemas.openxmlformats.org/presentationml/2006/ole">
            <mc:AlternateContent xmlns:mc="http://schemas.openxmlformats.org/markup-compatibility/2006">
              <mc:Choice xmlns:v="urn:schemas-microsoft-com:vml" Requires="v">
                <p:oleObj spid="_x0000_s13" name="" r:id="rId1" imgW="6572250" imgH="1428750" progId="Paint.Picture">
                  <p:embed/>
                </p:oleObj>
              </mc:Choice>
              <mc:Fallback>
                <p:oleObj name="" r:id="rId1" imgW="6572250" imgH="1428750" progId="Paint.Picture">
                  <p:embed/>
                  <p:pic>
                    <p:nvPicPr>
                      <p:cNvPr id="0" name="图片 12"/>
                      <p:cNvPicPr/>
                      <p:nvPr/>
                    </p:nvPicPr>
                    <p:blipFill>
                      <a:blip r:embed="rId2"/>
                      <a:stretch>
                        <a:fillRect/>
                      </a:stretch>
                    </p:blipFill>
                    <p:spPr>
                      <a:xfrm>
                        <a:off x="1290955" y="1151890"/>
                        <a:ext cx="6572250" cy="1428750"/>
                      </a:xfrm>
                      <a:prstGeom prst="rect">
                        <a:avLst/>
                      </a:prstGeom>
                    </p:spPr>
                  </p:pic>
                </p:oleObj>
              </mc:Fallback>
            </mc:AlternateContent>
          </a:graphicData>
        </a:graphic>
      </p:graphicFrame>
    </p:spTree>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179388" y="24209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36" name="Rectangle 6"/>
          <p:cNvSpPr>
            <a:spLocks noChangeArrowheads="1"/>
          </p:cNvSpPr>
          <p:nvPr/>
        </p:nvSpPr>
        <p:spPr bwMode="auto">
          <a:xfrm>
            <a:off x="0" y="224790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37" name="Rectangle 7"/>
          <p:cNvSpPr>
            <a:spLocks noChangeArrowheads="1"/>
          </p:cNvSpPr>
          <p:nvPr/>
        </p:nvSpPr>
        <p:spPr bwMode="auto">
          <a:xfrm>
            <a:off x="0" y="19907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38" name="Rectangle 8"/>
          <p:cNvSpPr>
            <a:spLocks noChangeArrowheads="1"/>
          </p:cNvSpPr>
          <p:nvPr/>
        </p:nvSpPr>
        <p:spPr bwMode="auto">
          <a:xfrm>
            <a:off x="0" y="1724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39" name="Rectangle 9"/>
          <p:cNvSpPr>
            <a:spLocks noChangeArrowheads="1"/>
          </p:cNvSpPr>
          <p:nvPr/>
        </p:nvSpPr>
        <p:spPr bwMode="auto">
          <a:xfrm>
            <a:off x="0" y="18859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0" name="Rectangle 10"/>
          <p:cNvSpPr>
            <a:spLocks noChangeArrowheads="1"/>
          </p:cNvSpPr>
          <p:nvPr/>
        </p:nvSpPr>
        <p:spPr bwMode="auto">
          <a:xfrm>
            <a:off x="0" y="15303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1" name="Rectangle 11"/>
          <p:cNvSpPr>
            <a:spLocks noChangeArrowheads="1"/>
          </p:cNvSpPr>
          <p:nvPr/>
        </p:nvSpPr>
        <p:spPr bwMode="auto">
          <a:xfrm>
            <a:off x="0" y="32718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2" name="Rectangle 12"/>
          <p:cNvSpPr>
            <a:spLocks noChangeArrowheads="1"/>
          </p:cNvSpPr>
          <p:nvPr/>
        </p:nvSpPr>
        <p:spPr bwMode="auto">
          <a:xfrm>
            <a:off x="0" y="17383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3" name="Rectangle 13"/>
          <p:cNvSpPr>
            <a:spLocks noChangeArrowheads="1"/>
          </p:cNvSpPr>
          <p:nvPr/>
        </p:nvSpPr>
        <p:spPr bwMode="auto">
          <a:xfrm>
            <a:off x="0" y="17351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4" name="Rectangle 15"/>
          <p:cNvSpPr>
            <a:spLocks noChangeArrowheads="1"/>
          </p:cNvSpPr>
          <p:nvPr/>
        </p:nvSpPr>
        <p:spPr bwMode="auto">
          <a:xfrm>
            <a:off x="0" y="21304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5" name="Rectangle 16"/>
          <p:cNvSpPr>
            <a:spLocks noChangeArrowheads="1"/>
          </p:cNvSpPr>
          <p:nvPr/>
        </p:nvSpPr>
        <p:spPr bwMode="auto">
          <a:xfrm>
            <a:off x="0" y="23066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6" name="Rectangle 17"/>
          <p:cNvSpPr>
            <a:spLocks noChangeArrowheads="1"/>
          </p:cNvSpPr>
          <p:nvPr/>
        </p:nvSpPr>
        <p:spPr bwMode="auto">
          <a:xfrm>
            <a:off x="0" y="23066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7" name="Rectangle 18"/>
          <p:cNvSpPr>
            <a:spLocks noChangeArrowheads="1"/>
          </p:cNvSpPr>
          <p:nvPr/>
        </p:nvSpPr>
        <p:spPr bwMode="auto">
          <a:xfrm>
            <a:off x="0" y="20970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8" name="Rectangle 23"/>
          <p:cNvSpPr>
            <a:spLocks noChangeArrowheads="1"/>
          </p:cNvSpPr>
          <p:nvPr/>
        </p:nvSpPr>
        <p:spPr bwMode="auto">
          <a:xfrm>
            <a:off x="0" y="2495550"/>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49" name="Rectangle 35"/>
          <p:cNvSpPr>
            <a:spLocks noChangeArrowheads="1"/>
          </p:cNvSpPr>
          <p:nvPr/>
        </p:nvSpPr>
        <p:spPr bwMode="auto">
          <a:xfrm>
            <a:off x="0" y="35893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50" name="Rectangle 36"/>
          <p:cNvSpPr>
            <a:spLocks noChangeArrowheads="1"/>
          </p:cNvSpPr>
          <p:nvPr/>
        </p:nvSpPr>
        <p:spPr bwMode="auto">
          <a:xfrm>
            <a:off x="0" y="375126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51" name="Rectangle 42"/>
          <p:cNvSpPr>
            <a:spLocks noChangeArrowheads="1"/>
          </p:cNvSpPr>
          <p:nvPr/>
        </p:nvSpPr>
        <p:spPr bwMode="auto">
          <a:xfrm>
            <a:off x="0" y="53498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52" name="Rectangle 46"/>
          <p:cNvSpPr>
            <a:spLocks noChangeArrowheads="1"/>
          </p:cNvSpPr>
          <p:nvPr/>
        </p:nvSpPr>
        <p:spPr bwMode="auto">
          <a:xfrm>
            <a:off x="0" y="2078038"/>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53" name="Rectangle 49"/>
          <p:cNvSpPr>
            <a:spLocks noChangeArrowheads="1"/>
          </p:cNvSpPr>
          <p:nvPr/>
        </p:nvSpPr>
        <p:spPr bwMode="auto">
          <a:xfrm>
            <a:off x="0" y="2030413"/>
            <a:ext cx="9144000" cy="0"/>
          </a:xfrm>
          <a:prstGeom prst="rect">
            <a:avLst/>
          </a:prstGeom>
          <a:noFill/>
          <a:ln w="9525" algn="ctr">
            <a:noFill/>
            <a:miter lim="800000"/>
          </a:ln>
          <a:effectLst/>
        </p:spPr>
        <p:txBody>
          <a:bodyPr wrap="none" anchor="ctr">
            <a:spAutoFit/>
          </a:bodyPr>
          <a:lstStyle/>
          <a:p>
            <a:pPr eaLnBrk="1" hangingPunct="1"/>
            <a:endParaRPr lang="zh-CN" altLang="en-US"/>
          </a:p>
        </p:txBody>
      </p:sp>
      <p:sp>
        <p:nvSpPr>
          <p:cNvPr id="18454" name="Rectangle 52"/>
          <p:cNvSpPr>
            <a:spLocks noChangeArrowheads="1"/>
          </p:cNvSpPr>
          <p:nvPr/>
        </p:nvSpPr>
        <p:spPr bwMode="auto">
          <a:xfrm>
            <a:off x="0" y="1978025"/>
            <a:ext cx="9144000" cy="0"/>
          </a:xfrm>
          <a:prstGeom prst="rect">
            <a:avLst/>
          </a:prstGeom>
          <a:noFill/>
          <a:ln w="9525" algn="ctr">
            <a:noFill/>
            <a:miter lim="800000"/>
          </a:ln>
          <a:effectLst/>
        </p:spPr>
        <p:txBody>
          <a:bodyPr wrap="none" anchor="ctr">
            <a:spAutoFit/>
          </a:bodyPr>
          <a:lstStyle/>
          <a:p>
            <a:pPr eaLnBrk="1" hangingPunct="1"/>
            <a:endParaRPr lang="zh-CN" altLang="en-US"/>
          </a:p>
        </p:txBody>
      </p:sp>
      <p:pic>
        <p:nvPicPr>
          <p:cNvPr id="18455" name="图片 139"/>
          <p:cNvPicPr>
            <a:picLocks noChangeAspect="1" noChangeArrowheads="1"/>
          </p:cNvPicPr>
          <p:nvPr/>
        </p:nvPicPr>
        <p:blipFill>
          <a:blip r:embed="rId1" cstate="print"/>
          <a:srcRect/>
          <a:stretch>
            <a:fillRect/>
          </a:stretch>
        </p:blipFill>
        <p:spPr bwMode="auto">
          <a:xfrm>
            <a:off x="406400" y="1824038"/>
            <a:ext cx="7605713" cy="3836987"/>
          </a:xfrm>
          <a:prstGeom prst="rect">
            <a:avLst/>
          </a:prstGeom>
          <a:noFill/>
          <a:ln w="9525">
            <a:noFill/>
            <a:miter lim="800000"/>
            <a:headEnd/>
            <a:tailEnd/>
          </a:ln>
        </p:spPr>
      </p:pic>
      <p:sp>
        <p:nvSpPr>
          <p:cNvPr id="293941" name="Rectangle 53"/>
          <p:cNvSpPr>
            <a:spLocks noChangeArrowheads="1"/>
          </p:cNvSpPr>
          <p:nvPr/>
        </p:nvSpPr>
        <p:spPr bwMode="auto">
          <a:xfrm>
            <a:off x="1131888" y="5443538"/>
            <a:ext cx="5673725" cy="461962"/>
          </a:xfrm>
          <a:prstGeom prst="rect">
            <a:avLst/>
          </a:prstGeom>
          <a:noFill/>
          <a:ln w="9525" algn="ctr">
            <a:noFill/>
            <a:miter lim="800000"/>
          </a:ln>
          <a:effectLst/>
        </p:spPr>
        <p:txBody>
          <a:bodyPr wrap="none" anchor="ctr">
            <a:spAutoFit/>
          </a:bodyPr>
          <a:lstStyle/>
          <a:p>
            <a:pPr eaLnBrk="1" hangingPunct="1"/>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图</a:t>
            </a:r>
            <a:r>
              <a:rPr lang="en-US" altLang="zh-CN" sz="2400">
                <a:latin typeface="Times New Roman" panose="02020603050405020304" pitchFamily="18" charset="0"/>
                <a:cs typeface="Times New Roman" panose="02020603050405020304" pitchFamily="18" charset="0"/>
              </a:rPr>
              <a:t>3-125 </a:t>
            </a:r>
            <a:r>
              <a:rPr lang="zh-CN" altLang="en-US" sz="2400">
                <a:latin typeface="Times New Roman" panose="02020603050405020304" pitchFamily="18" charset="0"/>
                <a:cs typeface="Times New Roman" panose="02020603050405020304" pitchFamily="18" charset="0"/>
              </a:rPr>
              <a:t>二阶带阻滤波器仿真电路</a:t>
            </a:r>
            <a:endParaRPr lang="zh-CN" altLang="en-US" sz="2400"/>
          </a:p>
        </p:txBody>
      </p:sp>
    </p:spTree>
  </p:cSld>
  <p:clrMapOvr>
    <a:masterClrMapping/>
  </p:clrMapOvr>
  <p:transition/>
  <p:timing>
    <p:tnLst>
      <p:par>
        <p:cTn id="1" dur="indefinite" restart="never" nodeType="tmRoot"/>
      </p:par>
    </p:tnLst>
    <p:bldLst>
      <p:bldP spid="293941"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pPr>
              <a:defRPr/>
            </a:pPr>
            <a:fld id="{3AD074B8-6AC8-4797-A3E2-E89C69A4C924}" type="slidenum">
              <a:rPr lang="zh-CN" altLang="en-US"/>
            </a:fld>
            <a:endParaRPr lang="en-US" altLang="zh-CN"/>
          </a:p>
        </p:txBody>
      </p:sp>
      <p:sp>
        <p:nvSpPr>
          <p:cNvPr id="7" name="文本框 6"/>
          <p:cNvSpPr txBox="1"/>
          <p:nvPr/>
        </p:nvSpPr>
        <p:spPr>
          <a:xfrm>
            <a:off x="1290955" y="3163570"/>
            <a:ext cx="6491605" cy="1383665"/>
          </a:xfrm>
          <a:prstGeom prst="rect">
            <a:avLst/>
          </a:prstGeom>
          <a:noFill/>
        </p:spPr>
        <p:txBody>
          <a:bodyPr wrap="square" rtlCol="0" anchor="t">
            <a:spAutoFit/>
          </a:bodyPr>
          <a:p>
            <a:r>
              <a:rPr lang="zh-CN" altLang="en-US">
                <a:solidFill>
                  <a:schemeClr val="bg2">
                    <a:lumMod val="60000"/>
                    <a:lumOff val="40000"/>
                  </a:schemeClr>
                </a:solidFill>
                <a:sym typeface="+mn-ea"/>
              </a:rPr>
              <a:t>计算：</a:t>
            </a:r>
            <a:r>
              <a:rPr lang="en-US" altLang="zh-CN">
                <a:solidFill>
                  <a:schemeClr val="bg2">
                    <a:lumMod val="60000"/>
                    <a:lumOff val="40000"/>
                  </a:schemeClr>
                </a:solidFill>
                <a:sym typeface="+mn-ea"/>
              </a:rPr>
              <a:t>f</a:t>
            </a:r>
            <a:r>
              <a:rPr lang="en-US" altLang="zh-CN" baseline="-25000">
                <a:solidFill>
                  <a:schemeClr val="bg2">
                    <a:lumMod val="60000"/>
                    <a:lumOff val="40000"/>
                  </a:schemeClr>
                </a:solidFill>
                <a:uFillTx/>
                <a:sym typeface="+mn-ea"/>
              </a:rPr>
              <a:t>0</a:t>
            </a:r>
            <a:r>
              <a:rPr lang="zh-CN" altLang="en-US" baseline="-25000">
                <a:solidFill>
                  <a:schemeClr val="bg2">
                    <a:lumMod val="60000"/>
                    <a:lumOff val="40000"/>
                  </a:schemeClr>
                </a:solidFill>
                <a:uFillTx/>
                <a:sym typeface="+mn-ea"/>
              </a:rPr>
              <a:t>、</a:t>
            </a:r>
            <a:r>
              <a:rPr lang="en-US" altLang="zh-CN">
                <a:solidFill>
                  <a:schemeClr val="bg2">
                    <a:lumMod val="60000"/>
                    <a:lumOff val="40000"/>
                  </a:schemeClr>
                </a:solidFill>
                <a:sym typeface="+mn-ea"/>
              </a:rPr>
              <a:t>Q</a:t>
            </a:r>
            <a:r>
              <a:rPr lang="zh-CN" altLang="en-US">
                <a:solidFill>
                  <a:schemeClr val="bg2">
                    <a:lumMod val="60000"/>
                    <a:lumOff val="40000"/>
                  </a:schemeClr>
                </a:solidFill>
                <a:sym typeface="+mn-ea"/>
              </a:rPr>
              <a:t>、阻</a:t>
            </a:r>
            <a:r>
              <a:rPr lang="zh-CN" altLang="en-US">
                <a:solidFill>
                  <a:schemeClr val="bg2">
                    <a:lumMod val="60000"/>
                    <a:lumOff val="40000"/>
                  </a:schemeClr>
                </a:solidFill>
                <a:sym typeface="+mn-ea"/>
              </a:rPr>
              <a:t>带</a:t>
            </a:r>
            <a:r>
              <a:rPr lang="zh-CN" altLang="en-US">
                <a:solidFill>
                  <a:schemeClr val="bg2">
                    <a:lumMod val="60000"/>
                    <a:lumOff val="40000"/>
                  </a:schemeClr>
                </a:solidFill>
                <a:sym typeface="+mn-ea"/>
              </a:rPr>
              <a:t>带宽</a:t>
            </a:r>
            <a:r>
              <a:rPr lang="en-US" altLang="zh-CN">
                <a:solidFill>
                  <a:schemeClr val="bg2">
                    <a:lumMod val="60000"/>
                    <a:lumOff val="40000"/>
                  </a:schemeClr>
                </a:solidFill>
                <a:sym typeface="+mn-ea"/>
              </a:rPr>
              <a:t>B</a:t>
            </a:r>
            <a:endParaRPr lang="en-US" altLang="zh-CN">
              <a:solidFill>
                <a:schemeClr val="bg2">
                  <a:lumMod val="60000"/>
                  <a:lumOff val="40000"/>
                </a:schemeClr>
              </a:solidFill>
              <a:sym typeface="+mn-ea"/>
            </a:endParaRPr>
          </a:p>
          <a:p>
            <a:r>
              <a:rPr lang="zh-CN" altLang="en-US">
                <a:solidFill>
                  <a:srgbClr val="FF0000"/>
                </a:solidFill>
                <a:sym typeface="+mn-ea"/>
              </a:rPr>
              <a:t>对频谱仪的频谱进行截图，并分析频谱曲线。</a:t>
            </a:r>
            <a:endParaRPr lang="zh-CN" altLang="en-US"/>
          </a:p>
        </p:txBody>
      </p:sp>
      <p:graphicFrame>
        <p:nvGraphicFramePr>
          <p:cNvPr id="9" name="内容占位符 8"/>
          <p:cNvGraphicFramePr>
            <a:graphicFrameLocks noChangeAspect="1"/>
          </p:cNvGraphicFramePr>
          <p:nvPr>
            <p:ph idx="1"/>
          </p:nvPr>
        </p:nvGraphicFramePr>
        <p:xfrm>
          <a:off x="1248410" y="976630"/>
          <a:ext cx="6534150" cy="1428750"/>
        </p:xfrm>
        <a:graphic>
          <a:graphicData uri="http://schemas.openxmlformats.org/presentationml/2006/ole">
            <mc:AlternateContent xmlns:mc="http://schemas.openxmlformats.org/markup-compatibility/2006">
              <mc:Choice xmlns:v="urn:schemas-microsoft-com:vml" Requires="v">
                <p:oleObj spid="_x0000_s10" name="" r:id="rId1" imgW="6534150" imgH="1428750" progId="Paint.Picture">
                  <p:embed/>
                </p:oleObj>
              </mc:Choice>
              <mc:Fallback>
                <p:oleObj name="" r:id="rId1" imgW="6534150" imgH="1428750" progId="Paint.Picture">
                  <p:embed/>
                  <p:pic>
                    <p:nvPicPr>
                      <p:cNvPr id="0" name="图片 9"/>
                      <p:cNvPicPr/>
                      <p:nvPr/>
                    </p:nvPicPr>
                    <p:blipFill>
                      <a:blip r:embed="rId2"/>
                      <a:stretch>
                        <a:fillRect/>
                      </a:stretch>
                    </p:blipFill>
                    <p:spPr>
                      <a:xfrm>
                        <a:off x="1248410" y="976630"/>
                        <a:ext cx="6534150" cy="1428750"/>
                      </a:xfrm>
                      <a:prstGeom prst="rect">
                        <a:avLst/>
                      </a:prstGeom>
                    </p:spPr>
                  </p:pic>
                </p:oleObj>
              </mc:Fallback>
            </mc:AlternateContent>
          </a:graphicData>
        </a:graphic>
      </p:graphicFrame>
    </p:spTree>
  </p:cSld>
  <p:clrMapOvr>
    <a:masterClrMapping/>
  </p:clrMapOvr>
  <p:transition spd="med"/>
</p:sld>
</file>

<file path=ppt/tags/tag1.xml><?xml version="1.0" encoding="utf-8"?>
<p:tagLst xmlns:p="http://schemas.openxmlformats.org/presentationml/2006/main">
  <p:tag name="commondata" val="eyJoZGlkIjoiMmE0ZDEzMzY5NTM1YjlmZDJkNWMzZWZjNDA3YmRkODAifQ=="/>
</p:tagLst>
</file>

<file path=ppt/theme/theme1.xml><?xml version="1.0" encoding="utf-8"?>
<a:theme xmlns:a="http://schemas.openxmlformats.org/drawingml/2006/main" name="3_Pixel">
  <a:themeElements>
    <a:clrScheme name="3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3_Pixel">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3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3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3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3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3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3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3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3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3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3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3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3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Pixel">
  <a:themeElements>
    <a:clrScheme name="4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4_Pixel">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4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4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4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4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4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4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4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4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4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4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4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4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21355</Words>
  <Application>WPS 演示</Application>
  <PresentationFormat>全屏显示(4:3)</PresentationFormat>
  <Paragraphs>1953</Paragraphs>
  <Slides>127</Slides>
  <Notes>27</Notes>
  <HiddenSlides>5</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14</vt:i4>
      </vt:variant>
      <vt:variant>
        <vt:lpstr>幻灯片标题</vt:lpstr>
      </vt:variant>
      <vt:variant>
        <vt:i4>127</vt:i4>
      </vt:variant>
    </vt:vector>
  </HeadingPairs>
  <TitlesOfParts>
    <vt:vector size="159" baseType="lpstr">
      <vt:lpstr>Arial</vt:lpstr>
      <vt:lpstr>宋体</vt:lpstr>
      <vt:lpstr>Wingdings</vt:lpstr>
      <vt:lpstr>Times New Roman</vt:lpstr>
      <vt:lpstr>Arial Black</vt:lpstr>
      <vt:lpstr>黑体</vt:lpstr>
      <vt:lpstr>华文行楷</vt:lpstr>
      <vt:lpstr>微软雅黑</vt:lpstr>
      <vt:lpstr>Arial Unicode MS</vt:lpstr>
      <vt:lpstr>Wingdings 2</vt:lpstr>
      <vt:lpstr>Wingdings</vt:lpstr>
      <vt:lpstr>新宋体</vt:lpstr>
      <vt:lpstr>Arial Unicode MS</vt:lpstr>
      <vt:lpstr>HG丸ｺﾞｼｯｸM-PRO</vt:lpstr>
      <vt:lpstr>Tahoma</vt:lpstr>
      <vt:lpstr>MS Gothic</vt:lpstr>
      <vt:lpstr>3_Pixel</vt:lpstr>
      <vt:lpstr>4_Pixel</vt:lpstr>
      <vt:lpstr>Paint.Picture</vt:lpstr>
      <vt:lpstr>Paint.Picture</vt:lpstr>
      <vt:lpstr>Paint.Picture</vt:lpstr>
      <vt:lpstr>Paint.Picture</vt:lpstr>
      <vt:lpstr>Paint.Picture</vt:lpstr>
      <vt:lpstr>Paint.Picture</vt:lpstr>
      <vt:lpstr>Equation.KSEE3</vt:lpstr>
      <vt:lpstr>Equation.KSEE3</vt:lpstr>
      <vt:lpstr>Equation.KSEE3</vt:lpstr>
      <vt:lpstr>Equation.KSEE3</vt:lpstr>
      <vt:lpstr>Equation.KSEE3</vt:lpstr>
      <vt:lpstr>Equation.KSEE3</vt:lpstr>
      <vt:lpstr>Equation.KSEE3</vt:lpstr>
      <vt:lpstr>Equation.KSEE3</vt:lpstr>
      <vt:lpstr>PowerPoint 演示文稿</vt:lpstr>
      <vt:lpstr>第一节    Multisim12.0初步</vt:lpstr>
      <vt:lpstr>PowerPoint 演示文稿</vt:lpstr>
      <vt:lpstr>PowerPoint 演示文稿</vt:lpstr>
      <vt:lpstr>PowerPoint 演示文稿</vt:lpstr>
      <vt:lpstr> Multisim 12.0的基本操作</vt:lpstr>
      <vt:lpstr> Multisim 12.0的基本操作</vt:lpstr>
      <vt:lpstr> Multisim 12.0的基本操作</vt:lpstr>
      <vt:lpstr> Multisim 12.0的基本操作</vt:lpstr>
      <vt:lpstr> Multisim 12.0的基本操作</vt:lpstr>
      <vt:lpstr> Multisim 12.0的基本操作</vt:lpstr>
      <vt:lpstr> Multisim 12.0的基本操作</vt:lpstr>
      <vt:lpstr> Multisim 12.0电路建立过程</vt:lpstr>
      <vt:lpstr> Multisim 12.0电路建立过程</vt:lpstr>
      <vt:lpstr> Multisim 12.0电路建立过程</vt:lpstr>
      <vt:lpstr> Multisim 12.0电路建立过程</vt:lpstr>
      <vt:lpstr> Multisim 12.0电路建立过程</vt:lpstr>
      <vt:lpstr> Multisim 12.0电路建立过程</vt:lpstr>
      <vt:lpstr> Multisim 12.0电路建立过程</vt:lpstr>
      <vt:lpstr> Multisim 12.0电路建立过程</vt:lpstr>
      <vt:lpstr>PowerPoint 演示文稿</vt:lpstr>
      <vt:lpstr> Multisim 12.0的分析方法种类</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 Multisim 12.0的分析方法详解</vt:lpstr>
      <vt:lpstr>PowerPoint 演示文稿</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  Multisim 12.0常用虚拟仪器</vt:lpstr>
      <vt:lpstr>PowerPoint 演示文稿</vt:lpstr>
      <vt:lpstr>实验五  集成运算放大器应用（Ⅰ）                                     ──模拟运算电路  </vt:lpstr>
      <vt:lpstr> 二、实验设备及材料</vt:lpstr>
      <vt:lpstr>三、实验原理 </vt:lpstr>
      <vt:lpstr>PowerPoint 演示文稿</vt:lpstr>
      <vt:lpstr>PowerPoint 演示文稿</vt:lpstr>
      <vt:lpstr>PowerPoint 演示文稿</vt:lpstr>
      <vt:lpstr>PowerPoint 演示文稿</vt:lpstr>
      <vt:lpstr>四、计算机仿真实验内容 </vt:lpstr>
      <vt:lpstr>PowerPoint 演示文稿</vt:lpstr>
      <vt:lpstr>PowerPoint 演示文稿</vt:lpstr>
      <vt:lpstr>PowerPoint 演示文稿</vt:lpstr>
      <vt:lpstr>PowerPoint 演示文稿</vt:lpstr>
      <vt:lpstr>PowerPoint 演示文稿</vt:lpstr>
      <vt:lpstr>五、实验操作内容</vt:lpstr>
      <vt:lpstr>实验六  集成运算放大器应用（IV）                                     ──有源滤波器电路  </vt:lpstr>
      <vt:lpstr> 二、实验设备及材料</vt:lpstr>
      <vt:lpstr>三、实验原理</vt:lpstr>
      <vt:lpstr>PowerPoint 演示文稿</vt:lpstr>
      <vt:lpstr>PowerPoint 演示文稿</vt:lpstr>
      <vt:lpstr>PowerPoint 演示文稿</vt:lpstr>
      <vt:lpstr>四、仿真实验内容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西安电子科技大学 计算机学院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模电实验</dc:title>
  <dc:creator>车向泉</dc:creator>
  <dc:subject>基础知识；实验仪器。</dc:subject>
  <cp:lastModifiedBy>Administrator</cp:lastModifiedBy>
  <cp:revision>1089</cp:revision>
  <dcterms:created xsi:type="dcterms:W3CDTF">2113-01-01T00:00:00Z</dcterms:created>
  <dcterms:modified xsi:type="dcterms:W3CDTF">2024-10-23T07:23:38Z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B5C566BCEE9D4550AC96017B41C05018_13</vt:lpwstr>
  </property>
  <property fmtid="{D5CDD505-2E9C-101B-9397-08002B2CF9AE}" pid="3" name="KSOProductBuildVer">
    <vt:lpwstr>2052-11.3.0.9228</vt:lpwstr>
  </property>
</Properties>
</file>